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297" r:id="rId6"/>
    <p:sldId id="298" r:id="rId7"/>
    <p:sldId id="300" r:id="rId8"/>
    <p:sldId id="301" r:id="rId9"/>
    <p:sldId id="299" r:id="rId10"/>
    <p:sldId id="302" r:id="rId11"/>
    <p:sldId id="303" r:id="rId12"/>
    <p:sldId id="305" r:id="rId13"/>
    <p:sldId id="308" r:id="rId14"/>
    <p:sldId id="306" r:id="rId15"/>
    <p:sldId id="309" r:id="rId16"/>
    <p:sldId id="312" r:id="rId17"/>
    <p:sldId id="311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A868-A953-D883-7531-8DF616D1A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F9737-C90D-06C3-8F62-37253583C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E37A-1B15-0667-8C44-EEF9725D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E597-2B87-3350-A543-8FD7F023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9789-BAB1-3DEC-0038-BD3DDECF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4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881D-6C4B-E48E-F09E-61EBFD6F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A492-C778-48FE-C335-3D09BA597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AF92F-870E-DA35-2B08-9BA8711A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0547-E055-B50F-FD1F-09874AF3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4BDEE-136C-7DC2-F82C-1F19FD0E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2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3C2B-D1E1-96C9-7EC2-9C14E2A7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1FA09-76DB-CC74-66A1-4DF27F669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48E03-4427-0860-D4F2-C39FA4DE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7CDD6-7558-9D24-052A-83CAF9B6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9ED2B-330B-588D-64BB-4205E60D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2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B708-7476-37AC-555E-85AA5EF2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00E2D-9278-F172-604C-7F1D71D3E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F353C-2BA6-6C66-45F0-40B6605DA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E8346-56D1-006D-56BF-2C0D1A8F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8210A-7A34-F108-9336-9BB71002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AF118-FE30-E0BF-9538-18BC3231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00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A1D5-5008-D85B-57F9-172BABB0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E3F7D-FE76-4186-768B-29106D8CD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9730D-23F3-E262-7BFE-E6C86D145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22D70-914C-8E07-DB23-12B973BFF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07620-1833-0ADC-55BF-0B557B3E9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38289-51F0-A2BC-7136-455AEE9B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D0FB8-06C4-7A91-820D-605CDA56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31329-7F3C-F357-819D-1C27747B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9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4334-7380-55CB-2C81-53385B02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3443F-51AB-B118-C725-81640FBBD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E3A4D-79E9-ED19-FFAE-6DF31455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48EFB-C088-F3A2-5A8F-D6B33BCB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3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DA7B2-F41D-38F5-9C52-F27732B7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439CE-D1A7-F4F3-C83E-7E5D7AF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0BF87-90A7-7E35-6166-BAC54EF4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83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D9A3-EE63-B696-88BB-2E3783A1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13787-BB1B-A629-1575-69F2439B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E0FA9-44B9-8E28-26F5-842DD7DF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4ED33-5FE4-3302-FDEE-19C21977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4179F-6DB2-2D20-E2DA-385E892F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26839-0A6D-A5A1-F47E-4E6BEE57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43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3E2B-0C1B-F361-D279-D4F6F02A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526EA-1D42-D7A0-5671-29246668C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F0B5D-FBB0-E820-F202-D19C370F4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0941-D537-337B-9812-2279EFAD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DCA29-2B11-700B-6243-A0511D261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DB6FA-799C-BAE8-1724-99FCA3BA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1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BC20-4304-EE37-C6E3-8AA1786F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05D92-EC47-B315-B6EC-C0CB1E8A9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1B515-1624-62E9-7BE0-F5E3519C3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5CA5-E50B-63C2-54C3-C4A2D7FC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47B98-079D-323A-E868-CA601E41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156FC-D695-A0E0-9545-2CF1B3ABE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885F1-D5FD-3798-1F28-C9DEBB504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17EB-9292-E632-9465-55A5CB3C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C6791-CEC4-5020-5795-4BF03341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1799F-3308-C28F-4E71-BDC7B71B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1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A625A-0F5C-1DD9-F017-F79BD73C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BB1D9-9AC0-23D2-A71B-814331EFF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821FB-2A3D-7FE2-6534-1F2D7D508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65462-4611-4C4C-8FC0-BFBF3AC920D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D360E-29CB-7FA9-93F2-34C153E76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1D543-8CBE-8719-5338-97FF270C2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1478-41BA-4BD7-9A96-10C4C3137E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1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13E9A-9D55-C3C6-4DF4-D935C4E6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Batch and 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CF09-1697-B1F5-1B05-BFCD0301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Another criterion used to classify Machine Learning systems is whether or not the system can learn incrementally from a stream of incoming data.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2413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C203-25EA-067B-17DF-53260D57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2B88-D5C5-82EC-F56A-DC5CD4C9D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learning is a machine learning approach where the model is trained using the entire available dataset all at once. </a:t>
            </a:r>
          </a:p>
          <a:p>
            <a:r>
              <a:rPr lang="en-US" dirty="0"/>
              <a:t>The learning process happens offline, meaning the system does not update itself after deployment. </a:t>
            </a:r>
          </a:p>
          <a:p>
            <a:r>
              <a:rPr lang="en-US" dirty="0"/>
              <a:t>Once trained, the model applies what it has learned but cannot adapt to new data unless retrained from scratch with both old and new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19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D35F-402A-4A9A-1C55-59E6AE88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Batch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3A22-157C-EF66-C423-1776DB6B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Learning is non-incremental</a:t>
            </a:r>
            <a:r>
              <a:rPr lang="en-US" dirty="0"/>
              <a:t>: </a:t>
            </a:r>
          </a:p>
          <a:p>
            <a:pPr lvl="1"/>
            <a:r>
              <a:rPr lang="en-US" dirty="0"/>
              <a:t>The model does not update itself when new data arrives.</a:t>
            </a:r>
          </a:p>
          <a:p>
            <a:r>
              <a:rPr lang="en-US" b="1" dirty="0"/>
              <a:t>Offline operation: </a:t>
            </a:r>
          </a:p>
          <a:p>
            <a:pPr lvl="1"/>
            <a:r>
              <a:rPr lang="en-US" dirty="0"/>
              <a:t>Training happens before deployment, often requiring significant time and computing power.</a:t>
            </a:r>
          </a:p>
          <a:p>
            <a:r>
              <a:rPr lang="en-US" b="1" dirty="0"/>
              <a:t>Resource-intensive: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Large datasets demand high CPU, memory, and storage resources.</a:t>
            </a:r>
          </a:p>
          <a:p>
            <a:r>
              <a:rPr lang="en-US" b="1" dirty="0"/>
              <a:t>Periodic retraining: </a:t>
            </a:r>
          </a:p>
          <a:p>
            <a:pPr lvl="1"/>
            <a:r>
              <a:rPr lang="en-US" dirty="0"/>
              <a:t>A new version of the model is trained periodically (e.g., daily or weekly) to maintain accuracy.</a:t>
            </a:r>
          </a:p>
          <a:p>
            <a:r>
              <a:rPr lang="en-US" b="1" dirty="0"/>
              <a:t>Automation possible: </a:t>
            </a:r>
          </a:p>
          <a:p>
            <a:pPr lvl="1"/>
            <a:r>
              <a:rPr lang="en-US" dirty="0"/>
              <a:t>The training–evaluation–deployment cycle can be automated for regular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4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2763-A05A-FE9B-210C-32BA17B5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learning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419B-3B21-192F-DFEC-C59C53DD3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a spam email classifier:</a:t>
            </a:r>
          </a:p>
          <a:p>
            <a:pPr lvl="1"/>
            <a:r>
              <a:rPr lang="en-US" dirty="0"/>
              <a:t>Initially, the model is trained on a large dataset containing examples of both spam and non-spam emails.</a:t>
            </a:r>
          </a:p>
          <a:p>
            <a:pPr lvl="1"/>
            <a:r>
              <a:rPr lang="en-US" dirty="0"/>
              <a:t>Once trained, the system identifies spam emails based on learned patterns.</a:t>
            </a:r>
          </a:p>
          <a:p>
            <a:pPr lvl="1"/>
            <a:r>
              <a:rPr lang="en-US" dirty="0"/>
              <a:t>Over time, new types of spam appear. Since the model cannot learn incrementally, it must be retrained from scratch using both old and new email data.</a:t>
            </a:r>
          </a:p>
          <a:p>
            <a:pPr lvl="1"/>
            <a:r>
              <a:rPr lang="en-US" dirty="0"/>
              <a:t>After retraining, the updated model replaces the old one in production.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38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74E5-7904-E74D-9126-F2A48EBB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Batch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AAF9-8D18-A8A6-FF19-FB9ADC8A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learning works well when data changes slowly and computational resources are sufficient, but it becomes inefficient for scenarios requiring real-time adaptation, such as stock price prediction or online recommendation systems. </a:t>
            </a:r>
          </a:p>
          <a:p>
            <a:r>
              <a:rPr lang="en-US" dirty="0"/>
              <a:t>In such cases, incremental or online learning methods are preferred.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26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9E6F-7264-0EFF-0091-6F817636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BFB2-F9BA-89F4-C10B-E05C3AD0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/>
              <a:t>Train the system incrementally by feeding it data instances sequentially, either individually or in small groups called </a:t>
            </a:r>
            <a:r>
              <a:rPr lang="en-US" sz="2400" i="1" dirty="0"/>
              <a:t>mini-batches</a:t>
            </a:r>
            <a:r>
              <a:rPr lang="en-US" sz="2400" dirty="0"/>
              <a:t>. </a:t>
            </a:r>
          </a:p>
          <a:p>
            <a:r>
              <a:rPr lang="en-US" sz="2400" dirty="0"/>
              <a:t>Each learning step is fast and cheap, so the system can learn about new data on the fly, as it arrives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14F8CE-94F4-8110-76AB-B8BD40F2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58" y="3429000"/>
            <a:ext cx="7609020" cy="324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5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A631-38C2-E5D1-2FB4-598991EC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Characteristics of 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FCC5-5777-874C-72FB-09EC0320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8164"/>
          </a:xfrm>
        </p:spPr>
        <p:txBody>
          <a:bodyPr>
            <a:normAutofit/>
          </a:bodyPr>
          <a:lstStyle/>
          <a:p>
            <a:r>
              <a:rPr lang="en-US" b="1" dirty="0"/>
              <a:t>Incremental learning: </a:t>
            </a:r>
          </a:p>
          <a:p>
            <a:pPr lvl="1"/>
            <a:r>
              <a:rPr lang="en-US" dirty="0"/>
              <a:t>The model learns continuously as new data arrives, updating its parameters after each instance or small batch.</a:t>
            </a:r>
          </a:p>
          <a:p>
            <a:r>
              <a:rPr lang="en-US" b="1" dirty="0"/>
              <a:t>Real-time adaptability: </a:t>
            </a:r>
          </a:p>
          <a:p>
            <a:pPr lvl="1"/>
            <a:r>
              <a:rPr lang="en-US" dirty="0"/>
              <a:t>Suitable for rapidly changing environments like stock markets or recommendation systems.</a:t>
            </a:r>
          </a:p>
          <a:p>
            <a:r>
              <a:rPr lang="en-US" b="1" dirty="0"/>
              <a:t>Memory efficiency: </a:t>
            </a:r>
          </a:p>
          <a:p>
            <a:pPr lvl="1"/>
            <a:r>
              <a:rPr lang="en-US" dirty="0"/>
              <a:t>After training on a data instance, the system can discard it, reducing storage demands.</a:t>
            </a:r>
          </a:p>
          <a:p>
            <a:r>
              <a:rPr lang="en-US" b="1" dirty="0"/>
              <a:t>Out-of-core capability: </a:t>
            </a:r>
          </a:p>
          <a:p>
            <a:pPr lvl="1"/>
            <a:r>
              <a:rPr lang="en-US" dirty="0"/>
              <a:t>Can handle datasets too large to fit in memory by processing data in chunks.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7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A631-38C2-E5D1-2FB4-598991EC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Characteristics of 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FCC5-5777-874C-72FB-09EC0320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b="1" dirty="0"/>
              <a:t>Learning rate sensitivity: </a:t>
            </a:r>
          </a:p>
          <a:p>
            <a:pPr lvl="1"/>
            <a:r>
              <a:rPr lang="en-US" dirty="0"/>
              <a:t>The degree to which the system adapts to new data depends on the learning rate; high rates enable fast adaptation but may forget old knowledge, while low rates retain stability.</a:t>
            </a:r>
          </a:p>
          <a:p>
            <a:r>
              <a:rPr lang="en-US" b="1" dirty="0"/>
              <a:t>Vulnerability to bad data: </a:t>
            </a:r>
          </a:p>
          <a:p>
            <a:pPr lvl="1"/>
            <a:r>
              <a:rPr lang="en-US" dirty="0"/>
              <a:t>Performance can degrade if noisy or corrupted data enters the system, so monitoring and rollback mechanisms are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37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1E2C-C820-0B67-41D1-B20AC201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Online learning -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B61368-1994-F6B0-E6FE-545CC134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stock price prediction system uses online learning to continuously adjust its predictive model as new price data streams in.</a:t>
            </a:r>
          </a:p>
          <a:p>
            <a:r>
              <a:rPr lang="en-US" dirty="0"/>
              <a:t>When market trends shift, the model quickly incorporates new information to stay accurate.</a:t>
            </a:r>
          </a:p>
          <a:p>
            <a:r>
              <a:rPr lang="en-US" dirty="0"/>
              <a:t>If a temporary anomaly occurs (like a sensor glitch or data spike), a well-tuned low learning rate helps prevent drastic reactions.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19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E635-EA4D-61CB-0869-E11D8E9C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5640F-C527-1C6D-4830-1500CCB5F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10139"/>
            <a:ext cx="11088757" cy="4882736"/>
          </a:xfrm>
        </p:spPr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Adapts quickly to new or changing data patterns.</a:t>
            </a:r>
          </a:p>
          <a:p>
            <a:pPr lvl="1"/>
            <a:r>
              <a:rPr lang="en-US" dirty="0"/>
              <a:t>Efficient use of memory and storage; old data can be discarded.</a:t>
            </a:r>
          </a:p>
          <a:p>
            <a:pPr lvl="1"/>
            <a:r>
              <a:rPr lang="en-US" dirty="0"/>
              <a:t>Suitable for large-scale, streaming, or real-time applications.</a:t>
            </a:r>
          </a:p>
          <a:p>
            <a:pPr lvl="1"/>
            <a:r>
              <a:rPr lang="en-US" dirty="0"/>
              <a:t>Enables continuous, autonomous model improvement without retraining from scratch.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Requires careful tuning of the learning rate to balance adaptability and stability.</a:t>
            </a:r>
          </a:p>
          <a:p>
            <a:pPr lvl="1"/>
            <a:r>
              <a:rPr lang="en-US" dirty="0"/>
              <a:t>Vulnerable to degraded performance from bad or noisy data.</a:t>
            </a:r>
          </a:p>
          <a:p>
            <a:pPr lvl="1"/>
            <a:r>
              <a:rPr lang="en-US" dirty="0"/>
              <a:t>Difficult to reproduce exact past states once data is discarded.</a:t>
            </a:r>
          </a:p>
          <a:p>
            <a:pPr lvl="1"/>
            <a:r>
              <a:rPr lang="en-US" dirty="0"/>
              <a:t>Needs ongoing monitoring and potentially rollback mechanisms to maintain reliability.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12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126A10-FB6C-0345-82AE-6BB7F7935D91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0" y="0"/>
          <a:ext cx="12192000" cy="6864539"/>
        </p:xfrm>
        <a:graphic>
          <a:graphicData uri="http://schemas.openxmlformats.org/drawingml/2006/table">
            <a:tbl>
              <a:tblPr/>
              <a:tblGrid>
                <a:gridCol w="2206487">
                  <a:extLst>
                    <a:ext uri="{9D8B030D-6E8A-4147-A177-3AD203B41FA5}">
                      <a16:colId xmlns:a16="http://schemas.microsoft.com/office/drawing/2014/main" val="642326949"/>
                    </a:ext>
                  </a:extLst>
                </a:gridCol>
                <a:gridCol w="5009322">
                  <a:extLst>
                    <a:ext uri="{9D8B030D-6E8A-4147-A177-3AD203B41FA5}">
                      <a16:colId xmlns:a16="http://schemas.microsoft.com/office/drawing/2014/main" val="1879969450"/>
                    </a:ext>
                  </a:extLst>
                </a:gridCol>
                <a:gridCol w="4976191">
                  <a:extLst>
                    <a:ext uri="{9D8B030D-6E8A-4147-A177-3AD203B41FA5}">
                      <a16:colId xmlns:a16="http://schemas.microsoft.com/office/drawing/2014/main" val="1552432524"/>
                    </a:ext>
                  </a:extLst>
                </a:gridCol>
              </a:tblGrid>
              <a:tr h="508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>
                          <a:effectLst/>
                        </a:rPr>
                        <a:t>Aspect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>
                          <a:effectLst/>
                        </a:rPr>
                        <a:t>Batch Learning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>
                          <a:effectLst/>
                        </a:rPr>
                        <a:t>Online Learning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543733"/>
                  </a:ext>
                </a:extLst>
              </a:tr>
              <a:tr h="1189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Training Process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Trains on entire dataset at once, offline; retrains from scratch for updates.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Learns incrementally as data streams in; updates model continuously.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94084"/>
                  </a:ext>
                </a:extLst>
              </a:tr>
              <a:tr h="863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>
                          <a:effectLst/>
                        </a:rPr>
                        <a:t>Data Handling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Requires all data in memory; resource-heavy for large datasets.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Processes data in chunks; discards after use (memory-efficient).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23563"/>
                  </a:ext>
                </a:extLst>
              </a:tr>
              <a:tr h="8442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Adaptability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Slow to adapt; periodic retraining (daily/weekly).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Rapid adaptation to changes; real-time updates.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62341"/>
                  </a:ext>
                </a:extLst>
              </a:tr>
              <a:tr h="863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Resource Use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High CPU/memory/disk; costly for frequent retraining.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Lower resources; suitable for limited hardware (e.g., mobile).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953984"/>
                  </a:ext>
                </a:extLst>
              </a:tr>
              <a:tr h="863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>
                          <a:effectLst/>
                        </a:rPr>
                        <a:t>Example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Spam classifier retrained weekly on full email dataset.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Stock price predictor updating with live market data.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797544"/>
                  </a:ext>
                </a:extLst>
              </a:tr>
              <a:tr h="863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Key Parameter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None specific; focuses on full epochs.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Learning rate (high = fast adapt, forgets old; low = stable, slow).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018681"/>
                  </a:ext>
                </a:extLst>
              </a:tr>
              <a:tr h="863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Risks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Inefficient for fast-changing data; can't handle huge datasets easily.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Vulnerable to bad data; needs monitoring/rollback.</a:t>
                      </a:r>
                    </a:p>
                  </a:txBody>
                  <a:tcPr marL="49447" marR="49447" marT="49447" marB="49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63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613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9EA1-40C9-776D-026D-2613BB14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Instance-Based Versus Model-Based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E117-C3B2-D3A2-89E7-662FD816F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systems </a:t>
            </a:r>
            <a:r>
              <a:rPr lang="en-US" dirty="0" err="1"/>
              <a:t>generalise</a:t>
            </a:r>
            <a:r>
              <a:rPr lang="en-US" dirty="0"/>
              <a:t> to unseen data using two primary approaches: </a:t>
            </a:r>
          </a:p>
          <a:p>
            <a:pPr lvl="1"/>
            <a:r>
              <a:rPr lang="en-US" dirty="0"/>
              <a:t>Instance-based learning </a:t>
            </a:r>
          </a:p>
          <a:p>
            <a:pPr lvl="2"/>
            <a:r>
              <a:rPr lang="en-US" dirty="0"/>
              <a:t>Instance-based learning stores training examples in memory and generalizes to new cases by comparing similarity, such as word overlap for spam detection, rather than building an explicit model. </a:t>
            </a:r>
          </a:p>
          <a:p>
            <a:pPr lvl="1"/>
            <a:r>
              <a:rPr lang="en-US" dirty="0"/>
              <a:t>Model-based learning</a:t>
            </a:r>
          </a:p>
          <a:p>
            <a:pPr lvl="2"/>
            <a:r>
              <a:rPr lang="en-US" dirty="0"/>
              <a:t>Model-based learning builds a compact mathematical model from training examples to capture patterns, then uses that model for predictions on new data without storing originals.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385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C48B-A8EE-812F-1F70-23529A42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Instance-Based Learning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B3D6C1-6C2D-D335-6CE3-BB2AB76D5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677" y="1825625"/>
            <a:ext cx="93646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7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A2CE-87A9-6A0B-96A3-E58C0B98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Characteristics of Instance-Based Learning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C477-DE39-67C8-C28A-29BDAFBC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565"/>
            <a:ext cx="10515600" cy="4952310"/>
          </a:xfrm>
        </p:spPr>
        <p:txBody>
          <a:bodyPr>
            <a:normAutofit/>
          </a:bodyPr>
          <a:lstStyle/>
          <a:p>
            <a:r>
              <a:rPr lang="en-US" b="1" dirty="0"/>
              <a:t>Stores all training data (lazy learning)</a:t>
            </a:r>
          </a:p>
          <a:p>
            <a:pPr lvl="1"/>
            <a:r>
              <a:rPr lang="en-US" dirty="0"/>
              <a:t>No model built upfront—computation happens at prediction time.​</a:t>
            </a:r>
          </a:p>
          <a:p>
            <a:r>
              <a:rPr lang="en-US" b="1" dirty="0"/>
              <a:t>Uses similarity measures </a:t>
            </a:r>
          </a:p>
          <a:p>
            <a:pPr lvl="1"/>
            <a:r>
              <a:rPr lang="en-US" dirty="0"/>
              <a:t>(e.g., word count overlap, Euclidean distance) to find closest matches.​</a:t>
            </a:r>
          </a:p>
          <a:p>
            <a:r>
              <a:rPr lang="en-US" b="1" dirty="0"/>
              <a:t>Scales with dataset size</a:t>
            </a:r>
          </a:p>
          <a:p>
            <a:pPr lvl="1"/>
            <a:r>
              <a:rPr lang="en-US" dirty="0"/>
              <a:t>Classifies new instances by majority vote of similar stored examples.​</a:t>
            </a:r>
          </a:p>
          <a:p>
            <a:r>
              <a:rPr lang="en-US" b="1" dirty="0"/>
              <a:t>Examples</a:t>
            </a:r>
          </a:p>
          <a:p>
            <a:pPr lvl="1"/>
            <a:r>
              <a:rPr lang="en-US" b="1" dirty="0"/>
              <a:t>Spam filter: </a:t>
            </a:r>
            <a:r>
              <a:rPr lang="en-US" dirty="0"/>
              <a:t>Flags emails with many common words to known spam, beyond exact matches.​</a:t>
            </a:r>
          </a:p>
          <a:p>
            <a:pPr lvl="1"/>
            <a:r>
              <a:rPr lang="en-US" b="1" dirty="0"/>
              <a:t>k-Nearest Neighbors (k-NN): </a:t>
            </a:r>
            <a:r>
              <a:rPr lang="en-US" dirty="0"/>
              <a:t>Classifies a new point (e.g., triangle) by majority of k closest training instances.​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564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046F-B669-4A78-C35A-1B239607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Instance-Based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EECC1-C1F3-1ABA-BEA4-78C65347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Adapts easily to new data without retraining; handles complex patterns.​</a:t>
            </a:r>
          </a:p>
          <a:p>
            <a:pPr lvl="1"/>
            <a:r>
              <a:rPr lang="en-US" dirty="0"/>
              <a:t>Simple implementation; no assumptions about data distribution.​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High storage and computation for large datasets (O(n) per prediction).​</a:t>
            </a:r>
          </a:p>
          <a:p>
            <a:pPr lvl="1"/>
            <a:r>
              <a:rPr lang="en-US" dirty="0"/>
              <a:t>Sensitive to noise and irrelevant features; struggles with high dimensions.​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02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14D8-3127-2279-3710-7D45D904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learning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81E4B2-570D-E607-4EB2-B3C89020A3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18722" y="1263305"/>
            <a:ext cx="7335078" cy="338848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10B3E-2024-7901-7656-F1AD42F9D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4278" y="4323521"/>
            <a:ext cx="10419522" cy="2067339"/>
          </a:xfrm>
        </p:spPr>
        <p:txBody>
          <a:bodyPr>
            <a:normAutofit/>
          </a:bodyPr>
          <a:lstStyle/>
          <a:p>
            <a:r>
              <a:rPr lang="en-US" dirty="0"/>
              <a:t>Key Characteristics</a:t>
            </a:r>
          </a:p>
          <a:p>
            <a:pPr lvl="1"/>
            <a:r>
              <a:rPr lang="en-US" b="1" dirty="0"/>
              <a:t>Builds an explicit model </a:t>
            </a:r>
            <a:r>
              <a:rPr lang="en-US" dirty="0"/>
              <a:t>from training data to represent underlying patterns and relationships.​</a:t>
            </a:r>
          </a:p>
          <a:p>
            <a:pPr lvl="1"/>
            <a:r>
              <a:rPr lang="en-US" b="1" dirty="0"/>
              <a:t>Training phase intensive; </a:t>
            </a:r>
            <a:r>
              <a:rPr lang="en-US" dirty="0"/>
              <a:t>learns parameters/functions before prediction.​</a:t>
            </a:r>
          </a:p>
          <a:p>
            <a:pPr lvl="1"/>
            <a:r>
              <a:rPr lang="en-US" b="1" dirty="0"/>
              <a:t>Fast predictions </a:t>
            </a:r>
            <a:r>
              <a:rPr lang="en-US" dirty="0"/>
              <a:t>using the compact model, independent of full dataset size.​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010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95CA-CF58-3404-2E53-CC34A379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US" dirty="0"/>
              <a:t>Model-based learning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BDBC0-B990-FCA9-C73F-442101F41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2817"/>
                <a:ext cx="10939670" cy="5536096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Examples</a:t>
                </a:r>
              </a:p>
              <a:p>
                <a:pPr lvl="1"/>
                <a:r>
                  <a:rPr lang="en-US" b="1" dirty="0"/>
                  <a:t>Linear Regression for House Prices:</a:t>
                </a:r>
                <a:r>
                  <a:rPr lang="en-US" dirty="0"/>
                  <a:t> Train a model on historical data where input features (size, bedrooms) predict output (price). The model learns the equation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 during training.​</a:t>
                </a:r>
              </a:p>
              <a:p>
                <a:pPr lvl="1"/>
                <a:r>
                  <a:rPr lang="en-US" dirty="0"/>
                  <a:t>For a new house (2000 sq ft, 3 bedrooms), plug values into the equation for instant price prediction—no training data needed at inference.</a:t>
                </a:r>
              </a:p>
              <a:p>
                <a:r>
                  <a:rPr lang="en-IN" dirty="0"/>
                  <a:t>Advantages</a:t>
                </a:r>
              </a:p>
              <a:p>
                <a:pPr lvl="1"/>
                <a:r>
                  <a:rPr lang="en-IN" dirty="0"/>
                  <a:t>Efficient storage and fast inference after training; handles large datasets well.​</a:t>
                </a:r>
                <a:br>
                  <a:rPr lang="en-IN" dirty="0"/>
                </a:br>
                <a:r>
                  <a:rPr lang="en-IN" dirty="0"/>
                  <a:t>Captures complex generalizations; interpretable models possible (e.g., decision trees).​</a:t>
                </a:r>
              </a:p>
              <a:p>
                <a:r>
                  <a:rPr lang="en-IN" dirty="0"/>
                  <a:t>Disadvantages</a:t>
                </a:r>
              </a:p>
              <a:p>
                <a:pPr lvl="1"/>
                <a:r>
                  <a:rPr lang="en-IN" dirty="0"/>
                  <a:t>Requires upfront training time; retraining needed for new data.​</a:t>
                </a:r>
              </a:p>
              <a:p>
                <a:pPr lvl="1"/>
                <a:r>
                  <a:rPr lang="en-IN" dirty="0"/>
                  <a:t>Risk of overfitting if model complexity mismatches data.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BDBC0-B990-FCA9-C73F-442101F41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2817"/>
                <a:ext cx="10939670" cy="5536096"/>
              </a:xfrm>
              <a:blipFill>
                <a:blip r:embed="rId2"/>
                <a:stretch>
                  <a:fillRect l="-1003" t="-1760" r="-2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9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004978-ECB8-91F8-F13C-3053466E46CD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980668"/>
        </p:xfrm>
        <a:graphic>
          <a:graphicData uri="http://schemas.openxmlformats.org/drawingml/2006/table">
            <a:tbl>
              <a:tblPr/>
              <a:tblGrid>
                <a:gridCol w="2494722">
                  <a:extLst>
                    <a:ext uri="{9D8B030D-6E8A-4147-A177-3AD203B41FA5}">
                      <a16:colId xmlns:a16="http://schemas.microsoft.com/office/drawing/2014/main" val="3953484817"/>
                    </a:ext>
                  </a:extLst>
                </a:gridCol>
                <a:gridCol w="4959626">
                  <a:extLst>
                    <a:ext uri="{9D8B030D-6E8A-4147-A177-3AD203B41FA5}">
                      <a16:colId xmlns:a16="http://schemas.microsoft.com/office/drawing/2014/main" val="3234774912"/>
                    </a:ext>
                  </a:extLst>
                </a:gridCol>
                <a:gridCol w="4737652">
                  <a:extLst>
                    <a:ext uri="{9D8B030D-6E8A-4147-A177-3AD203B41FA5}">
                      <a16:colId xmlns:a16="http://schemas.microsoft.com/office/drawing/2014/main" val="2213664503"/>
                    </a:ext>
                  </a:extLst>
                </a:gridCol>
              </a:tblGrid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>
                          <a:effectLst/>
                        </a:rPr>
                        <a:t>Aspect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>
                          <a:effectLst/>
                        </a:rPr>
                        <a:t>Instance-Based Learning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>
                          <a:effectLst/>
                        </a:rPr>
                        <a:t>Model-Based Learning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146169"/>
                  </a:ext>
                </a:extLst>
              </a:tr>
              <a:tr h="12366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Approach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Stores training data; compares at prediction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Builds explicit model/parameters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075409"/>
                  </a:ext>
                </a:extLst>
              </a:tr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Training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None (lazy); just memorizes data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Intensive; learns patterns/functions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846354"/>
                  </a:ext>
                </a:extLst>
              </a:tr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Prediction Speed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Slow (searches all data each time)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Fast (uses compact model)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03597"/>
                  </a:ext>
                </a:extLst>
              </a:tr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Storage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High (keeps all training data)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Low (discard data post-training)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306791"/>
                  </a:ext>
                </a:extLst>
              </a:tr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Adaptability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Easy to new data; no retraining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Requires retraining for updates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71160"/>
                  </a:ext>
                </a:extLst>
              </a:tr>
              <a:tr h="730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Strengths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Handles complex boundaries; simple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Efficient; interpretable models possible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015571"/>
                  </a:ext>
                </a:extLst>
              </a:tr>
              <a:tr h="12366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Weaknesses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effectLst/>
                        </a:rPr>
                        <a:t>Computationally expensive; noise-sensitive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Risk of overfitting; training cost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21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9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Batch and Online Learning</vt:lpstr>
      <vt:lpstr>Batch learning</vt:lpstr>
      <vt:lpstr>Key Characteristics of Batch Learning</vt:lpstr>
      <vt:lpstr>Batch learning - Example</vt:lpstr>
      <vt:lpstr>Batch learning</vt:lpstr>
      <vt:lpstr>Online learning</vt:lpstr>
      <vt:lpstr>Key Characteristics of Online Learning</vt:lpstr>
      <vt:lpstr>Key Characteristics of Online Learning</vt:lpstr>
      <vt:lpstr>Online learning - Example</vt:lpstr>
      <vt:lpstr>Online learning</vt:lpstr>
      <vt:lpstr>PowerPoint Presentation</vt:lpstr>
      <vt:lpstr>Instance-Based Versus Model-Based Learning</vt:lpstr>
      <vt:lpstr>Instance-Based Learning</vt:lpstr>
      <vt:lpstr>Key Characteristics of Instance-Based Learning </vt:lpstr>
      <vt:lpstr>Instance-Based Learning</vt:lpstr>
      <vt:lpstr>Model-based learning</vt:lpstr>
      <vt:lpstr>Model-based 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2025-12-30T07:23:35Z</dcterms:created>
  <dcterms:modified xsi:type="dcterms:W3CDTF">2025-12-30T07:24:23Z</dcterms:modified>
</cp:coreProperties>
</file>