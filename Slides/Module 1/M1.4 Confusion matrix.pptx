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69" r:id="rId2"/>
    <p:sldId id="382" r:id="rId3"/>
    <p:sldId id="387" r:id="rId4"/>
    <p:sldId id="385" r:id="rId5"/>
    <p:sldId id="370" r:id="rId6"/>
    <p:sldId id="391" r:id="rId7"/>
    <p:sldId id="392" r:id="rId8"/>
    <p:sldId id="393" r:id="rId9"/>
    <p:sldId id="394" r:id="rId10"/>
    <p:sldId id="395" r:id="rId11"/>
    <p:sldId id="396" r:id="rId12"/>
    <p:sldId id="39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175CD7-4311-419F-8DBC-8B3934359ADC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705158-C27F-4058-ABCD-667D8AF319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5105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9959b825d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39959b825d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10858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9959b825d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39959b825d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82112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39959b825de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39959b825de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1556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0">
          <a:extLst>
            <a:ext uri="{FF2B5EF4-FFF2-40B4-BE49-F238E27FC236}">
              <a16:creationId xmlns:a16="http://schemas.microsoft.com/office/drawing/2014/main" id="{9CF449E1-4F73-D915-5846-C754B9139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39959b825de_0_7:notes">
            <a:extLst>
              <a:ext uri="{FF2B5EF4-FFF2-40B4-BE49-F238E27FC236}">
                <a16:creationId xmlns:a16="http://schemas.microsoft.com/office/drawing/2014/main" id="{8447853C-1744-4F25-D355-C0E5D3E417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39959b825de_0_7:notes">
            <a:extLst>
              <a:ext uri="{FF2B5EF4-FFF2-40B4-BE49-F238E27FC236}">
                <a16:creationId xmlns:a16="http://schemas.microsoft.com/office/drawing/2014/main" id="{8B022537-818A-E8F3-211C-FA45B1190B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7805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E6D33-4AA4-A82F-3171-8D456816B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C523D0-7D5B-E349-0C06-CBC413EDD9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49596-18BF-CAB1-1701-3BCD5EA3B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DD410-5F74-4E3B-AE4B-066C3F1A06A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0C516-2156-CFAA-67A8-1482C416D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683A5-63EC-D70B-EB2F-EF8930C32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78D7-4EB9-47CE-AC92-0D3B82C2C8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694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E6700-44A7-2B8E-9364-624744925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D5F6B-9DD6-CC82-DDB4-321116A4CB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EC004-15BC-1009-147A-F4E93F3CD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DD410-5F74-4E3B-AE4B-066C3F1A06A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B5AA9-D844-18A2-DD95-094B35CF1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0617B-55B4-62A2-D1E2-FA86E8611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78D7-4EB9-47CE-AC92-0D3B82C2C8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394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C3B81-023B-046F-256F-7915B4D19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9C7486-A4C7-18D6-465A-917673F95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85E1B-FD45-BEE2-7F34-9680B78F4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DD410-5F74-4E3B-AE4B-066C3F1A06A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932AE-5314-5F56-AB16-3E1F671F7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3381B-FDAB-49E4-E542-D6804B525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78D7-4EB9-47CE-AC92-0D3B82C2C8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852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78995-C85B-41B0-1C9F-786FCDA33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69082-9366-FF87-8A3A-DDE0D6EB43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37617D-F541-7FFD-00C7-3590DF8135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A7A6D2-022E-A086-D0EB-FDDBBEFCF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DD410-5F74-4E3B-AE4B-066C3F1A06A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17363F-6359-C256-ADEE-DA372F78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A2B8A-2C43-9E3D-3202-3BED651C5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78D7-4EB9-47CE-AC92-0D3B82C2C8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4418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6B674-70F1-97FA-DAB9-A84F39B74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C0E2D-E2EA-F264-7B14-87BA43E73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971CAA-4BB5-062F-F89B-8C067E5F80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7E7825-E663-6526-0FF0-93D80B586D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A50B2E-42F3-9AED-0543-C8F1514063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AED275-B03A-6FC6-61E6-65F10B4B5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DD410-5F74-4E3B-AE4B-066C3F1A06A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B67AC7-64BD-DC7C-94FF-D4C29F8CE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69D774-4E45-9269-C0D0-90C754391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78D7-4EB9-47CE-AC92-0D3B82C2C8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365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4E2E2-C93D-DDB1-6CBC-AE3E84DB9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142195-A3E4-EDB1-0508-F282E7270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DD410-5F74-4E3B-AE4B-066C3F1A06A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1D8364-5F13-ADF8-464B-EBF0E42C2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6A01EF-BB4B-C78D-C8C9-5E14B4A11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78D7-4EB9-47CE-AC92-0D3B82C2C8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06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AEACDF-BA6E-35B7-4A1B-675CBA516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DD410-5F74-4E3B-AE4B-066C3F1A06A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DEF044-DEA3-DDFE-DD0F-3D7864EB2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DEE71-38D0-4022-AD61-65E1A1F7F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78D7-4EB9-47CE-AC92-0D3B82C2C8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9195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55318-D068-32D0-AE61-E3A7CA931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84EB1-927C-A0B2-8D63-F4A750C5E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CF7F28-CB9B-7023-E076-7C90A035D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A8B882-704F-019C-F5A7-6964AB79C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DD410-5F74-4E3B-AE4B-066C3F1A06A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DA8E5-3BA8-B59B-689F-05BDDD51E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21E6C8-2276-7EB5-2D64-4947AD27C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78D7-4EB9-47CE-AC92-0D3B82C2C8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790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B4EA0-848D-A123-202B-15A9A18A9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0D596A-142E-E1E7-D650-2B904DED57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9D45B1-E35A-80C4-0EAF-45EAC305EF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7C9AEB-FD72-450F-8E8F-DF5EE7382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DD410-5F74-4E3B-AE4B-066C3F1A06A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99AB2E-14CC-0249-DD92-3E470C478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F59C25-8F6C-E4F7-7BAE-37F009ED2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78D7-4EB9-47CE-AC92-0D3B82C2C8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178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36566-B495-203A-6F56-57FB2A7FC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D225BE-E54B-3FC1-2297-36EEB04A32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55A8F-00AD-7437-7916-1F7DED59E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DD410-5F74-4E3B-AE4B-066C3F1A06A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D695E-1A17-93BB-425E-7011A8F82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CD2F7-B86C-6728-0D67-84CA3CDAA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78D7-4EB9-47CE-AC92-0D3B82C2C8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308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FABE3A-6E1E-AD5C-81CD-A3711C5296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887262-F64C-552B-F1D2-47F7D6374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22594-7A7E-D992-407C-58CB834FF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DD410-5F74-4E3B-AE4B-066C3F1A06A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98059-3CD7-1E65-5495-1841A4A27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2EE6C-B98B-7410-6AC8-1CE349B75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78D7-4EB9-47CE-AC92-0D3B82C2C8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448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CFD9A-8164-DFB9-B38A-335235795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3F0142-4131-9277-2B56-9366C952E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0D3B8-B8EB-350F-2D50-9636B58497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3DD410-5F74-4E3B-AE4B-066C3F1A06A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FC3DF-2860-031F-2FE0-6BB270ED7C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E975B-C3E0-31EF-0A75-CC7C0409EC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3978D7-4EB9-47CE-AC92-0D3B82C2C8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9704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39959b825de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 dirty="0">
                <a:solidFill>
                  <a:srgbClr val="273239"/>
                </a:solidFill>
                <a:highlight>
                  <a:schemeClr val="lt1"/>
                </a:highlight>
                <a:ea typeface="Nunito"/>
                <a:cs typeface="Nunito"/>
                <a:sym typeface="Nunito"/>
              </a:rPr>
              <a:t>Confusion matrix</a:t>
            </a:r>
            <a:endParaRPr sz="4000" dirty="0"/>
          </a:p>
        </p:txBody>
      </p:sp>
      <p:sp>
        <p:nvSpPr>
          <p:cNvPr id="868" name="Google Shape;868;g39959b825de_0_0"/>
          <p:cNvSpPr txBox="1">
            <a:spLocks noGrp="1"/>
          </p:cNvSpPr>
          <p:nvPr>
            <p:ph type="body" idx="1"/>
          </p:nvPr>
        </p:nvSpPr>
        <p:spPr>
          <a:xfrm>
            <a:off x="838200" y="1530626"/>
            <a:ext cx="10515600" cy="464619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 b="1" dirty="0">
                <a:highlight>
                  <a:srgbClr val="FFFFFF"/>
                </a:highlight>
              </a:rPr>
              <a:t>Confusion matrix</a:t>
            </a:r>
            <a:r>
              <a:rPr lang="en-US" sz="2400" dirty="0">
                <a:highlight>
                  <a:srgbClr val="FFFFFF"/>
                </a:highlight>
              </a:rPr>
              <a:t> is a simple table used to measure how well a classification model is performing. </a:t>
            </a:r>
          </a:p>
          <a:p>
            <a:r>
              <a:rPr lang="en-US" sz="2400" dirty="0">
                <a:highlight>
                  <a:srgbClr val="FFFFFF"/>
                </a:highlight>
              </a:rPr>
              <a:t>It compares the predictions made by the model with the actual results and shows where the model was right or wrong. </a:t>
            </a:r>
          </a:p>
          <a:p>
            <a:r>
              <a:rPr lang="en-US" sz="2400" dirty="0">
                <a:highlight>
                  <a:srgbClr val="FFFFFF"/>
                </a:highlight>
              </a:rPr>
              <a:t>This helps you understand where the model is making mistakes so you can improve it.</a:t>
            </a:r>
          </a:p>
          <a:p>
            <a:r>
              <a:rPr lang="en-US" sz="2400" dirty="0">
                <a:highlight>
                  <a:srgbClr val="FFFFFF"/>
                </a:highlight>
              </a:rPr>
              <a:t>Confusion matrix plays major role to understand accuracy and performance of machine learning of classification problem.</a:t>
            </a:r>
            <a:endParaRPr lang="en-IN" sz="2400" dirty="0"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8141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35F4C-C6C0-B999-A897-AD6014C90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7753"/>
          </a:xfrm>
        </p:spPr>
        <p:txBody>
          <a:bodyPr/>
          <a:lstStyle/>
          <a:p>
            <a:r>
              <a:rPr lang="en-US" b="1" dirty="0">
                <a:solidFill>
                  <a:srgbClr val="273239"/>
                </a:solidFill>
                <a:highlight>
                  <a:schemeClr val="lt1"/>
                </a:highlight>
                <a:ea typeface="Nunito"/>
                <a:cs typeface="Nunito"/>
                <a:sym typeface="Nunito"/>
              </a:rPr>
              <a:t>Confusion matrix</a:t>
            </a:r>
            <a:endParaRPr lang="en-IN" dirty="0"/>
          </a:p>
        </p:txBody>
      </p:sp>
      <p:pic>
        <p:nvPicPr>
          <p:cNvPr id="5" name="Content Placeholder 10">
            <a:extLst>
              <a:ext uri="{FF2B5EF4-FFF2-40B4-BE49-F238E27FC236}">
                <a16:creationId xmlns:a16="http://schemas.microsoft.com/office/drawing/2014/main" id="{CA9D676F-91ED-0E10-796E-01800CD20E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74460" y="1253330"/>
            <a:ext cx="10593469" cy="5398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0521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 binary classifier predicts all data instances of a test data set as either positive or negative. This produces four outcomes-</a:t>
            </a:r>
          </a:p>
          <a:p>
            <a:r>
              <a:rPr lang="en-US" sz="2400" dirty="0"/>
              <a:t>True-positive(TP) — Correct positive prediction</a:t>
            </a:r>
          </a:p>
          <a:p>
            <a:r>
              <a:rPr lang="en-US" sz="2400" dirty="0"/>
              <a:t>False-positive(FP) — Incorrect positive prediction (Type I error)</a:t>
            </a:r>
          </a:p>
          <a:p>
            <a:r>
              <a:rPr lang="en-US" sz="2400" dirty="0"/>
              <a:t>True-negative(TN) — Correct negative prediction</a:t>
            </a:r>
          </a:p>
          <a:p>
            <a:r>
              <a:rPr lang="en-US" sz="2400" dirty="0"/>
              <a:t>False-negative(FN) — Incorrect negative prediction ( Type II error)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41543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39959b825de_0_0"/>
          <p:cNvSpPr txBox="1">
            <a:spLocks noGrp="1"/>
          </p:cNvSpPr>
          <p:nvPr>
            <p:ph type="title"/>
          </p:nvPr>
        </p:nvSpPr>
        <p:spPr>
          <a:xfrm>
            <a:off x="838200" y="149087"/>
            <a:ext cx="10515600" cy="89452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 dirty="0">
                <a:solidFill>
                  <a:srgbClr val="273239"/>
                </a:solidFill>
                <a:highlight>
                  <a:schemeClr val="lt1"/>
                </a:highlight>
                <a:ea typeface="Nunito"/>
                <a:cs typeface="Nunito"/>
                <a:sym typeface="Nunito"/>
              </a:rPr>
              <a:t>Confusion matrix</a:t>
            </a:r>
            <a:endParaRPr sz="4000" dirty="0"/>
          </a:p>
        </p:txBody>
      </p:sp>
      <p:sp>
        <p:nvSpPr>
          <p:cNvPr id="868" name="Google Shape;868;g39959b825de_0_0"/>
          <p:cNvSpPr txBox="1">
            <a:spLocks noGrp="1"/>
          </p:cNvSpPr>
          <p:nvPr>
            <p:ph type="body" idx="1"/>
          </p:nvPr>
        </p:nvSpPr>
        <p:spPr>
          <a:xfrm>
            <a:off x="337931" y="1043610"/>
            <a:ext cx="11216760" cy="547646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828675" lvl="0" indent="-457200">
              <a:lnSpc>
                <a:spcPct val="100000"/>
              </a:lnSpc>
              <a:spcBef>
                <a:spcPts val="800"/>
              </a:spcBef>
              <a:buClr>
                <a:srgbClr val="273239"/>
              </a:buClr>
              <a:buSzPct val="100000"/>
              <a:buFont typeface="+mj-lt"/>
              <a:buAutoNum type="arabicPeriod"/>
            </a:pPr>
            <a:r>
              <a:rPr lang="en-US" sz="2400" b="1" dirty="0">
                <a:solidFill>
                  <a:srgbClr val="273239"/>
                </a:solidFill>
                <a:highlight>
                  <a:srgbClr val="FFFFFF"/>
                </a:highlight>
                <a:ea typeface="Nunito"/>
                <a:cs typeface="Nunito"/>
                <a:sym typeface="Nunito"/>
              </a:rPr>
              <a:t>True Positive (TP)</a:t>
            </a:r>
            <a:r>
              <a:rPr lang="en-US" sz="2400" dirty="0">
                <a:solidFill>
                  <a:srgbClr val="273239"/>
                </a:solidFill>
                <a:highlight>
                  <a:srgbClr val="FFFFFF"/>
                </a:highlight>
                <a:ea typeface="Nunito"/>
                <a:cs typeface="Nunito"/>
                <a:sym typeface="Nunito"/>
              </a:rPr>
              <a:t> </a:t>
            </a:r>
          </a:p>
          <a:p>
            <a:pPr marL="1143000" lvl="1" indent="-314325">
              <a:lnSpc>
                <a:spcPct val="100000"/>
              </a:lnSpc>
              <a:spcBef>
                <a:spcPts val="800"/>
              </a:spcBef>
              <a:buClr>
                <a:srgbClr val="273239"/>
              </a:buClr>
              <a:buSzPts val="1350"/>
              <a:buFont typeface="Nunito"/>
              <a:buChar char="●"/>
            </a:pPr>
            <a:r>
              <a:rPr lang="en-US" sz="2000" dirty="0">
                <a:solidFill>
                  <a:srgbClr val="273239"/>
                </a:solidFill>
                <a:highlight>
                  <a:srgbClr val="FFFFFF"/>
                </a:highlight>
                <a:ea typeface="Nunito"/>
                <a:cs typeface="Nunito"/>
                <a:sym typeface="Nunito"/>
              </a:rPr>
              <a:t>The model correctly predicted a positive outcome </a:t>
            </a:r>
            <a:r>
              <a:rPr lang="en-US" sz="2000" dirty="0" err="1">
                <a:solidFill>
                  <a:srgbClr val="273239"/>
                </a:solidFill>
                <a:highlight>
                  <a:srgbClr val="FFFFFF"/>
                </a:highlight>
                <a:ea typeface="Nunito"/>
                <a:cs typeface="Nunito"/>
                <a:sym typeface="Nunito"/>
              </a:rPr>
              <a:t>i.e</a:t>
            </a:r>
            <a:r>
              <a:rPr lang="en-US" sz="2000" dirty="0">
                <a:solidFill>
                  <a:srgbClr val="273239"/>
                </a:solidFill>
                <a:highlight>
                  <a:srgbClr val="FFFFFF"/>
                </a:highlight>
                <a:ea typeface="Nunito"/>
                <a:cs typeface="Nunito"/>
                <a:sym typeface="Nunito"/>
              </a:rPr>
              <a:t> the actual outcome was positive. </a:t>
            </a:r>
          </a:p>
          <a:p>
            <a:pPr marL="1143000" lvl="1" indent="-314325">
              <a:lnSpc>
                <a:spcPct val="100000"/>
              </a:lnSpc>
              <a:spcBef>
                <a:spcPts val="800"/>
              </a:spcBef>
              <a:buClr>
                <a:srgbClr val="273239"/>
              </a:buClr>
              <a:buSzPts val="1350"/>
              <a:buFont typeface="Nunito"/>
              <a:buChar char="●"/>
            </a:pPr>
            <a:r>
              <a:rPr lang="en-US" sz="2000" dirty="0">
                <a:highlight>
                  <a:srgbClr val="FFFFFF"/>
                </a:highlight>
              </a:rPr>
              <a:t>Example: Sick person correctly diagnosed as sick</a:t>
            </a:r>
            <a:endParaRPr lang="en-US" sz="2000" dirty="0">
              <a:solidFill>
                <a:srgbClr val="273239"/>
              </a:solidFill>
              <a:highlight>
                <a:srgbClr val="FFFFFF"/>
              </a:highlight>
              <a:ea typeface="Nunito"/>
              <a:cs typeface="Nunito"/>
              <a:sym typeface="Nunito"/>
            </a:endParaRPr>
          </a:p>
          <a:p>
            <a:pPr marL="828675" lvl="0" indent="-457200">
              <a:lnSpc>
                <a:spcPct val="100000"/>
              </a:lnSpc>
              <a:spcBef>
                <a:spcPts val="0"/>
              </a:spcBef>
              <a:buClr>
                <a:srgbClr val="273239"/>
              </a:buClr>
              <a:buSzPct val="100000"/>
              <a:buFont typeface="+mj-lt"/>
              <a:buAutoNum type="arabicPeriod"/>
            </a:pPr>
            <a:r>
              <a:rPr lang="en-US" sz="2400" b="1" dirty="0">
                <a:solidFill>
                  <a:srgbClr val="273239"/>
                </a:solidFill>
                <a:highlight>
                  <a:srgbClr val="FFFFFF"/>
                </a:highlight>
                <a:ea typeface="Nunito"/>
                <a:cs typeface="Nunito"/>
                <a:sym typeface="Nunito"/>
              </a:rPr>
              <a:t>True Negative (TN)</a:t>
            </a:r>
            <a:r>
              <a:rPr lang="en-US" sz="2400" dirty="0">
                <a:solidFill>
                  <a:srgbClr val="273239"/>
                </a:solidFill>
                <a:highlight>
                  <a:srgbClr val="FFFFFF"/>
                </a:highlight>
                <a:ea typeface="Nunito"/>
                <a:cs typeface="Nunito"/>
                <a:sym typeface="Nunito"/>
              </a:rPr>
              <a:t> </a:t>
            </a:r>
          </a:p>
          <a:p>
            <a:pPr marL="1143000" lvl="1" indent="-314325">
              <a:lnSpc>
                <a:spcPct val="100000"/>
              </a:lnSpc>
              <a:spcBef>
                <a:spcPts val="0"/>
              </a:spcBef>
              <a:buClr>
                <a:srgbClr val="273239"/>
              </a:buClr>
              <a:buSzPts val="1350"/>
              <a:buFont typeface="Nunito"/>
              <a:buChar char="●"/>
            </a:pPr>
            <a:r>
              <a:rPr lang="en-US" sz="2000" dirty="0">
                <a:solidFill>
                  <a:srgbClr val="273239"/>
                </a:solidFill>
                <a:highlight>
                  <a:srgbClr val="FFFFFF"/>
                </a:highlight>
                <a:ea typeface="Nunito"/>
                <a:cs typeface="Nunito"/>
                <a:sym typeface="Nunito"/>
              </a:rPr>
              <a:t>The model correctly predicted a negative outcome </a:t>
            </a:r>
            <a:r>
              <a:rPr lang="en-US" sz="2000" dirty="0" err="1">
                <a:solidFill>
                  <a:srgbClr val="273239"/>
                </a:solidFill>
                <a:highlight>
                  <a:srgbClr val="FFFFFF"/>
                </a:highlight>
                <a:ea typeface="Nunito"/>
                <a:cs typeface="Nunito"/>
                <a:sym typeface="Nunito"/>
              </a:rPr>
              <a:t>i.e</a:t>
            </a:r>
            <a:r>
              <a:rPr lang="en-US" sz="2000" dirty="0">
                <a:solidFill>
                  <a:srgbClr val="273239"/>
                </a:solidFill>
                <a:highlight>
                  <a:srgbClr val="FFFFFF"/>
                </a:highlight>
                <a:ea typeface="Nunito"/>
                <a:cs typeface="Nunito"/>
                <a:sym typeface="Nunito"/>
              </a:rPr>
              <a:t> the actual outcome was negative. </a:t>
            </a:r>
          </a:p>
          <a:p>
            <a:pPr marL="1143000" lvl="1" indent="-314325">
              <a:lnSpc>
                <a:spcPct val="100000"/>
              </a:lnSpc>
              <a:spcBef>
                <a:spcPts val="0"/>
              </a:spcBef>
              <a:buClr>
                <a:srgbClr val="273239"/>
              </a:buClr>
              <a:buSzPts val="1350"/>
              <a:buFont typeface="Nunito"/>
              <a:buChar char="●"/>
            </a:pPr>
            <a:r>
              <a:rPr lang="en-US" sz="2000" dirty="0">
                <a:highlight>
                  <a:srgbClr val="FFFFFF"/>
                </a:highlight>
              </a:rPr>
              <a:t>Example: Healthy person correctly diagnosed as healthy</a:t>
            </a:r>
          </a:p>
          <a:p>
            <a:pPr marL="828675" lvl="0" indent="-457200">
              <a:lnSpc>
                <a:spcPct val="100000"/>
              </a:lnSpc>
              <a:spcBef>
                <a:spcPts val="0"/>
              </a:spcBef>
              <a:buClr>
                <a:srgbClr val="273239"/>
              </a:buClr>
              <a:buSzPct val="100000"/>
              <a:buFont typeface="+mj-lt"/>
              <a:buAutoNum type="arabicPeriod"/>
            </a:pPr>
            <a:r>
              <a:rPr lang="en-US" sz="2400" b="1" dirty="0">
                <a:solidFill>
                  <a:srgbClr val="273239"/>
                </a:solidFill>
                <a:highlight>
                  <a:srgbClr val="FFFFFF"/>
                </a:highlight>
                <a:ea typeface="Nunito"/>
                <a:cs typeface="Nunito"/>
                <a:sym typeface="Nunito"/>
              </a:rPr>
              <a:t>False Positive (FP)</a:t>
            </a:r>
            <a:r>
              <a:rPr lang="en-US" sz="2400" dirty="0">
                <a:solidFill>
                  <a:srgbClr val="273239"/>
                </a:solidFill>
                <a:highlight>
                  <a:srgbClr val="FFFFFF"/>
                </a:highlight>
                <a:ea typeface="Nunito"/>
                <a:cs typeface="Nunito"/>
                <a:sym typeface="Nunito"/>
              </a:rPr>
              <a:t> </a:t>
            </a:r>
          </a:p>
          <a:p>
            <a:pPr marL="1143000" lvl="1" indent="-314325">
              <a:lnSpc>
                <a:spcPct val="100000"/>
              </a:lnSpc>
              <a:spcBef>
                <a:spcPts val="0"/>
              </a:spcBef>
              <a:buClr>
                <a:srgbClr val="273239"/>
              </a:buClr>
              <a:buSzPts val="1350"/>
              <a:buFont typeface="Nunito"/>
              <a:buChar char="●"/>
            </a:pPr>
            <a:r>
              <a:rPr lang="en-US" sz="2000" dirty="0">
                <a:solidFill>
                  <a:srgbClr val="273239"/>
                </a:solidFill>
                <a:highlight>
                  <a:srgbClr val="FFFFFF"/>
                </a:highlight>
                <a:ea typeface="Nunito"/>
                <a:cs typeface="Nunito"/>
                <a:sym typeface="Nunito"/>
              </a:rPr>
              <a:t>The model incorrectly predicted a positive outcome </a:t>
            </a:r>
            <a:r>
              <a:rPr lang="en-US" sz="2000" dirty="0" err="1">
                <a:solidFill>
                  <a:srgbClr val="273239"/>
                </a:solidFill>
                <a:highlight>
                  <a:srgbClr val="FFFFFF"/>
                </a:highlight>
                <a:ea typeface="Nunito"/>
                <a:cs typeface="Nunito"/>
                <a:sym typeface="Nunito"/>
              </a:rPr>
              <a:t>i.e</a:t>
            </a:r>
            <a:r>
              <a:rPr lang="en-US" sz="2000" dirty="0">
                <a:solidFill>
                  <a:srgbClr val="273239"/>
                </a:solidFill>
                <a:highlight>
                  <a:srgbClr val="FFFFFF"/>
                </a:highlight>
                <a:ea typeface="Nunito"/>
                <a:cs typeface="Nunito"/>
                <a:sym typeface="Nunito"/>
              </a:rPr>
              <a:t> the actual outcome was negative. It is also known as a </a:t>
            </a:r>
            <a:r>
              <a:rPr lang="en-US" sz="2000" b="1" dirty="0">
                <a:solidFill>
                  <a:srgbClr val="273239"/>
                </a:solidFill>
                <a:highlight>
                  <a:srgbClr val="FFFFFF"/>
                </a:highlight>
                <a:ea typeface="Nunito"/>
                <a:cs typeface="Nunito"/>
                <a:sym typeface="Nunito"/>
              </a:rPr>
              <a:t>Type I error.</a:t>
            </a:r>
          </a:p>
          <a:p>
            <a:pPr marL="1143000" lvl="1" indent="-314325">
              <a:lnSpc>
                <a:spcPct val="100000"/>
              </a:lnSpc>
              <a:spcBef>
                <a:spcPts val="0"/>
              </a:spcBef>
              <a:buClr>
                <a:srgbClr val="273239"/>
              </a:buClr>
              <a:buSzPts val="1350"/>
              <a:buFont typeface="Nunito"/>
              <a:buChar char="●"/>
            </a:pPr>
            <a:r>
              <a:rPr lang="en-US" sz="2000" dirty="0"/>
              <a:t>Example: Healthy person wrongly diagnosed as sick</a:t>
            </a:r>
            <a:endParaRPr lang="en-US" sz="2000" dirty="0">
              <a:solidFill>
                <a:srgbClr val="273239"/>
              </a:solidFill>
              <a:highlight>
                <a:srgbClr val="FFFFFF"/>
              </a:highlight>
              <a:ea typeface="Nunito"/>
              <a:cs typeface="Nunito"/>
              <a:sym typeface="Nunito"/>
            </a:endParaRPr>
          </a:p>
          <a:p>
            <a:pPr marL="828675" lvl="0" indent="-457200">
              <a:lnSpc>
                <a:spcPct val="100000"/>
              </a:lnSpc>
              <a:spcBef>
                <a:spcPts val="0"/>
              </a:spcBef>
              <a:buClr>
                <a:srgbClr val="273239"/>
              </a:buClr>
              <a:buSzPct val="100000"/>
              <a:buFont typeface="+mj-lt"/>
              <a:buAutoNum type="arabicPeriod"/>
            </a:pPr>
            <a:r>
              <a:rPr lang="en-US" sz="2400" b="1" dirty="0">
                <a:solidFill>
                  <a:srgbClr val="273239"/>
                </a:solidFill>
                <a:highlight>
                  <a:srgbClr val="FFFFFF"/>
                </a:highlight>
                <a:ea typeface="Nunito"/>
                <a:cs typeface="Nunito"/>
                <a:sym typeface="Nunito"/>
              </a:rPr>
              <a:t>False Negative (FN)</a:t>
            </a:r>
            <a:r>
              <a:rPr lang="en-US" sz="2400" dirty="0">
                <a:solidFill>
                  <a:srgbClr val="273239"/>
                </a:solidFill>
                <a:highlight>
                  <a:srgbClr val="FFFFFF"/>
                </a:highlight>
                <a:ea typeface="Nunito"/>
                <a:cs typeface="Nunito"/>
                <a:sym typeface="Nunito"/>
              </a:rPr>
              <a:t> </a:t>
            </a:r>
          </a:p>
          <a:p>
            <a:pPr marL="1143000" lvl="1" indent="-314325">
              <a:lnSpc>
                <a:spcPct val="100000"/>
              </a:lnSpc>
              <a:spcBef>
                <a:spcPts val="0"/>
              </a:spcBef>
              <a:buClr>
                <a:srgbClr val="273239"/>
              </a:buClr>
              <a:buSzPts val="1350"/>
              <a:buFont typeface="Nunito"/>
              <a:buChar char="●"/>
            </a:pPr>
            <a:r>
              <a:rPr lang="en-US" sz="2000" dirty="0">
                <a:solidFill>
                  <a:srgbClr val="273239"/>
                </a:solidFill>
                <a:highlight>
                  <a:srgbClr val="FFFFFF"/>
                </a:highlight>
                <a:ea typeface="Nunito"/>
                <a:cs typeface="Nunito"/>
                <a:sym typeface="Nunito"/>
              </a:rPr>
              <a:t>The model incorrectly predicted a negative outcome </a:t>
            </a:r>
            <a:r>
              <a:rPr lang="en-US" sz="2000" dirty="0" err="1">
                <a:solidFill>
                  <a:srgbClr val="273239"/>
                </a:solidFill>
                <a:highlight>
                  <a:srgbClr val="FFFFFF"/>
                </a:highlight>
                <a:ea typeface="Nunito"/>
                <a:cs typeface="Nunito"/>
                <a:sym typeface="Nunito"/>
              </a:rPr>
              <a:t>i.e</a:t>
            </a:r>
            <a:r>
              <a:rPr lang="en-US" sz="2000" dirty="0">
                <a:solidFill>
                  <a:srgbClr val="273239"/>
                </a:solidFill>
                <a:highlight>
                  <a:srgbClr val="FFFFFF"/>
                </a:highlight>
                <a:ea typeface="Nunito"/>
                <a:cs typeface="Nunito"/>
                <a:sym typeface="Nunito"/>
              </a:rPr>
              <a:t> the actual outcome was positive. It is also known as a </a:t>
            </a:r>
            <a:r>
              <a:rPr lang="en-US" sz="2000" b="1" dirty="0">
                <a:solidFill>
                  <a:srgbClr val="273239"/>
                </a:solidFill>
                <a:highlight>
                  <a:srgbClr val="FFFFFF"/>
                </a:highlight>
                <a:ea typeface="Nunito"/>
                <a:cs typeface="Nunito"/>
                <a:sym typeface="Nunito"/>
              </a:rPr>
              <a:t>Type II error.</a:t>
            </a:r>
          </a:p>
          <a:p>
            <a:pPr marL="1143000" lvl="1" indent="-314325">
              <a:lnSpc>
                <a:spcPct val="100000"/>
              </a:lnSpc>
              <a:spcBef>
                <a:spcPts val="0"/>
              </a:spcBef>
              <a:buClr>
                <a:srgbClr val="273239"/>
              </a:buClr>
              <a:buSzPts val="1350"/>
              <a:buFont typeface="Nunito"/>
              <a:buChar char="●"/>
            </a:pPr>
            <a:r>
              <a:rPr lang="en-US" sz="2000" dirty="0"/>
              <a:t>Example: Sick person wrongly diagnosed as healthy</a:t>
            </a:r>
          </a:p>
        </p:txBody>
      </p:sp>
    </p:spTree>
    <p:extLst>
      <p:ext uri="{BB962C8B-B14F-4D97-AF65-F5344CB8AC3E}">
        <p14:creationId xmlns:p14="http://schemas.microsoft.com/office/powerpoint/2010/main" val="1722494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39277-9187-28E6-64C0-1F9757947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Performance metrics</a:t>
            </a:r>
          </a:p>
        </p:txBody>
      </p:sp>
      <p:sp>
        <p:nvSpPr>
          <p:cNvPr id="874" name="Google Shape;874;g39959b825de_0_7"/>
          <p:cNvSpPr txBox="1">
            <a:spLocks noGrp="1"/>
          </p:cNvSpPr>
          <p:nvPr>
            <p:ph idx="1"/>
          </p:nvPr>
        </p:nvSpPr>
        <p:spPr>
          <a:xfrm>
            <a:off x="838200" y="1441174"/>
            <a:ext cx="10515600" cy="473578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US" sz="2400" b="1" dirty="0">
                <a:solidFill>
                  <a:srgbClr val="273239"/>
                </a:solidFill>
                <a:highlight>
                  <a:srgbClr val="FFFFFF"/>
                </a:highlight>
                <a:ea typeface="Nunito"/>
                <a:cs typeface="Nunito"/>
                <a:sym typeface="Nunito"/>
              </a:rPr>
              <a:t>Accuracy  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US" sz="2000" dirty="0">
                <a:solidFill>
                  <a:srgbClr val="273239"/>
                </a:solidFill>
                <a:highlight>
                  <a:srgbClr val="FFFFFF"/>
                </a:highlight>
                <a:ea typeface="Nunito"/>
                <a:cs typeface="Nunito"/>
                <a:sym typeface="Nunito"/>
              </a:rPr>
              <a:t>Shows how many predictions the model got right out of all the predictions.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US" sz="2000" dirty="0"/>
              <a:t>Overall correctness of the model</a:t>
            </a:r>
            <a:endParaRPr lang="en-US" sz="2000" dirty="0">
              <a:solidFill>
                <a:srgbClr val="273239"/>
              </a:solidFill>
              <a:highlight>
                <a:srgbClr val="FFFFFF"/>
              </a:highlight>
              <a:ea typeface="Nunito"/>
              <a:cs typeface="Nunito"/>
              <a:sym typeface="Nunito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US" sz="2000" dirty="0"/>
              <a:t>High accuracy does </a:t>
            </a:r>
            <a:r>
              <a:rPr lang="en-US" sz="2000" b="1" dirty="0"/>
              <a:t>not</a:t>
            </a:r>
            <a:r>
              <a:rPr lang="en-US" sz="2000" dirty="0"/>
              <a:t> always mean good performance (especially with imbalanced data)</a:t>
            </a:r>
            <a:endParaRPr lang="en-US" sz="2000" dirty="0">
              <a:solidFill>
                <a:srgbClr val="273239"/>
              </a:solidFill>
              <a:highlight>
                <a:srgbClr val="FFFFFF"/>
              </a:highlight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2400" dirty="0">
              <a:solidFill>
                <a:srgbClr val="273239"/>
              </a:solidFill>
              <a:highlight>
                <a:srgbClr val="FFFFFF"/>
              </a:highlight>
              <a:ea typeface="Nunito"/>
              <a:cs typeface="Nunito"/>
              <a:sym typeface="Nunito"/>
            </a:endParaRP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 startAt="2"/>
            </a:pPr>
            <a:r>
              <a:rPr lang="en-IN" sz="2400" b="1" dirty="0">
                <a:highlight>
                  <a:srgbClr val="FFFFFF"/>
                </a:highlight>
              </a:rPr>
              <a:t>Error Rate</a:t>
            </a:r>
            <a:endParaRPr lang="en-US" sz="2400" b="1" dirty="0">
              <a:highlight>
                <a:srgbClr val="FFFFFF"/>
              </a:highlight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IN" sz="2000" dirty="0"/>
              <a:t>Fraction of wrong predictions</a:t>
            </a:r>
            <a:endParaRPr lang="en-US" sz="2000" dirty="0">
              <a:solidFill>
                <a:srgbClr val="273239"/>
              </a:solidFill>
              <a:highlight>
                <a:srgbClr val="FFFFFF"/>
              </a:highlight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273239"/>
              </a:solidFill>
              <a:highlight>
                <a:srgbClr val="FFFFFF"/>
              </a:highlight>
              <a:ea typeface="Nunito"/>
              <a:cs typeface="Nunito"/>
              <a:sym typeface="Nunito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5AB86C-A074-40B1-DD91-9CAF17DAC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1945" y="3577826"/>
            <a:ext cx="6130575" cy="11035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414D3C-F9B6-FB36-B32B-07FA67927A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5630" y="5174507"/>
            <a:ext cx="5243608" cy="1002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950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>
          <a:extLst>
            <a:ext uri="{FF2B5EF4-FFF2-40B4-BE49-F238E27FC236}">
              <a16:creationId xmlns:a16="http://schemas.microsoft.com/office/drawing/2014/main" id="{DE8A007F-E131-2A29-40EA-DF06C15DE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D0BF9-80F3-C34A-7CD2-4F4D0EB32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Performance metrics</a:t>
            </a:r>
          </a:p>
        </p:txBody>
      </p:sp>
      <p:sp>
        <p:nvSpPr>
          <p:cNvPr id="874" name="Google Shape;874;g39959b825de_0_7">
            <a:extLst>
              <a:ext uri="{FF2B5EF4-FFF2-40B4-BE49-F238E27FC236}">
                <a16:creationId xmlns:a16="http://schemas.microsoft.com/office/drawing/2014/main" id="{2A72A762-9E3E-6063-5220-07FA7F70F3C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441174"/>
            <a:ext cx="10515600" cy="505170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 startAt="3"/>
            </a:pPr>
            <a:r>
              <a:rPr lang="en-IN" sz="2400" b="1" dirty="0">
                <a:highlight>
                  <a:srgbClr val="FFFFFF"/>
                </a:highlight>
              </a:rPr>
              <a:t>Precision (Positive Predictive Value)</a:t>
            </a:r>
            <a:endParaRPr lang="en-US" sz="2400" b="1" dirty="0">
              <a:solidFill>
                <a:srgbClr val="273239"/>
              </a:solidFill>
              <a:highlight>
                <a:srgbClr val="FFFFFF"/>
              </a:highlight>
              <a:ea typeface="Nunito"/>
              <a:cs typeface="Nunito"/>
              <a:sym typeface="Nunito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2000" dirty="0">
                <a:highlight>
                  <a:srgbClr val="FFFFFF"/>
                </a:highlight>
              </a:rPr>
              <a:t>Shows how many predicted positives are actually positive</a:t>
            </a:r>
            <a:endParaRPr lang="en-US" sz="2000" dirty="0">
              <a:solidFill>
                <a:srgbClr val="273239"/>
              </a:solidFill>
              <a:highlight>
                <a:srgbClr val="FFFFFF"/>
              </a:highlight>
              <a:ea typeface="Nunito"/>
              <a:cs typeface="Nunito"/>
              <a:sym typeface="Nunito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2000" dirty="0">
                <a:solidFill>
                  <a:srgbClr val="273239"/>
                </a:solidFill>
                <a:highlight>
                  <a:srgbClr val="FFFFFF"/>
                </a:highlight>
                <a:ea typeface="Nunito"/>
                <a:cs typeface="Nunito"/>
                <a:sym typeface="Nunito"/>
              </a:rPr>
              <a:t>Focus on the quality of the model’s positive predictions.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2000" dirty="0"/>
              <a:t>Important when </a:t>
            </a:r>
            <a:r>
              <a:rPr lang="en-US" sz="2000" b="1" dirty="0"/>
              <a:t>false positives are costly</a:t>
            </a:r>
            <a:endParaRPr lang="en-US" sz="2000" dirty="0">
              <a:solidFill>
                <a:srgbClr val="273239"/>
              </a:solidFill>
              <a:highlight>
                <a:srgbClr val="FFFFFF"/>
              </a:highlight>
              <a:ea typeface="Nunito"/>
              <a:cs typeface="Nunito"/>
              <a:sym typeface="Nunito"/>
            </a:endParaRP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 startAt="4"/>
            </a:pPr>
            <a:r>
              <a:rPr lang="en-US" sz="2400" b="1" dirty="0">
                <a:highlight>
                  <a:srgbClr val="FFFFFF"/>
                </a:highlight>
              </a:rPr>
              <a:t>Recall / Sensitivity / True Positive Rate (TPR)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IN" sz="2000" dirty="0">
                <a:solidFill>
                  <a:srgbClr val="273239"/>
                </a:solidFill>
                <a:highlight>
                  <a:srgbClr val="FFFFFF"/>
                </a:highlight>
              </a:rPr>
              <a:t>How many actual positives are correctly identified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IN" sz="2000" dirty="0">
                <a:solidFill>
                  <a:srgbClr val="273239"/>
                </a:solidFill>
                <a:highlight>
                  <a:srgbClr val="FFFFFF"/>
                </a:highlight>
              </a:rPr>
              <a:t>Important when missing positives is dangerous (e.g., disease detection)</a:t>
            </a: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 startAt="5"/>
            </a:pPr>
            <a:r>
              <a:rPr lang="en-US" sz="2400" b="1" dirty="0"/>
              <a:t>Specificity / True Negative Rate (TNR)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IN" sz="2000" dirty="0">
                <a:solidFill>
                  <a:srgbClr val="273239"/>
                </a:solidFill>
                <a:highlight>
                  <a:srgbClr val="FFFFFF"/>
                </a:highlight>
              </a:rPr>
              <a:t>How many actual negatives are correctly identified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IN" sz="2000" dirty="0">
                <a:solidFill>
                  <a:srgbClr val="273239"/>
                </a:solidFill>
                <a:highlight>
                  <a:srgbClr val="FFFFFF"/>
                </a:highlight>
              </a:rPr>
              <a:t>Important when false alarms should be minimized</a:t>
            </a: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 startAt="5"/>
            </a:pPr>
            <a:endParaRPr lang="en-IN" sz="2400" b="1" dirty="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endParaRPr lang="en-US" sz="2000" dirty="0">
              <a:solidFill>
                <a:srgbClr val="273239"/>
              </a:solidFill>
              <a:highlight>
                <a:srgbClr val="FFFFFF"/>
              </a:highlight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273239"/>
              </a:solidFill>
              <a:highlight>
                <a:srgbClr val="FFFFFF"/>
              </a:highlight>
              <a:ea typeface="Nunito"/>
              <a:cs typeface="Nunito"/>
              <a:sym typeface="Nunito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82F216-AE37-0943-7DB3-0CC4F8794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9892" y="1441173"/>
            <a:ext cx="3643858" cy="11529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0E53FB-FECA-B241-B41B-18FCFC07B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9040" y="3229483"/>
            <a:ext cx="3382786" cy="10344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0D36C3-BF42-E049-0007-71B2EEE69A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9040" y="5228141"/>
            <a:ext cx="3518942" cy="93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54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43C56-396B-4BD8-087F-13379EC7B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Performance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EF967-7258-DAB4-3013-0498524C2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748"/>
            <a:ext cx="10515600" cy="466621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en-IN" b="1" dirty="0"/>
              <a:t>False Positive Rate (FPR)</a:t>
            </a:r>
          </a:p>
          <a:p>
            <a:pPr lvl="1"/>
            <a:r>
              <a:rPr lang="en-IN" dirty="0"/>
              <a:t>Probability of falsely predicting positive</a:t>
            </a:r>
          </a:p>
          <a:p>
            <a:pPr lvl="1"/>
            <a:r>
              <a:rPr lang="en-IN" dirty="0"/>
              <a:t>Used in ROC curve analysis</a:t>
            </a:r>
          </a:p>
          <a:p>
            <a:pPr marL="514350" indent="-514350">
              <a:buFont typeface="+mj-lt"/>
              <a:buAutoNum type="arabicPeriod" startAt="7"/>
            </a:pPr>
            <a:r>
              <a:rPr lang="en-US" b="1" dirty="0"/>
              <a:t>Negative Predictive Value (NPV)</a:t>
            </a:r>
          </a:p>
          <a:p>
            <a:pPr lvl="1"/>
            <a:r>
              <a:rPr lang="en-US" dirty="0"/>
              <a:t>How many predicted negatives are actually negative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en-IN" b="1" dirty="0"/>
              <a:t>F-Score (F</a:t>
            </a:r>
            <a:r>
              <a:rPr lang="el-GR" b="1" dirty="0"/>
              <a:t>β-</a:t>
            </a:r>
            <a:r>
              <a:rPr lang="en-IN" b="1" dirty="0"/>
              <a:t>score)</a:t>
            </a:r>
          </a:p>
          <a:p>
            <a:pPr lvl="1"/>
            <a:r>
              <a:rPr lang="en-IN" dirty="0"/>
              <a:t>Harmonic mean of </a:t>
            </a:r>
            <a:r>
              <a:rPr lang="en-IN" b="1" dirty="0"/>
              <a:t>Precision and Recall</a:t>
            </a:r>
            <a:endParaRPr lang="en-IN" dirty="0"/>
          </a:p>
          <a:p>
            <a:pPr lvl="1"/>
            <a:r>
              <a:rPr lang="el-GR" b="1" dirty="0"/>
              <a:t>β = 1</a:t>
            </a:r>
            <a:r>
              <a:rPr lang="el-GR" dirty="0"/>
              <a:t> → </a:t>
            </a:r>
            <a:r>
              <a:rPr lang="en-IN" dirty="0"/>
              <a:t>F1-score (Precision and Recall equally important)</a:t>
            </a:r>
          </a:p>
          <a:p>
            <a:pPr lvl="1"/>
            <a:r>
              <a:rPr lang="el-GR" b="1" dirty="0"/>
              <a:t>β &gt; 1</a:t>
            </a:r>
            <a:r>
              <a:rPr lang="el-GR" dirty="0"/>
              <a:t> → </a:t>
            </a:r>
            <a:r>
              <a:rPr lang="en-IN" dirty="0"/>
              <a:t>Recall more important</a:t>
            </a:r>
          </a:p>
          <a:p>
            <a:pPr lvl="1"/>
            <a:r>
              <a:rPr lang="el-GR" b="1" dirty="0"/>
              <a:t>β &lt; 1</a:t>
            </a:r>
            <a:r>
              <a:rPr lang="el-GR" dirty="0"/>
              <a:t> → </a:t>
            </a:r>
            <a:r>
              <a:rPr lang="en-IN" dirty="0"/>
              <a:t>Precision more important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C4A41A-2580-DDB3-6AF7-0473833FD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0688" y="769599"/>
            <a:ext cx="3144851" cy="12771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A5B39A-B653-9D23-2763-82AF6A58D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489" y="2614380"/>
            <a:ext cx="3234565" cy="9983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3F556A-41B4-5AB9-ABAB-498CD8BD27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5121922"/>
            <a:ext cx="5949887" cy="96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457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A3A1B-7570-64B6-26F7-05BEF7598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589D8-ECBA-867F-E4D8-3298223BF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Given a confusion matrix with TP = 40, TN = 45, FP = 5, and FN = 10: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Calculate the standard performance measures.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Analyze how increasing the False Negative count would affect Recall and F1-score, while keeping other parameters constant.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Interpret the suitability of this classifier for a medical diagnosis application, providing reasons.</a:t>
            </a:r>
          </a:p>
          <a:p>
            <a:endParaRPr lang="en-IN" dirty="0"/>
          </a:p>
        </p:txBody>
      </p:sp>
      <p:graphicFrame>
        <p:nvGraphicFramePr>
          <p:cNvPr id="4" name="Content Placeholder 6">
            <a:extLst>
              <a:ext uri="{FF2B5EF4-FFF2-40B4-BE49-F238E27FC236}">
                <a16:creationId xmlns:a16="http://schemas.microsoft.com/office/drawing/2014/main" id="{766F7DA8-F950-38A2-E299-0C58C59DAD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57797745"/>
              </p:ext>
            </p:extLst>
          </p:nvPr>
        </p:nvGraphicFramePr>
        <p:xfrm>
          <a:off x="1186069" y="4639586"/>
          <a:ext cx="10515600" cy="14630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74098679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0801459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2797258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506798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Actual \ Predicted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Positive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Negative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Total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8911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Positive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TP = 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FN = 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076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Negative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FP = 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TN = 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394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Total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431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3668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16D2875-B718-8F97-DDC3-81B7FE55B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528" y="1548311"/>
            <a:ext cx="8799394" cy="5070664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2D77C6FA-A1CD-B56C-1BC7-0CAFB2202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Problems</a:t>
            </a:r>
          </a:p>
        </p:txBody>
      </p:sp>
    </p:spTree>
    <p:extLst>
      <p:ext uri="{BB962C8B-B14F-4D97-AF65-F5344CB8AC3E}">
        <p14:creationId xmlns:p14="http://schemas.microsoft.com/office/powerpoint/2010/main" val="408358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3C57B-2BA0-4E3C-7413-ED8FFAA51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D5A828-C744-FC8E-A9EF-DD7A64C90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83913"/>
            <a:ext cx="9876183" cy="5135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663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77CEC-B591-F808-91DD-75AADB8A1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782E73-FA75-B9A4-47A5-D13513434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139" y="1566602"/>
            <a:ext cx="8497218" cy="4383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076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3C754-21B2-7308-9957-BBD3597D0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A8BC7-8C9C-25F3-717F-E66E2AB9D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/>
              <a:t>Analyze how increasing the False Negative count would affect Recall and F1-score, while keeping other parameters constant.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If </a:t>
            </a:r>
            <a:r>
              <a:rPr lang="en-US" altLang="en-US" sz="2000" b="1" dirty="0"/>
              <a:t>FN increases</a:t>
            </a:r>
            <a:r>
              <a:rPr lang="en-US" altLang="en-US" sz="2000" dirty="0"/>
              <a:t>, the denominator increases, </a:t>
            </a:r>
            <a:r>
              <a:rPr lang="en-US" altLang="en-US" sz="2000" b="1" dirty="0"/>
              <a:t>TP remains constant.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More actual positive cases are being misclassified as negative, so the model becomes </a:t>
            </a:r>
            <a:r>
              <a:rPr lang="en-US" sz="2000" b="1" dirty="0"/>
              <a:t>worse at detecting positive cases</a:t>
            </a:r>
            <a:r>
              <a:rPr lang="en-US" sz="2000" dirty="0"/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If Precision stays high, a </a:t>
            </a:r>
            <a:r>
              <a:rPr lang="en-US" sz="2000" b="1" dirty="0"/>
              <a:t>drop in Recall significantly lowers the F1-score</a:t>
            </a:r>
            <a:r>
              <a:rPr lang="en-US" sz="2000" dirty="0"/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/>
              <a:t>Interpret the suitability of this classifier for a medical diagnosis application, providing reasons.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The classifier has a recall of 80%, meaning some diseased patients are misclassified as healthy (False Negatives). Since medical diagnosis requires minimizing False Negatives, this classifier is </a:t>
            </a:r>
            <a:r>
              <a:rPr lang="en-US" sz="2000" b="1" dirty="0"/>
              <a:t>not ideal</a:t>
            </a:r>
            <a:r>
              <a:rPr lang="en-US" sz="2000" dirty="0"/>
              <a:t>, and higher sensitivity is needed for safe clinical use.</a:t>
            </a:r>
            <a:endParaRPr lang="en-US" altLang="en-US" sz="2000" b="1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49174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693</Words>
  <Application>Microsoft Office PowerPoint</Application>
  <PresentationFormat>Widescreen</PresentationFormat>
  <Paragraphs>87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Nunito</vt:lpstr>
      <vt:lpstr>Office Theme</vt:lpstr>
      <vt:lpstr>Confusion matrix</vt:lpstr>
      <vt:lpstr>Confusion matrix</vt:lpstr>
      <vt:lpstr>Confusion Matrix</vt:lpstr>
      <vt:lpstr>Confusion matrix</vt:lpstr>
      <vt:lpstr>Performance metrics</vt:lpstr>
      <vt:lpstr>Performance metrics</vt:lpstr>
      <vt:lpstr>Performance metrics</vt:lpstr>
      <vt:lpstr>Problems</vt:lpstr>
      <vt:lpstr>Problems</vt:lpstr>
      <vt:lpstr>Problems</vt:lpstr>
      <vt:lpstr>Problems</vt:lpstr>
      <vt:lpstr>Problems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5</cp:revision>
  <dcterms:created xsi:type="dcterms:W3CDTF">2025-12-30T07:26:19Z</dcterms:created>
  <dcterms:modified xsi:type="dcterms:W3CDTF">2026-01-01T09:11:20Z</dcterms:modified>
</cp:coreProperties>
</file>