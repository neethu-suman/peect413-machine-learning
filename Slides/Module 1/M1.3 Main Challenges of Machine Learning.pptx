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7" r:id="rId2"/>
    <p:sldId id="313" r:id="rId3"/>
    <p:sldId id="315" r:id="rId4"/>
    <p:sldId id="314" r:id="rId5"/>
    <p:sldId id="317" r:id="rId6"/>
    <p:sldId id="316" r:id="rId7"/>
    <p:sldId id="318" r:id="rId8"/>
    <p:sldId id="373" r:id="rId9"/>
    <p:sldId id="374" r:id="rId10"/>
    <p:sldId id="375" r:id="rId11"/>
    <p:sldId id="376" r:id="rId12"/>
    <p:sldId id="384" r:id="rId13"/>
    <p:sldId id="378" r:id="rId14"/>
    <p:sldId id="379" r:id="rId15"/>
    <p:sldId id="380" r:id="rId16"/>
    <p:sldId id="31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69B8-97F3-76A3-4218-88BBB337B3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41B01DF-C6E0-773E-D7D4-CA65183152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B6B59BA-9B15-E841-47EC-D224533567E0}"/>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5" name="Footer Placeholder 4">
            <a:extLst>
              <a:ext uri="{FF2B5EF4-FFF2-40B4-BE49-F238E27FC236}">
                <a16:creationId xmlns:a16="http://schemas.microsoft.com/office/drawing/2014/main" id="{8EBF005A-FE52-61B0-A405-758A0FB9AC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8C0A8B-426C-A507-1247-EDDFBB6D8481}"/>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2127547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DFB71-AA96-5752-08A2-A4E4B567E7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9F4F1B-4270-B552-ABEF-5DEDED2E05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8FD2E1-04B7-CC6E-2334-F0BAC5A7B341}"/>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5" name="Footer Placeholder 4">
            <a:extLst>
              <a:ext uri="{FF2B5EF4-FFF2-40B4-BE49-F238E27FC236}">
                <a16:creationId xmlns:a16="http://schemas.microsoft.com/office/drawing/2014/main" id="{982A2A11-B440-C478-4391-199EE21A51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C11A6A-C7FE-D2D1-BEB9-7169F7A36F5D}"/>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4236645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B8C2D-66F7-8426-FEC8-BD8E973F6C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DD87DFC-EEEB-B8E3-B68E-3298D55789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1A1C4C-9F06-20D0-5F93-68EEF4AED00E}"/>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5" name="Footer Placeholder 4">
            <a:extLst>
              <a:ext uri="{FF2B5EF4-FFF2-40B4-BE49-F238E27FC236}">
                <a16:creationId xmlns:a16="http://schemas.microsoft.com/office/drawing/2014/main" id="{F3AE48CB-733F-FEE1-1F9C-6DD9F3A2E7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3A5B08-B718-BE29-02B2-D52302472A00}"/>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3269912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C9D43-D039-3349-F0F3-D7EF820CC5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94C828-6548-469C-5ED1-ABDF21C003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BB3F85-B45A-29B6-8480-6A35227B13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23CEB3-0E12-14DB-AEC1-710F31E0AB13}"/>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6" name="Footer Placeholder 5">
            <a:extLst>
              <a:ext uri="{FF2B5EF4-FFF2-40B4-BE49-F238E27FC236}">
                <a16:creationId xmlns:a16="http://schemas.microsoft.com/office/drawing/2014/main" id="{B835F522-D3E3-0B9B-C28F-3080CF9FBE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9A0A3E-19C3-F3DE-692A-B23B1A545FC7}"/>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2907617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BA48E-1AE6-D754-5302-88A8938609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DBD546-3171-3ED7-6C6F-977E63A974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57BB00-CE4D-CC99-D58D-3B994CC0C6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444870-0BFD-B216-3178-D4E267B33A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0249E2-202C-68A3-4D68-C7EE3F022A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629B4A4-98B5-5EAA-1BF4-86589024648B}"/>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8" name="Footer Placeholder 7">
            <a:extLst>
              <a:ext uri="{FF2B5EF4-FFF2-40B4-BE49-F238E27FC236}">
                <a16:creationId xmlns:a16="http://schemas.microsoft.com/office/drawing/2014/main" id="{DADA27F6-BA03-F31A-A357-59D20FF71D8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91A7D3F-7207-239A-222C-373CC732FDE3}"/>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3538974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C1D24-E23E-52BB-DD94-8EC5C739DB0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BC7F83C-9C7B-DE3E-B161-CC81B423F62C}"/>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4" name="Footer Placeholder 3">
            <a:extLst>
              <a:ext uri="{FF2B5EF4-FFF2-40B4-BE49-F238E27FC236}">
                <a16:creationId xmlns:a16="http://schemas.microsoft.com/office/drawing/2014/main" id="{8889BC81-3896-A20F-37CE-D292DB244B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81C982D-BE9E-3E3D-0DDF-15B305B33CC3}"/>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1971818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81EE08-ED57-D1D6-2780-D979A5BE84DD}"/>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3" name="Footer Placeholder 2">
            <a:extLst>
              <a:ext uri="{FF2B5EF4-FFF2-40B4-BE49-F238E27FC236}">
                <a16:creationId xmlns:a16="http://schemas.microsoft.com/office/drawing/2014/main" id="{24DE4BE9-EDE5-E42E-13A3-F92604C6552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7BDB27-39EE-451E-378C-081FA04166EC}"/>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2907733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265C3-09C2-6C6D-9DC6-1E7525AAB6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D3DBF6E-DCB7-ABA9-13A0-CAC08D338D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CB81E2-D44B-6D27-9A27-4F563C0BF0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BEB125-6C0F-E4C4-3A6D-5917F5327D39}"/>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6" name="Footer Placeholder 5">
            <a:extLst>
              <a:ext uri="{FF2B5EF4-FFF2-40B4-BE49-F238E27FC236}">
                <a16:creationId xmlns:a16="http://schemas.microsoft.com/office/drawing/2014/main" id="{C28B2FFC-B8F9-5FF4-BA8C-DBC550D3F9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62A005-7A40-2BA0-B188-1039BD49F63F}"/>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351000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646BD-E661-F13F-EAFD-F087AB80AC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1AAEBE-14A2-C9FE-6047-66CB714A47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7F8C42-9CFE-49D3-2A21-11DC547D28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15F2C3-63DA-9719-14A7-825BF2CF8866}"/>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6" name="Footer Placeholder 5">
            <a:extLst>
              <a:ext uri="{FF2B5EF4-FFF2-40B4-BE49-F238E27FC236}">
                <a16:creationId xmlns:a16="http://schemas.microsoft.com/office/drawing/2014/main" id="{6590537C-303B-7E47-FA75-1BC6626787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413391-27BA-1493-C77D-840CBCB491CC}"/>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1474243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BEB32-68E7-B84C-8724-7AE1F3A47D2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9B0FA4-81DE-13E5-2C6B-A5771704B9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85160D-69D6-7C35-1080-83A71C78913A}"/>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5" name="Footer Placeholder 4">
            <a:extLst>
              <a:ext uri="{FF2B5EF4-FFF2-40B4-BE49-F238E27FC236}">
                <a16:creationId xmlns:a16="http://schemas.microsoft.com/office/drawing/2014/main" id="{C694F59E-78D5-49D3-CF7F-4BDE914D6F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CE091-55FE-3E76-A854-B644996F2ECA}"/>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2134196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AC6044-9BE8-855C-CBB6-7406FF1FF2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036C19-46B5-1D81-B571-143BE45E6E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131D87-37AE-898D-A058-1E43471F77D8}"/>
              </a:ext>
            </a:extLst>
          </p:cNvPr>
          <p:cNvSpPr>
            <a:spLocks noGrp="1"/>
          </p:cNvSpPr>
          <p:nvPr>
            <p:ph type="dt" sz="half" idx="10"/>
          </p:nvPr>
        </p:nvSpPr>
        <p:spPr/>
        <p:txBody>
          <a:bodyPr/>
          <a:lstStyle/>
          <a:p>
            <a:fld id="{FD853EC6-F7D8-4754-BE36-4CB21D297659}" type="datetimeFigureOut">
              <a:rPr lang="en-IN" smtClean="0"/>
              <a:t>30-12-2025</a:t>
            </a:fld>
            <a:endParaRPr lang="en-IN"/>
          </a:p>
        </p:txBody>
      </p:sp>
      <p:sp>
        <p:nvSpPr>
          <p:cNvPr id="5" name="Footer Placeholder 4">
            <a:extLst>
              <a:ext uri="{FF2B5EF4-FFF2-40B4-BE49-F238E27FC236}">
                <a16:creationId xmlns:a16="http://schemas.microsoft.com/office/drawing/2014/main" id="{3A1A9713-6D30-ED4D-7606-73F343C983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74785D-3896-C030-8333-3A5D5C043245}"/>
              </a:ext>
            </a:extLst>
          </p:cNvPr>
          <p:cNvSpPr>
            <a:spLocks noGrp="1"/>
          </p:cNvSpPr>
          <p:nvPr>
            <p:ph type="sldNum" sz="quarter" idx="12"/>
          </p:nvPr>
        </p:nvSpPr>
        <p:spPr/>
        <p:txBody>
          <a:bodyPr/>
          <a:lstStyle/>
          <a:p>
            <a:fld id="{7E8EC427-F2D8-4B2C-B92F-97FCD57712CA}" type="slidenum">
              <a:rPr lang="en-IN" smtClean="0"/>
              <a:t>‹#›</a:t>
            </a:fld>
            <a:endParaRPr lang="en-IN"/>
          </a:p>
        </p:txBody>
      </p:sp>
    </p:spTree>
    <p:extLst>
      <p:ext uri="{BB962C8B-B14F-4D97-AF65-F5344CB8AC3E}">
        <p14:creationId xmlns:p14="http://schemas.microsoft.com/office/powerpoint/2010/main" val="2550633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037DD5-3DC8-4153-EA01-E4957627A9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6EE0F6-A8B8-B022-A9F0-B3FDDCAE50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F133D2-6B01-A5EA-CE09-1E1AA6E26C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853EC6-F7D8-4754-BE36-4CB21D297659}" type="datetimeFigureOut">
              <a:rPr lang="en-IN" smtClean="0"/>
              <a:t>30-12-2025</a:t>
            </a:fld>
            <a:endParaRPr lang="en-IN"/>
          </a:p>
        </p:txBody>
      </p:sp>
      <p:sp>
        <p:nvSpPr>
          <p:cNvPr id="5" name="Footer Placeholder 4">
            <a:extLst>
              <a:ext uri="{FF2B5EF4-FFF2-40B4-BE49-F238E27FC236}">
                <a16:creationId xmlns:a16="http://schemas.microsoft.com/office/drawing/2014/main" id="{EC91FD34-1EA3-D6C0-4FA8-CCAE202A73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51CA34F-7D33-EFEE-65BC-E90982D060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8EC427-F2D8-4B2C-B92F-97FCD57712CA}" type="slidenum">
              <a:rPr lang="en-IN" smtClean="0"/>
              <a:t>‹#›</a:t>
            </a:fld>
            <a:endParaRPr lang="en-IN"/>
          </a:p>
        </p:txBody>
      </p:sp>
    </p:spTree>
    <p:extLst>
      <p:ext uri="{BB962C8B-B14F-4D97-AF65-F5344CB8AC3E}">
        <p14:creationId xmlns:p14="http://schemas.microsoft.com/office/powerpoint/2010/main" val="819063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86D72-EFD8-936D-E2C3-53FF1AEA9BA2}"/>
              </a:ext>
            </a:extLst>
          </p:cNvPr>
          <p:cNvSpPr>
            <a:spLocks noGrp="1"/>
          </p:cNvSpPr>
          <p:nvPr>
            <p:ph type="title"/>
          </p:nvPr>
        </p:nvSpPr>
        <p:spPr>
          <a:xfrm>
            <a:off x="838200" y="365126"/>
            <a:ext cx="10515600" cy="926962"/>
          </a:xfrm>
        </p:spPr>
        <p:txBody>
          <a:bodyPr/>
          <a:lstStyle/>
          <a:p>
            <a:r>
              <a:rPr lang="en-US" dirty="0"/>
              <a:t>Main Challenges of Machine Learning</a:t>
            </a:r>
            <a:endParaRPr lang="en-IN" dirty="0"/>
          </a:p>
        </p:txBody>
      </p:sp>
      <p:sp>
        <p:nvSpPr>
          <p:cNvPr id="3" name="Content Placeholder 2">
            <a:extLst>
              <a:ext uri="{FF2B5EF4-FFF2-40B4-BE49-F238E27FC236}">
                <a16:creationId xmlns:a16="http://schemas.microsoft.com/office/drawing/2014/main" id="{788BBA98-E08D-BA9E-1146-BDFA3DFC32C7}"/>
              </a:ext>
            </a:extLst>
          </p:cNvPr>
          <p:cNvSpPr>
            <a:spLocks noGrp="1"/>
          </p:cNvSpPr>
          <p:nvPr>
            <p:ph idx="1"/>
          </p:nvPr>
        </p:nvSpPr>
        <p:spPr>
          <a:xfrm>
            <a:off x="838200" y="1580322"/>
            <a:ext cx="10515600" cy="4596641"/>
          </a:xfrm>
        </p:spPr>
        <p:txBody>
          <a:bodyPr>
            <a:normAutofit/>
          </a:bodyPr>
          <a:lstStyle/>
          <a:p>
            <a:r>
              <a:rPr lang="en-US" dirty="0"/>
              <a:t>Machine learning models fail mainly because of data and model issues. </a:t>
            </a:r>
          </a:p>
          <a:p>
            <a:pPr marL="914400" lvl="1" indent="-457200">
              <a:buFont typeface="+mj-lt"/>
              <a:buAutoNum type="arabicPeriod"/>
            </a:pPr>
            <a:r>
              <a:rPr lang="en-US" dirty="0"/>
              <a:t>Insufficient Quantity of Training Data</a:t>
            </a:r>
          </a:p>
          <a:p>
            <a:pPr marL="914400" lvl="1" indent="-457200">
              <a:buFont typeface="+mj-lt"/>
              <a:buAutoNum type="arabicPeriod"/>
            </a:pPr>
            <a:r>
              <a:rPr lang="en-IN" dirty="0"/>
              <a:t>Nonrepresentative Training Data</a:t>
            </a:r>
          </a:p>
          <a:p>
            <a:pPr marL="914400" lvl="1" indent="-457200">
              <a:buFont typeface="+mj-lt"/>
              <a:buAutoNum type="arabicPeriod"/>
            </a:pPr>
            <a:r>
              <a:rPr lang="en-IN" dirty="0"/>
              <a:t>Poor-Quality Data</a:t>
            </a:r>
          </a:p>
          <a:p>
            <a:pPr marL="914400" lvl="1" indent="-457200">
              <a:buFont typeface="+mj-lt"/>
              <a:buAutoNum type="arabicPeriod"/>
            </a:pPr>
            <a:r>
              <a:rPr lang="en-IN" dirty="0"/>
              <a:t>Irrelevant Features</a:t>
            </a:r>
          </a:p>
          <a:p>
            <a:pPr marL="914400" lvl="1" indent="-457200">
              <a:buFont typeface="+mj-lt"/>
              <a:buAutoNum type="arabicPeriod"/>
            </a:pPr>
            <a:r>
              <a:rPr lang="en-IN" dirty="0"/>
              <a:t>Overfitting the Training Data</a:t>
            </a:r>
          </a:p>
          <a:p>
            <a:pPr marL="914400" lvl="1" indent="-457200">
              <a:buFont typeface="+mj-lt"/>
              <a:buAutoNum type="arabicPeriod"/>
            </a:pPr>
            <a:r>
              <a:rPr lang="en-IN" dirty="0"/>
              <a:t>Underfitting the Training Data</a:t>
            </a:r>
          </a:p>
          <a:p>
            <a:pPr marL="0" indent="0">
              <a:buNone/>
            </a:pPr>
            <a:endParaRPr lang="en-US" dirty="0"/>
          </a:p>
        </p:txBody>
      </p:sp>
    </p:spTree>
    <p:extLst>
      <p:ext uri="{BB962C8B-B14F-4D97-AF65-F5344CB8AC3E}">
        <p14:creationId xmlns:p14="http://schemas.microsoft.com/office/powerpoint/2010/main" val="2419877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8AACE-4720-B956-E02C-20EB4100FF65}"/>
              </a:ext>
            </a:extLst>
          </p:cNvPr>
          <p:cNvSpPr>
            <a:spLocks noGrp="1"/>
          </p:cNvSpPr>
          <p:nvPr>
            <p:ph type="title"/>
          </p:nvPr>
        </p:nvSpPr>
        <p:spPr/>
        <p:txBody>
          <a:bodyPr>
            <a:normAutofit/>
          </a:bodyPr>
          <a:lstStyle/>
          <a:p>
            <a:r>
              <a:rPr lang="en-US" dirty="0"/>
              <a:t>Insufficient Quantity of Training Data</a:t>
            </a:r>
            <a:endParaRPr lang="en-IN" dirty="0"/>
          </a:p>
        </p:txBody>
      </p:sp>
      <p:sp>
        <p:nvSpPr>
          <p:cNvPr id="3" name="Content Placeholder 2">
            <a:extLst>
              <a:ext uri="{FF2B5EF4-FFF2-40B4-BE49-F238E27FC236}">
                <a16:creationId xmlns:a16="http://schemas.microsoft.com/office/drawing/2014/main" id="{14020E5F-7F66-E7EF-1FAD-08CDA5AD8791}"/>
              </a:ext>
            </a:extLst>
          </p:cNvPr>
          <p:cNvSpPr>
            <a:spLocks noGrp="1"/>
          </p:cNvSpPr>
          <p:nvPr>
            <p:ph idx="1"/>
          </p:nvPr>
        </p:nvSpPr>
        <p:spPr>
          <a:xfrm>
            <a:off x="838200" y="1690688"/>
            <a:ext cx="10515600" cy="4486275"/>
          </a:xfrm>
        </p:spPr>
        <p:txBody>
          <a:bodyPr>
            <a:normAutofit lnSpcReduction="10000"/>
          </a:bodyPr>
          <a:lstStyle/>
          <a:p>
            <a:r>
              <a:rPr lang="en-US" sz="2400" dirty="0"/>
              <a:t>Insufficient training data means the model does not see enough varied examples to learn the true patterns, so it performs well on the few training points but fails on new, unseen data. </a:t>
            </a:r>
          </a:p>
          <a:p>
            <a:r>
              <a:rPr lang="en-US" sz="2400" dirty="0"/>
              <a:t>This is one of the core practical challenges in machine learning and is tightly linked with overfitting and poor generalization. </a:t>
            </a:r>
          </a:p>
          <a:p>
            <a:r>
              <a:rPr lang="en-US" sz="2400" dirty="0"/>
              <a:t>This leads to high variance: the model changes a lot if you slightly change the dataset.</a:t>
            </a:r>
          </a:p>
          <a:p>
            <a:r>
              <a:rPr lang="en-US" sz="2400" dirty="0"/>
              <a:t>Example:</a:t>
            </a:r>
            <a:br>
              <a:rPr lang="en-US" sz="2400" dirty="0"/>
            </a:br>
            <a:r>
              <a:rPr lang="en-US" sz="2400" dirty="0"/>
              <a:t>You build a skin-cancer classifier from only 500 images collected from one small hospital. The model reaches 99 percent accuracy on this small training set but drops to 60 percent on images from another hospital or different skin tones. The model has not seen enough diversity in lesions, lighting, and skin types to generalize.</a:t>
            </a:r>
          </a:p>
          <a:p>
            <a:endParaRPr lang="en-IN" sz="2400" dirty="0"/>
          </a:p>
        </p:txBody>
      </p:sp>
    </p:spTree>
    <p:extLst>
      <p:ext uri="{BB962C8B-B14F-4D97-AF65-F5344CB8AC3E}">
        <p14:creationId xmlns:p14="http://schemas.microsoft.com/office/powerpoint/2010/main" val="1298843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BA04D-703E-5FCF-2667-DCE65A0B7BEF}"/>
              </a:ext>
            </a:extLst>
          </p:cNvPr>
          <p:cNvSpPr>
            <a:spLocks noGrp="1"/>
          </p:cNvSpPr>
          <p:nvPr>
            <p:ph type="title"/>
          </p:nvPr>
        </p:nvSpPr>
        <p:spPr/>
        <p:txBody>
          <a:bodyPr/>
          <a:lstStyle/>
          <a:p>
            <a:r>
              <a:rPr lang="en-IN" dirty="0"/>
              <a:t>Nonrepresentative Training Data</a:t>
            </a:r>
          </a:p>
        </p:txBody>
      </p:sp>
      <p:sp>
        <p:nvSpPr>
          <p:cNvPr id="3" name="Content Placeholder 2">
            <a:extLst>
              <a:ext uri="{FF2B5EF4-FFF2-40B4-BE49-F238E27FC236}">
                <a16:creationId xmlns:a16="http://schemas.microsoft.com/office/drawing/2014/main" id="{59E9CA15-4566-87C4-0E9B-8A1FDA0F00A7}"/>
              </a:ext>
            </a:extLst>
          </p:cNvPr>
          <p:cNvSpPr>
            <a:spLocks noGrp="1"/>
          </p:cNvSpPr>
          <p:nvPr>
            <p:ph idx="1"/>
          </p:nvPr>
        </p:nvSpPr>
        <p:spPr/>
        <p:txBody>
          <a:bodyPr/>
          <a:lstStyle/>
          <a:p>
            <a:r>
              <a:rPr lang="en-US" dirty="0"/>
              <a:t>Even with many samples, if they do not reflect the true population or use-case, the model learns a biased view of the world. This happens due to sampling bias (who you include) or selection bias (how you choose data).</a:t>
            </a:r>
          </a:p>
          <a:p>
            <a:r>
              <a:rPr lang="en-US" dirty="0"/>
              <a:t>Example:</a:t>
            </a:r>
            <a:br>
              <a:rPr lang="en-US" dirty="0"/>
            </a:br>
            <a:r>
              <a:rPr lang="en-US" dirty="0"/>
              <a:t>A credit scoring model is trained mostly on data from salaried urban customers because those are easier to obtain. When deployed to semi-urban or self-employed applicants, it systematically underestimates their creditworthiness, since their patterns were rarely present in the training set.</a:t>
            </a:r>
          </a:p>
          <a:p>
            <a:endParaRPr lang="en-IN" dirty="0"/>
          </a:p>
        </p:txBody>
      </p:sp>
    </p:spTree>
    <p:extLst>
      <p:ext uri="{BB962C8B-B14F-4D97-AF65-F5344CB8AC3E}">
        <p14:creationId xmlns:p14="http://schemas.microsoft.com/office/powerpoint/2010/main" val="2483476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D4271-485F-9DA5-5A87-1D8E149BD4EE}"/>
              </a:ext>
            </a:extLst>
          </p:cNvPr>
          <p:cNvSpPr>
            <a:spLocks noGrp="1"/>
          </p:cNvSpPr>
          <p:nvPr>
            <p:ph type="title"/>
          </p:nvPr>
        </p:nvSpPr>
        <p:spPr/>
        <p:txBody>
          <a:bodyPr>
            <a:normAutofit/>
          </a:bodyPr>
          <a:lstStyle/>
          <a:p>
            <a:r>
              <a:rPr lang="en-IN" dirty="0"/>
              <a:t>Poor-Quality Data</a:t>
            </a:r>
          </a:p>
        </p:txBody>
      </p:sp>
      <p:sp>
        <p:nvSpPr>
          <p:cNvPr id="3" name="Content Placeholder 2">
            <a:extLst>
              <a:ext uri="{FF2B5EF4-FFF2-40B4-BE49-F238E27FC236}">
                <a16:creationId xmlns:a16="http://schemas.microsoft.com/office/drawing/2014/main" id="{3E11AF3E-1983-8797-1EF8-E1A91557A712}"/>
              </a:ext>
            </a:extLst>
          </p:cNvPr>
          <p:cNvSpPr>
            <a:spLocks noGrp="1"/>
          </p:cNvSpPr>
          <p:nvPr>
            <p:ph idx="1"/>
          </p:nvPr>
        </p:nvSpPr>
        <p:spPr/>
        <p:txBody>
          <a:bodyPr>
            <a:normAutofit/>
          </a:bodyPr>
          <a:lstStyle/>
          <a:p>
            <a:r>
              <a:rPr lang="en-US" sz="2400" dirty="0"/>
              <a:t>Poor-quality data includes incorrect values, missing fields, inconsistent formats, duplicated records, and wrongly labeled targets. Models trained on such data learn wrong relationships.</a:t>
            </a:r>
          </a:p>
          <a:p>
            <a:r>
              <a:rPr lang="en-US" sz="2400" dirty="0"/>
              <a:t>Example:</a:t>
            </a:r>
            <a:br>
              <a:rPr lang="en-US" sz="2400" dirty="0"/>
            </a:br>
            <a:r>
              <a:rPr lang="en-US" sz="2400" dirty="0"/>
              <a:t>In a hospital dataset, blood pressure is sometimes recorded in the wrong column or with swapped systolic/diastolic values, and some diagnoses are mislabeled due to manual entry errors. </a:t>
            </a:r>
          </a:p>
          <a:p>
            <a:r>
              <a:rPr lang="en-US" sz="2400" dirty="0"/>
              <a:t>The model then learns that dangerously high blood pressure can be associated with “healthy” labels and gives misleading risk scores.</a:t>
            </a:r>
          </a:p>
          <a:p>
            <a:endParaRPr lang="en-IN" sz="2400" dirty="0"/>
          </a:p>
        </p:txBody>
      </p:sp>
    </p:spTree>
    <p:extLst>
      <p:ext uri="{BB962C8B-B14F-4D97-AF65-F5344CB8AC3E}">
        <p14:creationId xmlns:p14="http://schemas.microsoft.com/office/powerpoint/2010/main" val="119218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4A3FF-A863-544A-EA80-234FD7597467}"/>
              </a:ext>
            </a:extLst>
          </p:cNvPr>
          <p:cNvSpPr>
            <a:spLocks noGrp="1"/>
          </p:cNvSpPr>
          <p:nvPr>
            <p:ph type="title"/>
          </p:nvPr>
        </p:nvSpPr>
        <p:spPr/>
        <p:txBody>
          <a:bodyPr/>
          <a:lstStyle/>
          <a:p>
            <a:r>
              <a:rPr lang="en-IN" dirty="0"/>
              <a:t>Irrelevant Features</a:t>
            </a:r>
          </a:p>
        </p:txBody>
      </p:sp>
      <p:sp>
        <p:nvSpPr>
          <p:cNvPr id="3" name="Content Placeholder 2">
            <a:extLst>
              <a:ext uri="{FF2B5EF4-FFF2-40B4-BE49-F238E27FC236}">
                <a16:creationId xmlns:a16="http://schemas.microsoft.com/office/drawing/2014/main" id="{93EF18D8-E87B-C3DC-E376-E0161D7F9D42}"/>
              </a:ext>
            </a:extLst>
          </p:cNvPr>
          <p:cNvSpPr>
            <a:spLocks noGrp="1"/>
          </p:cNvSpPr>
          <p:nvPr>
            <p:ph idx="1"/>
          </p:nvPr>
        </p:nvSpPr>
        <p:spPr/>
        <p:txBody>
          <a:bodyPr>
            <a:normAutofit/>
          </a:bodyPr>
          <a:lstStyle/>
          <a:p>
            <a:r>
              <a:rPr lang="en-US" sz="2400" dirty="0"/>
              <a:t>Irrelevant or weakly related features add noise, make the model more complex, and hurt both interpretability and generalization. This is particularly harmful for models sensitive to dimensionality (e.g., distance-based methods).</a:t>
            </a:r>
          </a:p>
          <a:p>
            <a:r>
              <a:rPr lang="en-US" sz="2400" dirty="0"/>
              <a:t>Example:</a:t>
            </a:r>
            <a:br>
              <a:rPr lang="en-US" sz="2400" dirty="0"/>
            </a:br>
            <a:r>
              <a:rPr lang="en-US" sz="2400" dirty="0"/>
              <a:t>Predicting house prices using features such as listing ID, seller name, and image file size along with useful features like area and location. The irrelevant features can dominate distance calculations in k‑NN or encourage a tree to split on useless attributes, increasing overfitting and reducing accuracy on new listings.</a:t>
            </a:r>
          </a:p>
          <a:p>
            <a:endParaRPr lang="en-IN" sz="2400" dirty="0"/>
          </a:p>
        </p:txBody>
      </p:sp>
    </p:spTree>
    <p:extLst>
      <p:ext uri="{BB962C8B-B14F-4D97-AF65-F5344CB8AC3E}">
        <p14:creationId xmlns:p14="http://schemas.microsoft.com/office/powerpoint/2010/main" val="3877346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6FEA8-61E1-4184-218D-39B8A6E82196}"/>
              </a:ext>
            </a:extLst>
          </p:cNvPr>
          <p:cNvSpPr>
            <a:spLocks noGrp="1"/>
          </p:cNvSpPr>
          <p:nvPr>
            <p:ph type="title"/>
          </p:nvPr>
        </p:nvSpPr>
        <p:spPr/>
        <p:txBody>
          <a:bodyPr>
            <a:normAutofit/>
          </a:bodyPr>
          <a:lstStyle/>
          <a:p>
            <a:r>
              <a:rPr lang="en-IN" dirty="0"/>
              <a:t>Overfitting the Training Data</a:t>
            </a:r>
          </a:p>
        </p:txBody>
      </p:sp>
      <p:sp>
        <p:nvSpPr>
          <p:cNvPr id="3" name="Content Placeholder 2">
            <a:extLst>
              <a:ext uri="{FF2B5EF4-FFF2-40B4-BE49-F238E27FC236}">
                <a16:creationId xmlns:a16="http://schemas.microsoft.com/office/drawing/2014/main" id="{A1541DEB-28B7-03A0-7D49-597C21E6F4F4}"/>
              </a:ext>
            </a:extLst>
          </p:cNvPr>
          <p:cNvSpPr>
            <a:spLocks noGrp="1"/>
          </p:cNvSpPr>
          <p:nvPr>
            <p:ph idx="1"/>
          </p:nvPr>
        </p:nvSpPr>
        <p:spPr/>
        <p:txBody>
          <a:bodyPr>
            <a:normAutofit/>
          </a:bodyPr>
          <a:lstStyle/>
          <a:p>
            <a:r>
              <a:rPr lang="en-US" sz="2400" dirty="0"/>
              <a:t>Overfitting occurs when the model is too flexible and captures noise or random fluctuations as if they were true structure. </a:t>
            </a:r>
          </a:p>
          <a:p>
            <a:r>
              <a:rPr lang="en-US" sz="2400" dirty="0"/>
              <a:t>It achieves very low training error but much worse error on validation or test sets.</a:t>
            </a:r>
          </a:p>
          <a:p>
            <a:r>
              <a:rPr lang="en-US" sz="2400" dirty="0"/>
              <a:t>Example:</a:t>
            </a:r>
            <a:br>
              <a:rPr lang="en-US" sz="2400" dirty="0"/>
            </a:br>
            <a:r>
              <a:rPr lang="en-US" sz="2400" dirty="0"/>
              <a:t>A training model for product demand forecasting is trained on one year of sales data and memorizes all holiday spikes and random promotions. </a:t>
            </a:r>
          </a:p>
          <a:p>
            <a:r>
              <a:rPr lang="en-US" sz="2400" dirty="0"/>
              <a:t>On the training period it predicts nearly perfectly; on the next year it fails when promotions change or holidays fall on different weekdays, because it learned specific dates rather than general seasonal patterns.</a:t>
            </a:r>
          </a:p>
          <a:p>
            <a:endParaRPr lang="en-IN" sz="2400" dirty="0"/>
          </a:p>
        </p:txBody>
      </p:sp>
    </p:spTree>
    <p:extLst>
      <p:ext uri="{BB962C8B-B14F-4D97-AF65-F5344CB8AC3E}">
        <p14:creationId xmlns:p14="http://schemas.microsoft.com/office/powerpoint/2010/main" val="4027283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B1304-6237-257F-4247-6CE418B76D50}"/>
              </a:ext>
            </a:extLst>
          </p:cNvPr>
          <p:cNvSpPr>
            <a:spLocks noGrp="1"/>
          </p:cNvSpPr>
          <p:nvPr>
            <p:ph type="title"/>
          </p:nvPr>
        </p:nvSpPr>
        <p:spPr/>
        <p:txBody>
          <a:bodyPr>
            <a:normAutofit/>
          </a:bodyPr>
          <a:lstStyle/>
          <a:p>
            <a:r>
              <a:rPr lang="en-IN" dirty="0"/>
              <a:t>Underfitting the Training Data</a:t>
            </a:r>
          </a:p>
        </p:txBody>
      </p:sp>
      <p:sp>
        <p:nvSpPr>
          <p:cNvPr id="3" name="Content Placeholder 2">
            <a:extLst>
              <a:ext uri="{FF2B5EF4-FFF2-40B4-BE49-F238E27FC236}">
                <a16:creationId xmlns:a16="http://schemas.microsoft.com/office/drawing/2014/main" id="{9DA27BFE-06F8-C796-8BB8-8EC1AAD1D55C}"/>
              </a:ext>
            </a:extLst>
          </p:cNvPr>
          <p:cNvSpPr>
            <a:spLocks noGrp="1"/>
          </p:cNvSpPr>
          <p:nvPr>
            <p:ph idx="1"/>
          </p:nvPr>
        </p:nvSpPr>
        <p:spPr/>
        <p:txBody>
          <a:bodyPr>
            <a:normAutofit/>
          </a:bodyPr>
          <a:lstStyle/>
          <a:p>
            <a:r>
              <a:rPr lang="en-US" dirty="0"/>
              <a:t>Underfitting happens when the model is too simple to capture the real relationships in the data. </a:t>
            </a:r>
          </a:p>
          <a:p>
            <a:r>
              <a:rPr lang="en-US" dirty="0"/>
              <a:t>Both training and test errors are high, indicating high bias.</a:t>
            </a:r>
          </a:p>
          <a:p>
            <a:r>
              <a:rPr lang="en-US" dirty="0"/>
              <a:t>Example:</a:t>
            </a:r>
            <a:br>
              <a:rPr lang="en-US" dirty="0"/>
            </a:br>
            <a:r>
              <a:rPr lang="en-US" dirty="0"/>
              <a:t>Using a basic linear regression to model a clearly nonlinear relationship between engine size and fuel consumption. Even on the training data the line cannot follow the curve; adding more data does not fix the problem because the model family itself is inadequate.</a:t>
            </a:r>
          </a:p>
          <a:p>
            <a:endParaRPr lang="en-IN" dirty="0"/>
          </a:p>
        </p:txBody>
      </p:sp>
    </p:spTree>
    <p:extLst>
      <p:ext uri="{BB962C8B-B14F-4D97-AF65-F5344CB8AC3E}">
        <p14:creationId xmlns:p14="http://schemas.microsoft.com/office/powerpoint/2010/main" val="2376555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168A4B-5244-9016-D8C5-A7EAD07C4E3B}"/>
              </a:ext>
            </a:extLst>
          </p:cNvPr>
          <p:cNvPicPr>
            <a:picLocks noChangeAspect="1"/>
          </p:cNvPicPr>
          <p:nvPr/>
        </p:nvPicPr>
        <p:blipFill>
          <a:blip r:embed="rId2"/>
          <a:stretch>
            <a:fillRect/>
          </a:stretch>
        </p:blipFill>
        <p:spPr>
          <a:xfrm>
            <a:off x="199202" y="442495"/>
            <a:ext cx="11793596" cy="5973009"/>
          </a:xfrm>
          <a:prstGeom prst="rect">
            <a:avLst/>
          </a:prstGeom>
        </p:spPr>
      </p:pic>
    </p:spTree>
    <p:extLst>
      <p:ext uri="{BB962C8B-B14F-4D97-AF65-F5344CB8AC3E}">
        <p14:creationId xmlns:p14="http://schemas.microsoft.com/office/powerpoint/2010/main" val="692538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0B82D0-11E5-2F22-FFDC-C8CFFCE32B7D}"/>
              </a:ext>
            </a:extLst>
          </p:cNvPr>
          <p:cNvPicPr>
            <a:picLocks noChangeAspect="1"/>
          </p:cNvPicPr>
          <p:nvPr/>
        </p:nvPicPr>
        <p:blipFill>
          <a:blip r:embed="rId2"/>
          <a:stretch>
            <a:fillRect/>
          </a:stretch>
        </p:blipFill>
        <p:spPr>
          <a:xfrm>
            <a:off x="630331" y="387212"/>
            <a:ext cx="10571068" cy="5460552"/>
          </a:xfrm>
          <a:prstGeom prst="rect">
            <a:avLst/>
          </a:prstGeom>
        </p:spPr>
      </p:pic>
      <p:pic>
        <p:nvPicPr>
          <p:cNvPr id="4" name="Picture 3">
            <a:extLst>
              <a:ext uri="{FF2B5EF4-FFF2-40B4-BE49-F238E27FC236}">
                <a16:creationId xmlns:a16="http://schemas.microsoft.com/office/drawing/2014/main" id="{94AC2236-9A47-26B7-821F-AE5CC3C995E7}"/>
              </a:ext>
            </a:extLst>
          </p:cNvPr>
          <p:cNvPicPr>
            <a:picLocks noChangeAspect="1"/>
          </p:cNvPicPr>
          <p:nvPr/>
        </p:nvPicPr>
        <p:blipFill>
          <a:blip r:embed="rId3"/>
          <a:stretch>
            <a:fillRect/>
          </a:stretch>
        </p:blipFill>
        <p:spPr>
          <a:xfrm>
            <a:off x="0" y="6273432"/>
            <a:ext cx="5225681" cy="584568"/>
          </a:xfrm>
          <a:prstGeom prst="rect">
            <a:avLst/>
          </a:prstGeom>
        </p:spPr>
      </p:pic>
    </p:spTree>
    <p:extLst>
      <p:ext uri="{BB962C8B-B14F-4D97-AF65-F5344CB8AC3E}">
        <p14:creationId xmlns:p14="http://schemas.microsoft.com/office/powerpoint/2010/main" val="1337639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47B895-34CB-118D-589D-09590474C864}"/>
              </a:ext>
            </a:extLst>
          </p:cNvPr>
          <p:cNvPicPr>
            <a:picLocks noChangeAspect="1"/>
          </p:cNvPicPr>
          <p:nvPr/>
        </p:nvPicPr>
        <p:blipFill>
          <a:blip r:embed="rId2"/>
          <a:stretch>
            <a:fillRect/>
          </a:stretch>
        </p:blipFill>
        <p:spPr>
          <a:xfrm>
            <a:off x="0" y="715617"/>
            <a:ext cx="12192000" cy="5605670"/>
          </a:xfrm>
          <a:prstGeom prst="rect">
            <a:avLst/>
          </a:prstGeom>
        </p:spPr>
      </p:pic>
    </p:spTree>
    <p:extLst>
      <p:ext uri="{BB962C8B-B14F-4D97-AF65-F5344CB8AC3E}">
        <p14:creationId xmlns:p14="http://schemas.microsoft.com/office/powerpoint/2010/main" val="4251694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A200D1-F352-C132-068B-FB70301F0F15}"/>
              </a:ext>
            </a:extLst>
          </p:cNvPr>
          <p:cNvPicPr>
            <a:picLocks noChangeAspect="1"/>
          </p:cNvPicPr>
          <p:nvPr/>
        </p:nvPicPr>
        <p:blipFill>
          <a:blip r:embed="rId2"/>
          <a:stretch>
            <a:fillRect/>
          </a:stretch>
        </p:blipFill>
        <p:spPr>
          <a:xfrm>
            <a:off x="0" y="566529"/>
            <a:ext cx="12192000" cy="5705061"/>
          </a:xfrm>
          <a:prstGeom prst="rect">
            <a:avLst/>
          </a:prstGeom>
        </p:spPr>
      </p:pic>
    </p:spTree>
    <p:extLst>
      <p:ext uri="{BB962C8B-B14F-4D97-AF65-F5344CB8AC3E}">
        <p14:creationId xmlns:p14="http://schemas.microsoft.com/office/powerpoint/2010/main" val="1942939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E931C-BEDD-23BB-0D71-9B02DABE608C}"/>
              </a:ext>
            </a:extLst>
          </p:cNvPr>
          <p:cNvSpPr>
            <a:spLocks noGrp="1"/>
          </p:cNvSpPr>
          <p:nvPr>
            <p:ph type="title"/>
          </p:nvPr>
        </p:nvSpPr>
        <p:spPr/>
        <p:txBody>
          <a:bodyPr/>
          <a:lstStyle/>
          <a:p>
            <a:r>
              <a:rPr lang="en-US" dirty="0"/>
              <a:t>Two types of model errors</a:t>
            </a:r>
            <a:endParaRPr lang="en-IN" dirty="0"/>
          </a:p>
        </p:txBody>
      </p:sp>
      <p:sp>
        <p:nvSpPr>
          <p:cNvPr id="3" name="Content Placeholder 2">
            <a:extLst>
              <a:ext uri="{FF2B5EF4-FFF2-40B4-BE49-F238E27FC236}">
                <a16:creationId xmlns:a16="http://schemas.microsoft.com/office/drawing/2014/main" id="{A757D479-F12C-9A7E-99F2-8D4E6F407A55}"/>
              </a:ext>
            </a:extLst>
          </p:cNvPr>
          <p:cNvSpPr>
            <a:spLocks noGrp="1"/>
          </p:cNvSpPr>
          <p:nvPr>
            <p:ph idx="1"/>
          </p:nvPr>
        </p:nvSpPr>
        <p:spPr/>
        <p:txBody>
          <a:bodyPr/>
          <a:lstStyle/>
          <a:p>
            <a:r>
              <a:rPr lang="en-US" dirty="0"/>
              <a:t>There are two types of model errors when making an estimate</a:t>
            </a:r>
          </a:p>
          <a:p>
            <a:pPr lvl="1"/>
            <a:r>
              <a:rPr lang="en-US" dirty="0"/>
              <a:t>Bias and Variance</a:t>
            </a:r>
          </a:p>
          <a:p>
            <a:r>
              <a:rPr lang="en-US" dirty="0"/>
              <a:t>Understanding both of these types of errors, as well as how they relate to one another is fundamentally important to understanding model overfitting, underfitting, and complexity.</a:t>
            </a:r>
          </a:p>
          <a:p>
            <a:endParaRPr lang="en-IN" dirty="0"/>
          </a:p>
        </p:txBody>
      </p:sp>
    </p:spTree>
    <p:extLst>
      <p:ext uri="{BB962C8B-B14F-4D97-AF65-F5344CB8AC3E}">
        <p14:creationId xmlns:p14="http://schemas.microsoft.com/office/powerpoint/2010/main" val="2895424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F23E0-3C0C-7B01-51D2-000789E812D9}"/>
              </a:ext>
            </a:extLst>
          </p:cNvPr>
          <p:cNvSpPr>
            <a:spLocks noGrp="1"/>
          </p:cNvSpPr>
          <p:nvPr>
            <p:ph type="title"/>
          </p:nvPr>
        </p:nvSpPr>
        <p:spPr/>
        <p:txBody>
          <a:bodyPr/>
          <a:lstStyle/>
          <a:p>
            <a:r>
              <a:rPr lang="en-IN" dirty="0"/>
              <a:t>Bias </a:t>
            </a:r>
          </a:p>
        </p:txBody>
      </p:sp>
      <p:sp>
        <p:nvSpPr>
          <p:cNvPr id="3" name="Content Placeholder 2">
            <a:extLst>
              <a:ext uri="{FF2B5EF4-FFF2-40B4-BE49-F238E27FC236}">
                <a16:creationId xmlns:a16="http://schemas.microsoft.com/office/drawing/2014/main" id="{BF7A97AB-9519-F409-5119-79116E70A6DC}"/>
              </a:ext>
            </a:extLst>
          </p:cNvPr>
          <p:cNvSpPr>
            <a:spLocks noGrp="1"/>
          </p:cNvSpPr>
          <p:nvPr>
            <p:ph idx="1"/>
          </p:nvPr>
        </p:nvSpPr>
        <p:spPr/>
        <p:txBody>
          <a:bodyPr>
            <a:normAutofit fontScale="92500" lnSpcReduction="10000"/>
          </a:bodyPr>
          <a:lstStyle/>
          <a:p>
            <a:r>
              <a:rPr lang="en-US" dirty="0"/>
              <a:t>Bias is the difference between a model’s estimated values and the “true” values for a variable. </a:t>
            </a:r>
          </a:p>
          <a:p>
            <a:r>
              <a:rPr lang="en-US" dirty="0"/>
              <a:t>Bias can be thought of as errors caused by incorrect assumptions in the learning algorithm. </a:t>
            </a:r>
          </a:p>
          <a:p>
            <a:r>
              <a:rPr lang="en-US" dirty="0"/>
              <a:t>Bias can also be introduced through the training data, if the training data is not representative of the population it was drawn from. </a:t>
            </a:r>
          </a:p>
          <a:p>
            <a:r>
              <a:rPr lang="en-US" dirty="0"/>
              <a:t> In the fields of science and engineering, bias is referred to as accuracy.</a:t>
            </a:r>
          </a:p>
          <a:p>
            <a:r>
              <a:rPr lang="en-US" dirty="0"/>
              <a:t>Bias can cause an algorithm to incorrectly identify or miss important relationships, which in turn can cause underfitting. Underfitting describes when a model is unable to capture the "true" underlying pattern of the data set (i.e., the model fits the data poorly).</a:t>
            </a:r>
            <a:endParaRPr lang="en-IN" dirty="0"/>
          </a:p>
        </p:txBody>
      </p:sp>
    </p:spTree>
    <p:extLst>
      <p:ext uri="{BB962C8B-B14F-4D97-AF65-F5344CB8AC3E}">
        <p14:creationId xmlns:p14="http://schemas.microsoft.com/office/powerpoint/2010/main" val="3781384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EB18E-6058-EDF8-391C-0DA00A6A3D7D}"/>
              </a:ext>
            </a:extLst>
          </p:cNvPr>
          <p:cNvSpPr>
            <a:spLocks noGrp="1"/>
          </p:cNvSpPr>
          <p:nvPr>
            <p:ph type="title"/>
          </p:nvPr>
        </p:nvSpPr>
        <p:spPr/>
        <p:txBody>
          <a:bodyPr/>
          <a:lstStyle/>
          <a:p>
            <a:r>
              <a:rPr lang="en-IN" dirty="0"/>
              <a:t>Variance</a:t>
            </a:r>
          </a:p>
        </p:txBody>
      </p:sp>
      <p:sp>
        <p:nvSpPr>
          <p:cNvPr id="3" name="Content Placeholder 2">
            <a:extLst>
              <a:ext uri="{FF2B5EF4-FFF2-40B4-BE49-F238E27FC236}">
                <a16:creationId xmlns:a16="http://schemas.microsoft.com/office/drawing/2014/main" id="{D756478B-3DC6-2981-D7FA-BCEEE709CC42}"/>
              </a:ext>
            </a:extLst>
          </p:cNvPr>
          <p:cNvSpPr>
            <a:spLocks noGrp="1"/>
          </p:cNvSpPr>
          <p:nvPr>
            <p:ph idx="1"/>
          </p:nvPr>
        </p:nvSpPr>
        <p:spPr/>
        <p:txBody>
          <a:bodyPr>
            <a:normAutofit/>
          </a:bodyPr>
          <a:lstStyle/>
          <a:p>
            <a:r>
              <a:rPr lang="en-US" sz="2400" dirty="0"/>
              <a:t>Variance can be described as the error caused by sensitivity to small variances in the training data set, or how much an estimate for a given data point will change if a different training data set is used. </a:t>
            </a:r>
          </a:p>
          <a:p>
            <a:r>
              <a:rPr lang="en-US" sz="2400" dirty="0"/>
              <a:t>High variance can cause an algorithm to base estimates on the random noise found in a training data set, as opposed to the true relationship between variables. </a:t>
            </a:r>
          </a:p>
          <a:p>
            <a:r>
              <a:rPr lang="en-US" sz="2400" dirty="0"/>
              <a:t>In the fields of science and engineering, bias referred to as precision.</a:t>
            </a:r>
          </a:p>
          <a:p>
            <a:r>
              <a:rPr lang="en-US" sz="2400" dirty="0"/>
              <a:t>High variance is associated with overfitting a model, where a model will perform well on its given training data set but generalize to unseen observations poorly. Overfitting happens when the models capture and describe random noise in the training data set, as well as the underlying pattern in the data.</a:t>
            </a:r>
          </a:p>
        </p:txBody>
      </p:sp>
    </p:spTree>
    <p:extLst>
      <p:ext uri="{BB962C8B-B14F-4D97-AF65-F5344CB8AC3E}">
        <p14:creationId xmlns:p14="http://schemas.microsoft.com/office/powerpoint/2010/main" val="2629299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CFF2E60-EA58-D6A4-6EE7-F54C5887CE96}"/>
              </a:ext>
            </a:extLst>
          </p:cNvPr>
          <p:cNvSpPr>
            <a:spLocks noGrp="1"/>
          </p:cNvSpPr>
          <p:nvPr>
            <p:ph type="body" idx="1"/>
          </p:nvPr>
        </p:nvSpPr>
        <p:spPr>
          <a:xfrm>
            <a:off x="0" y="669512"/>
            <a:ext cx="5157787" cy="749230"/>
          </a:xfrm>
        </p:spPr>
        <p:txBody>
          <a:bodyPr>
            <a:normAutofit/>
          </a:bodyPr>
          <a:lstStyle/>
          <a:p>
            <a:pPr algn="ctr"/>
            <a:r>
              <a:rPr lang="en-IN" sz="3600" dirty="0"/>
              <a:t>Underfitting</a:t>
            </a:r>
          </a:p>
        </p:txBody>
      </p:sp>
      <p:pic>
        <p:nvPicPr>
          <p:cNvPr id="10" name="Content Placeholder 9">
            <a:extLst>
              <a:ext uri="{FF2B5EF4-FFF2-40B4-BE49-F238E27FC236}">
                <a16:creationId xmlns:a16="http://schemas.microsoft.com/office/drawing/2014/main" id="{EB8099D3-0A27-ECFA-9575-D13315F24D3D}"/>
              </a:ext>
            </a:extLst>
          </p:cNvPr>
          <p:cNvPicPr>
            <a:picLocks noGrp="1" noChangeAspect="1"/>
          </p:cNvPicPr>
          <p:nvPr>
            <p:ph sz="half" idx="2"/>
          </p:nvPr>
        </p:nvPicPr>
        <p:blipFill>
          <a:blip r:embed="rId2"/>
          <a:stretch>
            <a:fillRect/>
          </a:stretch>
        </p:blipFill>
        <p:spPr>
          <a:xfrm>
            <a:off x="124172" y="1499466"/>
            <a:ext cx="4686368" cy="3489736"/>
          </a:xfrm>
          <a:prstGeom prst="rect">
            <a:avLst/>
          </a:prstGeom>
        </p:spPr>
      </p:pic>
      <p:sp>
        <p:nvSpPr>
          <p:cNvPr id="7" name="Text Placeholder 6">
            <a:extLst>
              <a:ext uri="{FF2B5EF4-FFF2-40B4-BE49-F238E27FC236}">
                <a16:creationId xmlns:a16="http://schemas.microsoft.com/office/drawing/2014/main" id="{D21780F8-67DB-CC06-E2D4-20776C447406}"/>
              </a:ext>
            </a:extLst>
          </p:cNvPr>
          <p:cNvSpPr>
            <a:spLocks noGrp="1"/>
          </p:cNvSpPr>
          <p:nvPr>
            <p:ph type="body" sz="quarter" idx="3"/>
          </p:nvPr>
        </p:nvSpPr>
        <p:spPr>
          <a:xfrm>
            <a:off x="3504406" y="709874"/>
            <a:ext cx="5183188" cy="749230"/>
          </a:xfrm>
        </p:spPr>
        <p:txBody>
          <a:bodyPr>
            <a:normAutofit/>
          </a:bodyPr>
          <a:lstStyle/>
          <a:p>
            <a:pPr algn="ctr"/>
            <a:r>
              <a:rPr lang="en-IN" sz="3600" dirty="0"/>
              <a:t>Overfitting</a:t>
            </a:r>
          </a:p>
        </p:txBody>
      </p:sp>
      <p:pic>
        <p:nvPicPr>
          <p:cNvPr id="14" name="Content Placeholder 13">
            <a:extLst>
              <a:ext uri="{FF2B5EF4-FFF2-40B4-BE49-F238E27FC236}">
                <a16:creationId xmlns:a16="http://schemas.microsoft.com/office/drawing/2014/main" id="{6D4BAEFD-5400-A9AC-7655-C7A70607996B}"/>
              </a:ext>
            </a:extLst>
          </p:cNvPr>
          <p:cNvPicPr>
            <a:picLocks noGrp="1" noChangeAspect="1"/>
          </p:cNvPicPr>
          <p:nvPr>
            <p:ph sz="quarter" idx="4"/>
          </p:nvPr>
        </p:nvPicPr>
        <p:blipFill>
          <a:blip r:embed="rId3"/>
          <a:stretch>
            <a:fillRect/>
          </a:stretch>
        </p:blipFill>
        <p:spPr>
          <a:xfrm>
            <a:off x="4137396" y="1459104"/>
            <a:ext cx="3923239" cy="3684588"/>
          </a:xfrm>
          <a:prstGeom prst="rect">
            <a:avLst/>
          </a:prstGeom>
        </p:spPr>
      </p:pic>
      <p:pic>
        <p:nvPicPr>
          <p:cNvPr id="15" name="Content Placeholder 9">
            <a:extLst>
              <a:ext uri="{FF2B5EF4-FFF2-40B4-BE49-F238E27FC236}">
                <a16:creationId xmlns:a16="http://schemas.microsoft.com/office/drawing/2014/main" id="{2F1CE3B3-1E87-1E5D-1F89-7579DED9B39F}"/>
              </a:ext>
            </a:extLst>
          </p:cNvPr>
          <p:cNvPicPr>
            <a:picLocks noChangeAspect="1"/>
          </p:cNvPicPr>
          <p:nvPr/>
        </p:nvPicPr>
        <p:blipFill>
          <a:blip r:embed="rId4"/>
          <a:stretch>
            <a:fillRect/>
          </a:stretch>
        </p:blipFill>
        <p:spPr>
          <a:xfrm>
            <a:off x="7782339" y="3144427"/>
            <a:ext cx="4409661" cy="3489736"/>
          </a:xfrm>
          <a:prstGeom prst="rect">
            <a:avLst/>
          </a:prstGeom>
        </p:spPr>
      </p:pic>
    </p:spTree>
    <p:extLst>
      <p:ext uri="{BB962C8B-B14F-4D97-AF65-F5344CB8AC3E}">
        <p14:creationId xmlns:p14="http://schemas.microsoft.com/office/powerpoint/2010/main" val="2760199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75D718D-8A2C-74DE-DB07-66CFC1D2F24B}"/>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0459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967</Words>
  <Application>Microsoft Office PowerPoint</Application>
  <PresentationFormat>Widescreen</PresentationFormat>
  <Paragraphs>49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Main Challenges of Machine Learning</vt:lpstr>
      <vt:lpstr>Insufficient Quantity of Training Data</vt:lpstr>
      <vt:lpstr>Nonrepresentative Training Data</vt:lpstr>
      <vt:lpstr>Poor-Quality Data</vt:lpstr>
      <vt:lpstr>Irrelevant Features</vt:lpstr>
      <vt:lpstr>Overfitting the Training Data</vt:lpstr>
      <vt:lpstr>Underfitting the Training Data</vt:lpstr>
      <vt:lpstr>PowerPoint Presentation</vt:lpstr>
      <vt:lpstr>PowerPoint Presentation</vt:lpstr>
      <vt:lpstr>PowerPoint Presentation</vt:lpstr>
      <vt:lpstr>PowerPoint Presentation</vt:lpstr>
      <vt:lpstr>Two types of model errors</vt:lpstr>
      <vt:lpstr>Bias </vt:lpstr>
      <vt:lpstr>Variance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2025-12-30T07:25:13Z</dcterms:created>
  <dcterms:modified xsi:type="dcterms:W3CDTF">2025-12-30T07:25:48Z</dcterms:modified>
</cp:coreProperties>
</file>