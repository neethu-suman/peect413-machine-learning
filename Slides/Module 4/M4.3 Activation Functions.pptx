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62" r:id="rId2"/>
    <p:sldId id="271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AFC1E-28E8-4DC7-8E6F-732C81AC71C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69271-AF08-4035-BC9E-28A5A8E3D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1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6" name="Google Shape;816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909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1E17-D01A-6A91-81EB-F8E0612BD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5138A-BEA6-93F6-13EC-56304970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7F0E3-F28C-C192-EFD1-BF9CEEBA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ED6C-A086-8A29-993A-0B7BCCC3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9A052-B7CA-7FAC-0442-FA5E169B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52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6C66-4FF1-601E-FAD2-C857259F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15A4F-577A-B310-F570-40353D1CB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9DFF-78D5-0848-C022-FDD0C420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C52A-37FC-5830-05B7-B73CB29B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E0507-F6AC-EDB0-C8BB-C50F268F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2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CF78-24BC-5729-99DB-B7246A97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CAD8C-ABDF-DF38-107D-F1EBA1533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67A08-6754-CCE4-2C31-19487457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4BBF3-1503-03E3-AE1C-ABBDB40C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05E9-236A-BBAE-DF29-ED8D7E16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61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A682-0FCA-4A3D-FB45-0410A68B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A845C-0ABB-BB7A-573F-AE5F90ED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361F8-3A9C-440B-9A79-C8A73CB0C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AE7FF-B87C-A251-A17B-20367D4C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AB785-093F-258F-F50F-3633EA7D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A20A3-2936-E73F-DB61-A9BE0E92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61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F89E-C527-9142-539B-BC2C8A92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2CE5F-04E1-7B94-C475-E187A2328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79CD4-038C-17EF-4DEA-E3C8B362C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C23C6-503C-E4FA-BA19-9BCAD6937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C9554-120E-E842-5CB3-80D14BE5C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1FC7F-FF03-3F67-6785-86632911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CA329-AAB7-33D4-E71A-9812DA7E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FE203-B2C7-8F93-A185-02EDB907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46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0C7A-10BB-43C4-9E69-18945E1D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AFF27-0A45-5BAB-CEED-AC66FBC8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646AE-BB58-131F-8F57-FD0F2A89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D29F9-8E17-D929-0114-89C84129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8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893456-FE91-2943-DA22-899CC565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AC133-5E78-954F-48EA-6FB3ABC1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57CB8-EE73-C12B-5A3A-807E65E0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45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B23A-01C2-1EEB-B323-B6011894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31D2-F582-33A8-F82C-02421F6FE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B88D9-2713-BD8D-4FA5-963E0A614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226B9-74A0-3911-5527-152EA8AA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423E0-63FC-2DDE-98A1-015F7926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D2496-6C91-282A-E16C-897282B3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9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FC99-5A35-43ED-98F6-50A0B722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A0685-5CE1-241A-137F-F73AC4432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0F24C-8090-EAF3-DDF2-3A48403F6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4E527-FD1C-1D55-98A4-521CA8E9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CB2F3-0EA4-BC3E-EC3A-5401885D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5C8A4-32F7-FE38-0AD2-01A192E2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0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BC83-5182-0B1A-E90E-BD2B7B16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13F94-9FD5-8ED5-F443-B3EEE3135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07AE5-302D-A310-10A2-6534DBD9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DA22E-156A-4ACB-D656-E600E8C2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7B37E-B0F6-EFDD-B2A0-57CD004D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4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ACE98-589D-E84F-BD48-85DC70478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8FE5E-0A10-2DA6-2A56-9FC0F9C65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9515-0BE0-747A-F702-74B10439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7809B-4B85-24F1-7E9A-16AE603D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41B2D-DA91-0C3C-CA83-FCBF1E41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4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36063-40EB-7FFB-C312-FB7A3A65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A652B-09F2-DE0C-BAF4-2BA961638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1FFE9-AC36-7F67-0A73-4BFD18115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7D369-08BF-4F3F-B880-5B72CDC4C4F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B937F-6E7C-170F-C38E-59FBC1173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7EE0C-F281-6F7B-F551-E74294565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B2651-FA91-4287-BFCD-FB93117BD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3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819" name="Google Shape;819;p10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820" name="Google Shape;82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625" y="287150"/>
            <a:ext cx="10716824" cy="607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46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spcBef>
                <a:spcPts val="5"/>
              </a:spcBef>
            </a:pPr>
            <a:fld id="{81D60167-4931-47E6-BA6A-407CBD079E47}" type="slidenum">
              <a:rPr lang="en-IN" spc="-25" smtClean="0"/>
              <a:pPr marL="38100">
                <a:spcBef>
                  <a:spcPts val="5"/>
                </a:spcBef>
              </a:pPr>
              <a:t>2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003" y="159811"/>
            <a:ext cx="471762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Activation</a:t>
            </a:r>
            <a:r>
              <a:rPr spc="-253" dirty="0"/>
              <a:t> </a:t>
            </a:r>
            <a:r>
              <a:rPr spc="-13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290" y="1241220"/>
            <a:ext cx="10516445" cy="38196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5767" marR="6773" indent="-509681">
              <a:lnSpc>
                <a:spcPct val="115599"/>
              </a:lnSpc>
              <a:spcBef>
                <a:spcPts val="133"/>
              </a:spcBef>
              <a:buFont typeface="Arial"/>
              <a:buChar char="●"/>
              <a:tabLst>
                <a:tab pos="525767" algn="l"/>
              </a:tabLst>
            </a:pPr>
            <a:r>
              <a:rPr sz="2667" dirty="0">
                <a:latin typeface="Arial MT"/>
                <a:cs typeface="Arial MT"/>
              </a:rPr>
              <a:t>Activation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function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decide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whether</a:t>
            </a:r>
            <a:r>
              <a:rPr sz="2667" spc="-6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a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neuron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should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be</a:t>
            </a:r>
            <a:r>
              <a:rPr sz="2667" spc="-6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activated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spc="-33" dirty="0">
                <a:latin typeface="Arial MT"/>
                <a:cs typeface="Arial MT"/>
              </a:rPr>
              <a:t>or </a:t>
            </a:r>
            <a:r>
              <a:rPr sz="2667" spc="-27" dirty="0">
                <a:latin typeface="Arial MT"/>
                <a:cs typeface="Arial MT"/>
              </a:rPr>
              <a:t>not.</a:t>
            </a:r>
            <a:endParaRPr sz="2667">
              <a:latin typeface="Arial MT"/>
              <a:cs typeface="Arial MT"/>
            </a:endParaRPr>
          </a:p>
          <a:p>
            <a:pPr marL="525767" marR="7620" indent="-509681">
              <a:lnSpc>
                <a:spcPct val="115599"/>
              </a:lnSpc>
              <a:buFont typeface="Arial"/>
              <a:buChar char="●"/>
              <a:tabLst>
                <a:tab pos="525767" algn="l"/>
              </a:tabLst>
            </a:pPr>
            <a:r>
              <a:rPr sz="2667" dirty="0">
                <a:latin typeface="Arial MT"/>
                <a:cs typeface="Arial MT"/>
              </a:rPr>
              <a:t>It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helps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the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network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to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use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the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useful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information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and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suppress</a:t>
            </a:r>
            <a:r>
              <a:rPr sz="2667" spc="-40" dirty="0">
                <a:latin typeface="Arial MT"/>
                <a:cs typeface="Arial MT"/>
              </a:rPr>
              <a:t> </a:t>
            </a:r>
            <a:r>
              <a:rPr sz="2667" spc="-33" dirty="0">
                <a:latin typeface="Arial MT"/>
                <a:cs typeface="Arial MT"/>
              </a:rPr>
              <a:t>the </a:t>
            </a:r>
            <a:r>
              <a:rPr sz="2667" dirty="0">
                <a:latin typeface="Arial MT"/>
                <a:cs typeface="Arial MT"/>
              </a:rPr>
              <a:t>irrelevant</a:t>
            </a:r>
            <a:r>
              <a:rPr sz="2667" spc="-67" dirty="0">
                <a:latin typeface="Arial MT"/>
                <a:cs typeface="Arial MT"/>
              </a:rPr>
              <a:t> </a:t>
            </a:r>
            <a:r>
              <a:rPr sz="2667" spc="-13" dirty="0">
                <a:latin typeface="Arial MT"/>
                <a:cs typeface="Arial MT"/>
              </a:rPr>
              <a:t>information.</a:t>
            </a:r>
            <a:endParaRPr sz="2667">
              <a:latin typeface="Arial MT"/>
              <a:cs typeface="Arial MT"/>
            </a:endParaRPr>
          </a:p>
          <a:p>
            <a:pPr marL="525767" indent="-508834">
              <a:spcBef>
                <a:spcPts val="500"/>
              </a:spcBef>
              <a:buChar char="●"/>
              <a:tabLst>
                <a:tab pos="525767" algn="l"/>
              </a:tabLst>
            </a:pPr>
            <a:r>
              <a:rPr sz="2667" dirty="0">
                <a:latin typeface="Arial MT"/>
                <a:cs typeface="Arial MT"/>
              </a:rPr>
              <a:t>Usually</a:t>
            </a:r>
            <a:r>
              <a:rPr sz="2667" spc="-8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a</a:t>
            </a:r>
            <a:r>
              <a:rPr sz="2667" spc="-80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nonlinear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spc="-13" dirty="0">
                <a:latin typeface="Arial MT"/>
                <a:cs typeface="Arial MT"/>
              </a:rPr>
              <a:t>function.</a:t>
            </a:r>
            <a:endParaRPr sz="2667">
              <a:latin typeface="Arial MT"/>
              <a:cs typeface="Arial MT"/>
            </a:endParaRPr>
          </a:p>
          <a:p>
            <a:pPr marL="1744936" lvl="1" indent="-508834">
              <a:spcBef>
                <a:spcPts val="500"/>
              </a:spcBef>
              <a:buChar char="○"/>
              <a:tabLst>
                <a:tab pos="1744936" algn="l"/>
              </a:tabLst>
            </a:pPr>
            <a:r>
              <a:rPr sz="2667" dirty="0">
                <a:latin typeface="Arial MT"/>
                <a:cs typeface="Arial MT"/>
              </a:rPr>
              <a:t>What</a:t>
            </a:r>
            <a:r>
              <a:rPr sz="2667" spc="-5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if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we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choose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a</a:t>
            </a:r>
            <a:r>
              <a:rPr sz="2667" spc="-47" dirty="0">
                <a:latin typeface="Arial MT"/>
                <a:cs typeface="Arial MT"/>
              </a:rPr>
              <a:t> </a:t>
            </a:r>
            <a:r>
              <a:rPr sz="2667" spc="-13" dirty="0">
                <a:latin typeface="Arial MT"/>
                <a:cs typeface="Arial MT"/>
              </a:rPr>
              <a:t>linear?</a:t>
            </a:r>
            <a:endParaRPr sz="2667">
              <a:latin typeface="Arial MT"/>
              <a:cs typeface="Arial MT"/>
            </a:endParaRPr>
          </a:p>
          <a:p>
            <a:pPr marL="1838914" lvl="1" indent="-602812">
              <a:spcBef>
                <a:spcPts val="500"/>
              </a:spcBef>
              <a:buClr>
                <a:srgbClr val="000000"/>
              </a:buClr>
              <a:buChar char="○"/>
              <a:tabLst>
                <a:tab pos="1838914" algn="l"/>
              </a:tabLst>
            </a:pPr>
            <a:r>
              <a:rPr sz="2667" dirty="0">
                <a:solidFill>
                  <a:srgbClr val="980000"/>
                </a:solidFill>
                <a:latin typeface="Arial MT"/>
                <a:cs typeface="Arial MT"/>
              </a:rPr>
              <a:t>Linear</a:t>
            </a:r>
            <a:r>
              <a:rPr sz="2667" spc="-87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980000"/>
                </a:solidFill>
                <a:latin typeface="Arial MT"/>
                <a:cs typeface="Arial MT"/>
              </a:rPr>
              <a:t>classifier</a:t>
            </a:r>
            <a:endParaRPr sz="2667">
              <a:latin typeface="Arial MT"/>
              <a:cs typeface="Arial MT"/>
            </a:endParaRPr>
          </a:p>
          <a:p>
            <a:pPr marL="1838914" lvl="1" indent="-602812">
              <a:spcBef>
                <a:spcPts val="500"/>
              </a:spcBef>
              <a:buChar char="○"/>
              <a:tabLst>
                <a:tab pos="1838914" algn="l"/>
              </a:tabLst>
            </a:pPr>
            <a:r>
              <a:rPr sz="2667" dirty="0">
                <a:latin typeface="Arial MT"/>
                <a:cs typeface="Arial MT"/>
              </a:rPr>
              <a:t>Limited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capacity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to</a:t>
            </a:r>
            <a:r>
              <a:rPr sz="2667" spc="-67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solve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dirty="0">
                <a:latin typeface="Arial MT"/>
                <a:cs typeface="Arial MT"/>
              </a:rPr>
              <a:t>complex</a:t>
            </a:r>
            <a:r>
              <a:rPr sz="2667" spc="-73" dirty="0">
                <a:latin typeface="Arial MT"/>
                <a:cs typeface="Arial MT"/>
              </a:rPr>
              <a:t> </a:t>
            </a:r>
            <a:r>
              <a:rPr sz="2667" spc="-13" dirty="0">
                <a:latin typeface="Arial MT"/>
                <a:cs typeface="Arial MT"/>
              </a:rPr>
              <a:t>problems.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7138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0293" y="7544"/>
            <a:ext cx="658706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Activation</a:t>
            </a:r>
            <a:r>
              <a:rPr spc="-247" dirty="0"/>
              <a:t> </a:t>
            </a:r>
            <a:r>
              <a:rPr dirty="0"/>
              <a:t>Functions</a:t>
            </a:r>
            <a:r>
              <a:rPr spc="-240" dirty="0"/>
              <a:t> </a:t>
            </a:r>
            <a:r>
              <a:rPr spc="-13" dirty="0"/>
              <a:t>(cont’d)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290" y="991319"/>
            <a:ext cx="187706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5767" indent="-508834">
              <a:spcBef>
                <a:spcPts val="133"/>
              </a:spcBef>
              <a:buChar char="●"/>
              <a:tabLst>
                <a:tab pos="525767" algn="l"/>
              </a:tabLst>
            </a:pPr>
            <a:r>
              <a:rPr sz="2667" b="1" spc="-13" dirty="0">
                <a:latin typeface="Arial"/>
                <a:cs typeface="Arial"/>
              </a:rPr>
              <a:t>Sigmoid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3289" y="2422865"/>
            <a:ext cx="4785360" cy="345451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1135352" indent="-447875">
              <a:spcBef>
                <a:spcPts val="493"/>
              </a:spcBef>
              <a:buChar char="○"/>
              <a:tabLst>
                <a:tab pos="1135352" algn="l"/>
              </a:tabLst>
            </a:pP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continuously</a:t>
            </a:r>
            <a:r>
              <a:rPr sz="1867" b="1" spc="-80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spc="-13" dirty="0">
                <a:solidFill>
                  <a:srgbClr val="274E13"/>
                </a:solidFill>
                <a:latin typeface="Arial"/>
                <a:cs typeface="Arial"/>
              </a:rPr>
              <a:t>differentiable</a:t>
            </a:r>
            <a:endParaRPr sz="1867">
              <a:latin typeface="Arial"/>
              <a:cs typeface="Arial"/>
            </a:endParaRPr>
          </a:p>
          <a:p>
            <a:pPr marL="1135352" indent="-447875">
              <a:spcBef>
                <a:spcPts val="360"/>
              </a:spcBef>
              <a:buChar char="○"/>
              <a:tabLst>
                <a:tab pos="1135352" algn="l"/>
              </a:tabLst>
            </a:pP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ranges</a:t>
            </a:r>
            <a:r>
              <a:rPr sz="1867" b="1" spc="-53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from</a:t>
            </a:r>
            <a:r>
              <a:rPr sz="1867" b="1" spc="-47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spc="-13" dirty="0">
                <a:solidFill>
                  <a:srgbClr val="274E13"/>
                </a:solidFill>
                <a:latin typeface="Arial"/>
                <a:cs typeface="Arial"/>
              </a:rPr>
              <a:t>0-</a:t>
            </a:r>
            <a:r>
              <a:rPr sz="1867" b="1" spc="-67" dirty="0">
                <a:solidFill>
                  <a:srgbClr val="274E13"/>
                </a:solidFill>
                <a:latin typeface="Arial"/>
                <a:cs typeface="Arial"/>
              </a:rPr>
              <a:t>1</a:t>
            </a:r>
            <a:endParaRPr sz="1867">
              <a:latin typeface="Arial"/>
              <a:cs typeface="Arial"/>
            </a:endParaRPr>
          </a:p>
          <a:p>
            <a:pPr marL="1135352" indent="-447875">
              <a:spcBef>
                <a:spcPts val="360"/>
              </a:spcBef>
              <a:buChar char="○"/>
              <a:tabLst>
                <a:tab pos="1135352" algn="l"/>
              </a:tabLst>
            </a:pPr>
            <a:r>
              <a:rPr sz="1867" b="1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67" b="1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FF0000"/>
                </a:solidFill>
                <a:latin typeface="Arial"/>
                <a:cs typeface="Arial"/>
              </a:rPr>
              <a:t>symmetric</a:t>
            </a:r>
            <a:r>
              <a:rPr sz="1867" b="1" spc="-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FF0000"/>
                </a:solidFill>
                <a:latin typeface="Arial"/>
                <a:cs typeface="Arial"/>
              </a:rPr>
              <a:t>around</a:t>
            </a:r>
            <a:r>
              <a:rPr sz="1867" b="1" spc="-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867" b="1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b="1" spc="-13" dirty="0">
                <a:solidFill>
                  <a:srgbClr val="FF0000"/>
                </a:solidFill>
                <a:latin typeface="Arial"/>
                <a:cs typeface="Arial"/>
              </a:rPr>
              <a:t>origin</a:t>
            </a:r>
            <a:endParaRPr sz="1867">
              <a:latin typeface="Arial"/>
              <a:cs typeface="Arial"/>
            </a:endParaRPr>
          </a:p>
          <a:p>
            <a:pPr marL="525767" indent="-508834">
              <a:spcBef>
                <a:spcPts val="327"/>
              </a:spcBef>
              <a:buChar char="●"/>
              <a:tabLst>
                <a:tab pos="525767" algn="l"/>
              </a:tabLst>
            </a:pPr>
            <a:r>
              <a:rPr sz="2667" b="1" spc="-27" dirty="0">
                <a:latin typeface="Arial"/>
                <a:cs typeface="Arial"/>
              </a:rPr>
              <a:t>Tanh</a:t>
            </a:r>
            <a:endParaRPr sz="2667">
              <a:latin typeface="Arial"/>
              <a:cs typeface="Arial"/>
            </a:endParaRPr>
          </a:p>
          <a:p>
            <a:pPr marL="626518">
              <a:spcBef>
                <a:spcPts val="500"/>
              </a:spcBef>
            </a:pPr>
            <a:r>
              <a:rPr sz="2667" b="1" spc="-67" dirty="0">
                <a:latin typeface="Arial"/>
                <a:cs typeface="Arial"/>
              </a:rPr>
              <a:t>○</a:t>
            </a:r>
            <a:endParaRPr sz="2667">
              <a:latin typeface="Arial"/>
              <a:cs typeface="Arial"/>
            </a:endParaRPr>
          </a:p>
          <a:p>
            <a:pPr marL="626518">
              <a:spcBef>
                <a:spcPts val="500"/>
              </a:spcBef>
            </a:pPr>
            <a:r>
              <a:rPr sz="2667" b="1" spc="-67" dirty="0">
                <a:latin typeface="Arial"/>
                <a:cs typeface="Arial"/>
              </a:rPr>
              <a:t>○</a:t>
            </a:r>
            <a:endParaRPr sz="2667">
              <a:latin typeface="Arial"/>
              <a:cs typeface="Arial"/>
            </a:endParaRPr>
          </a:p>
          <a:p>
            <a:pPr marL="1135352" lvl="1" indent="-447875">
              <a:spcBef>
                <a:spcPts val="533"/>
              </a:spcBef>
              <a:buChar char="○"/>
              <a:tabLst>
                <a:tab pos="1135352" algn="l"/>
              </a:tabLst>
            </a:pPr>
            <a:r>
              <a:rPr sz="1867" b="1" dirty="0">
                <a:latin typeface="Arial"/>
                <a:cs typeface="Arial"/>
              </a:rPr>
              <a:t>scaled</a:t>
            </a:r>
            <a:r>
              <a:rPr sz="1867" b="1" spc="-3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version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of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the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sigmoid</a:t>
            </a:r>
            <a:endParaRPr sz="1867">
              <a:latin typeface="Arial"/>
              <a:cs typeface="Arial"/>
            </a:endParaRPr>
          </a:p>
          <a:p>
            <a:pPr marL="1135352" lvl="1" indent="-447875">
              <a:spcBef>
                <a:spcPts val="360"/>
              </a:spcBef>
              <a:buClr>
                <a:srgbClr val="000000"/>
              </a:buClr>
              <a:buChar char="○"/>
              <a:tabLst>
                <a:tab pos="1135352" algn="l"/>
              </a:tabLst>
            </a:pP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symmetric</a:t>
            </a:r>
            <a:r>
              <a:rPr sz="1867" b="1" spc="-40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around</a:t>
            </a:r>
            <a:r>
              <a:rPr sz="1867" b="1" spc="-40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274E13"/>
                </a:solidFill>
                <a:latin typeface="Arial"/>
                <a:cs typeface="Arial"/>
              </a:rPr>
              <a:t>the</a:t>
            </a:r>
            <a:r>
              <a:rPr sz="1867" b="1" spc="-40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1867" b="1" spc="-13" dirty="0">
                <a:solidFill>
                  <a:srgbClr val="274E13"/>
                </a:solidFill>
                <a:latin typeface="Arial"/>
                <a:cs typeface="Arial"/>
              </a:rPr>
              <a:t>origin</a:t>
            </a:r>
            <a:endParaRPr sz="1867">
              <a:latin typeface="Arial"/>
              <a:cs typeface="Arial"/>
            </a:endParaRPr>
          </a:p>
          <a:p>
            <a:pPr marL="1135352" lvl="1" indent="-447875">
              <a:spcBef>
                <a:spcPts val="360"/>
              </a:spcBef>
              <a:buClr>
                <a:srgbClr val="000000"/>
              </a:buClr>
              <a:buChar char="○"/>
              <a:tabLst>
                <a:tab pos="1135352" algn="l"/>
              </a:tabLst>
            </a:pPr>
            <a:r>
              <a:rPr sz="1867" b="1" dirty="0">
                <a:solidFill>
                  <a:srgbClr val="FF0000"/>
                </a:solidFill>
                <a:latin typeface="Arial"/>
                <a:cs typeface="Arial"/>
              </a:rPr>
              <a:t>vanishing</a:t>
            </a:r>
            <a:r>
              <a:rPr sz="1867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b="1" spc="-13" dirty="0">
                <a:solidFill>
                  <a:srgbClr val="FF0000"/>
                </a:solidFill>
                <a:latin typeface="Arial"/>
                <a:cs typeface="Arial"/>
              </a:rPr>
              <a:t>gradient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601" y="1577934"/>
            <a:ext cx="2946399" cy="609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701" y="3973517"/>
            <a:ext cx="4241799" cy="838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5446" y="822860"/>
            <a:ext cx="3630469" cy="29550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416" y="3925912"/>
            <a:ext cx="3559680" cy="289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5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0293" y="109144"/>
            <a:ext cx="658706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Activation</a:t>
            </a:r>
            <a:r>
              <a:rPr spc="-247" dirty="0"/>
              <a:t> </a:t>
            </a:r>
            <a:r>
              <a:rPr dirty="0"/>
              <a:t>Functions</a:t>
            </a:r>
            <a:r>
              <a:rPr spc="-240" dirty="0"/>
              <a:t> </a:t>
            </a:r>
            <a:r>
              <a:rPr spc="-13" dirty="0"/>
              <a:t>(cont’d)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290" y="991319"/>
            <a:ext cx="140885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5767" indent="-508834">
              <a:spcBef>
                <a:spcPts val="133"/>
              </a:spcBef>
              <a:buChar char="●"/>
              <a:tabLst>
                <a:tab pos="525767" algn="l"/>
              </a:tabLst>
            </a:pPr>
            <a:r>
              <a:rPr sz="2667" spc="-27" dirty="0">
                <a:latin typeface="Arial MT"/>
                <a:cs typeface="Arial MT"/>
              </a:rPr>
              <a:t>ReLU</a:t>
            </a:r>
            <a:endParaRPr sz="266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257" y="2422864"/>
            <a:ext cx="5237480" cy="237146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8722">
              <a:lnSpc>
                <a:spcPct val="116100"/>
              </a:lnSpc>
              <a:spcBef>
                <a:spcPts val="133"/>
              </a:spcBef>
              <a:buChar char="○"/>
              <a:tabLst>
                <a:tab pos="464808" algn="l"/>
              </a:tabLst>
            </a:pPr>
            <a:r>
              <a:rPr sz="1867" dirty="0">
                <a:latin typeface="Arial MT"/>
                <a:cs typeface="Arial MT"/>
              </a:rPr>
              <a:t>Also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called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piecewise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linear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function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because </a:t>
            </a:r>
            <a:r>
              <a:rPr sz="1867" dirty="0">
                <a:latin typeface="Arial MT"/>
                <a:cs typeface="Arial MT"/>
              </a:rPr>
              <a:t>rectified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function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linear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for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half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of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input </a:t>
            </a:r>
            <a:r>
              <a:rPr sz="1867" dirty="0">
                <a:latin typeface="Arial MT"/>
                <a:cs typeface="Arial MT"/>
              </a:rPr>
              <a:t>domain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and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nonlinear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for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other</a:t>
            </a:r>
            <a:r>
              <a:rPr sz="1867" spc="-13" dirty="0">
                <a:latin typeface="Arial MT"/>
                <a:cs typeface="Arial MT"/>
              </a:rPr>
              <a:t> half.</a:t>
            </a:r>
            <a:endParaRPr sz="1867">
              <a:latin typeface="Arial MT"/>
              <a:cs typeface="Arial MT"/>
            </a:endParaRPr>
          </a:p>
          <a:p>
            <a:pPr marL="463962" indent="-447029">
              <a:spcBef>
                <a:spcPts val="360"/>
              </a:spcBef>
              <a:buChar char="○"/>
              <a:tabLst>
                <a:tab pos="463962" algn="l"/>
              </a:tabLst>
            </a:pP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trivial</a:t>
            </a:r>
            <a:r>
              <a:rPr sz="1867" spc="-33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to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274E13"/>
                </a:solidFill>
                <a:latin typeface="Arial MT"/>
                <a:cs typeface="Arial MT"/>
              </a:rPr>
              <a:t>implement</a:t>
            </a:r>
            <a:endParaRPr sz="1867">
              <a:latin typeface="Arial MT"/>
              <a:cs typeface="Arial MT"/>
            </a:endParaRPr>
          </a:p>
          <a:p>
            <a:pPr marL="463962" indent="-447029">
              <a:spcBef>
                <a:spcPts val="360"/>
              </a:spcBef>
              <a:buChar char="○"/>
              <a:tabLst>
                <a:tab pos="463962" algn="l"/>
              </a:tabLst>
            </a:pP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sparse</a:t>
            </a:r>
            <a:r>
              <a:rPr sz="1867" spc="-40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274E13"/>
                </a:solidFill>
                <a:latin typeface="Arial MT"/>
                <a:cs typeface="Arial MT"/>
              </a:rPr>
              <a:t>representation</a:t>
            </a:r>
            <a:endParaRPr sz="1867">
              <a:latin typeface="Arial MT"/>
              <a:cs typeface="Arial MT"/>
            </a:endParaRPr>
          </a:p>
          <a:p>
            <a:pPr marL="463962" indent="-447029">
              <a:spcBef>
                <a:spcPts val="360"/>
              </a:spcBef>
              <a:buChar char="○"/>
              <a:tabLst>
                <a:tab pos="463962" algn="l"/>
              </a:tabLst>
            </a:pP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avoid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the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problem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of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dirty="0">
                <a:solidFill>
                  <a:srgbClr val="274E13"/>
                </a:solidFill>
                <a:latin typeface="Arial MT"/>
                <a:cs typeface="Arial MT"/>
              </a:rPr>
              <a:t>vanishing</a:t>
            </a:r>
            <a:r>
              <a:rPr sz="1867" spc="-27" dirty="0">
                <a:solidFill>
                  <a:srgbClr val="274E13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274E13"/>
                </a:solidFill>
                <a:latin typeface="Arial MT"/>
                <a:cs typeface="Arial MT"/>
              </a:rPr>
              <a:t>gradients</a:t>
            </a:r>
            <a:endParaRPr sz="1867">
              <a:latin typeface="Arial MT"/>
              <a:cs typeface="Arial MT"/>
            </a:endParaRPr>
          </a:p>
          <a:p>
            <a:pPr marL="463962" indent="-447029">
              <a:spcBef>
                <a:spcPts val="360"/>
              </a:spcBef>
              <a:buChar char="○"/>
              <a:tabLst>
                <a:tab pos="463962" algn="l"/>
              </a:tabLst>
            </a:pPr>
            <a:r>
              <a:rPr sz="1867" dirty="0">
                <a:solidFill>
                  <a:srgbClr val="FF0000"/>
                </a:solidFill>
                <a:latin typeface="Arial MT"/>
                <a:cs typeface="Arial MT"/>
              </a:rPr>
              <a:t>dead</a:t>
            </a:r>
            <a:r>
              <a:rPr sz="1867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0000"/>
                </a:solidFill>
                <a:latin typeface="Arial MT"/>
                <a:cs typeface="Arial MT"/>
              </a:rPr>
              <a:t>neurons</a:t>
            </a:r>
            <a:endParaRPr sz="1867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250" y="1703217"/>
            <a:ext cx="3759199" cy="5079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4433" y="1016001"/>
            <a:ext cx="4127499" cy="47751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spcBef>
                <a:spcPts val="5"/>
              </a:spcBef>
            </a:pPr>
            <a:fld id="{81D60167-4931-47E6-BA6A-407CBD079E47}" type="slidenum">
              <a:rPr lang="en-IN" spc="-25" smtClean="0"/>
              <a:pPr marL="38100">
                <a:spcBef>
                  <a:spcPts val="5"/>
                </a:spcBef>
              </a:pPr>
              <a:t>4</a:t>
            </a:fld>
            <a:endParaRPr spc="-33" dirty="0"/>
          </a:p>
        </p:txBody>
      </p:sp>
    </p:spTree>
    <p:extLst>
      <p:ext uri="{BB962C8B-B14F-4D97-AF65-F5344CB8AC3E}">
        <p14:creationId xmlns:p14="http://schemas.microsoft.com/office/powerpoint/2010/main" val="9586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27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MT</vt:lpstr>
      <vt:lpstr>Calibri</vt:lpstr>
      <vt:lpstr>Calibri Light</vt:lpstr>
      <vt:lpstr>Office Theme</vt:lpstr>
      <vt:lpstr>PowerPoint Presentation</vt:lpstr>
      <vt:lpstr>Activation Functions</vt:lpstr>
      <vt:lpstr>Activation Functions (cont’d)</vt:lpstr>
      <vt:lpstr>Activation Functions (cont’d)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2026-03-14T02:41:56Z</dcterms:created>
  <dcterms:modified xsi:type="dcterms:W3CDTF">2026-03-14T02:42:48Z</dcterms:modified>
</cp:coreProperties>
</file>