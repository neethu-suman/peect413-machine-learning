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80" r:id="rId2"/>
    <p:sldId id="381" r:id="rId3"/>
    <p:sldId id="439" r:id="rId4"/>
    <p:sldId id="384" r:id="rId5"/>
    <p:sldId id="44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6B6B-1987-5D8E-574F-7616C8B0B7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C5B2DE-B367-671D-9CBE-2D25B9FC64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2F251F-BDA2-C375-1546-5DA3B1713EFB}"/>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05B8AFC7-47AE-4545-8C9F-92FF87CD35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D167A9-0BF9-17FA-30A0-1390AD6A02A6}"/>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3315130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9D85-7F8D-1014-6B1E-2DF96B096B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A5C1F9-8DE7-FB0C-EB11-CC4F52E3AE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3FF240-BB5A-C4EB-FEAB-881178F66DEF}"/>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64D8B318-A62B-F631-AB33-4804FA0D88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04F8B-01B7-DF62-8163-CBC6F592AC4C}"/>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123797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03D61-33AF-E637-30B6-B6BD72C570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D6402B-CDA0-0A73-0CC7-4B2589E20A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15097A-DAF1-F17F-593E-FFB6C016DF6A}"/>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56264F37-F3CF-71AC-0945-61EF8123C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CC62A3-A68E-DCBA-E250-835C5334D17A}"/>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160926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A010-E6FA-F875-ACF6-0819243BDA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07A17D-15DC-FC3B-150E-213D336808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74473F-368B-2E91-C132-4BB4061F5C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54E16C-4598-A988-12EB-D63BDC549335}"/>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6" name="Footer Placeholder 5">
            <a:extLst>
              <a:ext uri="{FF2B5EF4-FFF2-40B4-BE49-F238E27FC236}">
                <a16:creationId xmlns:a16="http://schemas.microsoft.com/office/drawing/2014/main" id="{321D72E5-E6CA-E155-465C-73885FCA2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A54678-6816-613E-4F83-F3E9B91B2F72}"/>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2616164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C2EE0-78E7-0C6A-DD1A-74F7A8E8DF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846656-147C-775E-7591-129C812663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85C75A-07E8-8891-9B06-5F37357ECA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FBBB20-491A-6AB2-2624-0C81808A2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2B92F0-1497-5AB1-61BB-9694FF7ED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0D841C-B451-676D-77D9-248D66F5ADD9}"/>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8" name="Footer Placeholder 7">
            <a:extLst>
              <a:ext uri="{FF2B5EF4-FFF2-40B4-BE49-F238E27FC236}">
                <a16:creationId xmlns:a16="http://schemas.microsoft.com/office/drawing/2014/main" id="{38076FFF-FDC5-3319-AC26-A20922AF13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75A145-4EFD-FC16-FCFB-6503EB008F90}"/>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260646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D1F38-7BEE-377D-B39E-028724E043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F8C152-C6DC-B41C-3B23-9F03FFAA5962}"/>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4" name="Footer Placeholder 3">
            <a:extLst>
              <a:ext uri="{FF2B5EF4-FFF2-40B4-BE49-F238E27FC236}">
                <a16:creationId xmlns:a16="http://schemas.microsoft.com/office/drawing/2014/main" id="{3B2B86B3-E91B-CDA0-5DCF-DF97DBF57F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EE5378-1500-8604-A1E6-8C3D844C1545}"/>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1165263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6D950A-FE9F-B567-ABB7-29FB61CCE43A}"/>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3" name="Footer Placeholder 2">
            <a:extLst>
              <a:ext uri="{FF2B5EF4-FFF2-40B4-BE49-F238E27FC236}">
                <a16:creationId xmlns:a16="http://schemas.microsoft.com/office/drawing/2014/main" id="{FD82B67C-43BA-7AA5-6E36-B218063443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20290D-67EF-B92B-C442-8936C562116C}"/>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130536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CEDC-D343-A95A-FAF8-A1D446B1D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6E35D0-914E-A4BF-C7ED-F45CEE9D8A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B2B9F6-D148-81FE-65A5-9263580383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B055D7-76E5-E770-4402-03C54EC291B4}"/>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6" name="Footer Placeholder 5">
            <a:extLst>
              <a:ext uri="{FF2B5EF4-FFF2-40B4-BE49-F238E27FC236}">
                <a16:creationId xmlns:a16="http://schemas.microsoft.com/office/drawing/2014/main" id="{BD56ACF3-F52E-492E-B82D-266EFACB6D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37A80B-C04A-9828-F756-60CF48FD14C6}"/>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28648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64850-6242-0350-3FD2-97CA0A6C61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B59DDA-8672-735C-2F72-E700AD5324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B5609ED-8E3B-D520-3983-5DCBC7079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0A1E92-E29E-A0E7-38FE-EEDADC742D1A}"/>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6" name="Footer Placeholder 5">
            <a:extLst>
              <a:ext uri="{FF2B5EF4-FFF2-40B4-BE49-F238E27FC236}">
                <a16:creationId xmlns:a16="http://schemas.microsoft.com/office/drawing/2014/main" id="{78BF87DD-2003-ED20-D137-B46186619E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E0B4C-9D13-D84E-8EEE-09C762CD8DD7}"/>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3241949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0875D-D821-676D-CF20-3CE0B8B5CF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E2015-22E0-6910-E77A-C4A6DD872C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26AC57-A73A-1D93-E1F6-2D5980496A54}"/>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1A277423-3AA0-EC11-BEBE-0D05CD071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AFC3C-8D3E-CEEF-7C86-F56682B01C63}"/>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2820188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CE50D3-B806-F3CC-6BC6-604EA6EFB8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D71CD9-F1B0-B65A-BA6D-E1C5A2C859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31335A-2E4F-18A5-27BC-DC47AF80DE4F}"/>
              </a:ext>
            </a:extLst>
          </p:cNvPr>
          <p:cNvSpPr>
            <a:spLocks noGrp="1"/>
          </p:cNvSpPr>
          <p:nvPr>
            <p:ph type="dt" sz="half" idx="10"/>
          </p:nvPr>
        </p:nvSpPr>
        <p:spPr/>
        <p:txBody>
          <a:body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C9E57F3F-87B2-B0CD-B94F-A5B434CB80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FE693-AE50-893A-1B88-79FCB6D8B0EA}"/>
              </a:ext>
            </a:extLst>
          </p:cNvPr>
          <p:cNvSpPr>
            <a:spLocks noGrp="1"/>
          </p:cNvSpPr>
          <p:nvPr>
            <p:ph type="sldNum" sz="quarter" idx="12"/>
          </p:nvPr>
        </p:nvSpPr>
        <p:spPr/>
        <p:txBody>
          <a:bodyPr/>
          <a:lstStyle/>
          <a:p>
            <a:fld id="{38A8D555-58A5-4509-BFE7-2CEC9720EF35}" type="slidenum">
              <a:rPr lang="en-IN" smtClean="0"/>
              <a:t>‹#›</a:t>
            </a:fld>
            <a:endParaRPr lang="en-IN"/>
          </a:p>
        </p:txBody>
      </p:sp>
    </p:spTree>
    <p:extLst>
      <p:ext uri="{BB962C8B-B14F-4D97-AF65-F5344CB8AC3E}">
        <p14:creationId xmlns:p14="http://schemas.microsoft.com/office/powerpoint/2010/main" val="292782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40E24C-20B4-A592-D4E9-B67EC660AF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426CAF-88F2-A80C-9E0E-C77251F4DF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60CA0D-6600-F45A-FC43-84D73B98D2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ADA79-5627-4E2C-B28A-40F91384CFA0}" type="datetimeFigureOut">
              <a:rPr lang="en-IN" smtClean="0"/>
              <a:t>14-03-2026</a:t>
            </a:fld>
            <a:endParaRPr lang="en-IN"/>
          </a:p>
        </p:txBody>
      </p:sp>
      <p:sp>
        <p:nvSpPr>
          <p:cNvPr id="5" name="Footer Placeholder 4">
            <a:extLst>
              <a:ext uri="{FF2B5EF4-FFF2-40B4-BE49-F238E27FC236}">
                <a16:creationId xmlns:a16="http://schemas.microsoft.com/office/drawing/2014/main" id="{129DD638-B15B-A2AD-B54F-AFB09B79F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9E4CE0-D0D4-AD1F-6FAB-B4B3D674B5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8D555-58A5-4509-BFE7-2CEC9720EF35}" type="slidenum">
              <a:rPr lang="en-IN" smtClean="0"/>
              <a:t>‹#›</a:t>
            </a:fld>
            <a:endParaRPr lang="en-IN"/>
          </a:p>
        </p:txBody>
      </p:sp>
    </p:spTree>
    <p:extLst>
      <p:ext uri="{BB962C8B-B14F-4D97-AF65-F5344CB8AC3E}">
        <p14:creationId xmlns:p14="http://schemas.microsoft.com/office/powerpoint/2010/main" val="1098958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7380-DCE6-B2C2-16E3-CCD2CFF04774}"/>
              </a:ext>
            </a:extLst>
          </p:cNvPr>
          <p:cNvSpPr>
            <a:spLocks noGrp="1"/>
          </p:cNvSpPr>
          <p:nvPr>
            <p:ph type="title"/>
          </p:nvPr>
        </p:nvSpPr>
        <p:spPr>
          <a:xfrm>
            <a:off x="838200" y="365125"/>
            <a:ext cx="10889974" cy="1325563"/>
          </a:xfrm>
        </p:spPr>
        <p:txBody>
          <a:bodyPr/>
          <a:lstStyle/>
          <a:p>
            <a:r>
              <a:rPr lang="en-US" dirty="0"/>
              <a:t>Gradient based learning in in Neural Networks</a:t>
            </a:r>
            <a:endParaRPr lang="en-IN" dirty="0"/>
          </a:p>
        </p:txBody>
      </p:sp>
      <p:sp>
        <p:nvSpPr>
          <p:cNvPr id="3" name="Content Placeholder 2">
            <a:extLst>
              <a:ext uri="{FF2B5EF4-FFF2-40B4-BE49-F238E27FC236}">
                <a16:creationId xmlns:a16="http://schemas.microsoft.com/office/drawing/2014/main" id="{EAF9ACD3-B2D6-95AE-B577-A01E55883B04}"/>
              </a:ext>
            </a:extLst>
          </p:cNvPr>
          <p:cNvSpPr>
            <a:spLocks noGrp="1"/>
          </p:cNvSpPr>
          <p:nvPr>
            <p:ph idx="1"/>
          </p:nvPr>
        </p:nvSpPr>
        <p:spPr/>
        <p:txBody>
          <a:bodyPr>
            <a:normAutofit/>
          </a:bodyPr>
          <a:lstStyle/>
          <a:p>
            <a:pPr marL="0" indent="0">
              <a:buNone/>
            </a:pPr>
            <a:r>
              <a:rPr lang="en-IN" sz="2400" b="1" dirty="0"/>
              <a:t>Batch Gradient Descent/ </a:t>
            </a:r>
            <a:r>
              <a:rPr lang="en-US" sz="2400" b="1" dirty="0"/>
              <a:t>standard Gradient Descent</a:t>
            </a:r>
          </a:p>
          <a:p>
            <a:r>
              <a:rPr lang="en-US" sz="2400" dirty="0"/>
              <a:t>Repeating these 4-step loop thousands or millions of times. With every loop, the gradients calculate the slopes, the optimizer tweaks the weights slightly, and the overall error goes down. Eventually, the weights settle into an optimal configuration, and we say the network has successfully "learned" the patterns in the data.</a:t>
            </a:r>
          </a:p>
          <a:p>
            <a:pPr marL="457200" lvl="1" indent="0">
              <a:buNone/>
            </a:pPr>
            <a:r>
              <a:rPr lang="en-US" sz="2000" dirty="0"/>
              <a:t>1. The Forward Pass (Making a Guess)</a:t>
            </a:r>
          </a:p>
          <a:p>
            <a:pPr marL="457200" lvl="1" indent="0">
              <a:buNone/>
            </a:pPr>
            <a:r>
              <a:rPr lang="en-US" sz="2000" dirty="0"/>
              <a:t>2. Calculating the Loss (Measuring the Mistake)</a:t>
            </a:r>
          </a:p>
          <a:p>
            <a:pPr marL="457200" lvl="1" indent="0">
              <a:buNone/>
            </a:pPr>
            <a:r>
              <a:rPr lang="en-US" sz="2000" dirty="0"/>
              <a:t>3. The Backward Pass / Backpropagation (Finding the Gradients)</a:t>
            </a:r>
          </a:p>
          <a:p>
            <a:pPr marL="457200" lvl="1" indent="0">
              <a:buNone/>
            </a:pPr>
            <a:r>
              <a:rPr lang="en-US" sz="2000" dirty="0"/>
              <a:t>4. The Weight Update (Taking a Step)</a:t>
            </a:r>
            <a:endParaRPr lang="en-IN" sz="2000" dirty="0"/>
          </a:p>
        </p:txBody>
      </p:sp>
    </p:spTree>
    <p:extLst>
      <p:ext uri="{BB962C8B-B14F-4D97-AF65-F5344CB8AC3E}">
        <p14:creationId xmlns:p14="http://schemas.microsoft.com/office/powerpoint/2010/main" val="3923259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522A-64CD-FB01-5A01-DA09522ACD76}"/>
              </a:ext>
            </a:extLst>
          </p:cNvPr>
          <p:cNvSpPr>
            <a:spLocks noGrp="1"/>
          </p:cNvSpPr>
          <p:nvPr>
            <p:ph type="title"/>
          </p:nvPr>
        </p:nvSpPr>
        <p:spPr/>
        <p:txBody>
          <a:bodyPr>
            <a:normAutofit/>
          </a:bodyPr>
          <a:lstStyle/>
          <a:p>
            <a:r>
              <a:rPr lang="en-US" sz="4000" dirty="0"/>
              <a:t>Gradient based learning in in Neural Networks</a:t>
            </a:r>
            <a:endParaRPr lang="en-IN" sz="4000" dirty="0"/>
          </a:p>
        </p:txBody>
      </p:sp>
      <p:sp>
        <p:nvSpPr>
          <p:cNvPr id="3" name="Content Placeholder 2">
            <a:extLst>
              <a:ext uri="{FF2B5EF4-FFF2-40B4-BE49-F238E27FC236}">
                <a16:creationId xmlns:a16="http://schemas.microsoft.com/office/drawing/2014/main" id="{07CD7283-58F1-F211-1070-43543865AD33}"/>
              </a:ext>
            </a:extLst>
          </p:cNvPr>
          <p:cNvSpPr>
            <a:spLocks noGrp="1"/>
          </p:cNvSpPr>
          <p:nvPr>
            <p:ph idx="1"/>
          </p:nvPr>
        </p:nvSpPr>
        <p:spPr/>
        <p:txBody>
          <a:bodyPr>
            <a:normAutofit/>
          </a:bodyPr>
          <a:lstStyle/>
          <a:p>
            <a:pPr marL="0" indent="0">
              <a:buNone/>
            </a:pPr>
            <a:r>
              <a:rPr lang="en-US" b="1" dirty="0"/>
              <a:t>Stochastic Gradient Descent (SGD) in Neural Networks</a:t>
            </a:r>
          </a:p>
          <a:p>
            <a:pPr lvl="1"/>
            <a:r>
              <a:rPr lang="en-US" dirty="0"/>
              <a:t>Unlike standard Gradient Descent which uses the entire dataset to calculate the error, SGD calculates the gradient and updates the model's weights using just </a:t>
            </a:r>
            <a:r>
              <a:rPr lang="en-US" b="1" dirty="0"/>
              <a:t>one randomly selected training example </a:t>
            </a:r>
            <a:r>
              <a:rPr lang="en-US" dirty="0"/>
              <a:t>per iteration. </a:t>
            </a:r>
          </a:p>
          <a:p>
            <a:pPr lvl="1"/>
            <a:r>
              <a:rPr lang="en-US" dirty="0"/>
              <a:t>The network updates its weights instantly after viewing that single example.</a:t>
            </a:r>
          </a:p>
          <a:p>
            <a:pPr lvl="1"/>
            <a:r>
              <a:rPr lang="en-US" dirty="0"/>
              <a:t>Because it processes data one piece at a time, it is highly memory-efficient for large datasets. Additionally, the frequent, "noisy" updates create a zig-zagging path that actually helps the neural network jump out of local minima (fake bottoms) in complex error landscapes.</a:t>
            </a:r>
          </a:p>
        </p:txBody>
      </p:sp>
    </p:spTree>
    <p:extLst>
      <p:ext uri="{BB962C8B-B14F-4D97-AF65-F5344CB8AC3E}">
        <p14:creationId xmlns:p14="http://schemas.microsoft.com/office/powerpoint/2010/main" val="3134335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6E66B-28E9-6009-EB37-49D8AF901DEC}"/>
              </a:ext>
            </a:extLst>
          </p:cNvPr>
          <p:cNvSpPr>
            <a:spLocks noGrp="1"/>
          </p:cNvSpPr>
          <p:nvPr>
            <p:ph type="title"/>
          </p:nvPr>
        </p:nvSpPr>
        <p:spPr>
          <a:xfrm>
            <a:off x="838200" y="365125"/>
            <a:ext cx="11208026" cy="1325563"/>
          </a:xfrm>
        </p:spPr>
        <p:txBody>
          <a:bodyPr/>
          <a:lstStyle/>
          <a:p>
            <a:r>
              <a:rPr lang="en-US" dirty="0"/>
              <a:t>Gradient based learning in in Neural Networks</a:t>
            </a:r>
            <a:endParaRPr lang="en-IN" dirty="0"/>
          </a:p>
        </p:txBody>
      </p:sp>
      <p:sp>
        <p:nvSpPr>
          <p:cNvPr id="4" name="Rectangle 1">
            <a:extLst>
              <a:ext uri="{FF2B5EF4-FFF2-40B4-BE49-F238E27FC236}">
                <a16:creationId xmlns:a16="http://schemas.microsoft.com/office/drawing/2014/main" id="{1ED9C722-9D5F-B815-3DC8-0E1CD63AAACD}"/>
              </a:ext>
            </a:extLst>
          </p:cNvPr>
          <p:cNvSpPr>
            <a:spLocks noGrp="1" noChangeArrowheads="1"/>
          </p:cNvSpPr>
          <p:nvPr>
            <p:ph idx="1"/>
          </p:nvPr>
        </p:nvSpPr>
        <p:spPr bwMode="auto">
          <a:xfrm>
            <a:off x="957470" y="1690688"/>
            <a:ext cx="10515600"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IN" sz="2400" b="1" dirty="0"/>
              <a:t>Mini-Batch Gradient Descent</a:t>
            </a:r>
            <a:endParaRPr kumimoji="0" lang="en-US" altLang="en-US" sz="2400" b="1" i="0" u="none" strike="noStrike" cap="none" normalizeH="0" baseline="0" dirty="0">
              <a:ln>
                <a:noFill/>
              </a:ln>
              <a:solidFill>
                <a:schemeClr val="tx1"/>
              </a:solidFill>
              <a:effectLst/>
            </a:endParaRPr>
          </a:p>
          <a:p>
            <a:pPr marL="914400" lvl="1" indent="-4572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rPr>
              <a:t>Grab a Batch:</a:t>
            </a:r>
            <a:r>
              <a:rPr kumimoji="0" lang="en-US" altLang="en-US" sz="2000" b="0" i="0" u="none" strike="noStrike" cap="none" normalizeH="0" baseline="0" dirty="0">
                <a:ln>
                  <a:noFill/>
                </a:ln>
                <a:solidFill>
                  <a:schemeClr val="tx1"/>
                </a:solidFill>
                <a:effectLst/>
              </a:rPr>
              <a:t> The network takes a single batch (e.g., 32 images).</a:t>
            </a:r>
          </a:p>
          <a:p>
            <a:pPr marL="914400" lvl="1" indent="-4572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rPr>
              <a:t>Calculate Average Error:</a:t>
            </a:r>
            <a:r>
              <a:rPr kumimoji="0" lang="en-US" altLang="en-US" sz="2000" b="0" i="0" u="none" strike="noStrike" cap="none" normalizeH="0" baseline="0" dirty="0">
                <a:ln>
                  <a:noFill/>
                </a:ln>
                <a:solidFill>
                  <a:schemeClr val="tx1"/>
                </a:solidFill>
                <a:effectLst/>
              </a:rPr>
              <a:t> It runs all 32 images through the network and calculates the </a:t>
            </a:r>
            <a:r>
              <a:rPr kumimoji="0" lang="en-US" altLang="en-US" sz="2000" b="0" i="1" u="none" strike="noStrike" cap="none" normalizeH="0" baseline="0" dirty="0">
                <a:ln>
                  <a:noFill/>
                </a:ln>
                <a:solidFill>
                  <a:schemeClr val="tx1"/>
                </a:solidFill>
                <a:effectLst/>
              </a:rPr>
              <a:t>average</a:t>
            </a:r>
            <a:r>
              <a:rPr kumimoji="0" lang="en-US" altLang="en-US" sz="2000" b="0" i="0" u="none" strike="noStrike" cap="none" normalizeH="0" baseline="0" dirty="0">
                <a:ln>
                  <a:noFill/>
                </a:ln>
                <a:solidFill>
                  <a:schemeClr val="tx1"/>
                </a:solidFill>
                <a:effectLst/>
              </a:rPr>
              <a:t> gradient for that specific group.</a:t>
            </a:r>
          </a:p>
          <a:p>
            <a:pPr marL="914400" lvl="1" indent="-4572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rPr>
              <a:t>Update Weights:</a:t>
            </a:r>
            <a:r>
              <a:rPr kumimoji="0" lang="en-US" altLang="en-US" sz="2000" b="0" i="0" u="none" strike="noStrike" cap="none" normalizeH="0" baseline="0" dirty="0">
                <a:ln>
                  <a:noFill/>
                </a:ln>
                <a:solidFill>
                  <a:schemeClr val="tx1"/>
                </a:solidFill>
                <a:effectLst/>
              </a:rPr>
              <a:t> It updates the weights once based on that average.</a:t>
            </a:r>
          </a:p>
          <a:p>
            <a:pPr marL="914400" lvl="1" indent="-457200" eaLnBrk="0" fontAlgn="base" hangingPunct="0">
              <a:lnSpc>
                <a:spcPct val="10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rPr>
              <a:t>Repeat:</a:t>
            </a:r>
            <a:r>
              <a:rPr kumimoji="0" lang="en-US" altLang="en-US" sz="2000" b="0" i="0" u="none" strike="noStrike" cap="none" normalizeH="0" baseline="0" dirty="0">
                <a:ln>
                  <a:noFill/>
                </a:ln>
                <a:solidFill>
                  <a:schemeClr val="tx1"/>
                </a:solidFill>
                <a:effectLst/>
              </a:rPr>
              <a:t> It moves to the next batch of 32, repeating this until it has seen the whole dataset.</a:t>
            </a:r>
          </a:p>
          <a:p>
            <a:pPr eaLnBrk="0" fontAlgn="base" hangingPunct="0">
              <a:lnSpc>
                <a:spcPct val="100000"/>
              </a:lnSpc>
              <a:spcBef>
                <a:spcPct val="0"/>
              </a:spcBef>
              <a:spcAft>
                <a:spcPct val="0"/>
              </a:spcAft>
            </a:pPr>
            <a:r>
              <a:rPr lang="en-US" sz="2400" dirty="0"/>
              <a:t>Gradient-based learning algorithms in modern deep learning is an optimizer called </a:t>
            </a:r>
            <a:r>
              <a:rPr lang="en-US" sz="2400" b="1" dirty="0"/>
              <a:t>Adam (Adaptive Moment Estimation)</a:t>
            </a:r>
            <a:r>
              <a:rPr lang="en-US" sz="2400" dirty="0"/>
              <a:t>, and it is almost always used in combination with </a:t>
            </a:r>
            <a:r>
              <a:rPr lang="en-US" sz="2400" b="1" dirty="0"/>
              <a:t>Mini-Batches</a:t>
            </a:r>
            <a:r>
              <a:rPr lang="en-US" sz="2400" dirty="0"/>
              <a:t>.</a:t>
            </a:r>
          </a:p>
          <a:p>
            <a:pPr lvl="1" eaLnBrk="0" fontAlgn="base" hangingPunct="0">
              <a:lnSpc>
                <a:spcPct val="100000"/>
              </a:lnSpc>
              <a:spcBef>
                <a:spcPct val="0"/>
              </a:spcBef>
              <a:spcAft>
                <a:spcPct val="0"/>
              </a:spcAft>
            </a:pPr>
            <a:r>
              <a:rPr lang="en-US" sz="2000" dirty="0"/>
              <a:t>Adam is much smarter. It calculates a </a:t>
            </a:r>
            <a:r>
              <a:rPr lang="en-US" sz="2000" b="1" dirty="0"/>
              <a:t>custom, individual learning rate for every single weight</a:t>
            </a:r>
            <a:r>
              <a:rPr lang="en-US" sz="2000" dirty="0"/>
              <a:t> in the network, and it adjusts those rates continuously as training progresses.</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66322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68D3-C21B-5840-2A5D-222DA4B79A78}"/>
              </a:ext>
            </a:extLst>
          </p:cNvPr>
          <p:cNvSpPr>
            <a:spLocks noGrp="1"/>
          </p:cNvSpPr>
          <p:nvPr>
            <p:ph type="title"/>
          </p:nvPr>
        </p:nvSpPr>
        <p:spPr/>
        <p:txBody>
          <a:bodyPr/>
          <a:lstStyle/>
          <a:p>
            <a:r>
              <a:rPr lang="en-IN" dirty="0"/>
              <a:t>Regularization- L1, L2</a:t>
            </a:r>
          </a:p>
        </p:txBody>
      </p:sp>
      <p:sp>
        <p:nvSpPr>
          <p:cNvPr id="4" name="Rectangle 1">
            <a:extLst>
              <a:ext uri="{FF2B5EF4-FFF2-40B4-BE49-F238E27FC236}">
                <a16:creationId xmlns:a16="http://schemas.microsoft.com/office/drawing/2014/main" id="{46350BD5-71E2-3ECD-294D-881AF286B96D}"/>
              </a:ext>
            </a:extLst>
          </p:cNvPr>
          <p:cNvSpPr>
            <a:spLocks noGrp="1" noChangeArrowheads="1"/>
          </p:cNvSpPr>
          <p:nvPr>
            <p:ph idx="1"/>
          </p:nvPr>
        </p:nvSpPr>
        <p:spPr bwMode="auto">
          <a:xfrm>
            <a:off x="966306" y="1728767"/>
            <a:ext cx="10689359"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b="1" dirty="0"/>
              <a:t>L1 Regularization</a:t>
            </a:r>
          </a:p>
          <a:p>
            <a:pPr eaLnBrk="0" fontAlgn="base" hangingPunct="0">
              <a:lnSpc>
                <a:spcPct val="100000"/>
              </a:lnSpc>
              <a:spcBef>
                <a:spcPct val="0"/>
              </a:spcBef>
              <a:spcAft>
                <a:spcPct val="0"/>
              </a:spcAft>
            </a:pPr>
            <a:r>
              <a:rPr lang="en-US" sz="2400" dirty="0"/>
              <a:t>L1 Regularization penalizes the network based on the </a:t>
            </a:r>
            <a:r>
              <a:rPr lang="en-US" sz="2400" b="1" dirty="0"/>
              <a:t>absolute value</a:t>
            </a:r>
            <a:r>
              <a:rPr lang="en-US" sz="2400" dirty="0"/>
              <a:t> of its weights.</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L1 actively pushes the weights of less important neurons down to exactly </a:t>
            </a:r>
            <a:r>
              <a:rPr kumimoji="0" lang="en-US" altLang="en-US" sz="2400" b="1" i="0" u="none" strike="noStrike" cap="none" normalizeH="0" baseline="0" dirty="0">
                <a:ln>
                  <a:noFill/>
                </a:ln>
                <a:solidFill>
                  <a:schemeClr val="tx1"/>
                </a:solidFill>
                <a:effectLst/>
              </a:rPr>
              <a:t>zero</a:t>
            </a:r>
            <a:r>
              <a:rPr kumimoji="0" lang="en-US" altLang="en-US" sz="2400" b="0" i="0" u="none" strike="noStrike" cap="none" normalizeH="0" baseline="0" dirty="0">
                <a:ln>
                  <a:noFill/>
                </a:ln>
                <a:solidFill>
                  <a:schemeClr val="tx1"/>
                </a:solidFill>
                <a:effectLst/>
              </a:rPr>
              <a:t>. If a specific input (like a useless column in your dataset) isn't contributing much, L1 will completely turn off the weights connected to it.</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rPr>
              <a:t>When to use it:</a:t>
            </a:r>
            <a:r>
              <a:rPr kumimoji="0" lang="en-US" altLang="en-US" sz="2400" b="0" i="0" u="none" strike="noStrike" cap="none" normalizeH="0" baseline="0" dirty="0">
                <a:ln>
                  <a:noFill/>
                </a:ln>
                <a:solidFill>
                  <a:schemeClr val="tx1"/>
                </a:solidFill>
                <a:effectLst/>
              </a:rPr>
              <a:t> Use L1 when you have thousands of features and you want the network to automatically figure out which ones are actually important by ignoring (zeroing out) the rest.</a:t>
            </a:r>
          </a:p>
        </p:txBody>
      </p:sp>
      <p:pic>
        <p:nvPicPr>
          <p:cNvPr id="6" name="Picture 5">
            <a:extLst>
              <a:ext uri="{FF2B5EF4-FFF2-40B4-BE49-F238E27FC236}">
                <a16:creationId xmlns:a16="http://schemas.microsoft.com/office/drawing/2014/main" id="{03F94A7F-DFB8-583A-1693-E9769DE7FD49}"/>
              </a:ext>
            </a:extLst>
          </p:cNvPr>
          <p:cNvPicPr>
            <a:picLocks noChangeAspect="1"/>
          </p:cNvPicPr>
          <p:nvPr/>
        </p:nvPicPr>
        <p:blipFill>
          <a:blip r:embed="rId2"/>
          <a:stretch>
            <a:fillRect/>
          </a:stretch>
        </p:blipFill>
        <p:spPr>
          <a:xfrm>
            <a:off x="3906881" y="2674373"/>
            <a:ext cx="4541380" cy="533515"/>
          </a:xfrm>
          <a:prstGeom prst="rect">
            <a:avLst/>
          </a:prstGeom>
        </p:spPr>
      </p:pic>
    </p:spTree>
    <p:extLst>
      <p:ext uri="{BB962C8B-B14F-4D97-AF65-F5344CB8AC3E}">
        <p14:creationId xmlns:p14="http://schemas.microsoft.com/office/powerpoint/2010/main" val="3122059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3350-8374-1848-7C98-6BDF00341C4B}"/>
              </a:ext>
            </a:extLst>
          </p:cNvPr>
          <p:cNvSpPr>
            <a:spLocks noGrp="1"/>
          </p:cNvSpPr>
          <p:nvPr>
            <p:ph type="title"/>
          </p:nvPr>
        </p:nvSpPr>
        <p:spPr/>
        <p:txBody>
          <a:bodyPr/>
          <a:lstStyle/>
          <a:p>
            <a:r>
              <a:rPr lang="en-IN"/>
              <a:t>Regularization- L1, L2</a:t>
            </a:r>
          </a:p>
        </p:txBody>
      </p:sp>
      <p:sp>
        <p:nvSpPr>
          <p:cNvPr id="3" name="Content Placeholder 2">
            <a:extLst>
              <a:ext uri="{FF2B5EF4-FFF2-40B4-BE49-F238E27FC236}">
                <a16:creationId xmlns:a16="http://schemas.microsoft.com/office/drawing/2014/main" id="{BAB0602F-9547-3DB0-A235-2A738253A946}"/>
              </a:ext>
            </a:extLst>
          </p:cNvPr>
          <p:cNvSpPr>
            <a:spLocks noGrp="1"/>
          </p:cNvSpPr>
          <p:nvPr>
            <p:ph idx="1"/>
          </p:nvPr>
        </p:nvSpPr>
        <p:spPr>
          <a:xfrm>
            <a:off x="917713" y="1514042"/>
            <a:ext cx="10515600" cy="5135235"/>
          </a:xfrm>
        </p:spPr>
        <p:txBody>
          <a:bodyPr>
            <a:normAutofit/>
          </a:bodyPr>
          <a:lstStyle/>
          <a:p>
            <a:pPr marL="0" lvl="0" indent="0" eaLnBrk="0" fontAlgn="base" hangingPunct="0">
              <a:lnSpc>
                <a:spcPct val="100000"/>
              </a:lnSpc>
              <a:spcBef>
                <a:spcPct val="0"/>
              </a:spcBef>
              <a:spcAft>
                <a:spcPct val="0"/>
              </a:spcAft>
              <a:buNone/>
            </a:pPr>
            <a:r>
              <a:rPr lang="en-US" sz="3000" b="1" dirty="0"/>
              <a:t>L2 Regularization</a:t>
            </a:r>
            <a:endParaRPr lang="en-US" altLang="en-US" sz="3000" b="1" dirty="0"/>
          </a:p>
          <a:p>
            <a:pPr lvl="1" eaLnBrk="0" fontAlgn="base" hangingPunct="0">
              <a:lnSpc>
                <a:spcPct val="100000"/>
              </a:lnSpc>
              <a:spcBef>
                <a:spcPct val="0"/>
              </a:spcBef>
              <a:spcAft>
                <a:spcPct val="0"/>
              </a:spcAft>
            </a:pPr>
            <a:r>
              <a:rPr lang="en-US" dirty="0"/>
              <a:t>L2 Regularization penalizes the network based on the </a:t>
            </a:r>
            <a:r>
              <a:rPr lang="en-US" b="1" dirty="0"/>
              <a:t>square</a:t>
            </a:r>
            <a:r>
              <a:rPr lang="en-US" dirty="0"/>
              <a:t> of its weights.</a:t>
            </a:r>
          </a:p>
          <a:p>
            <a:pPr lvl="1" eaLnBrk="0" fontAlgn="base" hangingPunct="0">
              <a:lnSpc>
                <a:spcPct val="100000"/>
              </a:lnSpc>
              <a:spcBef>
                <a:spcPct val="0"/>
              </a:spcBef>
              <a:spcAft>
                <a:spcPct val="0"/>
              </a:spcAft>
            </a:pPr>
            <a:endParaRPr lang="en-US" altLang="en-US" dirty="0"/>
          </a:p>
          <a:p>
            <a:pPr lvl="1" eaLnBrk="0" fontAlgn="base" hangingPunct="0">
              <a:lnSpc>
                <a:spcPct val="100000"/>
              </a:lnSpc>
              <a:spcBef>
                <a:spcPct val="0"/>
              </a:spcBef>
              <a:spcAft>
                <a:spcPct val="0"/>
              </a:spcAft>
            </a:pPr>
            <a:endParaRPr lang="en-US" altLang="en-US" dirty="0"/>
          </a:p>
          <a:p>
            <a:pPr lvl="1" eaLnBrk="0" fontAlgn="base" hangingPunct="0">
              <a:lnSpc>
                <a:spcPct val="100000"/>
              </a:lnSpc>
              <a:spcBef>
                <a:spcPct val="0"/>
              </a:spcBef>
              <a:spcAft>
                <a:spcPct val="0"/>
              </a:spcAft>
            </a:pPr>
            <a:r>
              <a:rPr lang="en-US" altLang="en-US" dirty="0"/>
              <a:t>Because L2 squares the weights, it heavily punishes </a:t>
            </a:r>
            <a:r>
              <a:rPr lang="en-US" altLang="en-US" i="1" dirty="0"/>
              <a:t>really large</a:t>
            </a:r>
            <a:r>
              <a:rPr lang="en-US" altLang="en-US" dirty="0"/>
              <a:t> weights but doesn't care as much about tiny weights. L2 forces </a:t>
            </a:r>
            <a:r>
              <a:rPr lang="en-US" altLang="en-US" i="1" dirty="0"/>
              <a:t>all</a:t>
            </a:r>
            <a:r>
              <a:rPr lang="en-US" altLang="en-US" dirty="0"/>
              <a:t> the weights to shrink and stay small. It prevents any single neuron from becoming too dominant.</a:t>
            </a:r>
          </a:p>
          <a:p>
            <a:pPr lvl="1" eaLnBrk="0" fontAlgn="base" hangingPunct="0">
              <a:lnSpc>
                <a:spcPct val="100000"/>
              </a:lnSpc>
              <a:spcBef>
                <a:spcPct val="0"/>
              </a:spcBef>
              <a:spcAft>
                <a:spcPct val="0"/>
              </a:spcAft>
            </a:pPr>
            <a:r>
              <a:rPr lang="en-US" altLang="en-US" b="1" dirty="0"/>
              <a:t>When to use it:</a:t>
            </a:r>
            <a:r>
              <a:rPr lang="en-US" altLang="en-US" dirty="0"/>
              <a:t> Use L2 by default in most neural networks. It makes the network's predictions much smoother and more robust to noisy data.</a:t>
            </a:r>
          </a:p>
          <a:p>
            <a:pPr eaLnBrk="0" fontAlgn="base" hangingPunct="0">
              <a:lnSpc>
                <a:spcPct val="100000"/>
              </a:lnSpc>
              <a:spcBef>
                <a:spcPct val="0"/>
              </a:spcBef>
              <a:spcAft>
                <a:spcPct val="0"/>
              </a:spcAft>
            </a:pPr>
            <a:r>
              <a:rPr lang="en-US" dirty="0"/>
              <a:t>While L1 and L2 modify the math of the Loss Function, modern neural networks often use a more structural form of regularization called </a:t>
            </a:r>
            <a:r>
              <a:rPr lang="en-US" b="1" dirty="0"/>
              <a:t>Dropout</a:t>
            </a:r>
            <a:endParaRPr lang="en-US" altLang="en-US" dirty="0"/>
          </a:p>
          <a:p>
            <a:endParaRPr lang="en-IN" dirty="0"/>
          </a:p>
        </p:txBody>
      </p:sp>
      <p:pic>
        <p:nvPicPr>
          <p:cNvPr id="8" name="Picture 7">
            <a:extLst>
              <a:ext uri="{FF2B5EF4-FFF2-40B4-BE49-F238E27FC236}">
                <a16:creationId xmlns:a16="http://schemas.microsoft.com/office/drawing/2014/main" id="{55BED0C6-6E76-A00E-993E-58294E3740F5}"/>
              </a:ext>
            </a:extLst>
          </p:cNvPr>
          <p:cNvPicPr>
            <a:picLocks noChangeAspect="1"/>
          </p:cNvPicPr>
          <p:nvPr/>
        </p:nvPicPr>
        <p:blipFill>
          <a:blip r:embed="rId2"/>
          <a:stretch>
            <a:fillRect/>
          </a:stretch>
        </p:blipFill>
        <p:spPr>
          <a:xfrm>
            <a:off x="4349793" y="2496159"/>
            <a:ext cx="4009016" cy="501126"/>
          </a:xfrm>
          <a:prstGeom prst="rect">
            <a:avLst/>
          </a:prstGeom>
        </p:spPr>
      </p:pic>
    </p:spTree>
    <p:extLst>
      <p:ext uri="{BB962C8B-B14F-4D97-AF65-F5344CB8AC3E}">
        <p14:creationId xmlns:p14="http://schemas.microsoft.com/office/powerpoint/2010/main" val="336082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583</Words>
  <Application>Microsoft Office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Gradient based learning in in Neural Networks</vt:lpstr>
      <vt:lpstr>Gradient based learning in in Neural Networks</vt:lpstr>
      <vt:lpstr>Gradient based learning in in Neural Networks</vt:lpstr>
      <vt:lpstr>Regularization- L1, L2</vt:lpstr>
      <vt:lpstr>Regularization- L1, L2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2026-03-14T02:44:35Z</dcterms:created>
  <dcterms:modified xsi:type="dcterms:W3CDTF">2026-03-14T02:45:54Z</dcterms:modified>
</cp:coreProperties>
</file>