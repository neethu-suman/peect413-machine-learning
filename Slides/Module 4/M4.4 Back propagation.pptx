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12" r:id="rId2"/>
    <p:sldId id="417" r:id="rId3"/>
    <p:sldId id="418" r:id="rId4"/>
    <p:sldId id="375" r:id="rId5"/>
    <p:sldId id="419" r:id="rId6"/>
    <p:sldId id="420" r:id="rId7"/>
    <p:sldId id="421" r:id="rId8"/>
    <p:sldId id="422" r:id="rId9"/>
    <p:sldId id="423" r:id="rId10"/>
    <p:sldId id="424" r:id="rId11"/>
    <p:sldId id="425" r:id="rId12"/>
    <p:sldId id="426" r:id="rId13"/>
    <p:sldId id="427" r:id="rId14"/>
    <p:sldId id="428" r:id="rId15"/>
    <p:sldId id="430" r:id="rId16"/>
    <p:sldId id="429" r:id="rId17"/>
    <p:sldId id="431" r:id="rId18"/>
    <p:sldId id="432" r:id="rId19"/>
    <p:sldId id="434" r:id="rId20"/>
    <p:sldId id="433" r:id="rId21"/>
    <p:sldId id="436" r:id="rId22"/>
    <p:sldId id="437" r:id="rId23"/>
    <p:sldId id="43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835"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23DD4-050C-88B9-92E3-D1BCBC8C53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C30ABB6-1E48-C6BE-CBA9-7E6BEC14E4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377A6DA-8B3F-117E-F48B-0CE2DF21DD87}"/>
              </a:ext>
            </a:extLst>
          </p:cNvPr>
          <p:cNvSpPr>
            <a:spLocks noGrp="1"/>
          </p:cNvSpPr>
          <p:nvPr>
            <p:ph type="dt" sz="half" idx="10"/>
          </p:nvPr>
        </p:nvSpPr>
        <p:spPr/>
        <p:txBody>
          <a:bodyPr/>
          <a:lstStyle/>
          <a:p>
            <a:fld id="{7069D6CD-FDEA-451E-B1FC-98AEBA281FD0}" type="datetimeFigureOut">
              <a:rPr lang="en-IN" smtClean="0"/>
              <a:t>14-03-2026</a:t>
            </a:fld>
            <a:endParaRPr lang="en-IN"/>
          </a:p>
        </p:txBody>
      </p:sp>
      <p:sp>
        <p:nvSpPr>
          <p:cNvPr id="5" name="Footer Placeholder 4">
            <a:extLst>
              <a:ext uri="{FF2B5EF4-FFF2-40B4-BE49-F238E27FC236}">
                <a16:creationId xmlns:a16="http://schemas.microsoft.com/office/drawing/2014/main" id="{BF881E99-CF68-B658-E95E-E9B9727374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7CF376-D857-0F10-2222-2EE6D2C42B71}"/>
              </a:ext>
            </a:extLst>
          </p:cNvPr>
          <p:cNvSpPr>
            <a:spLocks noGrp="1"/>
          </p:cNvSpPr>
          <p:nvPr>
            <p:ph type="sldNum" sz="quarter" idx="12"/>
          </p:nvPr>
        </p:nvSpPr>
        <p:spPr/>
        <p:txBody>
          <a:bodyPr/>
          <a:lstStyle/>
          <a:p>
            <a:fld id="{2FD443FF-71EE-4A8B-B30F-A62412B19DEE}" type="slidenum">
              <a:rPr lang="en-IN" smtClean="0"/>
              <a:t>‹#›</a:t>
            </a:fld>
            <a:endParaRPr lang="en-IN"/>
          </a:p>
        </p:txBody>
      </p:sp>
    </p:spTree>
    <p:extLst>
      <p:ext uri="{BB962C8B-B14F-4D97-AF65-F5344CB8AC3E}">
        <p14:creationId xmlns:p14="http://schemas.microsoft.com/office/powerpoint/2010/main" val="841955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5CF62-B05D-2B57-958E-7A6076F1506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B9B015D-5376-EA1C-A1A5-6463D8EF1F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D0C975-8241-2E39-98F2-E769D6D7C833}"/>
              </a:ext>
            </a:extLst>
          </p:cNvPr>
          <p:cNvSpPr>
            <a:spLocks noGrp="1"/>
          </p:cNvSpPr>
          <p:nvPr>
            <p:ph type="dt" sz="half" idx="10"/>
          </p:nvPr>
        </p:nvSpPr>
        <p:spPr/>
        <p:txBody>
          <a:bodyPr/>
          <a:lstStyle/>
          <a:p>
            <a:fld id="{7069D6CD-FDEA-451E-B1FC-98AEBA281FD0}" type="datetimeFigureOut">
              <a:rPr lang="en-IN" smtClean="0"/>
              <a:t>14-03-2026</a:t>
            </a:fld>
            <a:endParaRPr lang="en-IN"/>
          </a:p>
        </p:txBody>
      </p:sp>
      <p:sp>
        <p:nvSpPr>
          <p:cNvPr id="5" name="Footer Placeholder 4">
            <a:extLst>
              <a:ext uri="{FF2B5EF4-FFF2-40B4-BE49-F238E27FC236}">
                <a16:creationId xmlns:a16="http://schemas.microsoft.com/office/drawing/2014/main" id="{31EBC3DE-0587-1117-449B-F278EF690D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413151-1FEC-037B-DA37-BAB289480465}"/>
              </a:ext>
            </a:extLst>
          </p:cNvPr>
          <p:cNvSpPr>
            <a:spLocks noGrp="1"/>
          </p:cNvSpPr>
          <p:nvPr>
            <p:ph type="sldNum" sz="quarter" idx="12"/>
          </p:nvPr>
        </p:nvSpPr>
        <p:spPr/>
        <p:txBody>
          <a:bodyPr/>
          <a:lstStyle/>
          <a:p>
            <a:fld id="{2FD443FF-71EE-4A8B-B30F-A62412B19DEE}" type="slidenum">
              <a:rPr lang="en-IN" smtClean="0"/>
              <a:t>‹#›</a:t>
            </a:fld>
            <a:endParaRPr lang="en-IN"/>
          </a:p>
        </p:txBody>
      </p:sp>
    </p:spTree>
    <p:extLst>
      <p:ext uri="{BB962C8B-B14F-4D97-AF65-F5344CB8AC3E}">
        <p14:creationId xmlns:p14="http://schemas.microsoft.com/office/powerpoint/2010/main" val="3049349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A0D07-CB4A-7F64-44EA-B2E4A3AD4D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A9486F3-1C30-3F32-3C49-448110261B6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E6135C-742E-262F-0B4F-1361B6B7C11C}"/>
              </a:ext>
            </a:extLst>
          </p:cNvPr>
          <p:cNvSpPr>
            <a:spLocks noGrp="1"/>
          </p:cNvSpPr>
          <p:nvPr>
            <p:ph type="dt" sz="half" idx="10"/>
          </p:nvPr>
        </p:nvSpPr>
        <p:spPr/>
        <p:txBody>
          <a:bodyPr/>
          <a:lstStyle/>
          <a:p>
            <a:fld id="{7069D6CD-FDEA-451E-B1FC-98AEBA281FD0}" type="datetimeFigureOut">
              <a:rPr lang="en-IN" smtClean="0"/>
              <a:t>14-03-2026</a:t>
            </a:fld>
            <a:endParaRPr lang="en-IN"/>
          </a:p>
        </p:txBody>
      </p:sp>
      <p:sp>
        <p:nvSpPr>
          <p:cNvPr id="5" name="Footer Placeholder 4">
            <a:extLst>
              <a:ext uri="{FF2B5EF4-FFF2-40B4-BE49-F238E27FC236}">
                <a16:creationId xmlns:a16="http://schemas.microsoft.com/office/drawing/2014/main" id="{17E96A6D-4F3C-55E3-B81C-9749C4CF7B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64BED6-F39E-28F2-39E0-7BA2C9FEFA7A}"/>
              </a:ext>
            </a:extLst>
          </p:cNvPr>
          <p:cNvSpPr>
            <a:spLocks noGrp="1"/>
          </p:cNvSpPr>
          <p:nvPr>
            <p:ph type="sldNum" sz="quarter" idx="12"/>
          </p:nvPr>
        </p:nvSpPr>
        <p:spPr/>
        <p:txBody>
          <a:bodyPr/>
          <a:lstStyle/>
          <a:p>
            <a:fld id="{2FD443FF-71EE-4A8B-B30F-A62412B19DEE}" type="slidenum">
              <a:rPr lang="en-IN" smtClean="0"/>
              <a:t>‹#›</a:t>
            </a:fld>
            <a:endParaRPr lang="en-IN"/>
          </a:p>
        </p:txBody>
      </p:sp>
    </p:spTree>
    <p:extLst>
      <p:ext uri="{BB962C8B-B14F-4D97-AF65-F5344CB8AC3E}">
        <p14:creationId xmlns:p14="http://schemas.microsoft.com/office/powerpoint/2010/main" val="3829273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8ECEE-840A-2731-15BE-BB7715A9362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3114BAA-4BEB-A394-7EFA-70F3ED712A5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1D671A8-360A-308A-FAC4-4BD15DBD42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09D76B1-92BB-2455-8A0B-AE8F68768F8B}"/>
              </a:ext>
            </a:extLst>
          </p:cNvPr>
          <p:cNvSpPr>
            <a:spLocks noGrp="1"/>
          </p:cNvSpPr>
          <p:nvPr>
            <p:ph type="dt" sz="half" idx="10"/>
          </p:nvPr>
        </p:nvSpPr>
        <p:spPr/>
        <p:txBody>
          <a:bodyPr/>
          <a:lstStyle/>
          <a:p>
            <a:fld id="{7069D6CD-FDEA-451E-B1FC-98AEBA281FD0}" type="datetimeFigureOut">
              <a:rPr lang="en-IN" smtClean="0"/>
              <a:t>14-03-2026</a:t>
            </a:fld>
            <a:endParaRPr lang="en-IN"/>
          </a:p>
        </p:txBody>
      </p:sp>
      <p:sp>
        <p:nvSpPr>
          <p:cNvPr id="6" name="Footer Placeholder 5">
            <a:extLst>
              <a:ext uri="{FF2B5EF4-FFF2-40B4-BE49-F238E27FC236}">
                <a16:creationId xmlns:a16="http://schemas.microsoft.com/office/drawing/2014/main" id="{9CF73108-219B-31EE-A965-4BE09B22E5A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7C154C-1DE8-A70C-265F-5AC0EF719B9B}"/>
              </a:ext>
            </a:extLst>
          </p:cNvPr>
          <p:cNvSpPr>
            <a:spLocks noGrp="1"/>
          </p:cNvSpPr>
          <p:nvPr>
            <p:ph type="sldNum" sz="quarter" idx="12"/>
          </p:nvPr>
        </p:nvSpPr>
        <p:spPr/>
        <p:txBody>
          <a:bodyPr/>
          <a:lstStyle/>
          <a:p>
            <a:fld id="{2FD443FF-71EE-4A8B-B30F-A62412B19DEE}" type="slidenum">
              <a:rPr lang="en-IN" smtClean="0"/>
              <a:t>‹#›</a:t>
            </a:fld>
            <a:endParaRPr lang="en-IN"/>
          </a:p>
        </p:txBody>
      </p:sp>
    </p:spTree>
    <p:extLst>
      <p:ext uri="{BB962C8B-B14F-4D97-AF65-F5344CB8AC3E}">
        <p14:creationId xmlns:p14="http://schemas.microsoft.com/office/powerpoint/2010/main" val="4409530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FD791-33D3-D88C-46C8-E27C271A652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CC896D9-B573-AA13-CAF4-6C6FE79B91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93CABD-39B0-3DE4-120B-7FFCFF20F5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E412505-BE2A-C585-60D3-3D908C8CC7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C8F1E8-562A-6B95-A428-DC68216126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EF49998-B412-D541-F485-F9D140D6833A}"/>
              </a:ext>
            </a:extLst>
          </p:cNvPr>
          <p:cNvSpPr>
            <a:spLocks noGrp="1"/>
          </p:cNvSpPr>
          <p:nvPr>
            <p:ph type="dt" sz="half" idx="10"/>
          </p:nvPr>
        </p:nvSpPr>
        <p:spPr/>
        <p:txBody>
          <a:bodyPr/>
          <a:lstStyle/>
          <a:p>
            <a:fld id="{7069D6CD-FDEA-451E-B1FC-98AEBA281FD0}" type="datetimeFigureOut">
              <a:rPr lang="en-IN" smtClean="0"/>
              <a:t>14-03-2026</a:t>
            </a:fld>
            <a:endParaRPr lang="en-IN"/>
          </a:p>
        </p:txBody>
      </p:sp>
      <p:sp>
        <p:nvSpPr>
          <p:cNvPr id="8" name="Footer Placeholder 7">
            <a:extLst>
              <a:ext uri="{FF2B5EF4-FFF2-40B4-BE49-F238E27FC236}">
                <a16:creationId xmlns:a16="http://schemas.microsoft.com/office/drawing/2014/main" id="{CCA12230-D2E8-D0F8-A982-4A10B42A329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C840866-98C5-11BC-A7CB-5F224232DC1D}"/>
              </a:ext>
            </a:extLst>
          </p:cNvPr>
          <p:cNvSpPr>
            <a:spLocks noGrp="1"/>
          </p:cNvSpPr>
          <p:nvPr>
            <p:ph type="sldNum" sz="quarter" idx="12"/>
          </p:nvPr>
        </p:nvSpPr>
        <p:spPr/>
        <p:txBody>
          <a:bodyPr/>
          <a:lstStyle/>
          <a:p>
            <a:fld id="{2FD443FF-71EE-4A8B-B30F-A62412B19DEE}" type="slidenum">
              <a:rPr lang="en-IN" smtClean="0"/>
              <a:t>‹#›</a:t>
            </a:fld>
            <a:endParaRPr lang="en-IN"/>
          </a:p>
        </p:txBody>
      </p:sp>
    </p:spTree>
    <p:extLst>
      <p:ext uri="{BB962C8B-B14F-4D97-AF65-F5344CB8AC3E}">
        <p14:creationId xmlns:p14="http://schemas.microsoft.com/office/powerpoint/2010/main" val="2741764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84DFB-83BD-29EA-CF73-0F1AB0F8F4A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BAD895C-8B57-318D-E1D8-DFF64224240C}"/>
              </a:ext>
            </a:extLst>
          </p:cNvPr>
          <p:cNvSpPr>
            <a:spLocks noGrp="1"/>
          </p:cNvSpPr>
          <p:nvPr>
            <p:ph type="dt" sz="half" idx="10"/>
          </p:nvPr>
        </p:nvSpPr>
        <p:spPr/>
        <p:txBody>
          <a:bodyPr/>
          <a:lstStyle/>
          <a:p>
            <a:fld id="{7069D6CD-FDEA-451E-B1FC-98AEBA281FD0}" type="datetimeFigureOut">
              <a:rPr lang="en-IN" smtClean="0"/>
              <a:t>14-03-2026</a:t>
            </a:fld>
            <a:endParaRPr lang="en-IN"/>
          </a:p>
        </p:txBody>
      </p:sp>
      <p:sp>
        <p:nvSpPr>
          <p:cNvPr id="4" name="Footer Placeholder 3">
            <a:extLst>
              <a:ext uri="{FF2B5EF4-FFF2-40B4-BE49-F238E27FC236}">
                <a16:creationId xmlns:a16="http://schemas.microsoft.com/office/drawing/2014/main" id="{295F337B-3AEA-6CB8-E01F-95363420917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E1DB343-CD84-57A7-D7D0-E717BE4EEDEA}"/>
              </a:ext>
            </a:extLst>
          </p:cNvPr>
          <p:cNvSpPr>
            <a:spLocks noGrp="1"/>
          </p:cNvSpPr>
          <p:nvPr>
            <p:ph type="sldNum" sz="quarter" idx="12"/>
          </p:nvPr>
        </p:nvSpPr>
        <p:spPr/>
        <p:txBody>
          <a:bodyPr/>
          <a:lstStyle/>
          <a:p>
            <a:fld id="{2FD443FF-71EE-4A8B-B30F-A62412B19DEE}" type="slidenum">
              <a:rPr lang="en-IN" smtClean="0"/>
              <a:t>‹#›</a:t>
            </a:fld>
            <a:endParaRPr lang="en-IN"/>
          </a:p>
        </p:txBody>
      </p:sp>
    </p:spTree>
    <p:extLst>
      <p:ext uri="{BB962C8B-B14F-4D97-AF65-F5344CB8AC3E}">
        <p14:creationId xmlns:p14="http://schemas.microsoft.com/office/powerpoint/2010/main" val="39122548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DD137F-727A-6B9E-A904-097320DCA65D}"/>
              </a:ext>
            </a:extLst>
          </p:cNvPr>
          <p:cNvSpPr>
            <a:spLocks noGrp="1"/>
          </p:cNvSpPr>
          <p:nvPr>
            <p:ph type="dt" sz="half" idx="10"/>
          </p:nvPr>
        </p:nvSpPr>
        <p:spPr/>
        <p:txBody>
          <a:bodyPr/>
          <a:lstStyle/>
          <a:p>
            <a:fld id="{7069D6CD-FDEA-451E-B1FC-98AEBA281FD0}" type="datetimeFigureOut">
              <a:rPr lang="en-IN" smtClean="0"/>
              <a:t>14-03-2026</a:t>
            </a:fld>
            <a:endParaRPr lang="en-IN"/>
          </a:p>
        </p:txBody>
      </p:sp>
      <p:sp>
        <p:nvSpPr>
          <p:cNvPr id="3" name="Footer Placeholder 2">
            <a:extLst>
              <a:ext uri="{FF2B5EF4-FFF2-40B4-BE49-F238E27FC236}">
                <a16:creationId xmlns:a16="http://schemas.microsoft.com/office/drawing/2014/main" id="{0270886D-162E-B835-A61E-7642859B62C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2EC3C7F-A8A1-03A5-3A0C-ACF8A4759BE6}"/>
              </a:ext>
            </a:extLst>
          </p:cNvPr>
          <p:cNvSpPr>
            <a:spLocks noGrp="1"/>
          </p:cNvSpPr>
          <p:nvPr>
            <p:ph type="sldNum" sz="quarter" idx="12"/>
          </p:nvPr>
        </p:nvSpPr>
        <p:spPr/>
        <p:txBody>
          <a:bodyPr/>
          <a:lstStyle/>
          <a:p>
            <a:fld id="{2FD443FF-71EE-4A8B-B30F-A62412B19DEE}" type="slidenum">
              <a:rPr lang="en-IN" smtClean="0"/>
              <a:t>‹#›</a:t>
            </a:fld>
            <a:endParaRPr lang="en-IN"/>
          </a:p>
        </p:txBody>
      </p:sp>
    </p:spTree>
    <p:extLst>
      <p:ext uri="{BB962C8B-B14F-4D97-AF65-F5344CB8AC3E}">
        <p14:creationId xmlns:p14="http://schemas.microsoft.com/office/powerpoint/2010/main" val="299717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BD7CC-14C3-A4D6-9E9C-0F579A3757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572DE9B-44AC-0384-BFF8-763768E1F8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605B15B-9B8D-93BB-07C5-5EE2D324CC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BDEBE6-A531-DFA8-0554-E174E978D9B3}"/>
              </a:ext>
            </a:extLst>
          </p:cNvPr>
          <p:cNvSpPr>
            <a:spLocks noGrp="1"/>
          </p:cNvSpPr>
          <p:nvPr>
            <p:ph type="dt" sz="half" idx="10"/>
          </p:nvPr>
        </p:nvSpPr>
        <p:spPr/>
        <p:txBody>
          <a:bodyPr/>
          <a:lstStyle/>
          <a:p>
            <a:fld id="{7069D6CD-FDEA-451E-B1FC-98AEBA281FD0}" type="datetimeFigureOut">
              <a:rPr lang="en-IN" smtClean="0"/>
              <a:t>14-03-2026</a:t>
            </a:fld>
            <a:endParaRPr lang="en-IN"/>
          </a:p>
        </p:txBody>
      </p:sp>
      <p:sp>
        <p:nvSpPr>
          <p:cNvPr id="6" name="Footer Placeholder 5">
            <a:extLst>
              <a:ext uri="{FF2B5EF4-FFF2-40B4-BE49-F238E27FC236}">
                <a16:creationId xmlns:a16="http://schemas.microsoft.com/office/drawing/2014/main" id="{9A4B10DC-E2F5-89AF-1E19-B1152B837A7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D7C6AAA-EDE4-7563-DDC3-75DD28190DEE}"/>
              </a:ext>
            </a:extLst>
          </p:cNvPr>
          <p:cNvSpPr>
            <a:spLocks noGrp="1"/>
          </p:cNvSpPr>
          <p:nvPr>
            <p:ph type="sldNum" sz="quarter" idx="12"/>
          </p:nvPr>
        </p:nvSpPr>
        <p:spPr/>
        <p:txBody>
          <a:bodyPr/>
          <a:lstStyle/>
          <a:p>
            <a:fld id="{2FD443FF-71EE-4A8B-B30F-A62412B19DEE}" type="slidenum">
              <a:rPr lang="en-IN" smtClean="0"/>
              <a:t>‹#›</a:t>
            </a:fld>
            <a:endParaRPr lang="en-IN"/>
          </a:p>
        </p:txBody>
      </p:sp>
    </p:spTree>
    <p:extLst>
      <p:ext uri="{BB962C8B-B14F-4D97-AF65-F5344CB8AC3E}">
        <p14:creationId xmlns:p14="http://schemas.microsoft.com/office/powerpoint/2010/main" val="2000825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B8CBE-2BC7-3D6E-8C1B-9E8EF1F91D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80A0D5D-6EFB-A929-A6AC-EA4A471E80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24841B1-C09D-DB5E-7A5A-0E91D44D66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89BB6F-9679-BBCF-6BF2-614B9A7AF3FA}"/>
              </a:ext>
            </a:extLst>
          </p:cNvPr>
          <p:cNvSpPr>
            <a:spLocks noGrp="1"/>
          </p:cNvSpPr>
          <p:nvPr>
            <p:ph type="dt" sz="half" idx="10"/>
          </p:nvPr>
        </p:nvSpPr>
        <p:spPr/>
        <p:txBody>
          <a:bodyPr/>
          <a:lstStyle/>
          <a:p>
            <a:fld id="{7069D6CD-FDEA-451E-B1FC-98AEBA281FD0}" type="datetimeFigureOut">
              <a:rPr lang="en-IN" smtClean="0"/>
              <a:t>14-03-2026</a:t>
            </a:fld>
            <a:endParaRPr lang="en-IN"/>
          </a:p>
        </p:txBody>
      </p:sp>
      <p:sp>
        <p:nvSpPr>
          <p:cNvPr id="6" name="Footer Placeholder 5">
            <a:extLst>
              <a:ext uri="{FF2B5EF4-FFF2-40B4-BE49-F238E27FC236}">
                <a16:creationId xmlns:a16="http://schemas.microsoft.com/office/drawing/2014/main" id="{B8B41077-9A33-D376-F79D-4CFD3A2106A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B2F4B81-6A8B-C957-D076-23BD8AAAE9D8}"/>
              </a:ext>
            </a:extLst>
          </p:cNvPr>
          <p:cNvSpPr>
            <a:spLocks noGrp="1"/>
          </p:cNvSpPr>
          <p:nvPr>
            <p:ph type="sldNum" sz="quarter" idx="12"/>
          </p:nvPr>
        </p:nvSpPr>
        <p:spPr/>
        <p:txBody>
          <a:bodyPr/>
          <a:lstStyle/>
          <a:p>
            <a:fld id="{2FD443FF-71EE-4A8B-B30F-A62412B19DEE}" type="slidenum">
              <a:rPr lang="en-IN" smtClean="0"/>
              <a:t>‹#›</a:t>
            </a:fld>
            <a:endParaRPr lang="en-IN"/>
          </a:p>
        </p:txBody>
      </p:sp>
    </p:spTree>
    <p:extLst>
      <p:ext uri="{BB962C8B-B14F-4D97-AF65-F5344CB8AC3E}">
        <p14:creationId xmlns:p14="http://schemas.microsoft.com/office/powerpoint/2010/main" val="1048780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B8B32-A845-A97D-380F-4F4EDF60700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876175E-6952-EFE4-24A7-31D51A673BE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E0B8FA-98AF-CA04-0B0B-80B2D5583CA7}"/>
              </a:ext>
            </a:extLst>
          </p:cNvPr>
          <p:cNvSpPr>
            <a:spLocks noGrp="1"/>
          </p:cNvSpPr>
          <p:nvPr>
            <p:ph type="dt" sz="half" idx="10"/>
          </p:nvPr>
        </p:nvSpPr>
        <p:spPr/>
        <p:txBody>
          <a:bodyPr/>
          <a:lstStyle/>
          <a:p>
            <a:fld id="{7069D6CD-FDEA-451E-B1FC-98AEBA281FD0}" type="datetimeFigureOut">
              <a:rPr lang="en-IN" smtClean="0"/>
              <a:t>14-03-2026</a:t>
            </a:fld>
            <a:endParaRPr lang="en-IN"/>
          </a:p>
        </p:txBody>
      </p:sp>
      <p:sp>
        <p:nvSpPr>
          <p:cNvPr id="5" name="Footer Placeholder 4">
            <a:extLst>
              <a:ext uri="{FF2B5EF4-FFF2-40B4-BE49-F238E27FC236}">
                <a16:creationId xmlns:a16="http://schemas.microsoft.com/office/drawing/2014/main" id="{F9F4A78E-5E6F-7699-3060-541297B130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B11C44-19DD-BAF8-907E-F2D1F685C90D}"/>
              </a:ext>
            </a:extLst>
          </p:cNvPr>
          <p:cNvSpPr>
            <a:spLocks noGrp="1"/>
          </p:cNvSpPr>
          <p:nvPr>
            <p:ph type="sldNum" sz="quarter" idx="12"/>
          </p:nvPr>
        </p:nvSpPr>
        <p:spPr/>
        <p:txBody>
          <a:bodyPr/>
          <a:lstStyle/>
          <a:p>
            <a:fld id="{2FD443FF-71EE-4A8B-B30F-A62412B19DEE}" type="slidenum">
              <a:rPr lang="en-IN" smtClean="0"/>
              <a:t>‹#›</a:t>
            </a:fld>
            <a:endParaRPr lang="en-IN"/>
          </a:p>
        </p:txBody>
      </p:sp>
    </p:spTree>
    <p:extLst>
      <p:ext uri="{BB962C8B-B14F-4D97-AF65-F5344CB8AC3E}">
        <p14:creationId xmlns:p14="http://schemas.microsoft.com/office/powerpoint/2010/main" val="3261392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A772ED-3826-7839-B8DC-42FB214DC1E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CC986A1-D418-AAFC-32A1-B571E16A81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330817-1AC6-A183-4E10-AC0F3E94309B}"/>
              </a:ext>
            </a:extLst>
          </p:cNvPr>
          <p:cNvSpPr>
            <a:spLocks noGrp="1"/>
          </p:cNvSpPr>
          <p:nvPr>
            <p:ph type="dt" sz="half" idx="10"/>
          </p:nvPr>
        </p:nvSpPr>
        <p:spPr/>
        <p:txBody>
          <a:bodyPr/>
          <a:lstStyle/>
          <a:p>
            <a:fld id="{7069D6CD-FDEA-451E-B1FC-98AEBA281FD0}" type="datetimeFigureOut">
              <a:rPr lang="en-IN" smtClean="0"/>
              <a:t>14-03-2026</a:t>
            </a:fld>
            <a:endParaRPr lang="en-IN"/>
          </a:p>
        </p:txBody>
      </p:sp>
      <p:sp>
        <p:nvSpPr>
          <p:cNvPr id="5" name="Footer Placeholder 4">
            <a:extLst>
              <a:ext uri="{FF2B5EF4-FFF2-40B4-BE49-F238E27FC236}">
                <a16:creationId xmlns:a16="http://schemas.microsoft.com/office/drawing/2014/main" id="{D176B232-18BD-FB91-78D0-A1F171C716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555E45-9994-75B4-972A-B7A961790BFB}"/>
              </a:ext>
            </a:extLst>
          </p:cNvPr>
          <p:cNvSpPr>
            <a:spLocks noGrp="1"/>
          </p:cNvSpPr>
          <p:nvPr>
            <p:ph type="sldNum" sz="quarter" idx="12"/>
          </p:nvPr>
        </p:nvSpPr>
        <p:spPr/>
        <p:txBody>
          <a:bodyPr/>
          <a:lstStyle/>
          <a:p>
            <a:fld id="{2FD443FF-71EE-4A8B-B30F-A62412B19DEE}" type="slidenum">
              <a:rPr lang="en-IN" smtClean="0"/>
              <a:t>‹#›</a:t>
            </a:fld>
            <a:endParaRPr lang="en-IN"/>
          </a:p>
        </p:txBody>
      </p:sp>
    </p:spTree>
    <p:extLst>
      <p:ext uri="{BB962C8B-B14F-4D97-AF65-F5344CB8AC3E}">
        <p14:creationId xmlns:p14="http://schemas.microsoft.com/office/powerpoint/2010/main" val="1820528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5B926F-0A04-8D09-61FC-E80C020A03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CEDF276-7B51-2473-ECE3-B966A5D9FA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C262BA-06B9-D8A4-B90B-BC6F6F30B7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69D6CD-FDEA-451E-B1FC-98AEBA281FD0}" type="datetimeFigureOut">
              <a:rPr lang="en-IN" smtClean="0"/>
              <a:t>14-03-2026</a:t>
            </a:fld>
            <a:endParaRPr lang="en-IN"/>
          </a:p>
        </p:txBody>
      </p:sp>
      <p:sp>
        <p:nvSpPr>
          <p:cNvPr id="5" name="Footer Placeholder 4">
            <a:extLst>
              <a:ext uri="{FF2B5EF4-FFF2-40B4-BE49-F238E27FC236}">
                <a16:creationId xmlns:a16="http://schemas.microsoft.com/office/drawing/2014/main" id="{96BCD9D2-E21B-8C1F-1FE7-A39A3765DF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7BF04A6-4B37-F4B7-B684-6D0DB0B460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D443FF-71EE-4A8B-B30F-A62412B19DEE}" type="slidenum">
              <a:rPr lang="en-IN" smtClean="0"/>
              <a:t>‹#›</a:t>
            </a:fld>
            <a:endParaRPr lang="en-IN"/>
          </a:p>
        </p:txBody>
      </p:sp>
    </p:spTree>
    <p:extLst>
      <p:ext uri="{BB962C8B-B14F-4D97-AF65-F5344CB8AC3E}">
        <p14:creationId xmlns:p14="http://schemas.microsoft.com/office/powerpoint/2010/main" val="22856967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0F62B-199F-9F6C-F431-AC8751F7C9BB}"/>
              </a:ext>
            </a:extLst>
          </p:cNvPr>
          <p:cNvSpPr>
            <a:spLocks noGrp="1"/>
          </p:cNvSpPr>
          <p:nvPr>
            <p:ph type="title"/>
          </p:nvPr>
        </p:nvSpPr>
        <p:spPr/>
        <p:txBody>
          <a:bodyPr/>
          <a:lstStyle/>
          <a:p>
            <a:r>
              <a:rPr lang="en-IN" b="1" dirty="0"/>
              <a:t>Artificial Neural Networks Algorithm</a:t>
            </a:r>
            <a:endParaRPr lang="en-IN" dirty="0"/>
          </a:p>
        </p:txBody>
      </p:sp>
      <p:sp>
        <p:nvSpPr>
          <p:cNvPr id="3" name="Content Placeholder 2">
            <a:extLst>
              <a:ext uri="{FF2B5EF4-FFF2-40B4-BE49-F238E27FC236}">
                <a16:creationId xmlns:a16="http://schemas.microsoft.com/office/drawing/2014/main" id="{F42AC6B5-F4E6-5DEB-7CC7-A7540A1700A6}"/>
              </a:ext>
            </a:extLst>
          </p:cNvPr>
          <p:cNvSpPr>
            <a:spLocks noGrp="1"/>
          </p:cNvSpPr>
          <p:nvPr>
            <p:ph idx="1"/>
          </p:nvPr>
        </p:nvSpPr>
        <p:spPr/>
        <p:txBody>
          <a:bodyPr>
            <a:normAutofit lnSpcReduction="10000"/>
          </a:bodyPr>
          <a:lstStyle/>
          <a:p>
            <a:pPr marL="0" indent="0" fontAlgn="base">
              <a:buNone/>
            </a:pPr>
            <a:r>
              <a:rPr lang="en-US" sz="2400" b="1" dirty="0"/>
              <a:t>1. Initialize Weights and Bias</a:t>
            </a:r>
          </a:p>
          <a:p>
            <a:pPr lvl="1" fontAlgn="base"/>
            <a:r>
              <a:rPr lang="en-US" sz="2000" dirty="0"/>
              <a:t>The algorithm starts by initializing the weights </a:t>
            </a:r>
            <a:r>
              <a:rPr lang="en-US" sz="2000" dirty="0" err="1"/>
              <a:t>i.e</a:t>
            </a:r>
            <a:r>
              <a:rPr lang="en-US" sz="2000" dirty="0"/>
              <a:t> the strength of connections between neurons and biases which is additional parameters that help to adjust output. These values are usually initialized randomly.</a:t>
            </a:r>
          </a:p>
          <a:p>
            <a:pPr lvl="1" fontAlgn="base"/>
            <a:r>
              <a:rPr lang="en-US" sz="2000" dirty="0"/>
              <a:t>Set the learning rate (α) which controls how much the weights should be adjusted during training.</a:t>
            </a:r>
          </a:p>
          <a:p>
            <a:pPr marL="0" indent="0" fontAlgn="base">
              <a:buNone/>
            </a:pPr>
            <a:r>
              <a:rPr lang="en-US" sz="2400" b="1" dirty="0"/>
              <a:t>2. Feed Input Data</a:t>
            </a:r>
          </a:p>
          <a:p>
            <a:pPr lvl="1" fontAlgn="base"/>
            <a:r>
              <a:rPr lang="en-US" sz="2000" dirty="0"/>
              <a:t>The input data is fed into the input layer of the network. Each input is a feature like an image pixel, a value from a dataset, etc.</a:t>
            </a:r>
          </a:p>
          <a:p>
            <a:pPr marL="0" indent="0" fontAlgn="base">
              <a:buNone/>
            </a:pPr>
            <a:r>
              <a:rPr lang="en-US" sz="2400" b="1" dirty="0"/>
              <a:t>3. Forward Propagation (Calculate Output)</a:t>
            </a:r>
          </a:p>
          <a:p>
            <a:pPr lvl="1" fontAlgn="base"/>
            <a:r>
              <a:rPr lang="en-US" sz="2000" dirty="0"/>
              <a:t>The data is passed through the network from the input layer to the hidden layers and finally to the output layer. At each layer the input is multiplied by the weights and passed through an activation function like sigmoid, ReLU, </a:t>
            </a:r>
            <a:r>
              <a:rPr lang="en-US" sz="2000" dirty="0" err="1"/>
              <a:t>etc</a:t>
            </a:r>
            <a:r>
              <a:rPr lang="en-US" sz="2000" dirty="0"/>
              <a:t> to produce the output of that layer. The result is a prediction or an output that is compared to the actual target value.</a:t>
            </a:r>
            <a:endParaRPr lang="en-IN" sz="2400" dirty="0"/>
          </a:p>
        </p:txBody>
      </p:sp>
    </p:spTree>
    <p:extLst>
      <p:ext uri="{BB962C8B-B14F-4D97-AF65-F5344CB8AC3E}">
        <p14:creationId xmlns:p14="http://schemas.microsoft.com/office/powerpoint/2010/main" val="2870153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AA05E-EFBA-2E61-4D95-9C1C260D63D1}"/>
              </a:ext>
            </a:extLst>
          </p:cNvPr>
          <p:cNvSpPr>
            <a:spLocks noGrp="1"/>
          </p:cNvSpPr>
          <p:nvPr>
            <p:ph type="title"/>
          </p:nvPr>
        </p:nvSpPr>
        <p:spPr/>
        <p:txBody>
          <a:bodyPr/>
          <a:lstStyle/>
          <a:p>
            <a:r>
              <a:rPr lang="en-IN" b="1" dirty="0"/>
              <a:t>Artificial Neural Networks Algorithm</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3D151B-4DB5-734E-4EEE-BCAEE334916C}"/>
                  </a:ext>
                </a:extLst>
              </p:cNvPr>
              <p:cNvSpPr>
                <a:spLocks noGrp="1"/>
              </p:cNvSpPr>
              <p:nvPr>
                <p:ph idx="1"/>
              </p:nvPr>
            </p:nvSpPr>
            <p:spPr/>
            <p:txBody>
              <a:bodyPr>
                <a:normAutofit/>
              </a:bodyPr>
              <a:lstStyle/>
              <a:p>
                <a:pPr marL="0" indent="0" fontAlgn="base">
                  <a:buNone/>
                </a:pPr>
                <a:r>
                  <a:rPr lang="en-US" sz="2400" b="1" dirty="0"/>
                  <a:t>4. Calculate Error</a:t>
                </a:r>
              </a:p>
              <a:p>
                <a:pPr lvl="1" fontAlgn="base"/>
                <a:r>
                  <a:rPr lang="en-US" sz="2000" dirty="0"/>
                  <a:t>Once the network has made a prediction the next step is to calculate the error </a:t>
                </a:r>
                <a:r>
                  <a:rPr lang="en-US" sz="2000" dirty="0" err="1"/>
                  <a:t>i.e</a:t>
                </a:r>
                <a:r>
                  <a:rPr lang="en-US" sz="2000" dirty="0"/>
                  <a:t> the difference between the predicted output and the actual target. </a:t>
                </a:r>
              </a:p>
              <a:p>
                <a:pPr lvl="1" fontAlgn="base"/>
                <a:r>
                  <a:rPr lang="en-US" sz="2000" dirty="0"/>
                  <a:t>This error is often measured using a loss function like Mean Squared Error or Cross-Entropy.</a:t>
                </a:r>
              </a:p>
              <a:p>
                <a:pPr marL="0" indent="0" fontAlgn="base">
                  <a:buNone/>
                </a:pPr>
                <a:r>
                  <a:rPr lang="en-IN" sz="2400" b="1" dirty="0"/>
                  <a:t>5. Backpropagation (Update Weights)</a:t>
                </a:r>
              </a:p>
              <a:p>
                <a:pPr lvl="1" fontAlgn="base"/>
                <a:r>
                  <a:rPr lang="en-IN" sz="2000" dirty="0"/>
                  <a:t>Backpropagation computes the gradients </a:t>
                </a:r>
                <a:r>
                  <a:rPr lang="en-IN" sz="2000" dirty="0" err="1"/>
                  <a:t>i.e</a:t>
                </a:r>
                <a:r>
                  <a:rPr lang="en-IN" sz="2000" dirty="0"/>
                  <a:t> how much change in weights would reduce the error by using the chain rule of calculus. </a:t>
                </a:r>
              </a:p>
              <a:p>
                <a:pPr lvl="1" fontAlgn="base"/>
                <a:r>
                  <a:rPr lang="en-IN" sz="2000" dirty="0"/>
                  <a:t>The weights and biases are then updated to minimize the error. The update is done using an optimization algorithm like </a:t>
                </a:r>
                <a:r>
                  <a:rPr lang="en-IN" sz="2000" b="1" dirty="0"/>
                  <a:t>Gradient Descent</a:t>
                </a:r>
                <a:endParaRPr lang="en-IN" sz="2000" dirty="0"/>
              </a:p>
              <a:p>
                <a:pPr marL="0" indent="0" fontAlgn="base">
                  <a:buNone/>
                </a:pPr>
                <a14:m>
                  <m:oMathPara xmlns:m="http://schemas.openxmlformats.org/officeDocument/2006/math">
                    <m:oMathParaPr>
                      <m:jc m:val="centerGroup"/>
                    </m:oMathParaPr>
                    <m:oMath xmlns:m="http://schemas.openxmlformats.org/officeDocument/2006/math">
                      <m:r>
                        <a:rPr lang="en-IN" sz="2400" i="1">
                          <a:latin typeface="Cambria Math" panose="02040503050406030204" pitchFamily="18" charset="0"/>
                        </a:rPr>
                        <m:t>𝑤</m:t>
                      </m:r>
                      <m:r>
                        <a:rPr lang="en-IN" sz="2400">
                          <a:latin typeface="Cambria Math" panose="02040503050406030204" pitchFamily="18" charset="0"/>
                        </a:rPr>
                        <m:t>=</m:t>
                      </m:r>
                      <m:r>
                        <a:rPr lang="en-IN" sz="2400" i="1">
                          <a:latin typeface="Cambria Math" panose="02040503050406030204" pitchFamily="18" charset="0"/>
                        </a:rPr>
                        <m:t>𝑤</m:t>
                      </m:r>
                      <m:r>
                        <a:rPr lang="en-IN" sz="2400">
                          <a:latin typeface="Cambria Math" panose="02040503050406030204" pitchFamily="18" charset="0"/>
                        </a:rPr>
                        <m:t>−</m:t>
                      </m:r>
                      <m:r>
                        <a:rPr lang="en-IN" sz="2400" i="1">
                          <a:latin typeface="Cambria Math" panose="02040503050406030204" pitchFamily="18" charset="0"/>
                        </a:rPr>
                        <m:t>𝛼</m:t>
                      </m:r>
                      <m:r>
                        <a:rPr lang="en-IN" sz="2400">
                          <a:latin typeface="Cambria Math" panose="02040503050406030204" pitchFamily="18" charset="0"/>
                        </a:rPr>
                        <m:t>×</m:t>
                      </m:r>
                      <m:f>
                        <m:fPr>
                          <m:ctrlPr>
                            <a:rPr lang="ar-AE" sz="2400" i="1">
                              <a:latin typeface="Cambria Math" panose="02040503050406030204" pitchFamily="18" charset="0"/>
                            </a:rPr>
                          </m:ctrlPr>
                        </m:fPr>
                        <m:num>
                          <m:r>
                            <a:rPr lang="ar-AE" sz="2400">
                              <a:latin typeface="Cambria Math" panose="02040503050406030204" pitchFamily="18" charset="0"/>
                            </a:rPr>
                            <m:t>𝜕</m:t>
                          </m:r>
                          <m:r>
                            <m:rPr>
                              <m:nor/>
                            </m:rPr>
                            <a:rPr lang="en-IN" sz="2400" i="1"/>
                            <m:t>Error</m:t>
                          </m:r>
                        </m:num>
                        <m:den>
                          <m:r>
                            <a:rPr lang="ar-AE" sz="2400">
                              <a:latin typeface="Cambria Math" panose="02040503050406030204" pitchFamily="18" charset="0"/>
                            </a:rPr>
                            <m:t>𝜕</m:t>
                          </m:r>
                          <m:r>
                            <a:rPr lang="ar-AE" sz="2400" i="1">
                              <a:latin typeface="Cambria Math" panose="02040503050406030204" pitchFamily="18" charset="0"/>
                            </a:rPr>
                            <m:t>𝑤</m:t>
                          </m:r>
                        </m:den>
                      </m:f>
                    </m:oMath>
                  </m:oMathPara>
                </a14:m>
                <a:endParaRPr lang="ar-AE" sz="2400" dirty="0"/>
              </a:p>
              <a:p>
                <a:endParaRPr lang="en-IN" sz="2400" dirty="0"/>
              </a:p>
            </p:txBody>
          </p:sp>
        </mc:Choice>
        <mc:Fallback xmlns="">
          <p:sp>
            <p:nvSpPr>
              <p:cNvPr id="3" name="Content Placeholder 2">
                <a:extLst>
                  <a:ext uri="{FF2B5EF4-FFF2-40B4-BE49-F238E27FC236}">
                    <a16:creationId xmlns:a16="http://schemas.microsoft.com/office/drawing/2014/main" id="{503D151B-4DB5-734E-4EEE-BCAEE334916C}"/>
                  </a:ext>
                </a:extLst>
              </p:cNvPr>
              <p:cNvSpPr>
                <a:spLocks noGrp="1" noRot="1" noChangeAspect="1" noMove="1" noResize="1" noEditPoints="1" noAdjustHandles="1" noChangeArrowheads="1" noChangeShapeType="1" noTextEdit="1"/>
              </p:cNvSpPr>
              <p:nvPr>
                <p:ph idx="1"/>
              </p:nvPr>
            </p:nvSpPr>
            <p:spPr>
              <a:blipFill>
                <a:blip r:embed="rId2"/>
                <a:stretch>
                  <a:fillRect l="-928" t="-1961"/>
                </a:stretch>
              </a:blipFill>
            </p:spPr>
            <p:txBody>
              <a:bodyPr/>
              <a:lstStyle/>
              <a:p>
                <a:r>
                  <a:rPr lang="en-IN">
                    <a:noFill/>
                  </a:rPr>
                  <a:t> </a:t>
                </a:r>
              </a:p>
            </p:txBody>
          </p:sp>
        </mc:Fallback>
      </mc:AlternateContent>
    </p:spTree>
    <p:extLst>
      <p:ext uri="{BB962C8B-B14F-4D97-AF65-F5344CB8AC3E}">
        <p14:creationId xmlns:p14="http://schemas.microsoft.com/office/powerpoint/2010/main" val="3984735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DBC2A-2FD2-5722-DF01-FB340B2A8A3F}"/>
              </a:ext>
            </a:extLst>
          </p:cNvPr>
          <p:cNvSpPr>
            <a:spLocks noGrp="1"/>
          </p:cNvSpPr>
          <p:nvPr>
            <p:ph type="title"/>
          </p:nvPr>
        </p:nvSpPr>
        <p:spPr/>
        <p:txBody>
          <a:bodyPr/>
          <a:lstStyle/>
          <a:p>
            <a:r>
              <a:rPr lang="en-IN" b="1" dirty="0"/>
              <a:t>Artificial Neural Networks Algorithm</a:t>
            </a:r>
            <a:endParaRPr lang="en-IN" dirty="0"/>
          </a:p>
        </p:txBody>
      </p:sp>
      <p:sp>
        <p:nvSpPr>
          <p:cNvPr id="3" name="Content Placeholder 2">
            <a:extLst>
              <a:ext uri="{FF2B5EF4-FFF2-40B4-BE49-F238E27FC236}">
                <a16:creationId xmlns:a16="http://schemas.microsoft.com/office/drawing/2014/main" id="{A142C4CF-7CF7-52B4-B681-7E6CFF950270}"/>
              </a:ext>
            </a:extLst>
          </p:cNvPr>
          <p:cNvSpPr>
            <a:spLocks noGrp="1"/>
          </p:cNvSpPr>
          <p:nvPr>
            <p:ph idx="1"/>
          </p:nvPr>
        </p:nvSpPr>
        <p:spPr/>
        <p:txBody>
          <a:bodyPr/>
          <a:lstStyle/>
          <a:p>
            <a:pPr marL="0" indent="0" fontAlgn="base">
              <a:buNone/>
            </a:pPr>
            <a:r>
              <a:rPr lang="en-IN" b="1" dirty="0"/>
              <a:t>6. Repeat (Epochs)</a:t>
            </a:r>
          </a:p>
          <a:p>
            <a:pPr lvl="1" fontAlgn="base"/>
            <a:r>
              <a:rPr lang="en-IN" dirty="0"/>
              <a:t>Steps 2 to 5 are repeated for multiple epochs which is iterations over the entire training dataset. During each epoch the weights are adjusted to reduce the error gradually.</a:t>
            </a:r>
          </a:p>
          <a:p>
            <a:pPr marL="0" indent="0" fontAlgn="base">
              <a:buNone/>
            </a:pPr>
            <a:r>
              <a:rPr lang="en-IN" b="1" dirty="0"/>
              <a:t>7. Test the Network</a:t>
            </a:r>
          </a:p>
          <a:p>
            <a:pPr lvl="1" fontAlgn="base"/>
            <a:r>
              <a:rPr lang="en-IN" dirty="0"/>
              <a:t>After training, the network is tested with new data to evaluate its performance. If the accuracy is good, the training is considered complete. If not more training or adjustments may be needed.</a:t>
            </a:r>
          </a:p>
          <a:p>
            <a:endParaRPr lang="en-IN" dirty="0"/>
          </a:p>
        </p:txBody>
      </p:sp>
    </p:spTree>
    <p:extLst>
      <p:ext uri="{BB962C8B-B14F-4D97-AF65-F5344CB8AC3E}">
        <p14:creationId xmlns:p14="http://schemas.microsoft.com/office/powerpoint/2010/main" val="37559592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81DE7-D577-C1DD-D387-5520297987B0}"/>
              </a:ext>
            </a:extLst>
          </p:cNvPr>
          <p:cNvSpPr>
            <a:spLocks noGrp="1"/>
          </p:cNvSpPr>
          <p:nvPr>
            <p:ph type="title"/>
          </p:nvPr>
        </p:nvSpPr>
        <p:spPr/>
        <p:txBody>
          <a:bodyPr>
            <a:normAutofit/>
          </a:bodyPr>
          <a:lstStyle/>
          <a:p>
            <a:r>
              <a:rPr lang="en-IN" dirty="0"/>
              <a:t>Back propagation</a:t>
            </a:r>
          </a:p>
        </p:txBody>
      </p:sp>
      <p:sp>
        <p:nvSpPr>
          <p:cNvPr id="3" name="Content Placeholder 2">
            <a:extLst>
              <a:ext uri="{FF2B5EF4-FFF2-40B4-BE49-F238E27FC236}">
                <a16:creationId xmlns:a16="http://schemas.microsoft.com/office/drawing/2014/main" id="{1FE60D67-E7DA-9869-D0B9-BC71D762260F}"/>
              </a:ext>
            </a:extLst>
          </p:cNvPr>
          <p:cNvSpPr>
            <a:spLocks noGrp="1"/>
          </p:cNvSpPr>
          <p:nvPr>
            <p:ph idx="1"/>
          </p:nvPr>
        </p:nvSpPr>
        <p:spPr/>
        <p:txBody>
          <a:bodyPr>
            <a:normAutofit/>
          </a:bodyPr>
          <a:lstStyle/>
          <a:p>
            <a:r>
              <a:rPr lang="en-US" sz="2400" dirty="0"/>
              <a:t>Key algorithm used to train neural networks by minimizing the difference between predicted and actual outputs. </a:t>
            </a:r>
          </a:p>
          <a:p>
            <a:r>
              <a:rPr lang="en-US" sz="2400" dirty="0"/>
              <a:t>It works by propagating errors backward through the network, using the chain rule of calculus to compute gradients and then iteratively updating the weights and biases. </a:t>
            </a:r>
          </a:p>
          <a:p>
            <a:r>
              <a:rPr lang="en-US" sz="2400" dirty="0"/>
              <a:t>Combined with optimization techniques like gradient descent, backpropagation enables the model to reduce loss across epochs and effectively learn complex patterns from data.</a:t>
            </a:r>
            <a:endParaRPr lang="en-IN" sz="2400" dirty="0"/>
          </a:p>
        </p:txBody>
      </p:sp>
    </p:spTree>
    <p:extLst>
      <p:ext uri="{BB962C8B-B14F-4D97-AF65-F5344CB8AC3E}">
        <p14:creationId xmlns:p14="http://schemas.microsoft.com/office/powerpoint/2010/main" val="39617118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FEBF9-4C92-5745-AFEF-A0983BD9D7F4}"/>
              </a:ext>
            </a:extLst>
          </p:cNvPr>
          <p:cNvSpPr>
            <a:spLocks noGrp="1"/>
          </p:cNvSpPr>
          <p:nvPr>
            <p:ph type="title"/>
          </p:nvPr>
        </p:nvSpPr>
        <p:spPr/>
        <p:txBody>
          <a:bodyPr/>
          <a:lstStyle/>
          <a:p>
            <a:r>
              <a:rPr lang="en-IN" dirty="0"/>
              <a:t>Back propagation</a:t>
            </a:r>
          </a:p>
        </p:txBody>
      </p:sp>
      <p:pic>
        <p:nvPicPr>
          <p:cNvPr id="9" name="Content Placeholder 8">
            <a:extLst>
              <a:ext uri="{FF2B5EF4-FFF2-40B4-BE49-F238E27FC236}">
                <a16:creationId xmlns:a16="http://schemas.microsoft.com/office/drawing/2014/main" id="{97F73939-F85F-6665-16C6-724DAAD703F0}"/>
              </a:ext>
            </a:extLst>
          </p:cNvPr>
          <p:cNvPicPr>
            <a:picLocks noGrp="1" noChangeAspect="1"/>
          </p:cNvPicPr>
          <p:nvPr>
            <p:ph idx="1"/>
          </p:nvPr>
        </p:nvPicPr>
        <p:blipFill>
          <a:blip r:embed="rId2"/>
          <a:stretch>
            <a:fillRect/>
          </a:stretch>
        </p:blipFill>
        <p:spPr>
          <a:xfrm>
            <a:off x="1771858" y="1825625"/>
            <a:ext cx="8648284" cy="4351338"/>
          </a:xfrm>
          <a:prstGeom prst="rect">
            <a:avLst/>
          </a:prstGeom>
        </p:spPr>
      </p:pic>
    </p:spTree>
    <p:extLst>
      <p:ext uri="{BB962C8B-B14F-4D97-AF65-F5344CB8AC3E}">
        <p14:creationId xmlns:p14="http://schemas.microsoft.com/office/powerpoint/2010/main" val="2154973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BA96E-2C43-AC99-F033-C7302CF12AB7}"/>
              </a:ext>
            </a:extLst>
          </p:cNvPr>
          <p:cNvSpPr>
            <a:spLocks noGrp="1"/>
          </p:cNvSpPr>
          <p:nvPr>
            <p:ph type="title"/>
          </p:nvPr>
        </p:nvSpPr>
        <p:spPr/>
        <p:txBody>
          <a:bodyPr/>
          <a:lstStyle/>
          <a:p>
            <a:r>
              <a:rPr lang="en-IN" dirty="0"/>
              <a:t>Back propagation</a:t>
            </a:r>
          </a:p>
        </p:txBody>
      </p:sp>
      <p:sp>
        <p:nvSpPr>
          <p:cNvPr id="3" name="Content Placeholder 2">
            <a:extLst>
              <a:ext uri="{FF2B5EF4-FFF2-40B4-BE49-F238E27FC236}">
                <a16:creationId xmlns:a16="http://schemas.microsoft.com/office/drawing/2014/main" id="{B4465702-F08F-8739-FC9C-309193320350}"/>
              </a:ext>
            </a:extLst>
          </p:cNvPr>
          <p:cNvSpPr>
            <a:spLocks noGrp="1"/>
          </p:cNvSpPr>
          <p:nvPr>
            <p:ph idx="1"/>
          </p:nvPr>
        </p:nvSpPr>
        <p:spPr/>
        <p:txBody>
          <a:bodyPr>
            <a:normAutofit/>
          </a:bodyPr>
          <a:lstStyle/>
          <a:p>
            <a:pPr fontAlgn="base"/>
            <a:r>
              <a:rPr lang="en-US" dirty="0"/>
              <a:t>Back Propagation plays a critical role in how neural networks improve over time. Here's why:</a:t>
            </a:r>
          </a:p>
          <a:p>
            <a:pPr lvl="1" fontAlgn="base"/>
            <a:r>
              <a:rPr lang="en-US" b="1" dirty="0"/>
              <a:t>Efficient Weight Update</a:t>
            </a:r>
            <a:r>
              <a:rPr lang="en-US" dirty="0"/>
              <a:t>: It computes the gradient of the loss function with respect to each weight using the chain rule making it possible to update weights efficiently.</a:t>
            </a:r>
          </a:p>
          <a:p>
            <a:pPr lvl="1" fontAlgn="base"/>
            <a:r>
              <a:rPr lang="en-US" b="1" dirty="0"/>
              <a:t>Scalability</a:t>
            </a:r>
            <a:r>
              <a:rPr lang="en-US" dirty="0"/>
              <a:t>: The Back Propagation algorithm scales well to networks with multiple layers and complex architectures making deep learning feasible.</a:t>
            </a:r>
          </a:p>
          <a:p>
            <a:pPr lvl="1" fontAlgn="base"/>
            <a:r>
              <a:rPr lang="en-US" b="1" dirty="0"/>
              <a:t>Automated Learning</a:t>
            </a:r>
            <a:r>
              <a:rPr lang="en-US" dirty="0"/>
              <a:t>: With Back Propagation the learning process becomes automated and the model can adjust itself to optimize its performance.</a:t>
            </a:r>
          </a:p>
        </p:txBody>
      </p:sp>
    </p:spTree>
    <p:extLst>
      <p:ext uri="{BB962C8B-B14F-4D97-AF65-F5344CB8AC3E}">
        <p14:creationId xmlns:p14="http://schemas.microsoft.com/office/powerpoint/2010/main" val="3395499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D3A0B-4C2C-B64B-B00F-016ECBF2D060}"/>
              </a:ext>
            </a:extLst>
          </p:cNvPr>
          <p:cNvSpPr>
            <a:spLocks noGrp="1"/>
          </p:cNvSpPr>
          <p:nvPr>
            <p:ph type="title"/>
          </p:nvPr>
        </p:nvSpPr>
        <p:spPr/>
        <p:txBody>
          <a:bodyPr/>
          <a:lstStyle/>
          <a:p>
            <a:pPr fontAlgn="base"/>
            <a:r>
              <a:rPr lang="en-US" b="1" dirty="0"/>
              <a:t>Working of Back Propagation Algorithm</a:t>
            </a:r>
          </a:p>
        </p:txBody>
      </p:sp>
      <p:sp>
        <p:nvSpPr>
          <p:cNvPr id="3" name="Content Placeholder 2">
            <a:extLst>
              <a:ext uri="{FF2B5EF4-FFF2-40B4-BE49-F238E27FC236}">
                <a16:creationId xmlns:a16="http://schemas.microsoft.com/office/drawing/2014/main" id="{5A14AFC4-292B-B6D6-601D-4231C287672A}"/>
              </a:ext>
            </a:extLst>
          </p:cNvPr>
          <p:cNvSpPr>
            <a:spLocks noGrp="1"/>
          </p:cNvSpPr>
          <p:nvPr>
            <p:ph idx="1"/>
          </p:nvPr>
        </p:nvSpPr>
        <p:spPr>
          <a:xfrm>
            <a:off x="838200" y="1690688"/>
            <a:ext cx="10515600" cy="4802187"/>
          </a:xfrm>
        </p:spPr>
        <p:txBody>
          <a:bodyPr>
            <a:normAutofit fontScale="92500"/>
          </a:bodyPr>
          <a:lstStyle/>
          <a:p>
            <a:r>
              <a:rPr lang="en-US" dirty="0"/>
              <a:t>The Back Propagation algorithm involves two main steps: the Forward Pass and the Backward Pass.</a:t>
            </a:r>
          </a:p>
          <a:p>
            <a:pPr marL="0" indent="0" fontAlgn="base">
              <a:buNone/>
            </a:pPr>
            <a:r>
              <a:rPr lang="en-US" b="1" dirty="0"/>
              <a:t>1. Forward Pass Work</a:t>
            </a:r>
          </a:p>
          <a:p>
            <a:pPr lvl="1" fontAlgn="base"/>
            <a:r>
              <a:rPr lang="en-US" dirty="0"/>
              <a:t>In forward pass the input data is fed into the input layer. </a:t>
            </a:r>
          </a:p>
          <a:p>
            <a:pPr lvl="1" fontAlgn="base"/>
            <a:r>
              <a:rPr lang="en-US" dirty="0"/>
              <a:t>These inputs combined with their respective weights are passed to hidden layers. </a:t>
            </a:r>
          </a:p>
          <a:p>
            <a:pPr lvl="1" fontAlgn="base"/>
            <a:r>
              <a:rPr lang="en-US" dirty="0"/>
              <a:t>For example in a network with two hidden layers (h1 and h2) the output from h1 serves as the input to h2. </a:t>
            </a:r>
          </a:p>
          <a:p>
            <a:pPr lvl="1" fontAlgn="base"/>
            <a:r>
              <a:rPr lang="en-US" dirty="0"/>
              <a:t>Before applying an activation function, a bias is added to the weighted inputs.</a:t>
            </a:r>
          </a:p>
          <a:p>
            <a:pPr lvl="1" fontAlgn="base"/>
            <a:r>
              <a:rPr lang="en-US" dirty="0"/>
              <a:t>Each hidden layer computes the weighted sum (`a`) of the inputs then applies an activation function like ReLU (Rectified Linear Unit) to obtain the output (`o`). </a:t>
            </a:r>
          </a:p>
          <a:p>
            <a:pPr lvl="1" fontAlgn="base"/>
            <a:r>
              <a:rPr lang="en-US" dirty="0"/>
              <a:t>The output is passed to the next layer where an activation function such as </a:t>
            </a:r>
            <a:r>
              <a:rPr lang="en-US" dirty="0" err="1"/>
              <a:t>softmax</a:t>
            </a:r>
            <a:r>
              <a:rPr lang="en-US" dirty="0"/>
              <a:t> converts the weighted outputs into probabilities for classification.</a:t>
            </a:r>
          </a:p>
          <a:p>
            <a:endParaRPr lang="en-IN" dirty="0"/>
          </a:p>
        </p:txBody>
      </p:sp>
    </p:spTree>
    <p:extLst>
      <p:ext uri="{BB962C8B-B14F-4D97-AF65-F5344CB8AC3E}">
        <p14:creationId xmlns:p14="http://schemas.microsoft.com/office/powerpoint/2010/main" val="3684275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6033E-7F0B-59F7-1F65-AADEE6159786}"/>
              </a:ext>
            </a:extLst>
          </p:cNvPr>
          <p:cNvSpPr>
            <a:spLocks noGrp="1"/>
          </p:cNvSpPr>
          <p:nvPr>
            <p:ph type="title"/>
          </p:nvPr>
        </p:nvSpPr>
        <p:spPr/>
        <p:txBody>
          <a:bodyPr/>
          <a:lstStyle/>
          <a:p>
            <a:r>
              <a:rPr lang="en-US" b="1" dirty="0"/>
              <a:t>Working of Back Propagation Algorithm</a:t>
            </a:r>
            <a:endParaRPr lang="en-IN" dirty="0"/>
          </a:p>
        </p:txBody>
      </p:sp>
      <p:pic>
        <p:nvPicPr>
          <p:cNvPr id="5" name="Content Placeholder 4">
            <a:extLst>
              <a:ext uri="{FF2B5EF4-FFF2-40B4-BE49-F238E27FC236}">
                <a16:creationId xmlns:a16="http://schemas.microsoft.com/office/drawing/2014/main" id="{92A643B7-94AC-0936-86CE-D2C236DB89B6}"/>
              </a:ext>
            </a:extLst>
          </p:cNvPr>
          <p:cNvPicPr>
            <a:picLocks noGrp="1" noChangeAspect="1"/>
          </p:cNvPicPr>
          <p:nvPr>
            <p:ph idx="1"/>
          </p:nvPr>
        </p:nvPicPr>
        <p:blipFill>
          <a:blip r:embed="rId2"/>
          <a:stretch>
            <a:fillRect/>
          </a:stretch>
        </p:blipFill>
        <p:spPr>
          <a:xfrm>
            <a:off x="1809152" y="1848343"/>
            <a:ext cx="8573696" cy="4305901"/>
          </a:xfrm>
          <a:prstGeom prst="rect">
            <a:avLst/>
          </a:prstGeom>
        </p:spPr>
      </p:pic>
    </p:spTree>
    <p:extLst>
      <p:ext uri="{BB962C8B-B14F-4D97-AF65-F5344CB8AC3E}">
        <p14:creationId xmlns:p14="http://schemas.microsoft.com/office/powerpoint/2010/main" val="647016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7376C-4766-FE8B-2C31-AEE586743ACF}"/>
              </a:ext>
            </a:extLst>
          </p:cNvPr>
          <p:cNvSpPr>
            <a:spLocks noGrp="1"/>
          </p:cNvSpPr>
          <p:nvPr>
            <p:ph type="title"/>
          </p:nvPr>
        </p:nvSpPr>
        <p:spPr/>
        <p:txBody>
          <a:bodyPr/>
          <a:lstStyle/>
          <a:p>
            <a:r>
              <a:rPr lang="en-US" b="1" dirty="0"/>
              <a:t>Working of Back Propagation Algorithm</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C2C2EC4-1CBE-6E11-03A6-D236ED1B2BE2}"/>
                  </a:ext>
                </a:extLst>
              </p:cNvPr>
              <p:cNvSpPr>
                <a:spLocks noGrp="1"/>
              </p:cNvSpPr>
              <p:nvPr>
                <p:ph idx="1"/>
              </p:nvPr>
            </p:nvSpPr>
            <p:spPr>
              <a:xfrm>
                <a:off x="838200" y="1690688"/>
                <a:ext cx="10790583" cy="4962249"/>
              </a:xfrm>
            </p:spPr>
            <p:txBody>
              <a:bodyPr>
                <a:normAutofit lnSpcReduction="10000"/>
              </a:bodyPr>
              <a:lstStyle/>
              <a:p>
                <a:pPr marL="0" indent="0" fontAlgn="base">
                  <a:buNone/>
                </a:pPr>
                <a:r>
                  <a:rPr lang="en-IN" sz="2400" b="1" dirty="0"/>
                  <a:t>2. Backward Pass</a:t>
                </a:r>
              </a:p>
              <a:p>
                <a:pPr lvl="1" fontAlgn="base"/>
                <a:r>
                  <a:rPr lang="en-IN" sz="2000" dirty="0"/>
                  <a:t>In the backward pass the error (the difference between the predicted and actual output) is propagated back through the network to adjust the weights and biases. </a:t>
                </a:r>
              </a:p>
              <a:p>
                <a:pPr lvl="1" fontAlgn="base"/>
                <a:r>
                  <a:rPr lang="en-IN" sz="2000" dirty="0"/>
                  <a:t>One common method for error calculation is the Mean Squared Error (MSE) given by:</a:t>
                </a:r>
              </a:p>
              <a:p>
                <a:pPr marL="457200" lvl="1" indent="0" fontAlgn="base">
                  <a:buNone/>
                </a:pPr>
                <a14:m>
                  <m:oMathPara xmlns:m="http://schemas.openxmlformats.org/officeDocument/2006/math">
                    <m:oMathParaPr>
                      <m:jc m:val="centerGroup"/>
                    </m:oMathParaPr>
                    <m:oMath xmlns:m="http://schemas.openxmlformats.org/officeDocument/2006/math">
                      <m:r>
                        <m:rPr>
                          <m:nor/>
                        </m:rPr>
                        <a:rPr lang="en-IN" sz="2000" b="0"/>
                        <m:t>MSE</m:t>
                      </m:r>
                      <m:r>
                        <a:rPr lang="en-IN" sz="2000">
                          <a:latin typeface="Cambria Math" panose="02040503050406030204" pitchFamily="18" charset="0"/>
                        </a:rPr>
                        <m:t>=</m:t>
                      </m:r>
                      <m:d>
                        <m:dPr>
                          <m:endChr m:val=""/>
                          <m:ctrlPr>
                            <a:rPr lang="ar-AE" sz="2000" i="1">
                              <a:latin typeface="Cambria Math" panose="02040503050406030204" pitchFamily="18" charset="0"/>
                            </a:rPr>
                          </m:ctrlPr>
                        </m:dPr>
                        <m:e>
                          <m:r>
                            <m:rPr>
                              <m:nor/>
                            </m:rPr>
                            <a:rPr lang="en-IN" sz="2000" i="1"/>
                            <m:t>Predicted</m:t>
                          </m:r>
                          <m:r>
                            <m:rPr>
                              <m:nor/>
                            </m:rPr>
                            <a:rPr lang="en-IN" sz="2000" i="1"/>
                            <m:t> </m:t>
                          </m:r>
                          <m:r>
                            <m:rPr>
                              <m:nor/>
                            </m:rPr>
                            <a:rPr lang="en-IN" sz="2000" i="1"/>
                            <m:t>Output</m:t>
                          </m:r>
                          <m:r>
                            <a:rPr lang="en-IN" sz="2000">
                              <a:latin typeface="Cambria Math" panose="02040503050406030204" pitchFamily="18" charset="0"/>
                            </a:rPr>
                            <m:t>−</m:t>
                          </m:r>
                          <m:r>
                            <m:rPr>
                              <m:nor/>
                            </m:rPr>
                            <a:rPr lang="en-IN" sz="2000" i="1"/>
                            <m:t>Actual</m:t>
                          </m:r>
                          <m:r>
                            <m:rPr>
                              <m:nor/>
                            </m:rPr>
                            <a:rPr lang="en-IN" sz="2000" i="1"/>
                            <m:t> </m:t>
                          </m:r>
                          <m:r>
                            <m:rPr>
                              <m:nor/>
                            </m:rPr>
                            <a:rPr lang="en-IN" sz="2000" i="1"/>
                            <m:t>Output</m:t>
                          </m:r>
                          <m:sSup>
                            <m:sSupPr>
                              <m:ctrlPr>
                                <a:rPr lang="ar-AE" sz="2000" i="1">
                                  <a:latin typeface="Cambria Math" panose="02040503050406030204" pitchFamily="18" charset="0"/>
                                </a:rPr>
                              </m:ctrlPr>
                            </m:sSupPr>
                            <m:e>
                              <m:d>
                                <m:dPr>
                                  <m:begChr m:val=""/>
                                  <m:endChr m:val=""/>
                                  <m:ctrlPr>
                                    <a:rPr lang="ar-AE" sz="2000" i="1">
                                      <a:latin typeface="Cambria Math" panose="02040503050406030204" pitchFamily="18" charset="0"/>
                                    </a:rPr>
                                  </m:ctrlPr>
                                </m:dPr>
                                <m:e>
                                  <m:r>
                                    <a:rPr lang="ar-AE" sz="2000">
                                      <a:latin typeface="Cambria Math" panose="02040503050406030204" pitchFamily="18" charset="0"/>
                                    </a:rPr>
                                    <m:t>)</m:t>
                                  </m:r>
                                </m:e>
                              </m:d>
                            </m:e>
                            <m:sup>
                              <m:r>
                                <a:rPr lang="ar-AE" sz="2000">
                                  <a:latin typeface="Cambria Math" panose="02040503050406030204" pitchFamily="18" charset="0"/>
                                </a:rPr>
                                <m:t>2</m:t>
                              </m:r>
                            </m:sup>
                          </m:sSup>
                        </m:e>
                      </m:d>
                    </m:oMath>
                  </m:oMathPara>
                </a14:m>
                <a:endParaRPr lang="ar-AE" sz="2000" i="1" dirty="0"/>
              </a:p>
              <a:p>
                <a:pPr lvl="1" fontAlgn="base"/>
                <a:r>
                  <a:rPr lang="en-IN" sz="2000" dirty="0"/>
                  <a:t>Once the error is calculated the network adjusts weights using gradients which are computed with the chain rule. </a:t>
                </a:r>
              </a:p>
              <a:p>
                <a:pPr lvl="1" fontAlgn="base"/>
                <a:r>
                  <a:rPr lang="en-IN" sz="2000" dirty="0"/>
                  <a:t>These gradients indicate how much each weight and bias should be adjusted to minimize the error in the next iteration. </a:t>
                </a:r>
              </a:p>
              <a:p>
                <a:pPr lvl="1" fontAlgn="base"/>
                <a:r>
                  <a:rPr lang="en-IN" sz="2000" dirty="0"/>
                  <a:t>The backward pass continues layer by layer ensuring that the network learns and improves its performance. </a:t>
                </a:r>
              </a:p>
              <a:p>
                <a:pPr lvl="1" fontAlgn="base"/>
                <a:r>
                  <a:rPr lang="en-IN" sz="2000" dirty="0"/>
                  <a:t>The activation function through its derivative plays a crucial role in computing these gradients during Back Propagation.</a:t>
                </a:r>
              </a:p>
              <a:p>
                <a:pPr lvl="1" fontAlgn="base"/>
                <a:r>
                  <a:rPr lang="en-US" sz="2000" b="1" dirty="0"/>
                  <a:t>Adam (Adaptive Moment Estimation):</a:t>
                </a:r>
                <a:r>
                  <a:rPr lang="en-US" sz="2000" dirty="0"/>
                  <a:t> This is the most popular type used in neural networks today. It actually gives </a:t>
                </a:r>
                <a:r>
                  <a:rPr lang="en-US" sz="2000" i="1" dirty="0"/>
                  <a:t>every single weight</a:t>
                </a:r>
                <a:r>
                  <a:rPr lang="en-US" sz="2000" dirty="0"/>
                  <a:t> in the network its own custom learning rate, adjusting them on the fly.</a:t>
                </a:r>
                <a:endParaRPr lang="en-IN" sz="2000" dirty="0"/>
              </a:p>
            </p:txBody>
          </p:sp>
        </mc:Choice>
        <mc:Fallback xmlns="">
          <p:sp>
            <p:nvSpPr>
              <p:cNvPr id="3" name="Content Placeholder 2">
                <a:extLst>
                  <a:ext uri="{FF2B5EF4-FFF2-40B4-BE49-F238E27FC236}">
                    <a16:creationId xmlns:a16="http://schemas.microsoft.com/office/drawing/2014/main" id="{2C2C2EC4-1CBE-6E11-03A6-D236ED1B2BE2}"/>
                  </a:ext>
                </a:extLst>
              </p:cNvPr>
              <p:cNvSpPr>
                <a:spLocks noGrp="1" noRot="1" noChangeAspect="1" noMove="1" noResize="1" noEditPoints="1" noAdjustHandles="1" noChangeArrowheads="1" noChangeShapeType="1" noTextEdit="1"/>
              </p:cNvSpPr>
              <p:nvPr>
                <p:ph idx="1"/>
              </p:nvPr>
            </p:nvSpPr>
            <p:spPr>
              <a:xfrm>
                <a:off x="838200" y="1690688"/>
                <a:ext cx="10790583" cy="4962249"/>
              </a:xfrm>
              <a:blipFill>
                <a:blip r:embed="rId2"/>
                <a:stretch>
                  <a:fillRect l="-904" t="-2334"/>
                </a:stretch>
              </a:blipFill>
            </p:spPr>
            <p:txBody>
              <a:bodyPr/>
              <a:lstStyle/>
              <a:p>
                <a:r>
                  <a:rPr lang="en-IN">
                    <a:noFill/>
                  </a:rPr>
                  <a:t> </a:t>
                </a:r>
              </a:p>
            </p:txBody>
          </p:sp>
        </mc:Fallback>
      </mc:AlternateContent>
    </p:spTree>
    <p:extLst>
      <p:ext uri="{BB962C8B-B14F-4D97-AF65-F5344CB8AC3E}">
        <p14:creationId xmlns:p14="http://schemas.microsoft.com/office/powerpoint/2010/main" val="3017106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2BA49-C0CA-8A55-4943-D9E132021352}"/>
              </a:ext>
            </a:extLst>
          </p:cNvPr>
          <p:cNvSpPr>
            <a:spLocks noGrp="1"/>
          </p:cNvSpPr>
          <p:nvPr>
            <p:ph type="title"/>
          </p:nvPr>
        </p:nvSpPr>
        <p:spPr/>
        <p:txBody>
          <a:bodyPr>
            <a:normAutofit/>
          </a:bodyPr>
          <a:lstStyle/>
          <a:p>
            <a:r>
              <a:rPr lang="en-US" b="1" dirty="0"/>
              <a:t>Example of Back Propagation </a:t>
            </a:r>
            <a:endParaRPr lang="en-IN" dirty="0"/>
          </a:p>
        </p:txBody>
      </p:sp>
      <p:sp>
        <p:nvSpPr>
          <p:cNvPr id="3" name="Content Placeholder 2">
            <a:extLst>
              <a:ext uri="{FF2B5EF4-FFF2-40B4-BE49-F238E27FC236}">
                <a16:creationId xmlns:a16="http://schemas.microsoft.com/office/drawing/2014/main" id="{9EAF99FB-3A7E-2162-BFF8-82DB9D734DF4}"/>
              </a:ext>
            </a:extLst>
          </p:cNvPr>
          <p:cNvSpPr>
            <a:spLocks noGrp="1"/>
          </p:cNvSpPr>
          <p:nvPr>
            <p:ph idx="1"/>
          </p:nvPr>
        </p:nvSpPr>
        <p:spPr/>
        <p:txBody>
          <a:bodyPr>
            <a:normAutofit/>
          </a:bodyPr>
          <a:lstStyle/>
          <a:p>
            <a:r>
              <a:rPr lang="en-US" sz="2400" dirty="0"/>
              <a:t>Assume the neurons use the sigmoid activation function for the forward and backward pass. The target output is 0.5 and the learning rate is 1.</a:t>
            </a:r>
            <a:endParaRPr lang="en-IN" sz="2400" dirty="0"/>
          </a:p>
        </p:txBody>
      </p:sp>
      <p:pic>
        <p:nvPicPr>
          <p:cNvPr id="5" name="Picture 4">
            <a:extLst>
              <a:ext uri="{FF2B5EF4-FFF2-40B4-BE49-F238E27FC236}">
                <a16:creationId xmlns:a16="http://schemas.microsoft.com/office/drawing/2014/main" id="{2E73F029-195B-1CF3-0FD9-4A0D68A1CEA5}"/>
              </a:ext>
            </a:extLst>
          </p:cNvPr>
          <p:cNvPicPr>
            <a:picLocks noChangeAspect="1"/>
          </p:cNvPicPr>
          <p:nvPr/>
        </p:nvPicPr>
        <p:blipFill>
          <a:blip r:embed="rId2"/>
          <a:stretch>
            <a:fillRect/>
          </a:stretch>
        </p:blipFill>
        <p:spPr>
          <a:xfrm>
            <a:off x="1366622" y="2660924"/>
            <a:ext cx="9021434" cy="4001058"/>
          </a:xfrm>
          <a:prstGeom prst="rect">
            <a:avLst/>
          </a:prstGeom>
        </p:spPr>
      </p:pic>
    </p:spTree>
    <p:extLst>
      <p:ext uri="{BB962C8B-B14F-4D97-AF65-F5344CB8AC3E}">
        <p14:creationId xmlns:p14="http://schemas.microsoft.com/office/powerpoint/2010/main" val="11806283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C73CB-F79C-11AE-5BCB-9AED26ED82FB}"/>
              </a:ext>
            </a:extLst>
          </p:cNvPr>
          <p:cNvSpPr>
            <a:spLocks noGrp="1"/>
          </p:cNvSpPr>
          <p:nvPr>
            <p:ph type="title"/>
          </p:nvPr>
        </p:nvSpPr>
        <p:spPr/>
        <p:txBody>
          <a:bodyPr/>
          <a:lstStyle/>
          <a:p>
            <a:r>
              <a:rPr lang="en-US" b="1" dirty="0"/>
              <a:t>Example of Back Propagation </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7AEA3B5-D666-393A-BF59-2BF58CDCB929}"/>
                  </a:ext>
                </a:extLst>
              </p:cNvPr>
              <p:cNvSpPr>
                <a:spLocks noGrp="1"/>
              </p:cNvSpPr>
              <p:nvPr>
                <p:ph idx="1"/>
              </p:nvPr>
            </p:nvSpPr>
            <p:spPr/>
            <p:txBody>
              <a:bodyPr>
                <a:normAutofit/>
              </a:bodyPr>
              <a:lstStyle/>
              <a:p>
                <a:pPr marL="0" indent="0" fontAlgn="base">
                  <a:buNone/>
                </a:pPr>
                <a:r>
                  <a:rPr lang="en-IN" b="1" dirty="0"/>
                  <a:t>Forward Propagation</a:t>
                </a:r>
              </a:p>
              <a:p>
                <a:pPr marL="0" indent="0" fontAlgn="base">
                  <a:buNone/>
                </a:pPr>
                <a:r>
                  <a:rPr lang="en-IN" b="1" dirty="0"/>
                  <a:t>1. Initial Calculation</a:t>
                </a:r>
              </a:p>
              <a:p>
                <a:pPr lvl="1" fontAlgn="base"/>
                <a:r>
                  <a:rPr lang="en-IN" dirty="0"/>
                  <a:t>The weighted sum at each node is calculated using: </a:t>
                </a:r>
              </a:p>
              <a:p>
                <a:pPr lvl="1" fontAlgn="base"/>
                <a:endParaRPr lang="en-IN" dirty="0"/>
              </a:p>
              <a:p>
                <a:pPr lvl="1" fontAlgn="base"/>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𝑎</m:t>
                        </m:r>
                      </m:e>
                      <m:sub>
                        <m:r>
                          <a:rPr lang="ar-AE" i="1">
                            <a:latin typeface="Cambria Math" panose="02040503050406030204" pitchFamily="18" charset="0"/>
                          </a:rPr>
                          <m:t>𝑗</m:t>
                        </m:r>
                      </m:sub>
                    </m:sSub>
                  </m:oMath>
                </a14:m>
                <a:r>
                  <a:rPr lang="ar-AE" dirty="0"/>
                  <a:t> </a:t>
                </a:r>
                <a:r>
                  <a:rPr lang="en-IN" dirty="0"/>
                  <a:t>is the weighted sum of all the inputs and weights at each node</a:t>
                </a:r>
              </a:p>
              <a:p>
                <a:pPr lvl="1" fontAlgn="base"/>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𝑤</m:t>
                        </m:r>
                      </m:e>
                      <m:sub>
                        <m:r>
                          <a:rPr lang="ar-AE" i="1">
                            <a:latin typeface="Cambria Math" panose="02040503050406030204" pitchFamily="18" charset="0"/>
                          </a:rPr>
                          <m:t>𝑖</m:t>
                        </m:r>
                        <m:r>
                          <a:rPr lang="ar-AE">
                            <a:latin typeface="Cambria Math" panose="02040503050406030204" pitchFamily="18" charset="0"/>
                          </a:rPr>
                          <m:t>,</m:t>
                        </m:r>
                        <m:r>
                          <a:rPr lang="ar-AE" i="1">
                            <a:latin typeface="Cambria Math" panose="02040503050406030204" pitchFamily="18" charset="0"/>
                          </a:rPr>
                          <m:t>𝑗</m:t>
                        </m:r>
                      </m:sub>
                    </m:sSub>
                  </m:oMath>
                </a14:m>
                <a:r>
                  <a:rPr lang="ar-AE" dirty="0"/>
                  <a:t> </a:t>
                </a:r>
                <a:r>
                  <a:rPr lang="en-IN" dirty="0"/>
                  <a:t>represents the weights between the </a:t>
                </a:r>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𝑖</m:t>
                        </m:r>
                      </m:e>
                      <m:sup>
                        <m:r>
                          <a:rPr lang="ar-AE" i="1">
                            <a:latin typeface="Cambria Math" panose="02040503050406030204" pitchFamily="18" charset="0"/>
                          </a:rPr>
                          <m:t>𝑡</m:t>
                        </m:r>
                        <m:r>
                          <a:rPr lang="ar-AE" i="1">
                            <a:latin typeface="Cambria Math" panose="02040503050406030204" pitchFamily="18" charset="0"/>
                          </a:rPr>
                          <m:t>h</m:t>
                        </m:r>
                      </m:sup>
                    </m:sSup>
                  </m:oMath>
                </a14:m>
                <a:r>
                  <a:rPr lang="en-IN" dirty="0"/>
                  <a:t>input and the </a:t>
                </a:r>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𝑗</m:t>
                        </m:r>
                      </m:e>
                      <m:sup>
                        <m:r>
                          <a:rPr lang="ar-AE" i="1">
                            <a:latin typeface="Cambria Math" panose="02040503050406030204" pitchFamily="18" charset="0"/>
                          </a:rPr>
                          <m:t>𝑡</m:t>
                        </m:r>
                        <m:r>
                          <a:rPr lang="ar-AE" i="1">
                            <a:latin typeface="Cambria Math" panose="02040503050406030204" pitchFamily="18" charset="0"/>
                          </a:rPr>
                          <m:t>h</m:t>
                        </m:r>
                      </m:sup>
                    </m:sSup>
                  </m:oMath>
                </a14:m>
                <a:r>
                  <a:rPr lang="ar-AE" dirty="0"/>
                  <a:t> </a:t>
                </a:r>
                <a:r>
                  <a:rPr lang="en-IN" dirty="0"/>
                  <a:t>neuron</a:t>
                </a:r>
              </a:p>
              <a:p>
                <a:pPr lvl="1" fontAlgn="base"/>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m:t>
                        </m:r>
                      </m:sub>
                    </m:sSub>
                  </m:oMath>
                </a14:m>
                <a:r>
                  <a:rPr lang="ar-AE" dirty="0"/>
                  <a:t> </a:t>
                </a:r>
                <a:r>
                  <a:rPr lang="en-IN" dirty="0"/>
                  <a:t>represents the value of the </a:t>
                </a:r>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𝑖</m:t>
                        </m:r>
                      </m:e>
                      <m:sup>
                        <m:r>
                          <a:rPr lang="ar-AE" i="1">
                            <a:latin typeface="Cambria Math" panose="02040503050406030204" pitchFamily="18" charset="0"/>
                          </a:rPr>
                          <m:t>𝑡</m:t>
                        </m:r>
                        <m:r>
                          <a:rPr lang="ar-AE" i="1">
                            <a:latin typeface="Cambria Math" panose="02040503050406030204" pitchFamily="18" charset="0"/>
                          </a:rPr>
                          <m:t>h</m:t>
                        </m:r>
                      </m:sup>
                    </m:sSup>
                  </m:oMath>
                </a14:m>
                <a:r>
                  <a:rPr lang="ar-AE" dirty="0"/>
                  <a:t> </a:t>
                </a:r>
                <a:r>
                  <a:rPr lang="en-IN" dirty="0"/>
                  <a:t>input</a:t>
                </a:r>
              </a:p>
              <a:p>
                <a:pPr lvl="1" fontAlgn="base"/>
                <a:r>
                  <a:rPr lang="en-IN" b="1" dirty="0"/>
                  <a:t>O (output): </a:t>
                </a:r>
                <a:r>
                  <a:rPr lang="en-IN" dirty="0"/>
                  <a:t>After applying the activation function to a, we get the output of the neuron:</a:t>
                </a:r>
              </a:p>
              <a:p>
                <a:endParaRPr lang="en-IN" dirty="0"/>
              </a:p>
            </p:txBody>
          </p:sp>
        </mc:Choice>
        <mc:Fallback xmlns="">
          <p:sp>
            <p:nvSpPr>
              <p:cNvPr id="3" name="Content Placeholder 2">
                <a:extLst>
                  <a:ext uri="{FF2B5EF4-FFF2-40B4-BE49-F238E27FC236}">
                    <a16:creationId xmlns:a16="http://schemas.microsoft.com/office/drawing/2014/main" id="{C7AEA3B5-D666-393A-BF59-2BF58CDCB929}"/>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159CA8C6-9C04-C9C7-50CE-7E4351BACFAC}"/>
              </a:ext>
            </a:extLst>
          </p:cNvPr>
          <p:cNvPicPr>
            <a:picLocks noChangeAspect="1"/>
          </p:cNvPicPr>
          <p:nvPr/>
        </p:nvPicPr>
        <p:blipFill>
          <a:blip r:embed="rId3"/>
          <a:stretch>
            <a:fillRect/>
          </a:stretch>
        </p:blipFill>
        <p:spPr>
          <a:xfrm>
            <a:off x="8146190" y="2500279"/>
            <a:ext cx="3437376" cy="690182"/>
          </a:xfrm>
          <a:prstGeom prst="rect">
            <a:avLst/>
          </a:prstGeom>
          <a:ln>
            <a:solidFill>
              <a:schemeClr val="tx1"/>
            </a:solidFill>
          </a:ln>
        </p:spPr>
      </p:pic>
      <p:pic>
        <p:nvPicPr>
          <p:cNvPr id="7" name="Picture 6">
            <a:extLst>
              <a:ext uri="{FF2B5EF4-FFF2-40B4-BE49-F238E27FC236}">
                <a16:creationId xmlns:a16="http://schemas.microsoft.com/office/drawing/2014/main" id="{3C2B079E-76B5-FBFD-B882-12B58E138866}"/>
              </a:ext>
            </a:extLst>
          </p:cNvPr>
          <p:cNvPicPr>
            <a:picLocks noChangeAspect="1"/>
          </p:cNvPicPr>
          <p:nvPr/>
        </p:nvPicPr>
        <p:blipFill>
          <a:blip r:embed="rId4"/>
          <a:stretch>
            <a:fillRect/>
          </a:stretch>
        </p:blipFill>
        <p:spPr>
          <a:xfrm>
            <a:off x="3845403" y="5621718"/>
            <a:ext cx="4846609" cy="690182"/>
          </a:xfrm>
          <a:prstGeom prst="rect">
            <a:avLst/>
          </a:prstGeom>
          <a:ln>
            <a:solidFill>
              <a:schemeClr val="tx1"/>
            </a:solidFill>
          </a:ln>
        </p:spPr>
      </p:pic>
    </p:spTree>
    <p:extLst>
      <p:ext uri="{BB962C8B-B14F-4D97-AF65-F5344CB8AC3E}">
        <p14:creationId xmlns:p14="http://schemas.microsoft.com/office/powerpoint/2010/main" val="5545566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06824-5287-2431-16BF-CC9EA49226D3}"/>
              </a:ext>
            </a:extLst>
          </p:cNvPr>
          <p:cNvSpPr>
            <a:spLocks noGrp="1"/>
          </p:cNvSpPr>
          <p:nvPr>
            <p:ph type="title"/>
          </p:nvPr>
        </p:nvSpPr>
        <p:spPr>
          <a:xfrm>
            <a:off x="838200" y="1"/>
            <a:ext cx="10515600" cy="1191664"/>
          </a:xfrm>
        </p:spPr>
        <p:txBody>
          <a:bodyPr/>
          <a:lstStyle/>
          <a:p>
            <a:r>
              <a:rPr lang="en-US" b="1" dirty="0"/>
              <a:t>Example of Back Propagation </a:t>
            </a:r>
            <a:endParaRPr lang="en-IN" dirty="0"/>
          </a:p>
        </p:txBody>
      </p:sp>
      <p:sp>
        <p:nvSpPr>
          <p:cNvPr id="3" name="Content Placeholder 2">
            <a:extLst>
              <a:ext uri="{FF2B5EF4-FFF2-40B4-BE49-F238E27FC236}">
                <a16:creationId xmlns:a16="http://schemas.microsoft.com/office/drawing/2014/main" id="{4ABE7357-D2B2-EFCE-8DFC-30DD5EDF53E0}"/>
              </a:ext>
            </a:extLst>
          </p:cNvPr>
          <p:cNvSpPr>
            <a:spLocks noGrp="1"/>
          </p:cNvSpPr>
          <p:nvPr>
            <p:ph idx="1"/>
          </p:nvPr>
        </p:nvSpPr>
        <p:spPr>
          <a:xfrm>
            <a:off x="838200" y="1191665"/>
            <a:ext cx="10515600" cy="4985298"/>
          </a:xfrm>
        </p:spPr>
        <p:txBody>
          <a:bodyPr/>
          <a:lstStyle/>
          <a:p>
            <a:pPr marL="0" indent="0" fontAlgn="base">
              <a:buNone/>
            </a:pPr>
            <a:r>
              <a:rPr lang="en-US" b="1" dirty="0"/>
              <a:t>2. Sigmoid Function</a:t>
            </a:r>
          </a:p>
          <a:p>
            <a:pPr lvl="1" fontAlgn="base"/>
            <a:r>
              <a:rPr lang="en-US" dirty="0"/>
              <a:t>The sigmoid function returns a value between 0 and 1, introducing non-linearity into the model.</a:t>
            </a:r>
          </a:p>
          <a:p>
            <a:endParaRPr lang="en-IN" dirty="0"/>
          </a:p>
        </p:txBody>
      </p:sp>
      <p:pic>
        <p:nvPicPr>
          <p:cNvPr id="5" name="Picture 4">
            <a:extLst>
              <a:ext uri="{FF2B5EF4-FFF2-40B4-BE49-F238E27FC236}">
                <a16:creationId xmlns:a16="http://schemas.microsoft.com/office/drawing/2014/main" id="{951C3F51-C31D-2C8A-E8E9-D7E0A248C65B}"/>
              </a:ext>
            </a:extLst>
          </p:cNvPr>
          <p:cNvPicPr>
            <a:picLocks noChangeAspect="1"/>
          </p:cNvPicPr>
          <p:nvPr/>
        </p:nvPicPr>
        <p:blipFill>
          <a:blip r:embed="rId2"/>
          <a:stretch>
            <a:fillRect/>
          </a:stretch>
        </p:blipFill>
        <p:spPr>
          <a:xfrm>
            <a:off x="8434488" y="323784"/>
            <a:ext cx="2836485" cy="1184861"/>
          </a:xfrm>
          <a:prstGeom prst="rect">
            <a:avLst/>
          </a:prstGeom>
          <a:ln>
            <a:solidFill>
              <a:schemeClr val="tx1"/>
            </a:solidFill>
          </a:ln>
        </p:spPr>
      </p:pic>
      <p:pic>
        <p:nvPicPr>
          <p:cNvPr id="7" name="Picture 6">
            <a:extLst>
              <a:ext uri="{FF2B5EF4-FFF2-40B4-BE49-F238E27FC236}">
                <a16:creationId xmlns:a16="http://schemas.microsoft.com/office/drawing/2014/main" id="{0A6F6EB8-867D-6392-FF41-5C81D45E5097}"/>
              </a:ext>
            </a:extLst>
          </p:cNvPr>
          <p:cNvPicPr>
            <a:picLocks noChangeAspect="1"/>
          </p:cNvPicPr>
          <p:nvPr/>
        </p:nvPicPr>
        <p:blipFill>
          <a:blip r:embed="rId3"/>
          <a:stretch>
            <a:fillRect/>
          </a:stretch>
        </p:blipFill>
        <p:spPr>
          <a:xfrm>
            <a:off x="1685309" y="2562181"/>
            <a:ext cx="8821381" cy="4248743"/>
          </a:xfrm>
          <a:prstGeom prst="rect">
            <a:avLst/>
          </a:prstGeom>
        </p:spPr>
      </p:pic>
    </p:spTree>
    <p:extLst>
      <p:ext uri="{BB962C8B-B14F-4D97-AF65-F5344CB8AC3E}">
        <p14:creationId xmlns:p14="http://schemas.microsoft.com/office/powerpoint/2010/main" val="8591048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EE08D-C489-60F3-71C2-E59A91653EB0}"/>
              </a:ext>
            </a:extLst>
          </p:cNvPr>
          <p:cNvSpPr>
            <a:spLocks noGrp="1"/>
          </p:cNvSpPr>
          <p:nvPr>
            <p:ph type="title"/>
          </p:nvPr>
        </p:nvSpPr>
        <p:spPr/>
        <p:txBody>
          <a:bodyPr/>
          <a:lstStyle/>
          <a:p>
            <a:r>
              <a:rPr lang="en-US" b="1" dirty="0"/>
              <a:t>Example of Back Propagation </a:t>
            </a:r>
            <a:endParaRPr lang="en-IN" dirty="0"/>
          </a:p>
        </p:txBody>
      </p:sp>
      <p:pic>
        <p:nvPicPr>
          <p:cNvPr id="5" name="Content Placeholder 4">
            <a:extLst>
              <a:ext uri="{FF2B5EF4-FFF2-40B4-BE49-F238E27FC236}">
                <a16:creationId xmlns:a16="http://schemas.microsoft.com/office/drawing/2014/main" id="{761F3109-F21F-351D-6F78-4983E485AD19}"/>
              </a:ext>
            </a:extLst>
          </p:cNvPr>
          <p:cNvPicPr>
            <a:picLocks noGrp="1" noChangeAspect="1"/>
          </p:cNvPicPr>
          <p:nvPr>
            <p:ph idx="1"/>
          </p:nvPr>
        </p:nvPicPr>
        <p:blipFill>
          <a:blip r:embed="rId2"/>
          <a:stretch>
            <a:fillRect/>
          </a:stretch>
        </p:blipFill>
        <p:spPr>
          <a:xfrm>
            <a:off x="838199" y="1467815"/>
            <a:ext cx="10263809" cy="5340747"/>
          </a:xfrm>
          <a:prstGeom prst="rect">
            <a:avLst/>
          </a:prstGeom>
        </p:spPr>
      </p:pic>
    </p:spTree>
    <p:extLst>
      <p:ext uri="{BB962C8B-B14F-4D97-AF65-F5344CB8AC3E}">
        <p14:creationId xmlns:p14="http://schemas.microsoft.com/office/powerpoint/2010/main" val="27324994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CA55A-44E4-54E4-BC4D-BD8A674F4D3D}"/>
              </a:ext>
            </a:extLst>
          </p:cNvPr>
          <p:cNvSpPr>
            <a:spLocks noGrp="1"/>
          </p:cNvSpPr>
          <p:nvPr>
            <p:ph type="title"/>
          </p:nvPr>
        </p:nvSpPr>
        <p:spPr/>
        <p:txBody>
          <a:bodyPr/>
          <a:lstStyle/>
          <a:p>
            <a:r>
              <a:rPr lang="en-US" b="1" dirty="0"/>
              <a:t>Example of Back Propagation </a:t>
            </a:r>
            <a:endParaRPr lang="en-IN" dirty="0"/>
          </a:p>
        </p:txBody>
      </p:sp>
      <p:pic>
        <p:nvPicPr>
          <p:cNvPr id="5" name="Content Placeholder 4">
            <a:extLst>
              <a:ext uri="{FF2B5EF4-FFF2-40B4-BE49-F238E27FC236}">
                <a16:creationId xmlns:a16="http://schemas.microsoft.com/office/drawing/2014/main" id="{094D0B38-36A5-DA4D-F376-1BC61F77CCFA}"/>
              </a:ext>
            </a:extLst>
          </p:cNvPr>
          <p:cNvPicPr>
            <a:picLocks noGrp="1" noChangeAspect="1"/>
          </p:cNvPicPr>
          <p:nvPr>
            <p:ph idx="1"/>
          </p:nvPr>
        </p:nvPicPr>
        <p:blipFill>
          <a:blip r:embed="rId2"/>
          <a:stretch>
            <a:fillRect/>
          </a:stretch>
        </p:blipFill>
        <p:spPr>
          <a:xfrm>
            <a:off x="742171" y="1493965"/>
            <a:ext cx="11095578" cy="4002374"/>
          </a:xfrm>
          <a:prstGeom prst="rect">
            <a:avLst/>
          </a:prstGeom>
        </p:spPr>
      </p:pic>
      <p:sp>
        <p:nvSpPr>
          <p:cNvPr id="6" name="TextBox 5">
            <a:extLst>
              <a:ext uri="{FF2B5EF4-FFF2-40B4-BE49-F238E27FC236}">
                <a16:creationId xmlns:a16="http://schemas.microsoft.com/office/drawing/2014/main" id="{CC819876-09BA-BFED-41E0-A8B94D414CA7}"/>
              </a:ext>
            </a:extLst>
          </p:cNvPr>
          <p:cNvSpPr txBox="1"/>
          <p:nvPr/>
        </p:nvSpPr>
        <p:spPr>
          <a:xfrm>
            <a:off x="5305839" y="3233542"/>
            <a:ext cx="1580321" cy="584775"/>
          </a:xfrm>
          <a:prstGeom prst="rect">
            <a:avLst/>
          </a:prstGeom>
          <a:noFill/>
        </p:spPr>
        <p:txBody>
          <a:bodyPr wrap="square" rtlCol="0">
            <a:spAutoFit/>
          </a:bodyPr>
          <a:lstStyle/>
          <a:p>
            <a:r>
              <a:rPr lang="en-IN" sz="3200" dirty="0"/>
              <a:t> = 0.59</a:t>
            </a:r>
          </a:p>
        </p:txBody>
      </p:sp>
    </p:spTree>
    <p:extLst>
      <p:ext uri="{BB962C8B-B14F-4D97-AF65-F5344CB8AC3E}">
        <p14:creationId xmlns:p14="http://schemas.microsoft.com/office/powerpoint/2010/main" val="38509233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5F0A4-5462-F124-9B07-5416189A988A}"/>
              </a:ext>
            </a:extLst>
          </p:cNvPr>
          <p:cNvSpPr>
            <a:spLocks noGrp="1"/>
          </p:cNvSpPr>
          <p:nvPr>
            <p:ph type="title"/>
          </p:nvPr>
        </p:nvSpPr>
        <p:spPr/>
        <p:txBody>
          <a:bodyPr/>
          <a:lstStyle/>
          <a:p>
            <a:r>
              <a:rPr lang="en-US" b="1" dirty="0"/>
              <a:t>Example of Back Propagation </a:t>
            </a:r>
            <a:endParaRPr lang="en-IN" dirty="0"/>
          </a:p>
        </p:txBody>
      </p:sp>
      <p:pic>
        <p:nvPicPr>
          <p:cNvPr id="5" name="Content Placeholder 4">
            <a:extLst>
              <a:ext uri="{FF2B5EF4-FFF2-40B4-BE49-F238E27FC236}">
                <a16:creationId xmlns:a16="http://schemas.microsoft.com/office/drawing/2014/main" id="{3CA29BA4-6A00-349C-4196-851133A1E577}"/>
              </a:ext>
            </a:extLst>
          </p:cNvPr>
          <p:cNvPicPr>
            <a:picLocks noGrp="1" noChangeAspect="1"/>
          </p:cNvPicPr>
          <p:nvPr>
            <p:ph idx="1"/>
          </p:nvPr>
        </p:nvPicPr>
        <p:blipFill>
          <a:blip r:embed="rId2"/>
          <a:stretch>
            <a:fillRect/>
          </a:stretch>
        </p:blipFill>
        <p:spPr>
          <a:xfrm>
            <a:off x="1599572" y="1843993"/>
            <a:ext cx="8992855" cy="4334480"/>
          </a:xfrm>
          <a:prstGeom prst="rect">
            <a:avLst/>
          </a:prstGeom>
        </p:spPr>
      </p:pic>
    </p:spTree>
    <p:extLst>
      <p:ext uri="{BB962C8B-B14F-4D97-AF65-F5344CB8AC3E}">
        <p14:creationId xmlns:p14="http://schemas.microsoft.com/office/powerpoint/2010/main" val="24345844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4BCDA-4488-0048-26ED-C3E440260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54B111-5D28-8410-5799-A8D7D99BC089}"/>
              </a:ext>
            </a:extLst>
          </p:cNvPr>
          <p:cNvSpPr>
            <a:spLocks noGrp="1"/>
          </p:cNvSpPr>
          <p:nvPr>
            <p:ph type="title"/>
          </p:nvPr>
        </p:nvSpPr>
        <p:spPr/>
        <p:txBody>
          <a:bodyPr/>
          <a:lstStyle/>
          <a:p>
            <a:r>
              <a:rPr lang="en-US" b="1" dirty="0"/>
              <a:t>Example of Back Propagation </a:t>
            </a:r>
            <a:endParaRPr lang="en-IN" dirty="0"/>
          </a:p>
        </p:txBody>
      </p:sp>
      <p:pic>
        <p:nvPicPr>
          <p:cNvPr id="5" name="Content Placeholder 4">
            <a:extLst>
              <a:ext uri="{FF2B5EF4-FFF2-40B4-BE49-F238E27FC236}">
                <a16:creationId xmlns:a16="http://schemas.microsoft.com/office/drawing/2014/main" id="{3D6D72EB-4FD3-3F94-0D57-0DF0795DC444}"/>
              </a:ext>
            </a:extLst>
          </p:cNvPr>
          <p:cNvPicPr>
            <a:picLocks noGrp="1" noChangeAspect="1"/>
          </p:cNvPicPr>
          <p:nvPr>
            <p:ph idx="1"/>
          </p:nvPr>
        </p:nvPicPr>
        <p:blipFill>
          <a:blip r:embed="rId2"/>
          <a:stretch>
            <a:fillRect/>
          </a:stretch>
        </p:blipFill>
        <p:spPr>
          <a:xfrm>
            <a:off x="838200" y="1866681"/>
            <a:ext cx="10393017" cy="4047101"/>
          </a:xfrm>
          <a:prstGeom prst="rect">
            <a:avLst/>
          </a:prstGeom>
        </p:spPr>
      </p:pic>
    </p:spTree>
    <p:extLst>
      <p:ext uri="{BB962C8B-B14F-4D97-AF65-F5344CB8AC3E}">
        <p14:creationId xmlns:p14="http://schemas.microsoft.com/office/powerpoint/2010/main" val="32454887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66B25-BE57-6F7E-5D1C-E0F4B9BF05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C4A252-F1AC-9CAB-05CA-DDC9CE40E1D1}"/>
              </a:ext>
            </a:extLst>
          </p:cNvPr>
          <p:cNvSpPr>
            <a:spLocks noGrp="1"/>
          </p:cNvSpPr>
          <p:nvPr>
            <p:ph type="title"/>
          </p:nvPr>
        </p:nvSpPr>
        <p:spPr/>
        <p:txBody>
          <a:bodyPr/>
          <a:lstStyle/>
          <a:p>
            <a:r>
              <a:rPr lang="en-US" b="1" dirty="0"/>
              <a:t>Example of Back Propagation </a:t>
            </a:r>
            <a:endParaRPr lang="en-IN" dirty="0"/>
          </a:p>
        </p:txBody>
      </p:sp>
      <p:pic>
        <p:nvPicPr>
          <p:cNvPr id="5" name="Content Placeholder 4">
            <a:extLst>
              <a:ext uri="{FF2B5EF4-FFF2-40B4-BE49-F238E27FC236}">
                <a16:creationId xmlns:a16="http://schemas.microsoft.com/office/drawing/2014/main" id="{B9FA4021-AD93-6416-4828-0C5DA37CB829}"/>
              </a:ext>
            </a:extLst>
          </p:cNvPr>
          <p:cNvPicPr>
            <a:picLocks noGrp="1" noChangeAspect="1"/>
          </p:cNvPicPr>
          <p:nvPr>
            <p:ph idx="1"/>
          </p:nvPr>
        </p:nvPicPr>
        <p:blipFill>
          <a:blip r:embed="rId2"/>
          <a:stretch>
            <a:fillRect/>
          </a:stretch>
        </p:blipFill>
        <p:spPr>
          <a:xfrm>
            <a:off x="838200" y="1690688"/>
            <a:ext cx="7947991" cy="5081308"/>
          </a:xfrm>
          <a:prstGeom prst="rect">
            <a:avLst/>
          </a:prstGeom>
        </p:spPr>
      </p:pic>
      <p:sp>
        <p:nvSpPr>
          <p:cNvPr id="7" name="TextBox 6">
            <a:extLst>
              <a:ext uri="{FF2B5EF4-FFF2-40B4-BE49-F238E27FC236}">
                <a16:creationId xmlns:a16="http://schemas.microsoft.com/office/drawing/2014/main" id="{CC65721F-37A9-0B49-3B52-C533FD9535A5}"/>
              </a:ext>
            </a:extLst>
          </p:cNvPr>
          <p:cNvSpPr txBox="1"/>
          <p:nvPr/>
        </p:nvSpPr>
        <p:spPr>
          <a:xfrm>
            <a:off x="5933662" y="6031210"/>
            <a:ext cx="5854148" cy="523220"/>
          </a:xfrm>
          <a:prstGeom prst="rect">
            <a:avLst/>
          </a:prstGeom>
          <a:noFill/>
        </p:spPr>
        <p:txBody>
          <a:bodyPr wrap="square" rtlCol="0">
            <a:spAutoFit/>
          </a:bodyPr>
          <a:lstStyle/>
          <a:p>
            <a:r>
              <a:rPr lang="en-IN" sz="2800" i="1" dirty="0" err="1"/>
              <a:t>Oj</a:t>
            </a:r>
            <a:r>
              <a:rPr lang="en-IN" sz="2800" i="1" dirty="0"/>
              <a:t> is the predicted value for each unit  </a:t>
            </a:r>
          </a:p>
        </p:txBody>
      </p:sp>
    </p:spTree>
    <p:extLst>
      <p:ext uri="{BB962C8B-B14F-4D97-AF65-F5344CB8AC3E}">
        <p14:creationId xmlns:p14="http://schemas.microsoft.com/office/powerpoint/2010/main" val="25043936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F338E-3D9E-6F3E-9767-21F1875CAE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249780-4128-6BDA-19DF-235406FE5AAD}"/>
              </a:ext>
            </a:extLst>
          </p:cNvPr>
          <p:cNvSpPr>
            <a:spLocks noGrp="1"/>
          </p:cNvSpPr>
          <p:nvPr>
            <p:ph type="title"/>
          </p:nvPr>
        </p:nvSpPr>
        <p:spPr/>
        <p:txBody>
          <a:bodyPr/>
          <a:lstStyle/>
          <a:p>
            <a:r>
              <a:rPr lang="en-US" b="1" dirty="0"/>
              <a:t>Example of Back Propagation </a:t>
            </a:r>
            <a:endParaRPr lang="en-IN" dirty="0"/>
          </a:p>
        </p:txBody>
      </p:sp>
      <p:pic>
        <p:nvPicPr>
          <p:cNvPr id="9" name="Content Placeholder 8">
            <a:extLst>
              <a:ext uri="{FF2B5EF4-FFF2-40B4-BE49-F238E27FC236}">
                <a16:creationId xmlns:a16="http://schemas.microsoft.com/office/drawing/2014/main" id="{44CE637E-F964-2DDB-3875-812F4C18BD90}"/>
              </a:ext>
            </a:extLst>
          </p:cNvPr>
          <p:cNvPicPr>
            <a:picLocks noGrp="1" noChangeAspect="1"/>
          </p:cNvPicPr>
          <p:nvPr>
            <p:ph idx="1"/>
          </p:nvPr>
        </p:nvPicPr>
        <p:blipFill>
          <a:blip r:embed="rId2"/>
          <a:stretch>
            <a:fillRect/>
          </a:stretch>
        </p:blipFill>
        <p:spPr>
          <a:xfrm>
            <a:off x="415456" y="1557268"/>
            <a:ext cx="5876014" cy="4956032"/>
          </a:xfrm>
          <a:prstGeom prst="rect">
            <a:avLst/>
          </a:prstGeom>
        </p:spPr>
      </p:pic>
      <p:pic>
        <p:nvPicPr>
          <p:cNvPr id="11" name="Picture 10">
            <a:extLst>
              <a:ext uri="{FF2B5EF4-FFF2-40B4-BE49-F238E27FC236}">
                <a16:creationId xmlns:a16="http://schemas.microsoft.com/office/drawing/2014/main" id="{18399C66-EC08-F489-6FE3-51031CEF08F8}"/>
              </a:ext>
            </a:extLst>
          </p:cNvPr>
          <p:cNvPicPr>
            <a:picLocks noChangeAspect="1"/>
          </p:cNvPicPr>
          <p:nvPr/>
        </p:nvPicPr>
        <p:blipFill>
          <a:blip r:embed="rId3"/>
          <a:stretch>
            <a:fillRect/>
          </a:stretch>
        </p:blipFill>
        <p:spPr>
          <a:xfrm>
            <a:off x="6371413" y="4562061"/>
            <a:ext cx="5820587" cy="2100326"/>
          </a:xfrm>
          <a:prstGeom prst="rect">
            <a:avLst/>
          </a:prstGeom>
        </p:spPr>
      </p:pic>
      <p:sp>
        <p:nvSpPr>
          <p:cNvPr id="12" name="TextBox 11">
            <a:extLst>
              <a:ext uri="{FF2B5EF4-FFF2-40B4-BE49-F238E27FC236}">
                <a16:creationId xmlns:a16="http://schemas.microsoft.com/office/drawing/2014/main" id="{2C28DD2E-62B7-2807-B4F6-4740819845B5}"/>
              </a:ext>
            </a:extLst>
          </p:cNvPr>
          <p:cNvSpPr txBox="1"/>
          <p:nvPr/>
        </p:nvSpPr>
        <p:spPr>
          <a:xfrm>
            <a:off x="6980582" y="2034329"/>
            <a:ext cx="4373218" cy="2246769"/>
          </a:xfrm>
          <a:prstGeom prst="rect">
            <a:avLst/>
          </a:prstGeom>
          <a:noFill/>
          <a:ln>
            <a:solidFill>
              <a:schemeClr val="tx1"/>
            </a:solidFill>
          </a:ln>
        </p:spPr>
        <p:txBody>
          <a:bodyPr wrap="square" rtlCol="0">
            <a:spAutoFit/>
          </a:bodyPr>
          <a:lstStyle/>
          <a:p>
            <a:r>
              <a:rPr lang="en-IN" sz="2800" dirty="0"/>
              <a:t>For output unit</a:t>
            </a:r>
          </a:p>
          <a:p>
            <a:pPr marL="457200" indent="-457200">
              <a:buFont typeface="Arial" panose="020B0604020202020204" pitchFamily="34" charset="0"/>
              <a:buChar char="•"/>
            </a:pPr>
            <a:r>
              <a:rPr lang="el-GR" sz="2800" dirty="0"/>
              <a:t>δ</a:t>
            </a:r>
            <a:r>
              <a:rPr lang="en-IN" sz="2800" dirty="0" err="1"/>
              <a:t>i</a:t>
            </a:r>
            <a:r>
              <a:rPr lang="en-IN" sz="2800" dirty="0"/>
              <a:t> = </a:t>
            </a:r>
            <a:r>
              <a:rPr lang="en-IN" sz="2800" dirty="0" err="1"/>
              <a:t>yi</a:t>
            </a:r>
            <a:r>
              <a:rPr lang="en-IN" sz="2800" dirty="0"/>
              <a:t>(1-yi)(</a:t>
            </a:r>
            <a:r>
              <a:rPr lang="en-IN" sz="2800" dirty="0" err="1"/>
              <a:t>ytarget</a:t>
            </a:r>
            <a:r>
              <a:rPr lang="en-IN" sz="2800" dirty="0"/>
              <a:t> – </a:t>
            </a:r>
            <a:r>
              <a:rPr lang="en-IN" sz="2800" dirty="0" err="1"/>
              <a:t>yi</a:t>
            </a:r>
            <a:r>
              <a:rPr lang="en-IN" sz="2800" dirty="0"/>
              <a:t>)</a:t>
            </a:r>
          </a:p>
          <a:p>
            <a:endParaRPr lang="en-IN" sz="2800" dirty="0"/>
          </a:p>
          <a:p>
            <a:r>
              <a:rPr lang="en-IN" sz="2800" dirty="0"/>
              <a:t>For hidden unit</a:t>
            </a:r>
          </a:p>
          <a:p>
            <a:pPr marL="457200" indent="-457200">
              <a:buFont typeface="Arial" panose="020B0604020202020204" pitchFamily="34" charset="0"/>
              <a:buChar char="•"/>
            </a:pPr>
            <a:r>
              <a:rPr lang="el-GR" sz="2800" dirty="0"/>
              <a:t>δ</a:t>
            </a:r>
            <a:r>
              <a:rPr lang="en-IN" sz="2800" dirty="0" err="1"/>
              <a:t>i</a:t>
            </a:r>
            <a:r>
              <a:rPr lang="en-IN" sz="2800" dirty="0"/>
              <a:t> = </a:t>
            </a:r>
            <a:r>
              <a:rPr lang="en-IN" sz="2800" dirty="0" err="1"/>
              <a:t>yi</a:t>
            </a:r>
            <a:r>
              <a:rPr lang="en-IN" sz="2800" dirty="0"/>
              <a:t>(1-yi)(</a:t>
            </a:r>
            <a:r>
              <a:rPr lang="en-IN" sz="2800" dirty="0" err="1"/>
              <a:t>wij</a:t>
            </a:r>
            <a:r>
              <a:rPr lang="en-IN" sz="2800" dirty="0"/>
              <a:t> x </a:t>
            </a:r>
            <a:r>
              <a:rPr lang="el-GR" sz="2800" dirty="0"/>
              <a:t>δ</a:t>
            </a:r>
            <a:r>
              <a:rPr lang="en-IN" sz="2800" dirty="0"/>
              <a:t>j)</a:t>
            </a:r>
          </a:p>
        </p:txBody>
      </p:sp>
    </p:spTree>
    <p:extLst>
      <p:ext uri="{BB962C8B-B14F-4D97-AF65-F5344CB8AC3E}">
        <p14:creationId xmlns:p14="http://schemas.microsoft.com/office/powerpoint/2010/main" val="21065017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E0374-A31A-6F0D-3008-EF48F24C5E97}"/>
              </a:ext>
            </a:extLst>
          </p:cNvPr>
          <p:cNvSpPr>
            <a:spLocks noGrp="1"/>
          </p:cNvSpPr>
          <p:nvPr>
            <p:ph type="title"/>
          </p:nvPr>
        </p:nvSpPr>
        <p:spPr/>
        <p:txBody>
          <a:bodyPr/>
          <a:lstStyle/>
          <a:p>
            <a:r>
              <a:rPr lang="en-US" b="1" dirty="0"/>
              <a:t>Example of Back Propagation </a:t>
            </a:r>
            <a:endParaRPr lang="en-IN" dirty="0"/>
          </a:p>
        </p:txBody>
      </p:sp>
      <p:pic>
        <p:nvPicPr>
          <p:cNvPr id="5" name="Content Placeholder 4">
            <a:extLst>
              <a:ext uri="{FF2B5EF4-FFF2-40B4-BE49-F238E27FC236}">
                <a16:creationId xmlns:a16="http://schemas.microsoft.com/office/drawing/2014/main" id="{4EF6B813-946B-91CF-DB26-42791BDC068F}"/>
              </a:ext>
            </a:extLst>
          </p:cNvPr>
          <p:cNvPicPr>
            <a:picLocks noGrp="1" noChangeAspect="1"/>
          </p:cNvPicPr>
          <p:nvPr>
            <p:ph idx="1"/>
          </p:nvPr>
        </p:nvPicPr>
        <p:blipFill>
          <a:blip r:embed="rId2"/>
          <a:stretch>
            <a:fillRect/>
          </a:stretch>
        </p:blipFill>
        <p:spPr>
          <a:xfrm>
            <a:off x="375854" y="1535944"/>
            <a:ext cx="6074642" cy="5202786"/>
          </a:xfrm>
          <a:prstGeom prst="rect">
            <a:avLst/>
          </a:prstGeom>
        </p:spPr>
      </p:pic>
      <p:pic>
        <p:nvPicPr>
          <p:cNvPr id="7" name="Picture 6">
            <a:extLst>
              <a:ext uri="{FF2B5EF4-FFF2-40B4-BE49-F238E27FC236}">
                <a16:creationId xmlns:a16="http://schemas.microsoft.com/office/drawing/2014/main" id="{D3FE5617-3CA5-D71C-422D-A4648FA3DFE3}"/>
              </a:ext>
            </a:extLst>
          </p:cNvPr>
          <p:cNvPicPr>
            <a:picLocks noChangeAspect="1"/>
          </p:cNvPicPr>
          <p:nvPr/>
        </p:nvPicPr>
        <p:blipFill>
          <a:blip r:embed="rId3"/>
          <a:stretch>
            <a:fillRect/>
          </a:stretch>
        </p:blipFill>
        <p:spPr>
          <a:xfrm>
            <a:off x="6559826" y="2271241"/>
            <a:ext cx="5515745" cy="4467489"/>
          </a:xfrm>
          <a:prstGeom prst="rect">
            <a:avLst/>
          </a:prstGeom>
        </p:spPr>
      </p:pic>
      <p:pic>
        <p:nvPicPr>
          <p:cNvPr id="9" name="Picture 8">
            <a:extLst>
              <a:ext uri="{FF2B5EF4-FFF2-40B4-BE49-F238E27FC236}">
                <a16:creationId xmlns:a16="http://schemas.microsoft.com/office/drawing/2014/main" id="{54A8E241-E5F8-C87C-83B1-3C08BBCB5D73}"/>
              </a:ext>
            </a:extLst>
          </p:cNvPr>
          <p:cNvPicPr>
            <a:picLocks noChangeAspect="1"/>
          </p:cNvPicPr>
          <p:nvPr/>
        </p:nvPicPr>
        <p:blipFill>
          <a:blip r:embed="rId4"/>
          <a:stretch>
            <a:fillRect/>
          </a:stretch>
        </p:blipFill>
        <p:spPr>
          <a:xfrm>
            <a:off x="3770782" y="1535944"/>
            <a:ext cx="4698538" cy="571152"/>
          </a:xfrm>
          <a:prstGeom prst="rect">
            <a:avLst/>
          </a:prstGeom>
          <a:ln>
            <a:solidFill>
              <a:schemeClr val="tx1"/>
            </a:solidFill>
          </a:ln>
        </p:spPr>
      </p:pic>
    </p:spTree>
    <p:extLst>
      <p:ext uri="{BB962C8B-B14F-4D97-AF65-F5344CB8AC3E}">
        <p14:creationId xmlns:p14="http://schemas.microsoft.com/office/powerpoint/2010/main" val="30436614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10912-0BC3-59D9-35B6-225538210F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1F41E5-0333-7F1C-A6B8-B39CCD9A5F96}"/>
              </a:ext>
            </a:extLst>
          </p:cNvPr>
          <p:cNvSpPr>
            <a:spLocks noGrp="1"/>
          </p:cNvSpPr>
          <p:nvPr>
            <p:ph type="title"/>
          </p:nvPr>
        </p:nvSpPr>
        <p:spPr/>
        <p:txBody>
          <a:bodyPr/>
          <a:lstStyle/>
          <a:p>
            <a:r>
              <a:rPr lang="en-US" b="1" dirty="0"/>
              <a:t>Example of Back Propagation </a:t>
            </a:r>
            <a:endParaRPr lang="en-IN" dirty="0"/>
          </a:p>
        </p:txBody>
      </p:sp>
      <p:pic>
        <p:nvPicPr>
          <p:cNvPr id="5" name="Content Placeholder 4">
            <a:extLst>
              <a:ext uri="{FF2B5EF4-FFF2-40B4-BE49-F238E27FC236}">
                <a16:creationId xmlns:a16="http://schemas.microsoft.com/office/drawing/2014/main" id="{04AE0CA9-BE32-64FF-DBD3-FC150767639B}"/>
              </a:ext>
            </a:extLst>
          </p:cNvPr>
          <p:cNvPicPr>
            <a:picLocks noGrp="1" noChangeAspect="1"/>
          </p:cNvPicPr>
          <p:nvPr>
            <p:ph idx="1"/>
          </p:nvPr>
        </p:nvPicPr>
        <p:blipFill>
          <a:blip r:embed="rId2"/>
          <a:stretch>
            <a:fillRect/>
          </a:stretch>
        </p:blipFill>
        <p:spPr>
          <a:xfrm>
            <a:off x="1048318" y="1700627"/>
            <a:ext cx="6565056" cy="4019422"/>
          </a:xfrm>
          <a:prstGeom prst="rect">
            <a:avLst/>
          </a:prstGeom>
        </p:spPr>
      </p:pic>
    </p:spTree>
    <p:extLst>
      <p:ext uri="{BB962C8B-B14F-4D97-AF65-F5344CB8AC3E}">
        <p14:creationId xmlns:p14="http://schemas.microsoft.com/office/powerpoint/2010/main" val="5927017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72A4D-DB5A-9CD0-D045-267929213F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FEF427-2AB2-21AF-867B-02540FA429B7}"/>
              </a:ext>
            </a:extLst>
          </p:cNvPr>
          <p:cNvSpPr>
            <a:spLocks noGrp="1"/>
          </p:cNvSpPr>
          <p:nvPr>
            <p:ph type="title"/>
          </p:nvPr>
        </p:nvSpPr>
        <p:spPr/>
        <p:txBody>
          <a:bodyPr/>
          <a:lstStyle/>
          <a:p>
            <a:r>
              <a:rPr lang="en-US" b="1" dirty="0"/>
              <a:t>Example of Back Propagation </a:t>
            </a:r>
            <a:endParaRPr lang="en-IN" dirty="0"/>
          </a:p>
        </p:txBody>
      </p:sp>
      <p:pic>
        <p:nvPicPr>
          <p:cNvPr id="5" name="Content Placeholder 4">
            <a:extLst>
              <a:ext uri="{FF2B5EF4-FFF2-40B4-BE49-F238E27FC236}">
                <a16:creationId xmlns:a16="http://schemas.microsoft.com/office/drawing/2014/main" id="{A503968E-E879-0CAB-3EAE-338E862FB30E}"/>
              </a:ext>
            </a:extLst>
          </p:cNvPr>
          <p:cNvPicPr>
            <a:picLocks noGrp="1" noChangeAspect="1"/>
          </p:cNvPicPr>
          <p:nvPr>
            <p:ph idx="1"/>
          </p:nvPr>
        </p:nvPicPr>
        <p:blipFill>
          <a:blip r:embed="rId2"/>
          <a:stretch>
            <a:fillRect/>
          </a:stretch>
        </p:blipFill>
        <p:spPr>
          <a:xfrm>
            <a:off x="838199" y="1557267"/>
            <a:ext cx="9279835" cy="4904113"/>
          </a:xfrm>
          <a:prstGeom prst="rect">
            <a:avLst/>
          </a:prstGeom>
        </p:spPr>
      </p:pic>
    </p:spTree>
    <p:extLst>
      <p:ext uri="{BB962C8B-B14F-4D97-AF65-F5344CB8AC3E}">
        <p14:creationId xmlns:p14="http://schemas.microsoft.com/office/powerpoint/2010/main" val="7757528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92F03-5C1D-335A-B911-BF973DE14EFD}"/>
              </a:ext>
            </a:extLst>
          </p:cNvPr>
          <p:cNvSpPr>
            <a:spLocks noGrp="1"/>
          </p:cNvSpPr>
          <p:nvPr>
            <p:ph type="title"/>
          </p:nvPr>
        </p:nvSpPr>
        <p:spPr/>
        <p:txBody>
          <a:bodyPr/>
          <a:lstStyle/>
          <a:p>
            <a:r>
              <a:rPr lang="en-IN" b="1" dirty="0"/>
              <a:t>Advantages of </a:t>
            </a:r>
            <a:r>
              <a:rPr lang="en-US" b="1" dirty="0"/>
              <a:t>Back Propagation </a:t>
            </a:r>
            <a:endParaRPr lang="en-IN" dirty="0"/>
          </a:p>
        </p:txBody>
      </p:sp>
      <p:sp>
        <p:nvSpPr>
          <p:cNvPr id="3" name="Content Placeholder 2">
            <a:extLst>
              <a:ext uri="{FF2B5EF4-FFF2-40B4-BE49-F238E27FC236}">
                <a16:creationId xmlns:a16="http://schemas.microsoft.com/office/drawing/2014/main" id="{B7E456E1-739E-FC18-DAAE-ABF6C95524AD}"/>
              </a:ext>
            </a:extLst>
          </p:cNvPr>
          <p:cNvSpPr>
            <a:spLocks noGrp="1"/>
          </p:cNvSpPr>
          <p:nvPr>
            <p:ph idx="1"/>
          </p:nvPr>
        </p:nvSpPr>
        <p:spPr>
          <a:xfrm>
            <a:off x="838200" y="1690688"/>
            <a:ext cx="10515600" cy="4968529"/>
          </a:xfrm>
        </p:spPr>
        <p:txBody>
          <a:bodyPr>
            <a:normAutofit/>
          </a:bodyPr>
          <a:lstStyle/>
          <a:p>
            <a:pPr fontAlgn="base"/>
            <a:r>
              <a:rPr lang="en-US" sz="2400" b="1" dirty="0"/>
              <a:t>Ease of Implementation: </a:t>
            </a:r>
            <a:r>
              <a:rPr lang="en-US" sz="2400" dirty="0"/>
              <a:t>Back Propagation is beginner-friendly requiring no prior neural network knowledge and simplifies programming by adjusting weights with error derivatives.</a:t>
            </a:r>
          </a:p>
          <a:p>
            <a:pPr fontAlgn="base"/>
            <a:r>
              <a:rPr lang="en-US" sz="2400" b="1" dirty="0"/>
              <a:t>Simplicity and Flexibility:</a:t>
            </a:r>
            <a:r>
              <a:rPr lang="en-US" sz="2400" dirty="0"/>
              <a:t> Its straightforward design suits a range of tasks from basic feedforward to complex convolutional or recurrent networks.</a:t>
            </a:r>
          </a:p>
          <a:p>
            <a:pPr fontAlgn="base"/>
            <a:r>
              <a:rPr lang="en-US" sz="2400" b="1" dirty="0"/>
              <a:t>Efficiency</a:t>
            </a:r>
            <a:r>
              <a:rPr lang="en-US" sz="2400" dirty="0"/>
              <a:t>: Back Propagation accelerates learning by directly updating weights based on error especially in deep networks.</a:t>
            </a:r>
          </a:p>
          <a:p>
            <a:pPr fontAlgn="base"/>
            <a:r>
              <a:rPr lang="en-US" sz="2400" b="1" dirty="0"/>
              <a:t>Generalization:</a:t>
            </a:r>
            <a:r>
              <a:rPr lang="en-US" sz="2400" dirty="0"/>
              <a:t> It helps models generalize well to new data improving prediction accuracy on unseen examples.</a:t>
            </a:r>
          </a:p>
          <a:p>
            <a:pPr fontAlgn="base"/>
            <a:r>
              <a:rPr lang="en-US" sz="2400" b="1" dirty="0"/>
              <a:t>Scalability:</a:t>
            </a:r>
            <a:r>
              <a:rPr lang="en-US" sz="2400" dirty="0"/>
              <a:t> The algorithm scales efficiently with larger datasets and more complex networks making it ideal for large-scale tasks.</a:t>
            </a:r>
            <a:endParaRPr lang="en-IN" sz="2400" dirty="0"/>
          </a:p>
        </p:txBody>
      </p:sp>
    </p:spTree>
    <p:extLst>
      <p:ext uri="{BB962C8B-B14F-4D97-AF65-F5344CB8AC3E}">
        <p14:creationId xmlns:p14="http://schemas.microsoft.com/office/powerpoint/2010/main" val="42888591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57163-1446-1BD5-11FD-3E1948B33F2B}"/>
              </a:ext>
            </a:extLst>
          </p:cNvPr>
          <p:cNvSpPr>
            <a:spLocks noGrp="1"/>
          </p:cNvSpPr>
          <p:nvPr>
            <p:ph type="title"/>
          </p:nvPr>
        </p:nvSpPr>
        <p:spPr/>
        <p:txBody>
          <a:bodyPr/>
          <a:lstStyle/>
          <a:p>
            <a:r>
              <a:rPr lang="en-IN" b="1" dirty="0"/>
              <a:t>Challenges of </a:t>
            </a:r>
            <a:r>
              <a:rPr lang="en-US" b="1" dirty="0"/>
              <a:t>Back Propagation</a:t>
            </a:r>
            <a:endParaRPr lang="en-IN" dirty="0"/>
          </a:p>
        </p:txBody>
      </p:sp>
      <p:sp>
        <p:nvSpPr>
          <p:cNvPr id="3" name="Content Placeholder 2">
            <a:extLst>
              <a:ext uri="{FF2B5EF4-FFF2-40B4-BE49-F238E27FC236}">
                <a16:creationId xmlns:a16="http://schemas.microsoft.com/office/drawing/2014/main" id="{2DBFFBA2-4C0C-0B3E-39AC-450045ED074F}"/>
              </a:ext>
            </a:extLst>
          </p:cNvPr>
          <p:cNvSpPr>
            <a:spLocks noGrp="1"/>
          </p:cNvSpPr>
          <p:nvPr>
            <p:ph idx="1"/>
          </p:nvPr>
        </p:nvSpPr>
        <p:spPr/>
        <p:txBody>
          <a:bodyPr>
            <a:normAutofit/>
          </a:bodyPr>
          <a:lstStyle/>
          <a:p>
            <a:pPr fontAlgn="base"/>
            <a:r>
              <a:rPr lang="en-US" dirty="0"/>
              <a:t>While Back Propagation is useful it does face some challenges:</a:t>
            </a:r>
          </a:p>
          <a:p>
            <a:pPr lvl="1" fontAlgn="base"/>
            <a:r>
              <a:rPr lang="en-US" b="1" dirty="0"/>
              <a:t>Vanishing Gradient Problem</a:t>
            </a:r>
            <a:r>
              <a:rPr lang="en-US" dirty="0"/>
              <a:t>: In deep networks the gradients can become very small during Back Propagation making it difficult for the network to learn. This is common when using activation functions like sigmoid or tanh.</a:t>
            </a:r>
          </a:p>
          <a:p>
            <a:pPr lvl="1" fontAlgn="base"/>
            <a:r>
              <a:rPr lang="en-US" b="1" dirty="0"/>
              <a:t>Exploding Gradients</a:t>
            </a:r>
            <a:r>
              <a:rPr lang="en-US" dirty="0"/>
              <a:t>: The gradients can also become excessively large causing the network to diverge during training.</a:t>
            </a:r>
          </a:p>
          <a:p>
            <a:pPr lvl="1" fontAlgn="base"/>
            <a:r>
              <a:rPr lang="en-US" b="1" dirty="0"/>
              <a:t>Overfitting: </a:t>
            </a:r>
            <a:r>
              <a:rPr lang="en-US" dirty="0"/>
              <a:t>If the network is too complex it might memorize the training data instead of learning general patterns.</a:t>
            </a:r>
          </a:p>
        </p:txBody>
      </p:sp>
    </p:spTree>
    <p:extLst>
      <p:ext uri="{BB962C8B-B14F-4D97-AF65-F5344CB8AC3E}">
        <p14:creationId xmlns:p14="http://schemas.microsoft.com/office/powerpoint/2010/main" val="14921815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1266</Words>
  <Application>Microsoft Office PowerPoint</Application>
  <PresentationFormat>Widescreen</PresentationFormat>
  <Paragraphs>92</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Light</vt:lpstr>
      <vt:lpstr>Cambria Math</vt:lpstr>
      <vt:lpstr>Office Theme</vt:lpstr>
      <vt:lpstr>Artificial Neural Networks Algorithm</vt:lpstr>
      <vt:lpstr>Artificial Neural Networks Algorithm</vt:lpstr>
      <vt:lpstr>Artificial Neural Networks Algorithm</vt:lpstr>
      <vt:lpstr>Back propagation</vt:lpstr>
      <vt:lpstr>Back propagation</vt:lpstr>
      <vt:lpstr>Back propagation</vt:lpstr>
      <vt:lpstr>Working of Back Propagation Algorithm</vt:lpstr>
      <vt:lpstr>Working of Back Propagation Algorithm</vt:lpstr>
      <vt:lpstr>Working of Back Propagation Algorithm</vt:lpstr>
      <vt:lpstr>Example of Back Propagation </vt:lpstr>
      <vt:lpstr>Example of Back Propagation </vt:lpstr>
      <vt:lpstr>Example of Back Propagation </vt:lpstr>
      <vt:lpstr>Example of Back Propagation </vt:lpstr>
      <vt:lpstr>Example of Back Propagation </vt:lpstr>
      <vt:lpstr>Example of Back Propagation </vt:lpstr>
      <vt:lpstr>Example of Back Propagation </vt:lpstr>
      <vt:lpstr>Example of Back Propagation </vt:lpstr>
      <vt:lpstr>Example of Back Propagation </vt:lpstr>
      <vt:lpstr>Example of Back Propagation </vt:lpstr>
      <vt:lpstr>Example of Back Propagation </vt:lpstr>
      <vt:lpstr>Example of Back Propagation </vt:lpstr>
      <vt:lpstr>Advantages of Back Propagation </vt:lpstr>
      <vt:lpstr>Challenges of Back Propagation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1</cp:revision>
  <dcterms:created xsi:type="dcterms:W3CDTF">2026-03-14T02:43:22Z</dcterms:created>
  <dcterms:modified xsi:type="dcterms:W3CDTF">2026-03-14T02:43:54Z</dcterms:modified>
</cp:coreProperties>
</file>