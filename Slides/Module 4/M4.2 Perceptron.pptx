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90" r:id="rId2"/>
    <p:sldId id="376" r:id="rId3"/>
    <p:sldId id="391" r:id="rId4"/>
    <p:sldId id="392" r:id="rId5"/>
    <p:sldId id="393" r:id="rId6"/>
    <p:sldId id="394" r:id="rId7"/>
    <p:sldId id="348" r:id="rId8"/>
    <p:sldId id="349" r:id="rId9"/>
    <p:sldId id="395" r:id="rId10"/>
    <p:sldId id="400" r:id="rId11"/>
    <p:sldId id="396" r:id="rId12"/>
    <p:sldId id="403" r:id="rId13"/>
    <p:sldId id="404" r:id="rId14"/>
    <p:sldId id="401" r:id="rId15"/>
    <p:sldId id="402" r:id="rId16"/>
    <p:sldId id="398" r:id="rId17"/>
    <p:sldId id="378" r:id="rId18"/>
    <p:sldId id="397" r:id="rId19"/>
    <p:sldId id="399" r:id="rId20"/>
    <p:sldId id="379" r:id="rId21"/>
    <p:sldId id="405" r:id="rId22"/>
    <p:sldId id="406" r:id="rId23"/>
    <p:sldId id="407" r:id="rId24"/>
    <p:sldId id="408" r:id="rId25"/>
    <p:sldId id="409" r:id="rId26"/>
    <p:sldId id="410" r:id="rId27"/>
    <p:sldId id="41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FD645-BD47-448C-B851-5B114C795A5E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DC663-C7EF-459F-A814-EED320EB4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6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9" name="Google Shape;729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243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5" name="Google Shape;73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171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2ADC-5CC4-92BA-36B1-4B32E5A79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0BBF9-3C18-B9D5-8089-EFFBBA533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BDE5C-8246-D1CD-0BFE-B7F02FCC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321E5-A4D4-1B47-E00C-A8E7CB02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5B363-70E3-025F-DDE4-3C75D713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97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4A07-52E1-8F47-65BB-A0856943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03C00-62F4-956D-9510-526A76547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32D54-E117-3609-9C1A-5CF09026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72E63-B9AD-007F-2B4A-DFDCF867D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1F4A8-8744-1C1B-7CFB-7A79CEF0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44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6D33-1A80-08EC-EF54-999FB068C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D947C-2C00-B419-C097-B01A282E7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551E1-735C-2052-FC6A-6F5F0F65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E13E8-E7FE-6C00-C1C4-67332201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42C0A-E292-1D5D-00AF-2A9DB0DD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00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9291-2EC6-9E4B-CB10-5A2856A9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15CC2-D801-9C0B-E038-BC1F017A1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70AD0-9F41-2595-C454-C858256FF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4F3B0-3B6D-7C22-6982-AB1B7132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16184-9D9B-FEC1-E462-292CD622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58730-8C33-4416-10BB-A5986ED7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87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0361-1BCA-854F-79B3-7CBC7E05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40C9F-22FA-3104-FFF0-B293641C2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089DC-BC7C-32DC-D37C-30457AE6F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B19AA-D9A2-2D26-1F88-CC222C08B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3110C-FD44-45F1-598E-D8DAB43DF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3CDE1B-BE10-6C90-8FEA-9EFA58B1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2E6C6-706C-F742-DA8B-E36327002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838AE-BF9D-F5D7-DFE5-1DAFDD53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78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F9AE-D110-642B-A90A-AB547B0A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51F2C-392D-8A36-8ACF-75EDC5D3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13DEA-A105-3080-6235-2E31D8AE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291BF-84EE-618A-DF65-FC9E3E09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81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1A17A-1AE2-55E0-3409-9918ED34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741DF-29A8-557D-7BAD-B18C1BF5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FFF33-840D-4926-7D4E-57522451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91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E11B-33A3-E37A-2CC1-3C646E9B2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2BEB-C4DF-CAF0-BCC6-9C3A5EE9F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78E3A-AEF1-007E-780B-84F52F8A1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466E3-030C-F15E-EAE8-C376BAF9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C0DF9-171A-1A3D-66B5-AFB93093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11A4-0DCE-7115-CCDD-DABA33D9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98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D07BC-74C2-B225-2D3F-65BE5036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812BA-198F-B5BE-D2F7-A75AAB369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B9516-CDDD-0CFF-3084-D7324BAD1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9B9E3-AD11-0C11-F1D8-3DD2C840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07027-9E16-D8F9-99ED-502104B7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4C709-50D5-E5EF-C12B-1CC6012B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9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8284-5F60-F15A-F841-6A6054AA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D5AE2-A8B2-90B5-45DD-66FF93671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20EE2-E586-37DC-9A41-A4983290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5B58A-B030-AFB0-8AB1-77BB6F3E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EFEBC-A318-A4F6-2CDF-5773C173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19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1F019-F238-DE8E-2C9C-45D279572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DEE3F-95C8-D845-5D88-1F223C454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387AB-E38B-4CFB-9DD9-F607C7B8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F5789-3712-46E8-CC30-1161867B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B3791-DEC8-76A7-7EC0-C628CAAA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9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3CE67-C870-B8DF-0B0B-E1F59A64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B3978-31BA-6645-EB6D-8E70175F7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9A4C-8DF0-9B44-246C-7514B9EF4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18526-65E8-47A0-A633-DEAF31A51FA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8B97-03A2-2DF5-175F-F629B95E0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4E92C-F474-E90B-F741-F76ED541E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446BB-B46E-4090-A91B-06063F924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66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4802-C8A1-3837-B67B-5B60E3F1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Perceptron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7F228A-0701-CBA9-86A9-0CF483B96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465" y="1490392"/>
            <a:ext cx="9497750" cy="3877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386CDB-377C-7E3B-DB59-6DB860DDC930}"/>
              </a:ext>
            </a:extLst>
          </p:cNvPr>
          <p:cNvSpPr txBox="1"/>
          <p:nvPr/>
        </p:nvSpPr>
        <p:spPr>
          <a:xfrm>
            <a:off x="1269723" y="5569545"/>
            <a:ext cx="99614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u="none" strike="noStrike" baseline="0" dirty="0"/>
              <a:t>Threshold logic unit: an artificial neuron which computes a weighted sum of its inputs then applies a step function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B1417-7862-AC6E-7374-68BCBE3AB827}"/>
              </a:ext>
            </a:extLst>
          </p:cNvPr>
          <p:cNvSpPr txBox="1"/>
          <p:nvPr/>
        </p:nvSpPr>
        <p:spPr>
          <a:xfrm>
            <a:off x="8816008" y="2521385"/>
            <a:ext cx="56653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(y)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F2BA2-6A2C-A888-FD9F-BFF6AC007BA1}"/>
              </a:ext>
            </a:extLst>
          </p:cNvPr>
          <p:cNvSpPr txBox="1"/>
          <p:nvPr/>
        </p:nvSpPr>
        <p:spPr>
          <a:xfrm>
            <a:off x="8269355" y="3046887"/>
            <a:ext cx="28823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3992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253D-710B-8ECA-1060-6EFC15AD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64621-D47D-8B38-2C96-6D6CA507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078"/>
            <a:ext cx="10515600" cy="4780722"/>
          </a:xfrm>
        </p:spPr>
        <p:txBody>
          <a:bodyPr>
            <a:normAutofit/>
          </a:bodyPr>
          <a:lstStyle/>
          <a:p>
            <a:r>
              <a:rPr lang="en-US" sz="2400" dirty="0"/>
              <a:t>Perceptron is one of the simplest ANN architectures, invented in 1957 by Frank Rosenblatt. </a:t>
            </a:r>
          </a:p>
          <a:p>
            <a:r>
              <a:rPr lang="en-US" sz="2400" dirty="0"/>
              <a:t>It is based on a slightly different artificial neuron called a threshold logic unit (TLU), or sometimes a linear threshold unit (LTU). </a:t>
            </a:r>
          </a:p>
          <a:p>
            <a:r>
              <a:rPr lang="en-US" sz="2400" dirty="0"/>
              <a:t>The inputs and output are numbers, and each input connection is associated with a weight. </a:t>
            </a:r>
          </a:p>
          <a:p>
            <a:r>
              <a:rPr lang="en-US" sz="2400" dirty="0"/>
              <a:t>The TLU computes a weighted sum of its inputs </a:t>
            </a:r>
          </a:p>
          <a:p>
            <a:pPr marL="0" indent="0" algn="ctr">
              <a:buNone/>
            </a:pPr>
            <a:r>
              <a:rPr lang="en-US" sz="2400" dirty="0"/>
              <a:t>Y = w</a:t>
            </a:r>
            <a:r>
              <a:rPr lang="en-US" sz="2400" baseline="-25000" dirty="0"/>
              <a:t>1</a:t>
            </a:r>
            <a:r>
              <a:rPr lang="en-US" sz="2400" dirty="0"/>
              <a:t> x</a:t>
            </a:r>
            <a:r>
              <a:rPr lang="en-US" sz="2400" baseline="-25000" dirty="0"/>
              <a:t>1</a:t>
            </a:r>
            <a:r>
              <a:rPr lang="en-US" sz="2400" dirty="0"/>
              <a:t>+ w</a:t>
            </a:r>
            <a:r>
              <a:rPr lang="en-US" sz="2400" baseline="-25000" dirty="0"/>
              <a:t>2</a:t>
            </a:r>
            <a:r>
              <a:rPr lang="en-US" sz="2400" dirty="0"/>
              <a:t> x</a:t>
            </a:r>
            <a:r>
              <a:rPr lang="en-US" sz="2400" baseline="-25000" dirty="0"/>
              <a:t>2</a:t>
            </a:r>
            <a:r>
              <a:rPr lang="en-US" sz="2400" dirty="0"/>
              <a:t> + ⋯ + </a:t>
            </a:r>
            <a:r>
              <a:rPr lang="en-US" sz="2400" dirty="0" err="1"/>
              <a:t>w</a:t>
            </a:r>
            <a:r>
              <a:rPr lang="en-US" sz="2400" baseline="-25000" dirty="0" err="1"/>
              <a:t>n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 = </a:t>
            </a:r>
            <a:r>
              <a:rPr lang="en-US" sz="2400" b="1" dirty="0" err="1"/>
              <a:t>x</a:t>
            </a:r>
            <a:r>
              <a:rPr lang="en-US" sz="2400" baseline="30000" dirty="0" err="1"/>
              <a:t>⊺</a:t>
            </a:r>
            <a:r>
              <a:rPr lang="en-US" sz="2400" b="1" dirty="0" err="1"/>
              <a:t>w</a:t>
            </a:r>
            <a:endParaRPr lang="en-US" sz="2400" dirty="0"/>
          </a:p>
          <a:p>
            <a:r>
              <a:rPr lang="en-US" sz="2400" dirty="0"/>
              <a:t>Then applies a step function to that sum and outputs the </a:t>
            </a:r>
            <a:r>
              <a:rPr lang="en-IN" sz="2400" dirty="0"/>
              <a:t>result: </a:t>
            </a:r>
          </a:p>
          <a:p>
            <a:pPr marL="0" indent="0" algn="ctr">
              <a:buNone/>
            </a:pPr>
            <a:r>
              <a:rPr lang="en-IN" sz="2400" dirty="0" err="1"/>
              <a:t>h</a:t>
            </a:r>
            <a:r>
              <a:rPr lang="en-IN" sz="2400" b="1" baseline="-25000" dirty="0" err="1"/>
              <a:t>w</a:t>
            </a:r>
            <a:r>
              <a:rPr lang="en-IN" sz="2400" dirty="0"/>
              <a:t>(</a:t>
            </a:r>
            <a:r>
              <a:rPr lang="en-IN" sz="2400" b="1" dirty="0"/>
              <a:t>x</a:t>
            </a:r>
            <a:r>
              <a:rPr lang="en-IN" sz="2400" dirty="0"/>
              <a:t>) = step(y), where Y = </a:t>
            </a:r>
            <a:r>
              <a:rPr lang="en-IN" sz="2400" b="1" dirty="0" err="1"/>
              <a:t>x</a:t>
            </a:r>
            <a:r>
              <a:rPr lang="en-IN" sz="2400" baseline="30000" dirty="0" err="1"/>
              <a:t>⊺</a:t>
            </a:r>
            <a:r>
              <a:rPr lang="en-IN" sz="2400" b="1" dirty="0" err="1"/>
              <a:t>w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618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6E45-336C-409A-0985-1968CF13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3B459-FA76-FE07-C173-D95BBC0B6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626" y="1425185"/>
            <a:ext cx="10515600" cy="5067689"/>
          </a:xfrm>
        </p:spPr>
        <p:txBody>
          <a:bodyPr>
            <a:noAutofit/>
          </a:bodyPr>
          <a:lstStyle/>
          <a:p>
            <a:r>
              <a:rPr lang="en-US" sz="2400" dirty="0"/>
              <a:t>Common step functions used in Perceptron (assuming threshold =</a:t>
            </a:r>
            <a:r>
              <a:rPr lang="en-IN" sz="2400" dirty="0"/>
              <a:t>0)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US" sz="2400" dirty="0"/>
              <a:t>A single TLU can be used for simple linear binary classification. It computes a linear combination of the inputs, and if the result exceeds a threshold, it outputs the positive class. Otherwise, it outputs the negative class (just like a Logistic Regression or </a:t>
            </a:r>
            <a:r>
              <a:rPr lang="en-IN" sz="2400" dirty="0"/>
              <a:t>linear SVM classifier)</a:t>
            </a:r>
          </a:p>
          <a:p>
            <a:r>
              <a:rPr lang="en-US" sz="2400" dirty="0"/>
              <a:t>For example, use a single TLU to classify iris flowers based on petal length and width (also adding an extra bias feature </a:t>
            </a:r>
            <a:r>
              <a:rPr lang="en-US" sz="2400" i="1" dirty="0"/>
              <a:t>x</a:t>
            </a:r>
            <a:r>
              <a:rPr lang="en-US" sz="2400" dirty="0"/>
              <a:t>0 = 1)</a:t>
            </a:r>
          </a:p>
          <a:p>
            <a:r>
              <a:rPr lang="en-US" sz="2400" dirty="0"/>
              <a:t>Training a TLU in this case means finding the right values </a:t>
            </a:r>
            <a:r>
              <a:rPr lang="pl-PL" sz="2400" dirty="0"/>
              <a:t>for </a:t>
            </a:r>
            <a:r>
              <a:rPr lang="pl-PL" sz="2400" i="1" dirty="0"/>
              <a:t>w</a:t>
            </a:r>
            <a:r>
              <a:rPr lang="pl-PL" sz="2400" dirty="0"/>
              <a:t>0, </a:t>
            </a:r>
            <a:r>
              <a:rPr lang="pl-PL" sz="2400" i="1" dirty="0"/>
              <a:t>w</a:t>
            </a:r>
            <a:r>
              <a:rPr lang="pl-PL" sz="2400" dirty="0"/>
              <a:t>1, and </a:t>
            </a:r>
            <a:r>
              <a:rPr lang="pl-PL" sz="2400" i="1" dirty="0"/>
              <a:t>w</a:t>
            </a:r>
            <a:r>
              <a:rPr lang="pl-PL" sz="2400" dirty="0"/>
              <a:t>2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8EB6D-DDF6-A405-2B74-A1B38C1C6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201" y="2076261"/>
            <a:ext cx="7678222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9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340F-A107-3528-9966-7365FA63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Perceptron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FE7096-4174-AC8A-A04A-7A9965E31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8102" y="494145"/>
            <a:ext cx="8371017" cy="47040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5CE973-92D4-9289-338F-F04C169F2A25}"/>
              </a:ext>
            </a:extLst>
          </p:cNvPr>
          <p:cNvSpPr txBox="1"/>
          <p:nvPr/>
        </p:nvSpPr>
        <p:spPr>
          <a:xfrm>
            <a:off x="2204002" y="5442178"/>
            <a:ext cx="9484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1" u="none" strike="noStrike" baseline="0" dirty="0"/>
              <a:t>Architecture of a Perceptron with two input neurons, one bias neuron, and </a:t>
            </a:r>
            <a:r>
              <a:rPr lang="en-IN" sz="2400" b="0" i="1" u="none" strike="noStrike" baseline="0" dirty="0"/>
              <a:t>three output neurons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5085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9180-91CE-1E96-5959-E24A6EB2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CA652-921C-9C03-2A2A-66401D46F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 Perceptron is simply composed of a single layer of </a:t>
            </a:r>
            <a:r>
              <a:rPr lang="en-US" sz="2400" dirty="0" err="1"/>
              <a:t>TLUs,with</a:t>
            </a:r>
            <a:r>
              <a:rPr lang="en-US" sz="2400" dirty="0"/>
              <a:t> each TLU connected to all the inputs. </a:t>
            </a:r>
          </a:p>
          <a:p>
            <a:r>
              <a:rPr lang="en-US" sz="2400" dirty="0"/>
              <a:t>When all the neurons in a layer are connected to every neuron in the previous layer (i.e., its input neurons), the layer is called a fully connected layer, or a dense layer. </a:t>
            </a:r>
          </a:p>
          <a:p>
            <a:r>
              <a:rPr lang="en-US" sz="2400" dirty="0"/>
              <a:t>The inputs of the Perceptron are fed to special passthrough neurons called input neurons: they output whatever input they are fed. All the input neurons form the input layer. </a:t>
            </a:r>
          </a:p>
          <a:p>
            <a:r>
              <a:rPr lang="en-US" sz="2400" dirty="0"/>
              <a:t>An extra bias feature is generally added (x0 = 1): it is typically represented using a special type of neuron called a bias neuron, which outputs 1 all the time. </a:t>
            </a:r>
          </a:p>
          <a:p>
            <a:r>
              <a:rPr lang="en-US" sz="2400" dirty="0"/>
              <a:t>This Perceptron can classify instances simultaneously into three different binary classes, which makes it a multioutput classifier.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875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1B96-B72E-497B-1F0F-C0FBE35C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781F-4E7D-B00D-B0AD-A451D8A7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Computing the outputs of a fully connected layer</a:t>
            </a:r>
          </a:p>
          <a:p>
            <a:pPr marL="0" indent="0" algn="ctr">
              <a:buNone/>
            </a:pPr>
            <a:r>
              <a:rPr lang="en-IN" sz="2400" b="1" dirty="0" err="1"/>
              <a:t>h</a:t>
            </a:r>
            <a:r>
              <a:rPr lang="en-IN" sz="2400" b="1" baseline="-25000" dirty="0" err="1"/>
              <a:t>W</a:t>
            </a:r>
            <a:r>
              <a:rPr lang="en-IN" sz="2400" b="1" baseline="-25000" dirty="0"/>
              <a:t>, b</a:t>
            </a:r>
            <a:r>
              <a:rPr lang="en-IN" sz="2400" b="1" dirty="0"/>
              <a:t>(X) = </a:t>
            </a:r>
            <a:r>
              <a:rPr lang="el-GR" sz="2400" b="1" dirty="0"/>
              <a:t>ϕ</a:t>
            </a:r>
            <a:r>
              <a:rPr lang="en-IN" sz="2400" b="1" dirty="0"/>
              <a:t>(XW + b)</a:t>
            </a:r>
          </a:p>
          <a:p>
            <a:r>
              <a:rPr lang="en-US" sz="2400" b="1" dirty="0"/>
              <a:t>X </a:t>
            </a:r>
            <a:r>
              <a:rPr lang="en-US" sz="2400" dirty="0"/>
              <a:t>represents the matrix of input features. It has one row per instance and one column per feature.</a:t>
            </a:r>
          </a:p>
          <a:p>
            <a:r>
              <a:rPr lang="en-US" sz="2400" dirty="0"/>
              <a:t>The weight matrix </a:t>
            </a:r>
            <a:r>
              <a:rPr lang="en-US" sz="2400" b="1" dirty="0"/>
              <a:t>W </a:t>
            </a:r>
            <a:r>
              <a:rPr lang="en-US" sz="2400" dirty="0"/>
              <a:t>contains all the connection weights except for the ones from the bias neuron. It has one row per input neuron and one column per artificial </a:t>
            </a:r>
            <a:r>
              <a:rPr lang="en-IN" sz="2400" dirty="0"/>
              <a:t>neuron in the layer.</a:t>
            </a:r>
          </a:p>
          <a:p>
            <a:r>
              <a:rPr lang="en-US" sz="2400" dirty="0"/>
              <a:t>The bias vector </a:t>
            </a:r>
            <a:r>
              <a:rPr lang="en-US" sz="2400" b="1" dirty="0"/>
              <a:t>b </a:t>
            </a:r>
            <a:r>
              <a:rPr lang="en-US" sz="2400" dirty="0"/>
              <a:t>contains all the connection weights between the bias neuron and the artificial neurons. It has one bias term per artificial neuron.</a:t>
            </a:r>
          </a:p>
          <a:p>
            <a:r>
              <a:rPr lang="en-US" sz="2400" dirty="0"/>
              <a:t>The function ϕ is called the activation function: when the artificial neurons are TLUs, it is a step function.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1483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Perceptron</a:t>
            </a:r>
            <a:endParaRPr/>
          </a:p>
        </p:txBody>
      </p:sp>
      <p:sp>
        <p:nvSpPr>
          <p:cNvPr id="732" name="Google Shape;732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dk1"/>
              </a:buClr>
              <a:buSzPct val="100000"/>
            </a:pPr>
            <a:r>
              <a:rPr lang="en-US" sz="2400" dirty="0"/>
              <a:t>A Perceptron is a </a:t>
            </a:r>
            <a:r>
              <a:rPr lang="en-US" sz="2400" b="1" dirty="0"/>
              <a:t>type of artificial neuron</a:t>
            </a:r>
            <a:r>
              <a:rPr lang="en-US" sz="2400" dirty="0"/>
              <a:t>, introduced by Frank Rosenblatt in 1958. 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sz="2400" dirty="0"/>
              <a:t>A perceptron </a:t>
            </a:r>
            <a:r>
              <a:rPr lang="en-US" sz="2400" b="1" dirty="0"/>
              <a:t>takes several inputs</a:t>
            </a:r>
            <a:r>
              <a:rPr lang="en-US" sz="2400" dirty="0"/>
              <a:t>, </a:t>
            </a:r>
            <a:r>
              <a:rPr lang="en-US" sz="2400" b="1" dirty="0"/>
              <a:t>applies weights</a:t>
            </a:r>
            <a:r>
              <a:rPr lang="en-US" sz="2400" dirty="0"/>
              <a:t> to them, </a:t>
            </a:r>
            <a:r>
              <a:rPr lang="en-US" sz="2400" b="1" dirty="0"/>
              <a:t>adds a bias</a:t>
            </a:r>
            <a:r>
              <a:rPr lang="en-US" sz="2400" dirty="0"/>
              <a:t>, and then </a:t>
            </a:r>
            <a:r>
              <a:rPr lang="en-US" sz="2400" b="1" dirty="0"/>
              <a:t>passes the result through an activation function</a:t>
            </a:r>
            <a:r>
              <a:rPr lang="en-US" sz="2400" dirty="0"/>
              <a:t> to produce an</a:t>
            </a:r>
            <a:r>
              <a:rPr lang="en-US" sz="2400" b="1" dirty="0"/>
              <a:t> output</a:t>
            </a:r>
            <a:r>
              <a:rPr lang="en-US" sz="2400" dirty="0"/>
              <a:t>. 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sz="2400" dirty="0"/>
              <a:t>A Perceptron is the most fundamental unit of an artificial neural network, which is widely used in machine learning and artificial intelligence. 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sz="2400" dirty="0"/>
              <a:t>It is inspired by the functioning of a biological neuron and is used to perform binary classification—that is, to decide whether something belongs to one class or another (e.g., yes/no, true/false, safe/unsafe).</a:t>
            </a:r>
            <a:endParaRPr sz="2400" dirty="0"/>
          </a:p>
          <a:p>
            <a:pPr>
              <a:buSzPct val="100000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3993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738" name="Google Shape;738;p9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7466"/>
          <a:stretch/>
        </p:blipFill>
        <p:spPr>
          <a:xfrm>
            <a:off x="379680" y="252464"/>
            <a:ext cx="11566500" cy="624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51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5188D-617C-44A3-B7FC-816CEC24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learning rule (weight update)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4432BC-63AC-06D7-B26D-C996C4634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0117"/>
            <a:ext cx="10515600" cy="426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9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01D6-EB46-FD38-2DAF-AAF1EF78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Perceptron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E741C7-8E74-6948-7F4D-0C98D5652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3988"/>
            <a:ext cx="8057322" cy="48179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F80624-A2EF-E5BF-7F8A-EE15031873A1}"/>
                  </a:ext>
                </a:extLst>
              </p:cNvPr>
              <p:cNvSpPr txBox="1"/>
              <p:nvPr/>
            </p:nvSpPr>
            <p:spPr>
              <a:xfrm>
                <a:off x="5343939" y="4987934"/>
                <a:ext cx="4780722" cy="14139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800" dirty="0"/>
                  <a:t>f(y)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 ≥0</m:t>
                            </m:r>
                          </m:e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 </m:t>
                            </m:r>
                          </m:e>
                        </m:eqArr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F80624-A2EF-E5BF-7F8A-EE1503187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939" y="4987934"/>
                <a:ext cx="4780722" cy="1413977"/>
              </a:xfrm>
              <a:prstGeom prst="rect">
                <a:avLst/>
              </a:prstGeom>
              <a:blipFill>
                <a:blip r:embed="rId3"/>
                <a:stretch>
                  <a:fillRect l="-2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015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638D-40CD-9D76-12EB-3DED2AED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</a:t>
            </a:r>
            <a:r>
              <a:rPr lang="en-IN" dirty="0"/>
              <a:t>one layer Perceptron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BCE558-453D-FC4E-21D6-1CD061D36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494" y="2086502"/>
            <a:ext cx="8507012" cy="3829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784901-E686-578F-E6FB-6B432FC787A2}"/>
              </a:ext>
            </a:extLst>
          </p:cNvPr>
          <p:cNvSpPr txBox="1"/>
          <p:nvPr/>
        </p:nvSpPr>
        <p:spPr>
          <a:xfrm>
            <a:off x="1100759" y="1717170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Solve Only Linearly Separable Problems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8643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5BA6-347D-83D5-B0F5-1946D508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Learning Algorithm (Training Method) – AND GATE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5A1B84-BE4F-86B5-7083-55B8A9F116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7530" y="2438400"/>
          <a:ext cx="2644725" cy="1981200"/>
        </p:xfrm>
        <a:graphic>
          <a:graphicData uri="http://schemas.openxmlformats.org/drawingml/2006/table">
            <a:tbl>
              <a:tblPr/>
              <a:tblGrid>
                <a:gridCol w="552684">
                  <a:extLst>
                    <a:ext uri="{9D8B030D-6E8A-4147-A177-3AD203B41FA5}">
                      <a16:colId xmlns:a16="http://schemas.microsoft.com/office/drawing/2014/main" val="1976343300"/>
                    </a:ext>
                  </a:extLst>
                </a:gridCol>
                <a:gridCol w="645417">
                  <a:extLst>
                    <a:ext uri="{9D8B030D-6E8A-4147-A177-3AD203B41FA5}">
                      <a16:colId xmlns:a16="http://schemas.microsoft.com/office/drawing/2014/main" val="2483583611"/>
                    </a:ext>
                  </a:extLst>
                </a:gridCol>
                <a:gridCol w="637326">
                  <a:extLst>
                    <a:ext uri="{9D8B030D-6E8A-4147-A177-3AD203B41FA5}">
                      <a16:colId xmlns:a16="http://schemas.microsoft.com/office/drawing/2014/main" val="2240235814"/>
                    </a:ext>
                  </a:extLst>
                </a:gridCol>
                <a:gridCol w="809298">
                  <a:extLst>
                    <a:ext uri="{9D8B030D-6E8A-4147-A177-3AD203B41FA5}">
                      <a16:colId xmlns:a16="http://schemas.microsoft.com/office/drawing/2014/main" val="911596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O/P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9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7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52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57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0777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AFABA45-02DB-3A69-EE01-2ACC79B8D3EB}"/>
              </a:ext>
            </a:extLst>
          </p:cNvPr>
          <p:cNvSpPr txBox="1"/>
          <p:nvPr/>
        </p:nvSpPr>
        <p:spPr>
          <a:xfrm>
            <a:off x="947530" y="1864489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Truth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A4F24-FF91-0FFA-43F6-127329C7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362" y="1864488"/>
            <a:ext cx="7644281" cy="1057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78FC2F-C962-522E-6E3D-86E273219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361" y="3009703"/>
            <a:ext cx="7387847" cy="3863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90ACD9-71A5-B745-3AD7-8C2A0E741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345" y="3667207"/>
            <a:ext cx="3741298" cy="2437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11CF43-C7F3-3D9A-6155-1CE2FD2E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915" y="4345259"/>
            <a:ext cx="2294585" cy="8985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124888-C4A2-D3A5-4849-B1A8206D93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569" y="6342479"/>
            <a:ext cx="2821265" cy="5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72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509D-A145-21D5-0130-C977B1AB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Learning Algorithm (Training Method) – AND GATE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6750B4-0CEC-182D-A9A3-88E3B9F51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9213" y="1797633"/>
            <a:ext cx="3891144" cy="1567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97CA7-B2A1-C030-ED57-F755D722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57" y="3687418"/>
            <a:ext cx="5479108" cy="2805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02BC2C-2CEC-2D6D-1E08-43864F4FE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792" y="1617282"/>
            <a:ext cx="6606208" cy="5240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3107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2D34-68E5-8D50-9419-F42B61F0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Learning Algorithm (Training Method) – AND GATE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93831-0623-E6AA-56CC-6D60DAE99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591918"/>
            <a:ext cx="4901349" cy="4490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FB47BE-4CF7-5510-1740-A8DC5069D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6" y="2305153"/>
            <a:ext cx="4439419" cy="2012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48DEABD-0CCA-BF53-66AD-68C64646ADBD}"/>
              </a:ext>
            </a:extLst>
          </p:cNvPr>
          <p:cNvSpPr txBox="1"/>
          <p:nvPr/>
        </p:nvSpPr>
        <p:spPr>
          <a:xfrm>
            <a:off x="838200" y="1690688"/>
            <a:ext cx="4538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Verify for the input </a:t>
            </a:r>
          </a:p>
        </p:txBody>
      </p:sp>
    </p:spTree>
    <p:extLst>
      <p:ext uri="{BB962C8B-B14F-4D97-AF65-F5344CB8AC3E}">
        <p14:creationId xmlns:p14="http://schemas.microsoft.com/office/powerpoint/2010/main" val="3911616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0653-8C2C-72EF-2AA7-5BCFAFEC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Gate Using Single Perceptron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A8695-5210-9922-E77D-58E3092F0C8E}"/>
              </a:ext>
            </a:extLst>
          </p:cNvPr>
          <p:cNvSpPr txBox="1"/>
          <p:nvPr/>
        </p:nvSpPr>
        <p:spPr>
          <a:xfrm>
            <a:off x="673376" y="2204125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Truth Table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E7D19AE-0C65-6737-96FF-E2053ED9F7F2}"/>
              </a:ext>
            </a:extLst>
          </p:cNvPr>
          <p:cNvGraphicFramePr>
            <a:graphicFrameLocks/>
          </p:cNvGraphicFramePr>
          <p:nvPr/>
        </p:nvGraphicFramePr>
        <p:xfrm>
          <a:off x="362027" y="2735849"/>
          <a:ext cx="2644725" cy="1981200"/>
        </p:xfrm>
        <a:graphic>
          <a:graphicData uri="http://schemas.openxmlformats.org/drawingml/2006/table">
            <a:tbl>
              <a:tblPr/>
              <a:tblGrid>
                <a:gridCol w="552684">
                  <a:extLst>
                    <a:ext uri="{9D8B030D-6E8A-4147-A177-3AD203B41FA5}">
                      <a16:colId xmlns:a16="http://schemas.microsoft.com/office/drawing/2014/main" val="1976343300"/>
                    </a:ext>
                  </a:extLst>
                </a:gridCol>
                <a:gridCol w="645417">
                  <a:extLst>
                    <a:ext uri="{9D8B030D-6E8A-4147-A177-3AD203B41FA5}">
                      <a16:colId xmlns:a16="http://schemas.microsoft.com/office/drawing/2014/main" val="2483583611"/>
                    </a:ext>
                  </a:extLst>
                </a:gridCol>
                <a:gridCol w="637326">
                  <a:extLst>
                    <a:ext uri="{9D8B030D-6E8A-4147-A177-3AD203B41FA5}">
                      <a16:colId xmlns:a16="http://schemas.microsoft.com/office/drawing/2014/main" val="2240235814"/>
                    </a:ext>
                  </a:extLst>
                </a:gridCol>
                <a:gridCol w="809298">
                  <a:extLst>
                    <a:ext uri="{9D8B030D-6E8A-4147-A177-3AD203B41FA5}">
                      <a16:colId xmlns:a16="http://schemas.microsoft.com/office/drawing/2014/main" val="911596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O/P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9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7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52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57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07771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C10222E-8828-48CD-3927-5A700007C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996" y="1868953"/>
            <a:ext cx="5068091" cy="2603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494B78-CB32-60C3-AECB-8ABE65E80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49" y="4717049"/>
            <a:ext cx="4233203" cy="20492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E29D0F-226B-C260-1759-A213370B1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588" y="783728"/>
            <a:ext cx="3659887" cy="3458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425D52-F627-1B50-E096-1F987FA29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087" y="4345243"/>
            <a:ext cx="3884388" cy="228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54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F1B3-31A8-3458-86B4-0F603CE9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one layer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705A-22C3-10D6-E820-1607F7A66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It cannot solve non-linearly separable problems.</a:t>
            </a:r>
          </a:p>
          <a:p>
            <a:pPr lvl="1"/>
            <a:r>
              <a:rPr lang="en-US" sz="2000" dirty="0"/>
              <a:t>Example (XOR Problem – Does NOT Work)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E1BDF-74FD-5F7F-D32F-C5281F6EC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13" y="3218022"/>
            <a:ext cx="3496163" cy="2648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A2AF1C-18CA-4B16-8794-668AAD443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19" y="2615196"/>
            <a:ext cx="6772413" cy="41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778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0A1F-2E42-F5EB-AC51-1754D2C9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one layer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E342A-ABA5-294F-93E2-CD44BCDA5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400" b="1" dirty="0"/>
                  <a:t>Only Binary Classification</a:t>
                </a:r>
              </a:p>
              <a:p>
                <a:pPr lvl="1"/>
                <a:r>
                  <a:rPr lang="en-US" sz="2000" dirty="0"/>
                  <a:t>Output is usually 0 or 1</a:t>
                </a:r>
              </a:p>
              <a:p>
                <a:pPr lvl="1"/>
                <a:r>
                  <a:rPr lang="en-US" sz="2000" dirty="0"/>
                  <a:t>Cannot directly handle multi-class classification like regression problems.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IN" sz="2400" b="1" dirty="0"/>
                  <a:t>Uses Hard Threshold Activation</a:t>
                </a:r>
              </a:p>
              <a:p>
                <a:pPr lvl="1"/>
                <a:r>
                  <a:rPr lang="en-IN" sz="2000" dirty="0"/>
                  <a:t>The perceptron uses a </a:t>
                </a:r>
                <a:r>
                  <a:rPr lang="en-IN" sz="2000" b="1" dirty="0"/>
                  <a:t>step function</a:t>
                </a:r>
                <a:r>
                  <a:rPr lang="en-IN" sz="2000" dirty="0"/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0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2000" i="1"/>
                                  <m:t> 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IN" sz="200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00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IN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000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 lvl="1"/>
                <a:r>
                  <a:rPr lang="en-IN" sz="2000" dirty="0"/>
                  <a:t>Problems: Not differentiable</a:t>
                </a:r>
              </a:p>
              <a:p>
                <a:pPr lvl="1"/>
                <a:r>
                  <a:rPr lang="en-IN" sz="2000" dirty="0"/>
                  <a:t>Cannot use gradient-based optimization effectively</a:t>
                </a:r>
              </a:p>
              <a:p>
                <a:pPr lvl="1"/>
                <a:r>
                  <a:rPr lang="en-IN" sz="2000" dirty="0"/>
                  <a:t>No probability output (unlike logistic regression)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E342A-ABA5-294F-93E2-CD44BCDA5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866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0C90-92C9-2967-808B-6CD9EBC29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one layer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1645-9881-288A-BD75-7E57F19AC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32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400" b="1" dirty="0"/>
              <a:t>No Hidden Layer (Limited Learning Capacity)</a:t>
            </a:r>
          </a:p>
          <a:p>
            <a:pPr lvl="1"/>
            <a:r>
              <a:rPr lang="en-US" sz="2000" dirty="0"/>
              <a:t>No nonlinear activation in between/ It cannot learn complex patterns or feature interactions.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400" b="1" dirty="0"/>
              <a:t>Sensitive to Learning Rate and Initialization</a:t>
            </a:r>
          </a:p>
          <a:p>
            <a:pPr lvl="1"/>
            <a:r>
              <a:rPr lang="en-US" sz="2000" dirty="0"/>
              <a:t>If data is not linearly separable → training may never converge.</a:t>
            </a:r>
          </a:p>
          <a:p>
            <a:pPr lvl="1"/>
            <a:r>
              <a:rPr lang="en-US" sz="2000" dirty="0"/>
              <a:t>If learning rate is too high → unstable updates.</a:t>
            </a:r>
          </a:p>
          <a:p>
            <a:pPr lvl="1"/>
            <a:r>
              <a:rPr lang="en-US" sz="2000" dirty="0"/>
              <a:t>If too low → very slow convergence.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sz="2400" b="1" dirty="0"/>
              <a:t>No Feature Learning</a:t>
            </a:r>
          </a:p>
          <a:p>
            <a:pPr lvl="1"/>
            <a:r>
              <a:rPr lang="en-US" sz="2000" dirty="0"/>
              <a:t>It cannot automatically extract new features.</a:t>
            </a:r>
          </a:p>
          <a:p>
            <a:pPr lvl="1"/>
            <a:r>
              <a:rPr lang="en-US" sz="2000" dirty="0"/>
              <a:t>Works only with manually engineered input features.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sz="2400" b="1" dirty="0"/>
              <a:t>Cannot Model Complex Decision Boundaries</a:t>
            </a:r>
          </a:p>
          <a:p>
            <a:pPr lvl="1"/>
            <a:r>
              <a:rPr lang="en-US" sz="2000" dirty="0"/>
              <a:t>Real-world problems often require curved boundaries, multiple regions and hierarchical feature learning</a:t>
            </a:r>
          </a:p>
          <a:p>
            <a:pPr lvl="1"/>
            <a:r>
              <a:rPr lang="en-US" sz="2000" dirty="0"/>
              <a:t>Single-layer perceptron cannot handle these.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25755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E621-2AEE-0CDA-2C82-6B47BCA2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one layer Perceptron were overcome by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51A0-C284-356A-56B5-1BE38DD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Multi-Layer Perceptron (MLP)</a:t>
            </a:r>
          </a:p>
          <a:p>
            <a:r>
              <a:rPr lang="en-IN" dirty="0"/>
              <a:t>Hidden layers</a:t>
            </a:r>
          </a:p>
          <a:p>
            <a:r>
              <a:rPr lang="en-IN" dirty="0"/>
              <a:t>Non-linear activation functions (ReLU, Sigmoid, Tanh)</a:t>
            </a:r>
          </a:p>
          <a:p>
            <a:r>
              <a:rPr lang="en-IN" dirty="0"/>
              <a:t>Backpropagation algorithm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852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1920-A284-233D-4C3F-672A039A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XOR problem - TWO-LAYER PERCEPTRON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6CD6C-534F-A762-D535-6D8E6AECB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81" y="1690688"/>
            <a:ext cx="5340110" cy="5037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1FA00C-47D5-B749-50A3-61AA86CAC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790" y="2061750"/>
            <a:ext cx="5867591" cy="374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14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BDDE-E98F-B5E1-2A50-0CAE7040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XOR problem - TWO-LAYER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EF1E-B92B-3F33-6F8B-3DF9CD0A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Two phase of decision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a mapping of the input vector </a:t>
            </a:r>
            <a:r>
              <a:rPr lang="en-US" b="1" dirty="0"/>
              <a:t>x </a:t>
            </a:r>
            <a:r>
              <a:rPr lang="en-US" dirty="0"/>
              <a:t>to a new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b="1" dirty="0"/>
              <a:t>y </a:t>
            </a:r>
            <a:r>
              <a:rPr lang="es-ES" dirty="0"/>
              <a:t>[ y1, y2]</a:t>
            </a:r>
            <a:r>
              <a:rPr lang="es-ES" baseline="30000" dirty="0"/>
              <a:t>T</a:t>
            </a:r>
            <a:r>
              <a:rPr lang="es-E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Transformed data  </a:t>
            </a:r>
          </a:p>
          <a:p>
            <a:pPr lvl="1"/>
            <a:r>
              <a:rPr lang="en-US" dirty="0"/>
              <a:t>[ </a:t>
            </a:r>
            <a:r>
              <a:rPr lang="en-US" i="1" dirty="0"/>
              <a:t>y</a:t>
            </a:r>
            <a:r>
              <a:rPr lang="en-US" dirty="0"/>
              <a:t>1, </a:t>
            </a:r>
            <a:r>
              <a:rPr lang="en-US" i="1" dirty="0"/>
              <a:t>y</a:t>
            </a:r>
            <a:r>
              <a:rPr lang="en-US" dirty="0"/>
              <a:t>2][0, 0] and [ </a:t>
            </a:r>
            <a:r>
              <a:rPr lang="en-US" i="1" dirty="0"/>
              <a:t>y</a:t>
            </a:r>
            <a:r>
              <a:rPr lang="en-US" dirty="0"/>
              <a:t>1, </a:t>
            </a:r>
            <a:r>
              <a:rPr lang="en-US" i="1" dirty="0"/>
              <a:t>y</a:t>
            </a:r>
            <a:r>
              <a:rPr lang="en-US" dirty="0"/>
              <a:t>2][1, 1], which correspond to class </a:t>
            </a:r>
            <a:r>
              <a:rPr lang="en-US" i="1" dirty="0"/>
              <a:t>B </a:t>
            </a:r>
            <a:r>
              <a:rPr lang="en-US" dirty="0"/>
              <a:t>vectors, </a:t>
            </a:r>
          </a:p>
          <a:p>
            <a:pPr lvl="1"/>
            <a:r>
              <a:rPr lang="en-US" dirty="0"/>
              <a:t>[ </a:t>
            </a:r>
            <a:r>
              <a:rPr lang="en-US" i="1" dirty="0"/>
              <a:t>y</a:t>
            </a:r>
            <a:r>
              <a:rPr lang="en-US" dirty="0"/>
              <a:t>1, </a:t>
            </a:r>
            <a:r>
              <a:rPr lang="en-US" i="1" dirty="0"/>
              <a:t>y</a:t>
            </a:r>
            <a:r>
              <a:rPr lang="en-US" dirty="0"/>
              <a:t>2][1, 0], which corresponds</a:t>
            </a:r>
            <a:r>
              <a:rPr lang="en-IN" dirty="0"/>
              <a:t>to class </a:t>
            </a:r>
            <a:r>
              <a:rPr lang="en-IN" i="1" dirty="0"/>
              <a:t>A </a:t>
            </a:r>
            <a:r>
              <a:rPr lang="en-IN" dirty="0"/>
              <a:t>vectors.</a:t>
            </a:r>
          </a:p>
          <a:p>
            <a:r>
              <a:rPr lang="en-IN" dirty="0"/>
              <a:t>Mapping </a:t>
            </a:r>
            <a:r>
              <a:rPr lang="en-US" dirty="0"/>
              <a:t>of the first phase transforms the nonlinearly separable problem to a linearly </a:t>
            </a:r>
            <a:r>
              <a:rPr lang="en-IN" dirty="0"/>
              <a:t>separable one.</a:t>
            </a:r>
          </a:p>
        </p:txBody>
      </p:sp>
    </p:spTree>
    <p:extLst>
      <p:ext uri="{BB962C8B-B14F-4D97-AF65-F5344CB8AC3E}">
        <p14:creationId xmlns:p14="http://schemas.microsoft.com/office/powerpoint/2010/main" val="370255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E042-2F30-0FBC-CCA2-C6BC79EE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XOR problem - TWO-LAYER PERCEPTRON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859CF8-3548-C638-DC6C-1395684EE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445" y="1855442"/>
            <a:ext cx="5419458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17BC4A-D588-46A2-2E8A-FD8F0E607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990" y="1420628"/>
            <a:ext cx="6878010" cy="36390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7E90E1-BF72-D75A-EC2D-66757694ADF8}"/>
              </a:ext>
            </a:extLst>
          </p:cNvPr>
          <p:cNvSpPr txBox="1"/>
          <p:nvPr/>
        </p:nvSpPr>
        <p:spPr>
          <a:xfrm>
            <a:off x="5416826" y="4875020"/>
            <a:ext cx="70791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/>
              <a:t>Two-layer perceptron </a:t>
            </a:r>
            <a:r>
              <a:rPr lang="en-IN" sz="2000" b="0" i="1" u="none" strike="noStrike" baseline="0" dirty="0"/>
              <a:t>two-layer feedforward</a:t>
            </a:r>
            <a:r>
              <a:rPr lang="en-IN" sz="2000" b="0" i="0" u="none" strike="noStrike" baseline="0" dirty="0"/>
              <a:t> </a:t>
            </a:r>
            <a:r>
              <a:rPr lang="en-IN" sz="2000" b="0" i="1" u="none" strike="noStrike" baseline="0" dirty="0"/>
              <a:t>neural network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76121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0A0A-C092-E1D8-69FB-B4556B8B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XOR problem - TWO-LAYER PERCEPTRON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89D95-8D51-30B5-9001-55CE00137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two neurons (nodes) of the first layer perform computations of the first phase and they constitute the so-called hidden layer. </a:t>
            </a:r>
          </a:p>
          <a:p>
            <a:r>
              <a:rPr lang="en-US" sz="2400" dirty="0"/>
              <a:t>The single neuron of the second layer performs the computations of the final phase and constitutes the output layer.</a:t>
            </a:r>
          </a:p>
          <a:p>
            <a:r>
              <a:rPr lang="en-IN" sz="2400" dirty="0"/>
              <a:t>Input layer corresponds </a:t>
            </a:r>
            <a:r>
              <a:rPr lang="en-US" sz="2400" dirty="0"/>
              <a:t>to the (</a:t>
            </a:r>
            <a:r>
              <a:rPr lang="en-US" sz="2400" dirty="0" err="1"/>
              <a:t>nonprocessing</a:t>
            </a:r>
            <a:r>
              <a:rPr lang="en-US" sz="2400" dirty="0"/>
              <a:t>) nodes where input data are applied. Thus, the number of input layer nodes equals the dimension of the input space.</a:t>
            </a:r>
          </a:p>
          <a:p>
            <a:r>
              <a:rPr lang="en-US" sz="2400" dirty="0"/>
              <a:t>The lines that are realized by the </a:t>
            </a:r>
            <a:r>
              <a:rPr lang="en-IN" sz="2400" dirty="0"/>
              <a:t>two-layer perceptron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6642E-ABBB-7C64-CB22-2F42E5CEC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059" y="4237625"/>
            <a:ext cx="3705742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17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BEE9-610C-8EBB-D6C6-BD1B817A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two-layer perceptron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CA4C7A-BC2D-1905-30DE-C0D3D298D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941" y="1690688"/>
            <a:ext cx="8823337" cy="47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61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50CE82-5595-D8C1-FEB6-91B572ED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two-layer perceptron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7E174-3578-D025-A41A-BC49346C4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207"/>
            <a:ext cx="10959548" cy="4575175"/>
          </a:xfrm>
        </p:spPr>
        <p:txBody>
          <a:bodyPr>
            <a:noAutofit/>
          </a:bodyPr>
          <a:lstStyle/>
          <a:p>
            <a:r>
              <a:rPr lang="en-US" sz="2400" dirty="0"/>
              <a:t>Input vectors in the </a:t>
            </a:r>
            <a:r>
              <a:rPr lang="en-US" sz="2400" i="1" dirty="0"/>
              <a:t>l</a:t>
            </a:r>
            <a:r>
              <a:rPr lang="en-US" sz="2400" dirty="0"/>
              <a:t>-dimensional space, that is, </a:t>
            </a:r>
            <a:r>
              <a:rPr lang="en-US" sz="2400" b="1" i="1" dirty="0"/>
              <a:t>x </a:t>
            </a:r>
            <a:r>
              <a:rPr lang="en-US" sz="2400" dirty="0"/>
              <a:t>∈ </a:t>
            </a:r>
            <a:r>
              <a:rPr lang="en-US" sz="2400" i="1" dirty="0" err="1"/>
              <a:t>R</a:t>
            </a:r>
            <a:r>
              <a:rPr lang="en-US" sz="2400" i="1" baseline="30000" dirty="0" err="1"/>
              <a:t>l</a:t>
            </a:r>
            <a:r>
              <a:rPr lang="en-US" sz="2400" i="1" dirty="0"/>
              <a:t> </a:t>
            </a:r>
            <a:r>
              <a:rPr lang="en-US" sz="2400" dirty="0"/>
              <a:t>, and </a:t>
            </a:r>
            <a:r>
              <a:rPr lang="en-US" sz="2400" i="1" dirty="0"/>
              <a:t>p </a:t>
            </a:r>
            <a:r>
              <a:rPr lang="en-US" sz="2400" dirty="0"/>
              <a:t>neurons in the hidden layer</a:t>
            </a:r>
          </a:p>
          <a:p>
            <a:r>
              <a:rPr lang="en-IN" sz="2400" dirty="0"/>
              <a:t>Hypercube of </a:t>
            </a:r>
            <a:r>
              <a:rPr lang="en-US" sz="2400" dirty="0"/>
              <a:t>unit side length in the </a:t>
            </a:r>
            <a:r>
              <a:rPr lang="en-US" sz="2400" i="1" dirty="0"/>
              <a:t>p</a:t>
            </a:r>
            <a:r>
              <a:rPr lang="en-US" sz="2400" dirty="0"/>
              <a:t>-dimensional space, denoted by </a:t>
            </a:r>
            <a:r>
              <a:rPr lang="en-US" sz="2400" i="1" dirty="0"/>
              <a:t>Hp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mapping of the input space onto the vertices of the hypercube is achieved  via the creation of </a:t>
            </a:r>
            <a:r>
              <a:rPr lang="en-US" sz="2400" i="1" dirty="0"/>
              <a:t>p </a:t>
            </a:r>
            <a:r>
              <a:rPr lang="en-US" sz="2400" dirty="0"/>
              <a:t>hyperplanes. Each of the hyperplanes is created by a neuron  in the hidden layer, and the output of each neuron is 0 or 1, depending on the relevant position of the input vector with respect to the corresponding hyperplane.</a:t>
            </a:r>
            <a:endParaRPr lang="en-IN" sz="2400" dirty="0"/>
          </a:p>
          <a:p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D60CCE-1D5F-1977-AE59-094597F93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44" y="2892771"/>
            <a:ext cx="977679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24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B52B-ED31-81BE-AB07-8FBB13B3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THREE-LAYER PERCEPTRONS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350B2-3C06-29C0-0C6F-0DF637424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930"/>
            <a:ext cx="10515600" cy="4696033"/>
          </a:xfrm>
        </p:spPr>
        <p:txBody>
          <a:bodyPr>
            <a:normAutofit/>
          </a:bodyPr>
          <a:lstStyle/>
          <a:p>
            <a:r>
              <a:rPr lang="en-US" sz="2400" dirty="0"/>
              <a:t>The inability of the two-layer perceptron to separate classes resulting from any union of polyhedral regions springs from the fact that the output neuron can realize only a single hyperplane. The difficulty was overcome by constructing two lines instead of one.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C483EF-5328-9610-D33C-493301745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25" y="2930028"/>
            <a:ext cx="9764488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10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D00F-6A97-98F6-1839-88B88E7B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THREE-LAYER PERCEPTRONS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D82F1-1821-5884-C919-36F549A9B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686"/>
            <a:ext cx="10681252" cy="522798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Three-layer perceptron architecture with two layers of hidden neurons and one output layer.</a:t>
            </a:r>
          </a:p>
          <a:p>
            <a:r>
              <a:rPr lang="en-US" dirty="0"/>
              <a:t>P</a:t>
            </a:r>
            <a:r>
              <a:rPr lang="en-US" i="1" dirty="0"/>
              <a:t> </a:t>
            </a:r>
            <a:r>
              <a:rPr lang="en-US" dirty="0"/>
              <a:t>neurons of the first hidden layer, which perform the mapping of the input space onto the vertices of the </a:t>
            </a:r>
            <a:r>
              <a:rPr lang="en-US" i="1" dirty="0"/>
              <a:t>Hp </a:t>
            </a:r>
            <a:r>
              <a:rPr lang="en-US" dirty="0"/>
              <a:t>hypercube of unit side length</a:t>
            </a:r>
          </a:p>
          <a:p>
            <a:r>
              <a:rPr lang="en-US" dirty="0"/>
              <a:t>Class </a:t>
            </a:r>
            <a:r>
              <a:rPr lang="en-US" i="1" dirty="0"/>
              <a:t>A </a:t>
            </a:r>
            <a:r>
              <a:rPr lang="en-US" dirty="0"/>
              <a:t>consists of the union of </a:t>
            </a:r>
            <a:r>
              <a:rPr lang="en-US" i="1" dirty="0"/>
              <a:t>K </a:t>
            </a:r>
            <a:r>
              <a:rPr lang="en-US" dirty="0"/>
              <a:t>of the resulting </a:t>
            </a:r>
            <a:r>
              <a:rPr lang="en-US" dirty="0" err="1"/>
              <a:t>polyhedra</a:t>
            </a:r>
            <a:r>
              <a:rPr lang="en-US" dirty="0"/>
              <a:t> and class </a:t>
            </a:r>
            <a:r>
              <a:rPr lang="en-US" i="1" dirty="0"/>
              <a:t>B </a:t>
            </a:r>
            <a:r>
              <a:rPr lang="en-US" dirty="0"/>
              <a:t>of the rest</a:t>
            </a:r>
          </a:p>
          <a:p>
            <a:r>
              <a:rPr lang="en-US" dirty="0"/>
              <a:t>Use </a:t>
            </a:r>
            <a:r>
              <a:rPr lang="en-US" i="1" dirty="0"/>
              <a:t>K </a:t>
            </a:r>
            <a:r>
              <a:rPr lang="en-US" dirty="0"/>
              <a:t>neurons in the second hidden layer. Each of these neurons realizes a hyperplane in the </a:t>
            </a:r>
            <a:r>
              <a:rPr lang="en-US" i="1" dirty="0"/>
              <a:t>p</a:t>
            </a:r>
            <a:r>
              <a:rPr lang="en-US" dirty="0"/>
              <a:t>-dimensional space. The synaptic weights for each of the second-layer neurons are chosen so that the realized hyperplane leaves only one of the </a:t>
            </a:r>
            <a:r>
              <a:rPr lang="en-US" i="1" dirty="0"/>
              <a:t>Hp </a:t>
            </a:r>
            <a:r>
              <a:rPr lang="en-US" dirty="0"/>
              <a:t>vertices on one side and </a:t>
            </a:r>
            <a:r>
              <a:rPr lang="en-US" i="1" dirty="0"/>
              <a:t>all </a:t>
            </a:r>
            <a:r>
              <a:rPr lang="en-US" dirty="0"/>
              <a:t>the rest on the other. </a:t>
            </a:r>
          </a:p>
          <a:p>
            <a:r>
              <a:rPr lang="en-US" dirty="0"/>
              <a:t>For each neuron a different vertex is isolated, that is, one of the </a:t>
            </a:r>
            <a:r>
              <a:rPr lang="en-US" i="1" dirty="0"/>
              <a:t>K A </a:t>
            </a:r>
            <a:r>
              <a:rPr lang="en-US" dirty="0"/>
              <a:t>class vertices </a:t>
            </a:r>
          </a:p>
          <a:p>
            <a:pPr lvl="1"/>
            <a:r>
              <a:rPr lang="en-US" dirty="0"/>
              <a:t>Each time an input vector from class </a:t>
            </a:r>
            <a:r>
              <a:rPr lang="en-US" i="1" dirty="0"/>
              <a:t>A </a:t>
            </a:r>
            <a:r>
              <a:rPr lang="en-US" dirty="0"/>
              <a:t>enters the network, one of the </a:t>
            </a:r>
            <a:r>
              <a:rPr lang="en-US" i="1" dirty="0"/>
              <a:t>K </a:t>
            </a:r>
            <a:r>
              <a:rPr lang="en-US" dirty="0"/>
              <a:t>neurons of the second layer results in a 1 and the remaining </a:t>
            </a:r>
            <a:r>
              <a:rPr lang="en-US" i="1" dirty="0"/>
              <a:t>K -</a:t>
            </a:r>
            <a:r>
              <a:rPr lang="en-US" dirty="0"/>
              <a:t>1 give 0</a:t>
            </a:r>
          </a:p>
          <a:p>
            <a:r>
              <a:rPr lang="en-US" dirty="0"/>
              <a:t>For class </a:t>
            </a:r>
            <a:r>
              <a:rPr lang="en-US" i="1" dirty="0"/>
              <a:t>B </a:t>
            </a:r>
            <a:r>
              <a:rPr lang="en-US" dirty="0"/>
              <a:t>vectors all neurons in the second layer output a 0.</a:t>
            </a:r>
          </a:p>
          <a:p>
            <a:r>
              <a:rPr lang="en-US" dirty="0"/>
              <a:t>Choose the output layer neuron to realize an OR gate. Its output will be 1 for class </a:t>
            </a:r>
            <a:r>
              <a:rPr lang="en-US" i="1" dirty="0"/>
              <a:t>A </a:t>
            </a:r>
            <a:r>
              <a:rPr lang="en-US" dirty="0"/>
              <a:t>and 0 for class </a:t>
            </a:r>
            <a:r>
              <a:rPr lang="en-US" i="1" dirty="0"/>
              <a:t>B </a:t>
            </a:r>
            <a:r>
              <a:rPr lang="en-US" dirty="0"/>
              <a:t>vectors.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361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1533</Words>
  <Application>Microsoft Office PowerPoint</Application>
  <PresentationFormat>Widescreen</PresentationFormat>
  <Paragraphs>159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Perceptron</vt:lpstr>
      <vt:lpstr>Perceptron</vt:lpstr>
      <vt:lpstr>Perceptron</vt:lpstr>
      <vt:lpstr>Perceptron</vt:lpstr>
      <vt:lpstr>Perceptron</vt:lpstr>
      <vt:lpstr>Perceptron</vt:lpstr>
      <vt:lpstr>Perceptron</vt:lpstr>
      <vt:lpstr>PowerPoint Presentation</vt:lpstr>
      <vt:lpstr>Perceptron learning rule (weight update)</vt:lpstr>
      <vt:lpstr>Single Perceptron</vt:lpstr>
      <vt:lpstr>Example for one layer Perceptron</vt:lpstr>
      <vt:lpstr>Perceptron Learning Algorithm (Training Method) – AND GATE</vt:lpstr>
      <vt:lpstr>Perceptron Learning Algorithm (Training Method) – AND GATE</vt:lpstr>
      <vt:lpstr>Perceptron Learning Algorithm (Training Method) – AND GATE</vt:lpstr>
      <vt:lpstr>OR Gate Using Single Perceptron</vt:lpstr>
      <vt:lpstr>Limitations of one layer Perceptron</vt:lpstr>
      <vt:lpstr>Limitations of one layer Perceptron</vt:lpstr>
      <vt:lpstr>Limitations of one layer Perceptron</vt:lpstr>
      <vt:lpstr>Limitations of one layer Perceptron were overcome by </vt:lpstr>
      <vt:lpstr>XOR problem - TWO-LAYER PERCEPTRON</vt:lpstr>
      <vt:lpstr>XOR problem - TWO-LAYER PERCEPTRON</vt:lpstr>
      <vt:lpstr>XOR problem - TWO-LAYER PERCEPTRON</vt:lpstr>
      <vt:lpstr>XOR problem - TWO-LAYER PERCEPTRON</vt:lpstr>
      <vt:lpstr>A two-layer perceptron</vt:lpstr>
      <vt:lpstr>A two-layer perceptron</vt:lpstr>
      <vt:lpstr>THREE-LAYER PERCEPTRONS</vt:lpstr>
      <vt:lpstr>THREE-LAYER PERCEPTRONS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2026-03-14T02:40:20Z</dcterms:created>
  <dcterms:modified xsi:type="dcterms:W3CDTF">2026-03-14T02:41:24Z</dcterms:modified>
</cp:coreProperties>
</file>