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373" r:id="rId3"/>
    <p:sldId id="413" r:id="rId4"/>
    <p:sldId id="414" r:id="rId5"/>
    <p:sldId id="415" r:id="rId6"/>
    <p:sldId id="416" r:id="rId7"/>
    <p:sldId id="374" r:id="rId8"/>
    <p:sldId id="388" r:id="rId9"/>
    <p:sldId id="38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83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3FDB5-A984-9EF1-F7D8-01DB1246F3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6CF30F-04C1-47E1-E903-1B8D95E64A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82F55A-F480-1E08-DE8D-E527C59BE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A7959-752A-40D7-A9FD-CDD1189F5971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323D2A-603E-FADC-42DA-8D4E11849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634A93-FBF6-2742-DC5F-05420E6DB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042E4-45CD-4F5A-996D-308A843D82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7128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C0540-4945-5F0A-A7BE-9E4E773EE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DBAB36-33E9-9E83-8A6B-CAD392FFE5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F9FB49-1FB7-C55F-AA5A-32AC4CE05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A7959-752A-40D7-A9FD-CDD1189F5971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4CD484-CA2B-02F6-362C-208B344AC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F65720-4FD9-853C-A7F0-E9FD46247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042E4-45CD-4F5A-996D-308A843D82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2846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2ADE3-7BFE-6532-2644-A3A45CB7A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C05CC7-85D2-C44C-FF70-883D9DC017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DF2A84-5474-E1E6-A661-035E9774C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A7959-752A-40D7-A9FD-CDD1189F5971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EAE4A8-C51E-2A5E-5AE7-11D1914C7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526801-4550-AA25-2DF7-B80A72E84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042E4-45CD-4F5A-996D-308A843D82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4705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6E315-2B5D-8A0E-45AB-B4140B75F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B42DF2-DC8F-16CE-404C-90D99B414D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6A209E-0652-E646-BDAA-6100976708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C4275B-933B-8B18-8B79-0AD0B5F25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A7959-752A-40D7-A9FD-CDD1189F5971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B1E4F5-8DE9-BFF3-CEA6-05877D6A2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2E3832-E31A-C4B0-3CB7-07EA51584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042E4-45CD-4F5A-996D-308A843D82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06079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D0CB5-B267-F33D-6E9A-176BAEBC0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B43E7E-6D8B-99E8-128C-CB8171B8F5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8C0728-9904-FBC6-29BC-7B818C2523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E0DD25-2DE7-50DF-79F7-4642BE4A78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5F2332-6C71-508F-B76D-7A17A2A5BB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4959C7-7BF3-B66D-0795-EC5D109A4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A7959-752A-40D7-A9FD-CDD1189F5971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18EFB8-7165-AD2B-9DE8-0A9AC08AB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5F56F8-7173-7F64-7653-7E9FD0805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042E4-45CD-4F5A-996D-308A843D82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9427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7EA09-3227-CBAD-011A-86E897557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6F3A54-C84A-79A4-64D5-8505C7E68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A7959-752A-40D7-A9FD-CDD1189F5971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8632F-77C4-8266-0B95-7CF28197E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8F6968-8AF2-9581-DEE7-E8AAC92BB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042E4-45CD-4F5A-996D-308A843D82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03350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7DE6BB-A8DE-C4D6-0705-BCE53454D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A7959-752A-40D7-A9FD-CDD1189F5971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146176-E3AB-6C6A-5474-C1BF6AD3E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C726AC-FDB2-487C-5938-0EA03EF18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042E4-45CD-4F5A-996D-308A843D82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67781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98830-F187-FB2F-E54E-F1BAB7A98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1F6698-3197-3035-70FC-92717B5EE3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47DFFB-C0EF-A873-3EE8-7B1595594C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C66179-4F85-C30B-3CD5-AED5FE538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A7959-752A-40D7-A9FD-CDD1189F5971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5CADA7-A7E1-72EA-50D4-D43ACA1B3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969FD0-DB62-7B8A-7ECC-E5C5538B5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042E4-45CD-4F5A-996D-308A843D82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95077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0B379-4B8E-26B1-A1E5-5BE400F0D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22924A-24AD-64F1-EAF8-94DAA3629A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7B86F8-A2CA-BC5C-2806-73F95A8ED0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05E0BA-1742-CB97-6425-F7E999B38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A7959-752A-40D7-A9FD-CDD1189F5971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F3D595-D0C5-5C1D-A8F5-BB42CF90D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67A06A-8973-0E07-CA78-562D406C1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042E4-45CD-4F5A-996D-308A843D82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9996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58D64-C5AB-B647-6DCC-0DD9E76B4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5EBEAC-A172-49DA-189B-7E4FEDCF6A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A90626-0A72-E915-8E91-A1564398B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A7959-752A-40D7-A9FD-CDD1189F5971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9AF709-F82F-4340-EF38-2664363D4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F9DD69-3326-9EB1-9C8C-54B3BA282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042E4-45CD-4F5A-996D-308A843D82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1376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7F407B-3F55-4779-AF9A-69FE187B69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0435B3-B8AE-6EE8-ED84-78F79A793A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DB862-7609-36FB-8F3E-AE90B9D45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A7959-752A-40D7-A9FD-CDD1189F5971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6E4454-E7D6-D665-9261-FBACB534A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DEFA78-62DF-9EF4-8714-83F0FD1FB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042E4-45CD-4F5A-996D-308A843D82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6858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ADC2C4-0242-183D-2185-79ABEBBF1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F5AE3A-5D51-9C25-88BD-AE0C801AF2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F82D43-7BFB-3BEC-A095-4BBC0D5C7C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3A7959-752A-40D7-A9FD-CDD1189F5971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A71761-5982-1431-F3F0-AEF46E7823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BFA721-B4B6-F80C-02B8-7D6B0C6770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A042E4-45CD-4F5A-996D-308A843D82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50290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121E3-F995-BAB5-5E87-67455D6F3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Module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6C2BE4-82DE-B6C6-CA9F-E94DE9B0B1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Introduction to Artificial Neural Networks: Biological Neuron, </a:t>
            </a:r>
            <a:r>
              <a:rPr lang="en-IN" dirty="0"/>
              <a:t>Perceptron, Training, limitations, XOR problem, </a:t>
            </a:r>
          </a:p>
          <a:p>
            <a:r>
              <a:rPr lang="en-IN" dirty="0"/>
              <a:t>Multilayer perceptron,</a:t>
            </a:r>
          </a:p>
          <a:p>
            <a:r>
              <a:rPr lang="en-US" dirty="0"/>
              <a:t>Gradient based learning, stochastic gradient descent, </a:t>
            </a:r>
          </a:p>
          <a:p>
            <a:r>
              <a:rPr lang="en-US" dirty="0"/>
              <a:t>Activation </a:t>
            </a:r>
            <a:r>
              <a:rPr lang="en-IN" dirty="0"/>
              <a:t>Functions-Sigmoid, ReLU, tanh. </a:t>
            </a:r>
          </a:p>
          <a:p>
            <a:r>
              <a:rPr lang="en-IN" dirty="0"/>
              <a:t>Back propagation- Chain rule, Regularization- L1, L2,</a:t>
            </a:r>
          </a:p>
        </p:txBody>
      </p:sp>
    </p:spTree>
    <p:extLst>
      <p:ext uri="{BB962C8B-B14F-4D97-AF65-F5344CB8AC3E}">
        <p14:creationId xmlns:p14="http://schemas.microsoft.com/office/powerpoint/2010/main" val="28130733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B372B-1848-D6D3-F0A8-B4D97FF93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Artificial Neural Networks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78CB7-0F64-D0FE-798E-FD9FB0CF99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Artificial Neural Networks (ANNs) are computer systems designed to mimic how the human brain processes information. </a:t>
            </a:r>
          </a:p>
          <a:p>
            <a:r>
              <a:rPr lang="en-US" dirty="0"/>
              <a:t>Just like the brain uses neurons to process data and make decisions, ANNs use artificial neurons to analyze data, identify patterns and make predictions. </a:t>
            </a:r>
          </a:p>
          <a:p>
            <a:r>
              <a:rPr lang="en-US" dirty="0"/>
              <a:t>These networks consist of layers of interconnected neurons that work together to solve complex problems. </a:t>
            </a:r>
          </a:p>
          <a:p>
            <a:r>
              <a:rPr lang="en-US" dirty="0"/>
              <a:t>The key idea is that ANNs can "learn" from the data they process, just as our brain learns from experience.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36355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E00C4-AAD6-C382-7814-57C2938C4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Artificial Neural Networks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FD8EDE6-002C-B33A-BCD3-7D33312E6C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90125" y="1843580"/>
            <a:ext cx="8411749" cy="4315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359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43EB6-F238-1C55-BE36-4DA0234CC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Neural networks: </a:t>
            </a:r>
            <a:r>
              <a:rPr lang="en-US" dirty="0"/>
              <a:t>key components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22F96C-32B8-B816-FE13-D2F6B7C8B5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sz="2400" b="1" dirty="0"/>
              <a:t>Neurons</a:t>
            </a:r>
            <a:r>
              <a:rPr lang="en-US" sz="2400" dirty="0"/>
              <a:t>: The basic units that receive inputs, each neuron is governed by a threshold and an activation function.</a:t>
            </a:r>
          </a:p>
          <a:p>
            <a:pPr fontAlgn="base"/>
            <a:r>
              <a:rPr lang="en-US" sz="2400" b="1" dirty="0"/>
              <a:t>Connections</a:t>
            </a:r>
            <a:r>
              <a:rPr lang="en-US" sz="2400" dirty="0"/>
              <a:t>: Links between neurons that carry information, regulated by weights and biases.</a:t>
            </a:r>
          </a:p>
          <a:p>
            <a:pPr fontAlgn="base"/>
            <a:r>
              <a:rPr lang="en-US" sz="2400" b="1" dirty="0"/>
              <a:t>Weights and Biases</a:t>
            </a:r>
            <a:r>
              <a:rPr lang="en-US" sz="2400" dirty="0"/>
              <a:t>: These parameters determine the strength and influence of connections.</a:t>
            </a:r>
          </a:p>
          <a:p>
            <a:pPr fontAlgn="base"/>
            <a:r>
              <a:rPr lang="en-US" sz="2400" b="1" dirty="0"/>
              <a:t>Propagation Functions</a:t>
            </a:r>
            <a:r>
              <a:rPr lang="en-US" sz="2400" dirty="0"/>
              <a:t>: Mechanisms that help process and transfer data across layers of neurons.</a:t>
            </a:r>
          </a:p>
          <a:p>
            <a:pPr fontAlgn="base"/>
            <a:r>
              <a:rPr lang="en-US" sz="2400" b="1" dirty="0"/>
              <a:t>Learning Rule</a:t>
            </a:r>
            <a:r>
              <a:rPr lang="en-US" sz="2400" dirty="0"/>
              <a:t>: The method that adjusts weights and biases over time to improve accuracy.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150461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F26FD-81A0-2403-9CC2-9188FAA5B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Artificial Neural Networks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915B0D-9FEF-BFD7-A31E-31DE287269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Learning in neural networks follows a structured, three-stage process</a:t>
            </a:r>
          </a:p>
          <a:p>
            <a:pPr marL="914400" lvl="1" indent="-457200" fontAlgn="base">
              <a:buFont typeface="+mj-lt"/>
              <a:buAutoNum type="arabicPeriod"/>
            </a:pPr>
            <a:r>
              <a:rPr lang="en-US" sz="2000" b="1" dirty="0"/>
              <a:t>Input Computation</a:t>
            </a:r>
            <a:r>
              <a:rPr lang="en-US" sz="2000" dirty="0"/>
              <a:t>: Data is fed into the network.</a:t>
            </a:r>
          </a:p>
          <a:p>
            <a:pPr marL="914400" lvl="1" indent="-457200" fontAlgn="base">
              <a:buFont typeface="+mj-lt"/>
              <a:buAutoNum type="arabicPeriod"/>
            </a:pPr>
            <a:r>
              <a:rPr lang="en-US" sz="2000" b="1" dirty="0"/>
              <a:t>Output Generation</a:t>
            </a:r>
            <a:r>
              <a:rPr lang="en-US" sz="2000" dirty="0"/>
              <a:t>: Based on the current parameters, the network generates an output.</a:t>
            </a:r>
          </a:p>
          <a:p>
            <a:pPr marL="914400" lvl="1" indent="-457200" fontAlgn="base">
              <a:buFont typeface="+mj-lt"/>
              <a:buAutoNum type="arabicPeriod"/>
            </a:pPr>
            <a:r>
              <a:rPr lang="en-US" sz="2000" b="1" dirty="0"/>
              <a:t>Iterative Refinement</a:t>
            </a:r>
            <a:r>
              <a:rPr lang="en-US" sz="2000" dirty="0"/>
              <a:t>: The network refines its output by adjusting weights and biases, gradually improving its performance on diverse tasks.</a:t>
            </a:r>
          </a:p>
          <a:p>
            <a:pPr fontAlgn="base"/>
            <a:r>
              <a:rPr lang="en-US" sz="2400" b="1" dirty="0"/>
              <a:t>In an adaptive learning environment:</a:t>
            </a:r>
            <a:endParaRPr lang="en-US" sz="2400" dirty="0"/>
          </a:p>
          <a:p>
            <a:pPr lvl="1" fontAlgn="base"/>
            <a:r>
              <a:rPr lang="en-US" sz="2000" dirty="0"/>
              <a:t>The neural network is exposed to a simulated scenario or dataset.</a:t>
            </a:r>
          </a:p>
          <a:p>
            <a:pPr lvl="1" fontAlgn="base"/>
            <a:r>
              <a:rPr lang="en-US" sz="2000" dirty="0"/>
              <a:t>Parameters such as weights and biases are updated in response to new data or conditions.</a:t>
            </a:r>
          </a:p>
          <a:p>
            <a:pPr lvl="1" fontAlgn="base"/>
            <a:r>
              <a:rPr lang="en-US" sz="2000" dirty="0"/>
              <a:t>With each adjustment, the network’s response evolves allowing it to adapt effectively to different tasks or environments.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6311689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FB820-C3C2-719F-9DC9-8E3CF67A1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Biological Neuron - Artificial Neural Networks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3AAB3EF-AD29-B211-0E34-16CCD19478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1308" y="1843580"/>
            <a:ext cx="10269383" cy="4315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6588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4BC4B-9864-1AA5-490D-38606A72D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Biological Neuron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E8C563C-C3AB-2929-D39D-0FC05FC0BD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94792" y="1425396"/>
            <a:ext cx="8325678" cy="5432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1784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C2852-99EF-54FC-8844-A0006BF48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Biological Neuron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51B72F-9AB9-D8A9-0EC5-90E4DDFFD5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It is composed of a cell body containing </a:t>
            </a:r>
          </a:p>
          <a:p>
            <a:pPr lvl="1"/>
            <a:r>
              <a:rPr lang="en-US" b="1" dirty="0"/>
              <a:t>Nucleus</a:t>
            </a:r>
            <a:r>
              <a:rPr lang="en-US" dirty="0"/>
              <a:t> and most of the cell’s complex components</a:t>
            </a:r>
          </a:p>
          <a:p>
            <a:pPr lvl="1"/>
            <a:r>
              <a:rPr lang="en-US" dirty="0"/>
              <a:t>Many branching extensions called </a:t>
            </a:r>
            <a:r>
              <a:rPr lang="en-US" b="1" dirty="0"/>
              <a:t>dendrites</a:t>
            </a:r>
          </a:p>
          <a:p>
            <a:pPr lvl="1"/>
            <a:r>
              <a:rPr lang="en-US" dirty="0"/>
              <a:t>One very long extension called the </a:t>
            </a:r>
            <a:r>
              <a:rPr lang="en-US" b="1" dirty="0"/>
              <a:t>axon</a:t>
            </a:r>
          </a:p>
          <a:p>
            <a:pPr lvl="2"/>
            <a:r>
              <a:rPr lang="en-US" dirty="0"/>
              <a:t>The axon’s length may be just a few times longer than the cell body, or up to tens of thousands of times longer. </a:t>
            </a:r>
          </a:p>
          <a:p>
            <a:pPr lvl="2"/>
            <a:r>
              <a:rPr lang="en-US" dirty="0"/>
              <a:t>Near its extremity the axon splits off into many branches called </a:t>
            </a:r>
            <a:r>
              <a:rPr lang="en-US" b="1" dirty="0" err="1"/>
              <a:t>telodendria</a:t>
            </a:r>
            <a:endParaRPr lang="en-US" b="1" dirty="0"/>
          </a:p>
          <a:p>
            <a:pPr lvl="2"/>
            <a:r>
              <a:rPr lang="en-US" dirty="0"/>
              <a:t>At the tip of these branches are minuscule structures called synaptic terminals (or simply </a:t>
            </a:r>
            <a:r>
              <a:rPr lang="en-US" b="1" dirty="0"/>
              <a:t>synapses</a:t>
            </a:r>
            <a:r>
              <a:rPr lang="en-US" dirty="0"/>
              <a:t>), which are connected to the </a:t>
            </a:r>
            <a:r>
              <a:rPr lang="en-US" b="1" dirty="0"/>
              <a:t>dendrites or cell bodies </a:t>
            </a:r>
            <a:r>
              <a:rPr lang="en-US" dirty="0"/>
              <a:t>of other neurons.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584234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A8534-EC86-AB57-1A40-1899314ED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F522B-FE0F-12BC-1355-4D2C74FDA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Biological Neuron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AAA9F2-B422-5853-613F-CF2E4D5BA4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Biological neurons produce short electrical impulses called action potentials (APs, or just signals) which travel along the axons and make the synapses release chemical signals called neurotransmitters. </a:t>
            </a:r>
          </a:p>
          <a:p>
            <a:r>
              <a:rPr lang="en-US" sz="2400" dirty="0"/>
              <a:t>When a neuron receives a sufficient amount of these neurotransmitters within a few milliseconds, it fires its own electrical impulses (actually, it depends on the neurotransmitters, as some of them inhibit the neuron from firing).</a:t>
            </a:r>
          </a:p>
          <a:p>
            <a:r>
              <a:rPr lang="en-US" sz="2400" dirty="0"/>
              <a:t>They are organized in a vast network of billions, with each neuron typically connected to thousands of other neurons. </a:t>
            </a:r>
          </a:p>
          <a:p>
            <a:r>
              <a:rPr lang="en-US" sz="2400" dirty="0"/>
              <a:t>Highly complex computations can be performed by a network of fairly simple neurons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8909232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557</Words>
  <Application>Microsoft Office PowerPoint</Application>
  <PresentationFormat>Widescreen</PresentationFormat>
  <Paragraphs>42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Module 4</vt:lpstr>
      <vt:lpstr>Introduction to Artificial Neural Networks</vt:lpstr>
      <vt:lpstr>Introduction to Artificial Neural Networks</vt:lpstr>
      <vt:lpstr>Neural networks: key components</vt:lpstr>
      <vt:lpstr>Introduction to Artificial Neural Networks</vt:lpstr>
      <vt:lpstr>Biological Neuron - Artificial Neural Networks</vt:lpstr>
      <vt:lpstr>Biological Neuron</vt:lpstr>
      <vt:lpstr>Biological Neuron</vt:lpstr>
      <vt:lpstr>Biological Neuron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Neethu Suman</dc:creator>
  <cp:lastModifiedBy>Neethu Suman</cp:lastModifiedBy>
  <cp:revision>1</cp:revision>
  <dcterms:created xsi:type="dcterms:W3CDTF">2026-03-14T02:38:17Z</dcterms:created>
  <dcterms:modified xsi:type="dcterms:W3CDTF">2026-03-14T02:39:31Z</dcterms:modified>
</cp:coreProperties>
</file>