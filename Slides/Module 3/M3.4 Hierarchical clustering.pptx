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392" r:id="rId4"/>
    <p:sldId id="393" r:id="rId5"/>
    <p:sldId id="394" r:id="rId6"/>
    <p:sldId id="391" r:id="rId7"/>
    <p:sldId id="395" r:id="rId8"/>
    <p:sldId id="396" r:id="rId9"/>
    <p:sldId id="397" r:id="rId10"/>
    <p:sldId id="399" r:id="rId11"/>
    <p:sldId id="398" r:id="rId12"/>
    <p:sldId id="367" r:id="rId13"/>
    <p:sldId id="400" r:id="rId14"/>
    <p:sldId id="403" r:id="rId15"/>
    <p:sldId id="4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A33E0-6D6A-DC94-A346-058B2FE2ED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D99DC3-CAA1-57AD-641F-C935A7125B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D71F32-E6FA-FE6F-8060-63F457E089FF}"/>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5" name="Footer Placeholder 4">
            <a:extLst>
              <a:ext uri="{FF2B5EF4-FFF2-40B4-BE49-F238E27FC236}">
                <a16:creationId xmlns:a16="http://schemas.microsoft.com/office/drawing/2014/main" id="{534A557C-F3F4-7185-9487-21567CA5C5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B0207D-C243-02A7-B4EC-D4DB2858CF36}"/>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2654522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DBF35-9B68-B07D-E9B6-98F2B78415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69E713-4DE9-85BA-1CD8-3CD57626BC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E692BDD-15E0-D6B9-D33B-68D4E646CDAD}"/>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5" name="Footer Placeholder 4">
            <a:extLst>
              <a:ext uri="{FF2B5EF4-FFF2-40B4-BE49-F238E27FC236}">
                <a16:creationId xmlns:a16="http://schemas.microsoft.com/office/drawing/2014/main" id="{E01132CC-5F76-E6BD-F64F-F69F3FABBA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4A1B0D-0E89-13C6-E1F7-1543C44373BD}"/>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1487419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0D596-F2DC-1554-2053-5E9E3FF0A7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2C085F0-4539-343D-457B-98DA340A3A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2EC229-19B7-71A9-3635-D5ACD3CA165F}"/>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5" name="Footer Placeholder 4">
            <a:extLst>
              <a:ext uri="{FF2B5EF4-FFF2-40B4-BE49-F238E27FC236}">
                <a16:creationId xmlns:a16="http://schemas.microsoft.com/office/drawing/2014/main" id="{5AC44C09-4A0A-30CD-B2E0-F0AC6922B3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9818EC-1381-BF86-386F-F71E2F93C0D1}"/>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899230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73EB3-E349-BBE9-2B5B-E1D639DBEC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69E503-455B-8247-2B9D-FAEEE950F5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8CFA2E-D6A1-03E2-53E7-F5AE81F94B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DEB1F9-115B-53C8-BCC8-FEEC06490542}"/>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6" name="Footer Placeholder 5">
            <a:extLst>
              <a:ext uri="{FF2B5EF4-FFF2-40B4-BE49-F238E27FC236}">
                <a16:creationId xmlns:a16="http://schemas.microsoft.com/office/drawing/2014/main" id="{66047D98-6602-BDFA-A58E-D10E915D41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FCA9AF-7C7B-ACDC-0410-7B8921812FC7}"/>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2190936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A941E-689C-F4D7-CC5C-E5320272D1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68AD4F-F532-CC2D-3FEC-3C45E10D6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8BEADA-2488-B235-5EB1-492E32E354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B25C6E4-5299-41DC-66F3-65BB081674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2E8CD2-B059-751B-6C77-04F95EF79B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67E2D73-EC8D-5982-4526-F1223C6F2902}"/>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8" name="Footer Placeholder 7">
            <a:extLst>
              <a:ext uri="{FF2B5EF4-FFF2-40B4-BE49-F238E27FC236}">
                <a16:creationId xmlns:a16="http://schemas.microsoft.com/office/drawing/2014/main" id="{B410F07F-7714-E7E0-94DB-6D50681F99B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AF3533-4178-C3BB-B80A-E9D10BAEDD98}"/>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2800018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CCC65-1399-AD7C-0A80-A16A4FA3243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F9CA77-6376-87F9-4009-99468FBA8F73}"/>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4" name="Footer Placeholder 3">
            <a:extLst>
              <a:ext uri="{FF2B5EF4-FFF2-40B4-BE49-F238E27FC236}">
                <a16:creationId xmlns:a16="http://schemas.microsoft.com/office/drawing/2014/main" id="{751D5B77-5EAF-B97B-8D8F-D52BEC5F58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9FF3644-AEE0-4E9A-1316-41FFB6C9A274}"/>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472774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DFA9C3-208F-5FBF-A0FB-F27C8DFE5C7B}"/>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3" name="Footer Placeholder 2">
            <a:extLst>
              <a:ext uri="{FF2B5EF4-FFF2-40B4-BE49-F238E27FC236}">
                <a16:creationId xmlns:a16="http://schemas.microsoft.com/office/drawing/2014/main" id="{351E35A5-B445-CC70-DB5F-EC053F3E35A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65D1FB-346B-6FE2-065B-6090F8E32B55}"/>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1311568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007FF-C898-75B9-4F08-D5C4E80001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7DCADF0-FE41-A366-7505-06291C47FB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781DB04-B175-68B4-E6EA-17305AC6C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93617-5A18-A945-A9E3-2FA497DF0AAF}"/>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6" name="Footer Placeholder 5">
            <a:extLst>
              <a:ext uri="{FF2B5EF4-FFF2-40B4-BE49-F238E27FC236}">
                <a16:creationId xmlns:a16="http://schemas.microsoft.com/office/drawing/2014/main" id="{823D6D23-87ED-70C3-1AA1-7CF89D6BE9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4D6BB9-8538-E008-AF69-71944FF2D967}"/>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1531116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E0D47-E4F8-8468-C7EB-654D3F2D8E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B15C6CF-96EA-1F82-CEB6-FC3F2E9A9A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F33348-87CB-20DE-6CC3-8341CEF765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1CE62A-7751-7CF0-4605-98EB2E12A419}"/>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6" name="Footer Placeholder 5">
            <a:extLst>
              <a:ext uri="{FF2B5EF4-FFF2-40B4-BE49-F238E27FC236}">
                <a16:creationId xmlns:a16="http://schemas.microsoft.com/office/drawing/2014/main" id="{BCE50407-8403-4CD3-4D3B-C698E6621B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6B1F73-CD41-FD1A-84C0-8B82732A0F7E}"/>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2634163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BDE5-E749-319F-AF27-CA47EDC1F4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E3B985-B668-0175-9D31-13BC9B76C4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0F620D-3721-D0DF-E9E4-BD2B9A2C3F87}"/>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5" name="Footer Placeholder 4">
            <a:extLst>
              <a:ext uri="{FF2B5EF4-FFF2-40B4-BE49-F238E27FC236}">
                <a16:creationId xmlns:a16="http://schemas.microsoft.com/office/drawing/2014/main" id="{4B47E8C9-7562-3C76-88D2-DE20F8B1E9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858F41-13B0-0B0F-54C8-3C69D69F16AB}"/>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3480392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9451BF-E81E-6344-ACFB-0B2A6188C7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0537DC-B57B-55E9-F154-9647AFA917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E4CA45-E052-7F71-4137-069AE55E967A}"/>
              </a:ext>
            </a:extLst>
          </p:cNvPr>
          <p:cNvSpPr>
            <a:spLocks noGrp="1"/>
          </p:cNvSpPr>
          <p:nvPr>
            <p:ph type="dt" sz="half" idx="10"/>
          </p:nvPr>
        </p:nvSpPr>
        <p:spPr/>
        <p:txBody>
          <a:bodyPr/>
          <a:lstStyle/>
          <a:p>
            <a:fld id="{F8142CF9-8B92-4631-BE13-6DA4807BECC8}" type="datetimeFigureOut">
              <a:rPr lang="en-IN" smtClean="0"/>
              <a:t>12-03-2026</a:t>
            </a:fld>
            <a:endParaRPr lang="en-IN"/>
          </a:p>
        </p:txBody>
      </p:sp>
      <p:sp>
        <p:nvSpPr>
          <p:cNvPr id="5" name="Footer Placeholder 4">
            <a:extLst>
              <a:ext uri="{FF2B5EF4-FFF2-40B4-BE49-F238E27FC236}">
                <a16:creationId xmlns:a16="http://schemas.microsoft.com/office/drawing/2014/main" id="{365C0BBA-0A13-5BA2-CF30-F8162B89B4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969EFE-2764-C7E9-A835-C14903AF99C9}"/>
              </a:ext>
            </a:extLst>
          </p:cNvPr>
          <p:cNvSpPr>
            <a:spLocks noGrp="1"/>
          </p:cNvSpPr>
          <p:nvPr>
            <p:ph type="sldNum" sz="quarter" idx="12"/>
          </p:nvPr>
        </p:nvSpPr>
        <p:spPr/>
        <p:txBody>
          <a:bodyPr/>
          <a:lstStyle/>
          <a:p>
            <a:fld id="{4DD31FD2-9A94-4544-9F43-A3EAE51F62B4}" type="slidenum">
              <a:rPr lang="en-IN" smtClean="0"/>
              <a:t>‹#›</a:t>
            </a:fld>
            <a:endParaRPr lang="en-IN"/>
          </a:p>
        </p:txBody>
      </p:sp>
    </p:spTree>
    <p:extLst>
      <p:ext uri="{BB962C8B-B14F-4D97-AF65-F5344CB8AC3E}">
        <p14:creationId xmlns:p14="http://schemas.microsoft.com/office/powerpoint/2010/main" val="2703258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373837-6590-0F05-A8A9-29940C7936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618ED0-295B-B4CF-EDC7-968DDE16A9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B3DD4B-435C-3940-6BC3-5B065EBDA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142CF9-8B92-4631-BE13-6DA4807BECC8}" type="datetimeFigureOut">
              <a:rPr lang="en-IN" smtClean="0"/>
              <a:t>12-03-2026</a:t>
            </a:fld>
            <a:endParaRPr lang="en-IN"/>
          </a:p>
        </p:txBody>
      </p:sp>
      <p:sp>
        <p:nvSpPr>
          <p:cNvPr id="5" name="Footer Placeholder 4">
            <a:extLst>
              <a:ext uri="{FF2B5EF4-FFF2-40B4-BE49-F238E27FC236}">
                <a16:creationId xmlns:a16="http://schemas.microsoft.com/office/drawing/2014/main" id="{4DA6BA25-9147-B8E8-9548-3D036306ED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3F141D7-CFB9-9572-D8D6-B2AC2DDC32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D31FD2-9A94-4544-9F43-A3EAE51F62B4}" type="slidenum">
              <a:rPr lang="en-IN" smtClean="0"/>
              <a:t>‹#›</a:t>
            </a:fld>
            <a:endParaRPr lang="en-IN"/>
          </a:p>
        </p:txBody>
      </p:sp>
    </p:spTree>
    <p:extLst>
      <p:ext uri="{BB962C8B-B14F-4D97-AF65-F5344CB8AC3E}">
        <p14:creationId xmlns:p14="http://schemas.microsoft.com/office/powerpoint/2010/main" val="163264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45531-EEFC-CDCF-4736-DD163830FA68}"/>
              </a:ext>
            </a:extLst>
          </p:cNvPr>
          <p:cNvSpPr>
            <a:spLocks noGrp="1"/>
          </p:cNvSpPr>
          <p:nvPr>
            <p:ph type="title"/>
          </p:nvPr>
        </p:nvSpPr>
        <p:spPr/>
        <p:txBody>
          <a:bodyPr/>
          <a:lstStyle/>
          <a:p>
            <a:r>
              <a:rPr lang="en-US" dirty="0"/>
              <a:t>High clustering</a:t>
            </a:r>
            <a:endParaRPr lang="en-IN" dirty="0"/>
          </a:p>
        </p:txBody>
      </p:sp>
      <p:sp>
        <p:nvSpPr>
          <p:cNvPr id="3" name="Content Placeholder 2">
            <a:extLst>
              <a:ext uri="{FF2B5EF4-FFF2-40B4-BE49-F238E27FC236}">
                <a16:creationId xmlns:a16="http://schemas.microsoft.com/office/drawing/2014/main" id="{55EEC84A-0929-F0A4-E7F5-1161E8CD0DD6}"/>
              </a:ext>
            </a:extLst>
          </p:cNvPr>
          <p:cNvSpPr>
            <a:spLocks noGrp="1"/>
          </p:cNvSpPr>
          <p:nvPr>
            <p:ph idx="1"/>
          </p:nvPr>
        </p:nvSpPr>
        <p:spPr/>
        <p:txBody>
          <a:bodyPr>
            <a:normAutofit/>
          </a:bodyPr>
          <a:lstStyle/>
          <a:p>
            <a:r>
              <a:rPr lang="en-US" sz="2400" b="1" dirty="0"/>
              <a:t>Low intra-cluster distance: </a:t>
            </a:r>
            <a:r>
              <a:rPr lang="en-US" sz="2400" dirty="0"/>
              <a:t>Points within the same cluster are tightly grouped around the centroid.</a:t>
            </a:r>
          </a:p>
          <a:p>
            <a:r>
              <a:rPr lang="en-US" sz="2400" b="1" dirty="0"/>
              <a:t>High inter-cluster distance: </a:t>
            </a:r>
            <a:r>
              <a:rPr lang="en-US" sz="2400" dirty="0"/>
              <a:t>Centroids of different clusters are far from each other.</a:t>
            </a:r>
          </a:p>
          <a:p>
            <a:r>
              <a:rPr lang="en-US" sz="2400" b="1" dirty="0"/>
              <a:t>High similarity inside clusters: </a:t>
            </a:r>
            <a:r>
              <a:rPr lang="en-US" sz="2400" dirty="0"/>
              <a:t>Data points in one cluster are more similar to each other than to points in other clusters.</a:t>
            </a:r>
          </a:p>
          <a:p>
            <a:r>
              <a:rPr lang="en-IN" sz="2400" dirty="0"/>
              <a:t>Silhouette Score is one of method to measure it. </a:t>
            </a:r>
          </a:p>
          <a:p>
            <a:pPr lvl="1"/>
            <a:r>
              <a:rPr lang="en-US" sz="2000" dirty="0"/>
              <a:t>Score close to </a:t>
            </a:r>
            <a:r>
              <a:rPr lang="en-US" sz="2000" b="1" dirty="0"/>
              <a:t>1</a:t>
            </a:r>
            <a:r>
              <a:rPr lang="en-US" sz="2000" dirty="0"/>
              <a:t> = high-quality clustering.</a:t>
            </a:r>
            <a:r>
              <a:rPr lang="en-IN" sz="2000" dirty="0"/>
              <a:t>  </a:t>
            </a:r>
            <a:endParaRPr lang="en-US" sz="2000" dirty="0"/>
          </a:p>
          <a:p>
            <a:endParaRPr lang="en-IN" sz="2400" dirty="0"/>
          </a:p>
        </p:txBody>
      </p:sp>
    </p:spTree>
    <p:extLst>
      <p:ext uri="{BB962C8B-B14F-4D97-AF65-F5344CB8AC3E}">
        <p14:creationId xmlns:p14="http://schemas.microsoft.com/office/powerpoint/2010/main" val="197082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02FC-6F4D-E92C-9866-87E19E310ECE}"/>
              </a:ext>
            </a:extLst>
          </p:cNvPr>
          <p:cNvSpPr>
            <a:spLocks noGrp="1"/>
          </p:cNvSpPr>
          <p:nvPr>
            <p:ph type="title"/>
          </p:nvPr>
        </p:nvSpPr>
        <p:spPr/>
        <p:txBody>
          <a:bodyPr/>
          <a:lstStyle/>
          <a:p>
            <a:r>
              <a:rPr lang="en-US" dirty="0"/>
              <a:t>Hierarchical clustering</a:t>
            </a:r>
            <a:endParaRPr lang="en-IN" dirty="0"/>
          </a:p>
        </p:txBody>
      </p:sp>
      <p:sp>
        <p:nvSpPr>
          <p:cNvPr id="3" name="Content Placeholder 2">
            <a:extLst>
              <a:ext uri="{FF2B5EF4-FFF2-40B4-BE49-F238E27FC236}">
                <a16:creationId xmlns:a16="http://schemas.microsoft.com/office/drawing/2014/main" id="{7A14E8BF-DE5B-6AC4-DD2F-35DA5F6A31F2}"/>
              </a:ext>
            </a:extLst>
          </p:cNvPr>
          <p:cNvSpPr>
            <a:spLocks noGrp="1"/>
          </p:cNvSpPr>
          <p:nvPr>
            <p:ph idx="1"/>
          </p:nvPr>
        </p:nvSpPr>
        <p:spPr>
          <a:xfrm>
            <a:off x="838200" y="1690688"/>
            <a:ext cx="10515600" cy="4802187"/>
          </a:xfrm>
        </p:spPr>
        <p:txBody>
          <a:bodyPr>
            <a:noAutofit/>
          </a:bodyPr>
          <a:lstStyle/>
          <a:p>
            <a:pPr fontAlgn="base"/>
            <a:r>
              <a:rPr lang="en-US" sz="2400" b="1" dirty="0"/>
              <a:t>Hierarchical clustering</a:t>
            </a:r>
            <a:r>
              <a:rPr lang="en-US" sz="2400" dirty="0"/>
              <a:t> is an </a:t>
            </a:r>
            <a:r>
              <a:rPr lang="en-US" sz="2400" b="1" dirty="0"/>
              <a:t>unsupervised learning</a:t>
            </a:r>
            <a:r>
              <a:rPr lang="en-US" sz="2400" dirty="0"/>
              <a:t> technique that builds a hierarchy of clusters by either </a:t>
            </a:r>
            <a:r>
              <a:rPr lang="en-US" sz="2400" b="1" dirty="0"/>
              <a:t>merging smaller clusters</a:t>
            </a:r>
            <a:r>
              <a:rPr lang="en-US" sz="2400" dirty="0"/>
              <a:t> or </a:t>
            </a:r>
            <a:r>
              <a:rPr lang="en-US" sz="2400" b="1" dirty="0"/>
              <a:t>splitting larger clusters</a:t>
            </a:r>
            <a:r>
              <a:rPr lang="en-US" sz="2400" dirty="0"/>
              <a:t> step by step. Instead of choosing the number of clusters in advance, it builds a tree-like structure called a dendrogram that shows how clusters merge or split at different levels.</a:t>
            </a:r>
          </a:p>
          <a:p>
            <a:pPr fontAlgn="base"/>
            <a:r>
              <a:rPr lang="en-US" sz="2400" dirty="0"/>
              <a:t>It helps identify natural groupings in data and is commonly used in pattern recognition, customer segmentation, gene analysis and image grouping.</a:t>
            </a:r>
          </a:p>
          <a:p>
            <a:r>
              <a:rPr lang="en-IN" sz="2400" dirty="0"/>
              <a:t>Type: </a:t>
            </a:r>
          </a:p>
          <a:p>
            <a:pPr marL="914400" lvl="1" indent="-457200" eaLnBrk="0" fontAlgn="base" hangingPunct="0">
              <a:lnSpc>
                <a:spcPct val="100000"/>
              </a:lnSpc>
              <a:spcBef>
                <a:spcPct val="0"/>
              </a:spcBef>
              <a:spcAft>
                <a:spcPct val="0"/>
              </a:spcAft>
              <a:buFont typeface="+mj-lt"/>
              <a:buAutoNum type="arabicPeriod"/>
            </a:pPr>
            <a:r>
              <a:rPr lang="en-IN" sz="2000" b="1" dirty="0"/>
              <a:t>Agglomerative (Bottom-Up)</a:t>
            </a:r>
            <a:r>
              <a:rPr lang="en-IN" sz="2000" dirty="0"/>
              <a:t>: </a:t>
            </a:r>
            <a:r>
              <a:rPr lang="en-US" altLang="en-US" sz="2000" dirty="0"/>
              <a:t>Each data point starts as its own cluster. The closest clusters are merged iteratively. Continues until all points form a single cluster</a:t>
            </a:r>
          </a:p>
          <a:p>
            <a:pPr marL="914400" lvl="1" indent="-457200">
              <a:buFont typeface="+mj-lt"/>
              <a:buAutoNum type="arabicPeriod"/>
            </a:pPr>
            <a:r>
              <a:rPr lang="en-US" sz="2000" b="1" dirty="0"/>
              <a:t>Divisive (Top-Down): </a:t>
            </a:r>
            <a:r>
              <a:rPr lang="en-US" sz="2000" dirty="0"/>
              <a:t>All data points start in one cluster. The cluster is recursively split into smaller clusters.</a:t>
            </a:r>
            <a:endParaRPr lang="en-US" dirty="0"/>
          </a:p>
          <a:p>
            <a:r>
              <a:rPr lang="en-US" sz="2400" dirty="0"/>
              <a:t>Most commonly used: </a:t>
            </a:r>
            <a:r>
              <a:rPr lang="en-US" sz="2400" b="1" dirty="0"/>
              <a:t>Agglomerative clustering</a:t>
            </a:r>
            <a:endParaRPr lang="en-IN" sz="2400" dirty="0"/>
          </a:p>
          <a:p>
            <a:pPr marL="914400" lvl="1" indent="-457200">
              <a:buFont typeface="+mj-lt"/>
              <a:buAutoNum type="arabicPeriod"/>
            </a:pPr>
            <a:endParaRPr lang="en-IN" dirty="0"/>
          </a:p>
        </p:txBody>
      </p:sp>
    </p:spTree>
    <p:extLst>
      <p:ext uri="{BB962C8B-B14F-4D97-AF65-F5344CB8AC3E}">
        <p14:creationId xmlns:p14="http://schemas.microsoft.com/office/powerpoint/2010/main" val="3338869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8EB6A4E-A947-0FD4-298E-EB02F9DA6767}"/>
              </a:ext>
            </a:extLst>
          </p:cNvPr>
          <p:cNvPicPr>
            <a:picLocks noGrp="1" noChangeAspect="1"/>
          </p:cNvPicPr>
          <p:nvPr>
            <p:ph idx="4294967295"/>
          </p:nvPr>
        </p:nvPicPr>
        <p:blipFill>
          <a:blip r:embed="rId2"/>
          <a:stretch>
            <a:fillRect/>
          </a:stretch>
        </p:blipFill>
        <p:spPr>
          <a:xfrm>
            <a:off x="874644" y="684971"/>
            <a:ext cx="9879495" cy="5427593"/>
          </a:xfrm>
          <a:prstGeom prst="rect">
            <a:avLst/>
          </a:prstGeom>
        </p:spPr>
      </p:pic>
    </p:spTree>
    <p:extLst>
      <p:ext uri="{BB962C8B-B14F-4D97-AF65-F5344CB8AC3E}">
        <p14:creationId xmlns:p14="http://schemas.microsoft.com/office/powerpoint/2010/main" val="2518243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E882-D07F-889C-C4A0-92A88322B0CC}"/>
              </a:ext>
            </a:extLst>
          </p:cNvPr>
          <p:cNvSpPr>
            <a:spLocks noGrp="1"/>
          </p:cNvSpPr>
          <p:nvPr>
            <p:ph type="title"/>
          </p:nvPr>
        </p:nvSpPr>
        <p:spPr/>
        <p:txBody>
          <a:bodyPr/>
          <a:lstStyle/>
          <a:p>
            <a:r>
              <a:rPr lang="en-IN" b="1" dirty="0"/>
              <a:t>Dendrogram</a:t>
            </a:r>
            <a:endParaRPr lang="en-IN" dirty="0"/>
          </a:p>
        </p:txBody>
      </p:sp>
      <p:sp>
        <p:nvSpPr>
          <p:cNvPr id="3" name="Content Placeholder 2">
            <a:extLst>
              <a:ext uri="{FF2B5EF4-FFF2-40B4-BE49-F238E27FC236}">
                <a16:creationId xmlns:a16="http://schemas.microsoft.com/office/drawing/2014/main" id="{97964EAE-31FA-63D0-B6A6-C324B393B8A3}"/>
              </a:ext>
            </a:extLst>
          </p:cNvPr>
          <p:cNvSpPr>
            <a:spLocks noGrp="1"/>
          </p:cNvSpPr>
          <p:nvPr>
            <p:ph idx="1"/>
          </p:nvPr>
        </p:nvSpPr>
        <p:spPr/>
        <p:txBody>
          <a:bodyPr>
            <a:normAutofit/>
          </a:bodyPr>
          <a:lstStyle/>
          <a:p>
            <a:r>
              <a:rPr lang="en-US" sz="2400" dirty="0"/>
              <a:t>A dendrogram is like a family tree for clusters. </a:t>
            </a:r>
          </a:p>
          <a:p>
            <a:r>
              <a:rPr lang="en-US" sz="2400" dirty="0"/>
              <a:t>It shows how individual data points or groups of data merge together. </a:t>
            </a:r>
          </a:p>
          <a:p>
            <a:r>
              <a:rPr lang="en-US" sz="2400" dirty="0"/>
              <a:t>The bottom shows each data point as its own group and as we move up, similar groups are combined. </a:t>
            </a:r>
          </a:p>
          <a:p>
            <a:r>
              <a:rPr lang="en-US" sz="2400" dirty="0"/>
              <a:t>The lower the merge point, the more similar the groups are. </a:t>
            </a:r>
          </a:p>
          <a:p>
            <a:r>
              <a:rPr lang="en-US" sz="2400" dirty="0"/>
              <a:t>It helps us see how things are grouped step by step.</a:t>
            </a:r>
            <a:endParaRPr lang="en-IN" sz="2400" dirty="0"/>
          </a:p>
        </p:txBody>
      </p:sp>
    </p:spTree>
    <p:extLst>
      <p:ext uri="{BB962C8B-B14F-4D97-AF65-F5344CB8AC3E}">
        <p14:creationId xmlns:p14="http://schemas.microsoft.com/office/powerpoint/2010/main" val="1253221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777CD-6982-46EE-B607-E9FF98019314}"/>
              </a:ext>
            </a:extLst>
          </p:cNvPr>
          <p:cNvSpPr>
            <a:spLocks noGrp="1"/>
          </p:cNvSpPr>
          <p:nvPr>
            <p:ph type="title"/>
          </p:nvPr>
        </p:nvSpPr>
        <p:spPr/>
        <p:txBody>
          <a:bodyPr/>
          <a:lstStyle/>
          <a:p>
            <a:r>
              <a:rPr lang="en-IN" b="1" dirty="0"/>
              <a:t>Dendrogram</a:t>
            </a:r>
            <a:endParaRPr lang="en-IN" dirty="0"/>
          </a:p>
        </p:txBody>
      </p:sp>
      <p:sp>
        <p:nvSpPr>
          <p:cNvPr id="4" name="Content Placeholder 3">
            <a:extLst>
              <a:ext uri="{FF2B5EF4-FFF2-40B4-BE49-F238E27FC236}">
                <a16:creationId xmlns:a16="http://schemas.microsoft.com/office/drawing/2014/main" id="{51A66B87-FB42-B99D-4F19-D37DA69EE416}"/>
              </a:ext>
            </a:extLst>
          </p:cNvPr>
          <p:cNvSpPr>
            <a:spLocks noGrp="1"/>
          </p:cNvSpPr>
          <p:nvPr>
            <p:ph sz="half" idx="2"/>
          </p:nvPr>
        </p:nvSpPr>
        <p:spPr/>
        <p:txBody>
          <a:bodyPr>
            <a:normAutofit/>
          </a:bodyPr>
          <a:lstStyle/>
          <a:p>
            <a:pPr fontAlgn="base"/>
            <a:r>
              <a:rPr lang="en-US" sz="2400" dirty="0"/>
              <a:t>At the bottom of the dendrogram the points P, Q, R, S and T are all separate.</a:t>
            </a:r>
          </a:p>
          <a:p>
            <a:pPr fontAlgn="base"/>
            <a:r>
              <a:rPr lang="en-US" sz="2400" dirty="0"/>
              <a:t>As we move up, the closest points are merged into a single group.</a:t>
            </a:r>
          </a:p>
          <a:p>
            <a:pPr fontAlgn="base"/>
            <a:r>
              <a:rPr lang="en-US" sz="2400" dirty="0"/>
              <a:t>The lines connecting the points show how they are progressively merged based on similarity.</a:t>
            </a:r>
          </a:p>
          <a:p>
            <a:pPr fontAlgn="base"/>
            <a:r>
              <a:rPr lang="en-US" sz="2400" dirty="0"/>
              <a:t>The height at which they are connected shows how similar the points are to each other; the shorter the line the more similar they are</a:t>
            </a:r>
          </a:p>
        </p:txBody>
      </p:sp>
      <p:pic>
        <p:nvPicPr>
          <p:cNvPr id="7" name="Content Placeholder 6">
            <a:extLst>
              <a:ext uri="{FF2B5EF4-FFF2-40B4-BE49-F238E27FC236}">
                <a16:creationId xmlns:a16="http://schemas.microsoft.com/office/drawing/2014/main" id="{6F7C4DD1-BF30-654E-584A-421789BAADB7}"/>
              </a:ext>
            </a:extLst>
          </p:cNvPr>
          <p:cNvPicPr>
            <a:picLocks noGrp="1" noChangeAspect="1"/>
          </p:cNvPicPr>
          <p:nvPr>
            <p:ph sz="half" idx="1"/>
          </p:nvPr>
        </p:nvPicPr>
        <p:blipFill>
          <a:blip r:embed="rId2"/>
          <a:stretch>
            <a:fillRect/>
          </a:stretch>
        </p:blipFill>
        <p:spPr bwMode="auto">
          <a:xfrm>
            <a:off x="205736" y="1766655"/>
            <a:ext cx="5648412" cy="4726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378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7157-85CD-4093-E242-FFB2A1E24239}"/>
              </a:ext>
            </a:extLst>
          </p:cNvPr>
          <p:cNvSpPr>
            <a:spLocks noGrp="1"/>
          </p:cNvSpPr>
          <p:nvPr>
            <p:ph type="title"/>
          </p:nvPr>
        </p:nvSpPr>
        <p:spPr/>
        <p:txBody>
          <a:bodyPr/>
          <a:lstStyle/>
          <a:p>
            <a:r>
              <a:rPr lang="en-IN" b="1" dirty="0"/>
              <a:t>Dendrogram</a:t>
            </a:r>
            <a:endParaRPr lang="en-IN" dirty="0"/>
          </a:p>
        </p:txBody>
      </p:sp>
      <p:pic>
        <p:nvPicPr>
          <p:cNvPr id="4" name="image2.gif">
            <a:extLst>
              <a:ext uri="{FF2B5EF4-FFF2-40B4-BE49-F238E27FC236}">
                <a16:creationId xmlns:a16="http://schemas.microsoft.com/office/drawing/2014/main" id="{102B7690-0BF6-5B11-CDB8-E5844F0F64C6}"/>
              </a:ext>
            </a:extLst>
          </p:cNvPr>
          <p:cNvPicPr>
            <a:picLocks noGrp="1"/>
          </p:cNvPicPr>
          <p:nvPr>
            <p:ph idx="1"/>
          </p:nvPr>
        </p:nvPicPr>
        <p:blipFill>
          <a:blip r:embed="rId2"/>
          <a:srcRect/>
          <a:stretch>
            <a:fillRect/>
          </a:stretch>
        </p:blipFill>
        <p:spPr>
          <a:xfrm>
            <a:off x="838200" y="2070618"/>
            <a:ext cx="10515600" cy="4538904"/>
          </a:xfrm>
          <a:prstGeom prst="rect">
            <a:avLst/>
          </a:prstGeom>
          <a:ln/>
        </p:spPr>
      </p:pic>
    </p:spTree>
    <p:extLst>
      <p:ext uri="{BB962C8B-B14F-4D97-AF65-F5344CB8AC3E}">
        <p14:creationId xmlns:p14="http://schemas.microsoft.com/office/powerpoint/2010/main" val="334033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CAD7-88DA-7929-C371-AEBF64F6C4DD}"/>
              </a:ext>
            </a:extLst>
          </p:cNvPr>
          <p:cNvSpPr>
            <a:spLocks noGrp="1"/>
          </p:cNvSpPr>
          <p:nvPr>
            <p:ph type="title"/>
          </p:nvPr>
        </p:nvSpPr>
        <p:spPr/>
        <p:txBody>
          <a:bodyPr/>
          <a:lstStyle/>
          <a:p>
            <a:r>
              <a:rPr lang="en-IN" dirty="0"/>
              <a:t>Hierarchical Agglomerative Clustering (HAC)</a:t>
            </a:r>
          </a:p>
        </p:txBody>
      </p:sp>
      <p:pic>
        <p:nvPicPr>
          <p:cNvPr id="6" name="Picture 5">
            <a:extLst>
              <a:ext uri="{FF2B5EF4-FFF2-40B4-BE49-F238E27FC236}">
                <a16:creationId xmlns:a16="http://schemas.microsoft.com/office/drawing/2014/main" id="{01731AD0-DE63-900E-7931-2C6C9A0798BD}"/>
              </a:ext>
            </a:extLst>
          </p:cNvPr>
          <p:cNvPicPr>
            <a:picLocks noChangeAspect="1"/>
          </p:cNvPicPr>
          <p:nvPr/>
        </p:nvPicPr>
        <p:blipFill>
          <a:blip r:embed="rId2"/>
          <a:stretch>
            <a:fillRect/>
          </a:stretch>
        </p:blipFill>
        <p:spPr>
          <a:xfrm>
            <a:off x="993913" y="1690688"/>
            <a:ext cx="10008704" cy="4610743"/>
          </a:xfrm>
          <a:prstGeom prst="rect">
            <a:avLst/>
          </a:prstGeom>
        </p:spPr>
      </p:pic>
    </p:spTree>
    <p:extLst>
      <p:ext uri="{BB962C8B-B14F-4D97-AF65-F5344CB8AC3E}">
        <p14:creationId xmlns:p14="http://schemas.microsoft.com/office/powerpoint/2010/main" val="3400547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D6C9D33-9355-6A8F-54A5-B07A00F4271F}"/>
              </a:ext>
            </a:extLst>
          </p:cNvPr>
          <p:cNvSpPr>
            <a:spLocks noGrp="1"/>
          </p:cNvSpPr>
          <p:nvPr>
            <p:ph type="title"/>
          </p:nvPr>
        </p:nvSpPr>
        <p:spPr/>
        <p:txBody>
          <a:bodyPr>
            <a:normAutofit/>
          </a:bodyPr>
          <a:lstStyle/>
          <a:p>
            <a:r>
              <a:rPr lang="en-US" dirty="0"/>
              <a:t>Workflow for Hierarchical Agglomerative clustering</a:t>
            </a:r>
            <a:endParaRPr lang="en-IN" dirty="0"/>
          </a:p>
        </p:txBody>
      </p:sp>
      <p:sp>
        <p:nvSpPr>
          <p:cNvPr id="4" name="Content Placeholder 3">
            <a:extLst>
              <a:ext uri="{FF2B5EF4-FFF2-40B4-BE49-F238E27FC236}">
                <a16:creationId xmlns:a16="http://schemas.microsoft.com/office/drawing/2014/main" id="{6A0161B1-EB7E-A251-AF63-709B603B410F}"/>
              </a:ext>
            </a:extLst>
          </p:cNvPr>
          <p:cNvSpPr>
            <a:spLocks noGrp="1"/>
          </p:cNvSpPr>
          <p:nvPr>
            <p:ph idx="1"/>
          </p:nvPr>
        </p:nvSpPr>
        <p:spPr/>
        <p:txBody>
          <a:bodyPr>
            <a:normAutofit/>
          </a:bodyPr>
          <a:lstStyle/>
          <a:p>
            <a:pPr marL="514350" indent="-514350" fontAlgn="base">
              <a:buFont typeface="+mj-lt"/>
              <a:buAutoNum type="arabicPeriod"/>
            </a:pPr>
            <a:r>
              <a:rPr lang="en-US" sz="2000" b="1" dirty="0"/>
              <a:t>Start with individual points:</a:t>
            </a:r>
            <a:r>
              <a:rPr lang="en-US" sz="2000" dirty="0"/>
              <a:t> Each data point is its own cluster. For example if we have 5 data points we start with 5 clusters each containing just one data point.</a:t>
            </a:r>
          </a:p>
          <a:p>
            <a:pPr marL="514350" indent="-514350" fontAlgn="base">
              <a:buFont typeface="+mj-lt"/>
              <a:buAutoNum type="arabicPeriod"/>
            </a:pPr>
            <a:r>
              <a:rPr lang="en-US" sz="2000" b="1" dirty="0"/>
              <a:t>Calculate distances between clusters</a:t>
            </a:r>
            <a:r>
              <a:rPr lang="en-US" sz="2000" dirty="0"/>
              <a:t>: Calculate the distance between every pair of clusters. Initially since each cluster has one point this is the distance between the two data points.</a:t>
            </a:r>
          </a:p>
          <a:p>
            <a:pPr marL="514350" indent="-514350" fontAlgn="base">
              <a:buFont typeface="+mj-lt"/>
              <a:buAutoNum type="arabicPeriod"/>
            </a:pPr>
            <a:r>
              <a:rPr lang="en-US" sz="2000" b="1" dirty="0"/>
              <a:t>Merge the closest clusters</a:t>
            </a:r>
            <a:r>
              <a:rPr lang="en-US" sz="2000" dirty="0"/>
              <a:t>: Identify the two clusters with the smallest distance and merge them into a single cluster.</a:t>
            </a:r>
          </a:p>
          <a:p>
            <a:pPr marL="514350" indent="-514350" fontAlgn="base">
              <a:buFont typeface="+mj-lt"/>
              <a:buAutoNum type="arabicPeriod"/>
            </a:pPr>
            <a:r>
              <a:rPr lang="en-US" sz="2000" b="1" dirty="0"/>
              <a:t>Update distance matrix</a:t>
            </a:r>
            <a:r>
              <a:rPr lang="en-US" sz="2000" dirty="0"/>
              <a:t>: After merging we now have one less cluster. Recalculate the distances between the new cluster and the remaining clusters.</a:t>
            </a:r>
          </a:p>
          <a:p>
            <a:pPr marL="514350" indent="-514350" fontAlgn="base">
              <a:buFont typeface="+mj-lt"/>
              <a:buAutoNum type="arabicPeriod"/>
            </a:pPr>
            <a:r>
              <a:rPr lang="en-US" sz="2000" b="1" dirty="0"/>
              <a:t>Repeat steps 3 and 4</a:t>
            </a:r>
            <a:r>
              <a:rPr lang="en-US" sz="2000" dirty="0"/>
              <a:t>: Keep merging the closest clusters and updating the distance matrix until we have only one cluster left.</a:t>
            </a:r>
          </a:p>
          <a:p>
            <a:pPr marL="514350" indent="-514350" fontAlgn="base">
              <a:buFont typeface="+mj-lt"/>
              <a:buAutoNum type="arabicPeriod"/>
            </a:pPr>
            <a:r>
              <a:rPr lang="en-US" sz="2000" b="1" dirty="0"/>
              <a:t>Create a dendrogram</a:t>
            </a:r>
            <a:r>
              <a:rPr lang="en-US" sz="2000" dirty="0"/>
              <a:t>: As the process continues we can visualize the merging of clusters using a tree-like diagram called a dendrogram. It shows the hierarchy of how clusters are merged.</a:t>
            </a:r>
            <a:endParaRPr lang="en-IN" sz="2000" dirty="0"/>
          </a:p>
        </p:txBody>
      </p:sp>
    </p:spTree>
    <p:extLst>
      <p:ext uri="{BB962C8B-B14F-4D97-AF65-F5344CB8AC3E}">
        <p14:creationId xmlns:p14="http://schemas.microsoft.com/office/powerpoint/2010/main" val="913003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500A05E-47C6-0A5C-3B68-13517BD8B2BB}"/>
              </a:ext>
            </a:extLst>
          </p:cNvPr>
          <p:cNvPicPr>
            <a:picLocks noGrp="1" noChangeAspect="1"/>
          </p:cNvPicPr>
          <p:nvPr>
            <p:ph idx="4294967295"/>
          </p:nvPr>
        </p:nvPicPr>
        <p:blipFill>
          <a:blip r:embed="rId2"/>
          <a:stretch>
            <a:fillRect/>
          </a:stretch>
        </p:blipFill>
        <p:spPr>
          <a:xfrm>
            <a:off x="238540" y="185669"/>
            <a:ext cx="10774017" cy="6413914"/>
          </a:xfrm>
          <a:prstGeom prst="rect">
            <a:avLst/>
          </a:prstGeom>
        </p:spPr>
      </p:pic>
    </p:spTree>
    <p:extLst>
      <p:ext uri="{BB962C8B-B14F-4D97-AF65-F5344CB8AC3E}">
        <p14:creationId xmlns:p14="http://schemas.microsoft.com/office/powerpoint/2010/main" val="1458282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B237E4-8A9C-0B6A-9466-65F6DB887323}"/>
              </a:ext>
            </a:extLst>
          </p:cNvPr>
          <p:cNvSpPr>
            <a:spLocks noGrp="1"/>
          </p:cNvSpPr>
          <p:nvPr>
            <p:ph type="title"/>
          </p:nvPr>
        </p:nvSpPr>
        <p:spPr/>
        <p:txBody>
          <a:bodyPr/>
          <a:lstStyle/>
          <a:p>
            <a:r>
              <a:rPr lang="en-IN" dirty="0"/>
              <a:t>Generalized Agglomerative </a:t>
            </a:r>
            <a:r>
              <a:rPr lang="en-IN" dirty="0" err="1"/>
              <a:t>Sheme</a:t>
            </a:r>
            <a:r>
              <a:rPr lang="en-IN" dirty="0"/>
              <a:t> (GAS)</a:t>
            </a:r>
          </a:p>
        </p:txBody>
      </p:sp>
      <p:sp>
        <p:nvSpPr>
          <p:cNvPr id="6" name="Content Placeholder 5">
            <a:extLst>
              <a:ext uri="{FF2B5EF4-FFF2-40B4-BE49-F238E27FC236}">
                <a16:creationId xmlns:a16="http://schemas.microsoft.com/office/drawing/2014/main" id="{2C8E2427-6D9D-05B9-F14C-170A26316852}"/>
              </a:ext>
            </a:extLst>
          </p:cNvPr>
          <p:cNvSpPr>
            <a:spLocks noGrp="1"/>
          </p:cNvSpPr>
          <p:nvPr>
            <p:ph sz="half" idx="1"/>
          </p:nvPr>
        </p:nvSpPr>
        <p:spPr>
          <a:xfrm>
            <a:off x="838200" y="1825625"/>
            <a:ext cx="5512904" cy="4351338"/>
          </a:xfrm>
        </p:spPr>
        <p:txBody>
          <a:bodyPr>
            <a:normAutofit lnSpcReduction="10000"/>
          </a:bodyPr>
          <a:lstStyle/>
          <a:p>
            <a:r>
              <a:rPr lang="en-US" sz="2600" dirty="0"/>
              <a:t>A threshold dendrogram, or simply a dendrogram, is an effective means of representing the sequence of clustering produced by an agglomerative algorithm.</a:t>
            </a:r>
            <a:endParaRPr lang="en-US" sz="2600" b="1" dirty="0"/>
          </a:p>
          <a:p>
            <a:pPr marL="457200" indent="-457200">
              <a:buFont typeface="+mj-lt"/>
              <a:buAutoNum type="arabicPeriod"/>
            </a:pPr>
            <a:r>
              <a:rPr lang="en-US" sz="2400" b="1" i="1" dirty="0"/>
              <a:t>x</a:t>
            </a:r>
            <a:r>
              <a:rPr lang="en-US" sz="2400" dirty="0"/>
              <a:t>1 and </a:t>
            </a:r>
            <a:r>
              <a:rPr lang="en-US" sz="2400" b="1" i="1" dirty="0"/>
              <a:t>x</a:t>
            </a:r>
            <a:r>
              <a:rPr lang="en-US" sz="2400" dirty="0"/>
              <a:t>2 form a new cluster.</a:t>
            </a:r>
          </a:p>
          <a:p>
            <a:pPr marL="457200" indent="-457200">
              <a:buFont typeface="+mj-lt"/>
              <a:buAutoNum type="arabicPeriod"/>
            </a:pPr>
            <a:r>
              <a:rPr lang="en-US" sz="2400" b="1" i="1" dirty="0"/>
              <a:t>x</a:t>
            </a:r>
            <a:r>
              <a:rPr lang="en-US" sz="2400" dirty="0"/>
              <a:t>4 and </a:t>
            </a:r>
            <a:r>
              <a:rPr lang="en-US" sz="2400" b="1" i="1" dirty="0"/>
              <a:t>x</a:t>
            </a:r>
            <a:r>
              <a:rPr lang="en-US" sz="2400" dirty="0"/>
              <a:t>5 stick together, forming a single cluster. </a:t>
            </a:r>
          </a:p>
          <a:p>
            <a:pPr marL="457200" indent="-457200">
              <a:buFont typeface="+mj-lt"/>
              <a:buAutoNum type="arabicPeriod"/>
            </a:pPr>
            <a:r>
              <a:rPr lang="en-US" sz="2400" b="1" i="1" dirty="0"/>
              <a:t>x</a:t>
            </a:r>
            <a:r>
              <a:rPr lang="en-US" sz="2400" dirty="0"/>
              <a:t>3 joins the cluster {</a:t>
            </a:r>
            <a:r>
              <a:rPr lang="en-US" sz="2400" b="1" i="1" dirty="0"/>
              <a:t>x</a:t>
            </a:r>
            <a:r>
              <a:rPr lang="en-US" sz="2400" dirty="0"/>
              <a:t>4, </a:t>
            </a:r>
            <a:r>
              <a:rPr lang="en-US" sz="2400" b="1" i="1" dirty="0"/>
              <a:t>x</a:t>
            </a:r>
            <a:r>
              <a:rPr lang="en-US" sz="2400" dirty="0"/>
              <a:t>5} </a:t>
            </a:r>
          </a:p>
          <a:p>
            <a:pPr marL="457200" indent="-457200">
              <a:buFont typeface="+mj-lt"/>
              <a:buAutoNum type="arabicPeriod"/>
            </a:pPr>
            <a:r>
              <a:rPr lang="en-US" sz="2400" dirty="0"/>
              <a:t>{</a:t>
            </a:r>
            <a:r>
              <a:rPr lang="en-US" sz="2400" b="1" i="1" dirty="0"/>
              <a:t>x</a:t>
            </a:r>
            <a:r>
              <a:rPr lang="en-US" sz="2400" dirty="0"/>
              <a:t>1, </a:t>
            </a:r>
            <a:r>
              <a:rPr lang="en-US" sz="2400" b="1" i="1" dirty="0"/>
              <a:t>x</a:t>
            </a:r>
            <a:r>
              <a:rPr lang="en-US" sz="2400" dirty="0"/>
              <a:t>2} and {</a:t>
            </a:r>
            <a:r>
              <a:rPr lang="en-US" sz="2400" b="1" i="1" dirty="0"/>
              <a:t>x</a:t>
            </a:r>
            <a:r>
              <a:rPr lang="en-US" sz="2400" dirty="0"/>
              <a:t>3, </a:t>
            </a:r>
            <a:r>
              <a:rPr lang="en-US" sz="2400" b="1" i="1" dirty="0"/>
              <a:t>x</a:t>
            </a:r>
            <a:r>
              <a:rPr lang="en-US" sz="2400" dirty="0"/>
              <a:t>4, </a:t>
            </a:r>
            <a:r>
              <a:rPr lang="en-US" sz="2400" b="1" i="1" dirty="0"/>
              <a:t>x</a:t>
            </a:r>
            <a:r>
              <a:rPr lang="en-US" sz="2400" dirty="0"/>
              <a:t>5} are merged into a single </a:t>
            </a:r>
            <a:r>
              <a:rPr lang="en-US" sz="2400" dirty="0" err="1"/>
              <a:t>set,</a:t>
            </a:r>
            <a:r>
              <a:rPr lang="en-US" sz="2400" i="1" dirty="0" err="1"/>
              <a:t>X</a:t>
            </a:r>
            <a:r>
              <a:rPr lang="en-US" sz="2400" dirty="0"/>
              <a:t>.</a:t>
            </a:r>
            <a:endParaRPr lang="en-IN" sz="2400" dirty="0"/>
          </a:p>
        </p:txBody>
      </p:sp>
      <p:pic>
        <p:nvPicPr>
          <p:cNvPr id="9" name="Content Placeholder 8">
            <a:extLst>
              <a:ext uri="{FF2B5EF4-FFF2-40B4-BE49-F238E27FC236}">
                <a16:creationId xmlns:a16="http://schemas.microsoft.com/office/drawing/2014/main" id="{1CCA4088-44C1-C667-5AF3-E5B11B94D85F}"/>
              </a:ext>
            </a:extLst>
          </p:cNvPr>
          <p:cNvPicPr>
            <a:picLocks noGrp="1" noChangeAspect="1"/>
          </p:cNvPicPr>
          <p:nvPr>
            <p:ph sz="half" idx="2"/>
          </p:nvPr>
        </p:nvPicPr>
        <p:blipFill>
          <a:blip r:embed="rId2"/>
          <a:stretch>
            <a:fillRect/>
          </a:stretch>
        </p:blipFill>
        <p:spPr>
          <a:xfrm>
            <a:off x="6460434" y="1590261"/>
            <a:ext cx="5655365" cy="4015409"/>
          </a:xfrm>
          <a:prstGeom prst="rect">
            <a:avLst/>
          </a:prstGeom>
        </p:spPr>
      </p:pic>
      <p:sp>
        <p:nvSpPr>
          <p:cNvPr id="11" name="TextBox 10">
            <a:extLst>
              <a:ext uri="{FF2B5EF4-FFF2-40B4-BE49-F238E27FC236}">
                <a16:creationId xmlns:a16="http://schemas.microsoft.com/office/drawing/2014/main" id="{4589D4C3-D806-22D0-6B00-3B39FDE1E800}"/>
              </a:ext>
            </a:extLst>
          </p:cNvPr>
          <p:cNvSpPr txBox="1"/>
          <p:nvPr/>
        </p:nvSpPr>
        <p:spPr>
          <a:xfrm>
            <a:off x="6460434" y="5846544"/>
            <a:ext cx="5277679" cy="707886"/>
          </a:xfrm>
          <a:prstGeom prst="rect">
            <a:avLst/>
          </a:prstGeom>
          <a:noFill/>
        </p:spPr>
        <p:txBody>
          <a:bodyPr wrap="square">
            <a:spAutoFit/>
          </a:bodyPr>
          <a:lstStyle/>
          <a:p>
            <a:pPr algn="l"/>
            <a:r>
              <a:rPr lang="en-IN" sz="2000" b="0" u="none" strike="noStrike" baseline="0" dirty="0"/>
              <a:t>Cutting the dendrogram </a:t>
            </a:r>
            <a:r>
              <a:rPr lang="en-US" sz="2000" b="0" u="none" strike="noStrike" baseline="0" dirty="0"/>
              <a:t>at a specific level results in a clustering.</a:t>
            </a:r>
            <a:endParaRPr lang="en-IN" sz="2000" dirty="0"/>
          </a:p>
        </p:txBody>
      </p:sp>
    </p:spTree>
    <p:extLst>
      <p:ext uri="{BB962C8B-B14F-4D97-AF65-F5344CB8AC3E}">
        <p14:creationId xmlns:p14="http://schemas.microsoft.com/office/powerpoint/2010/main" val="138144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3E7677-F0E1-D0CF-226D-EC9E8B478B15}"/>
              </a:ext>
            </a:extLst>
          </p:cNvPr>
          <p:cNvPicPr>
            <a:picLocks noChangeAspect="1"/>
          </p:cNvPicPr>
          <p:nvPr/>
        </p:nvPicPr>
        <p:blipFill>
          <a:blip r:embed="rId2"/>
          <a:stretch>
            <a:fillRect/>
          </a:stretch>
        </p:blipFill>
        <p:spPr>
          <a:xfrm>
            <a:off x="1904383" y="2392756"/>
            <a:ext cx="8840434" cy="4239217"/>
          </a:xfrm>
          <a:prstGeom prst="rect">
            <a:avLst/>
          </a:prstGeom>
        </p:spPr>
      </p:pic>
      <p:sp>
        <p:nvSpPr>
          <p:cNvPr id="7" name="Title 6">
            <a:extLst>
              <a:ext uri="{FF2B5EF4-FFF2-40B4-BE49-F238E27FC236}">
                <a16:creationId xmlns:a16="http://schemas.microsoft.com/office/drawing/2014/main" id="{52A1093F-79FE-2025-130A-3B9F7086791A}"/>
              </a:ext>
            </a:extLst>
          </p:cNvPr>
          <p:cNvSpPr>
            <a:spLocks noGrp="1"/>
          </p:cNvSpPr>
          <p:nvPr>
            <p:ph type="title"/>
          </p:nvPr>
        </p:nvSpPr>
        <p:spPr>
          <a:xfrm>
            <a:off x="397565" y="365125"/>
            <a:ext cx="11449877" cy="1325563"/>
          </a:xfrm>
        </p:spPr>
        <p:txBody>
          <a:bodyPr>
            <a:noAutofit/>
          </a:bodyPr>
          <a:lstStyle/>
          <a:p>
            <a:r>
              <a:rPr lang="en-US" sz="2400" dirty="0">
                <a:latin typeface="+mn-lt"/>
              </a:rPr>
              <a:t>A proximity dendrogram is a dendrogram that takes into account the level of proximity where two clusters are merged for the first time. </a:t>
            </a:r>
            <a:br>
              <a:rPr lang="en-US" sz="2400" dirty="0">
                <a:latin typeface="+mn-lt"/>
              </a:rPr>
            </a:br>
            <a:r>
              <a:rPr lang="en-US" sz="2400" dirty="0">
                <a:latin typeface="+mn-lt"/>
              </a:rPr>
              <a:t>When a dissimilarity (similarity) measure is in use, the proximity dendrogram is called a dissimilarity </a:t>
            </a:r>
            <a:r>
              <a:rPr lang="en-IN" sz="2400" dirty="0">
                <a:latin typeface="+mn-lt"/>
              </a:rPr>
              <a:t>(similarity) dendrogram.</a:t>
            </a:r>
          </a:p>
        </p:txBody>
      </p:sp>
    </p:spTree>
    <p:extLst>
      <p:ext uri="{BB962C8B-B14F-4D97-AF65-F5344CB8AC3E}">
        <p14:creationId xmlns:p14="http://schemas.microsoft.com/office/powerpoint/2010/main" val="4250376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8FD36-2C65-CD98-C4DB-FED17FA5CA6F}"/>
              </a:ext>
            </a:extLst>
          </p:cNvPr>
          <p:cNvSpPr>
            <a:spLocks noGrp="1"/>
          </p:cNvSpPr>
          <p:nvPr>
            <p:ph type="title"/>
          </p:nvPr>
        </p:nvSpPr>
        <p:spPr/>
        <p:txBody>
          <a:bodyPr/>
          <a:lstStyle/>
          <a:p>
            <a:r>
              <a:rPr lang="en-IN" b="1" dirty="0"/>
              <a:t>Hierarchical Divisive clustering</a:t>
            </a:r>
            <a:r>
              <a:rPr lang="en-US" b="1" dirty="0"/>
              <a:t> (Top-Down)</a:t>
            </a:r>
            <a:endParaRPr lang="en-IN" dirty="0"/>
          </a:p>
        </p:txBody>
      </p:sp>
      <p:sp>
        <p:nvSpPr>
          <p:cNvPr id="3" name="Content Placeholder 2">
            <a:extLst>
              <a:ext uri="{FF2B5EF4-FFF2-40B4-BE49-F238E27FC236}">
                <a16:creationId xmlns:a16="http://schemas.microsoft.com/office/drawing/2014/main" id="{ABDBA453-9E20-B6D7-64A7-E7453C47AF7D}"/>
              </a:ext>
            </a:extLst>
          </p:cNvPr>
          <p:cNvSpPr>
            <a:spLocks noGrp="1"/>
          </p:cNvSpPr>
          <p:nvPr>
            <p:ph idx="1"/>
          </p:nvPr>
        </p:nvSpPr>
        <p:spPr>
          <a:xfrm>
            <a:off x="838200" y="1690688"/>
            <a:ext cx="10515600" cy="4802187"/>
          </a:xfrm>
        </p:spPr>
        <p:txBody>
          <a:bodyPr>
            <a:normAutofit/>
          </a:bodyPr>
          <a:lstStyle/>
          <a:p>
            <a:r>
              <a:rPr lang="en-US" sz="2400" dirty="0"/>
              <a:t>Top-down clustering requires a method for splitting a cluster that contains the whole data and proceeds by splitting clusters recursively until individual data have been split into singleton clusters.</a:t>
            </a:r>
          </a:p>
          <a:p>
            <a:pPr fontAlgn="base"/>
            <a:r>
              <a:rPr lang="en-US" sz="2400" b="1" dirty="0"/>
              <a:t>Workflow for Hierarchical Divisive clustering : </a:t>
            </a:r>
          </a:p>
          <a:p>
            <a:pPr marL="914400" lvl="1" indent="-457200" fontAlgn="base">
              <a:buFont typeface="+mj-lt"/>
              <a:buAutoNum type="arabicPeriod"/>
            </a:pPr>
            <a:r>
              <a:rPr lang="en-US" sz="2000" b="1" dirty="0"/>
              <a:t>Start with all data points in one cluster:</a:t>
            </a:r>
            <a:r>
              <a:rPr lang="en-US" sz="2000" dirty="0"/>
              <a:t> Treat the entire dataset as a single large cluster.</a:t>
            </a:r>
          </a:p>
          <a:p>
            <a:pPr marL="914400" lvl="1" indent="-457200" fontAlgn="base">
              <a:buFont typeface="+mj-lt"/>
              <a:buAutoNum type="arabicPeriod"/>
            </a:pPr>
            <a:r>
              <a:rPr lang="en-US" sz="2000" b="1" dirty="0"/>
              <a:t>Split the cluster</a:t>
            </a:r>
            <a:r>
              <a:rPr lang="en-US" sz="2000" dirty="0"/>
              <a:t>: Divide the cluster into two smaller clusters. The division is typically done by finding the two most dissimilar points in the cluster and using them to separate the data into two parts.</a:t>
            </a:r>
          </a:p>
          <a:p>
            <a:pPr marL="914400" lvl="1" indent="-457200" fontAlgn="base">
              <a:buFont typeface="+mj-lt"/>
              <a:buAutoNum type="arabicPeriod"/>
            </a:pPr>
            <a:r>
              <a:rPr lang="en-US" sz="2000" b="1" dirty="0"/>
              <a:t>Repeat the process</a:t>
            </a:r>
            <a:r>
              <a:rPr lang="en-US" sz="2000" dirty="0"/>
              <a:t>: For each of the new clusters, repeat the splitting process: Choose the cluster with the most dissimilar points and split it again into two smaller clusters.</a:t>
            </a:r>
          </a:p>
          <a:p>
            <a:pPr marL="914400" lvl="1" indent="-457200" fontAlgn="base">
              <a:buFont typeface="+mj-lt"/>
              <a:buAutoNum type="arabicPeriod"/>
            </a:pPr>
            <a:r>
              <a:rPr lang="en-US" sz="2000" b="1" dirty="0"/>
              <a:t>Stop when each data point is in its own cluster</a:t>
            </a:r>
            <a:r>
              <a:rPr lang="en-US" sz="2000" dirty="0"/>
              <a:t>: Continue this process until every data point is its own cluster or the stopping condition (such as a predefined number of clusters) is met.</a:t>
            </a:r>
            <a:endParaRPr lang="en-IN" sz="2000" dirty="0"/>
          </a:p>
        </p:txBody>
      </p:sp>
    </p:spTree>
    <p:extLst>
      <p:ext uri="{BB962C8B-B14F-4D97-AF65-F5344CB8AC3E}">
        <p14:creationId xmlns:p14="http://schemas.microsoft.com/office/powerpoint/2010/main" val="2119242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34562-A0EF-9403-F3BD-F63381DE1AB6}"/>
              </a:ext>
            </a:extLst>
          </p:cNvPr>
          <p:cNvSpPr>
            <a:spLocks noGrp="1"/>
          </p:cNvSpPr>
          <p:nvPr>
            <p:ph type="title"/>
          </p:nvPr>
        </p:nvSpPr>
        <p:spPr/>
        <p:txBody>
          <a:bodyPr/>
          <a:lstStyle/>
          <a:p>
            <a:r>
              <a:rPr lang="en-IN" b="1" dirty="0"/>
              <a:t>Hierarchical Divisive clustering</a:t>
            </a:r>
            <a:r>
              <a:rPr lang="en-US" b="1" dirty="0"/>
              <a:t> (Example)</a:t>
            </a:r>
            <a:endParaRPr lang="en-IN" dirty="0"/>
          </a:p>
        </p:txBody>
      </p:sp>
      <p:pic>
        <p:nvPicPr>
          <p:cNvPr id="5" name="Content Placeholder 4">
            <a:extLst>
              <a:ext uri="{FF2B5EF4-FFF2-40B4-BE49-F238E27FC236}">
                <a16:creationId xmlns:a16="http://schemas.microsoft.com/office/drawing/2014/main" id="{95272789-FAF6-F794-FBE3-55D386175B79}"/>
              </a:ext>
            </a:extLst>
          </p:cNvPr>
          <p:cNvPicPr>
            <a:picLocks noGrp="1" noChangeAspect="1"/>
          </p:cNvPicPr>
          <p:nvPr>
            <p:ph idx="1"/>
          </p:nvPr>
        </p:nvPicPr>
        <p:blipFill>
          <a:blip r:embed="rId2"/>
          <a:stretch>
            <a:fillRect/>
          </a:stretch>
        </p:blipFill>
        <p:spPr>
          <a:xfrm>
            <a:off x="1762387" y="1825625"/>
            <a:ext cx="8667226" cy="4351338"/>
          </a:xfrm>
          <a:prstGeom prst="rect">
            <a:avLst/>
          </a:prstGeom>
        </p:spPr>
      </p:pic>
      <p:cxnSp>
        <p:nvCxnSpPr>
          <p:cNvPr id="4" name="Straight Arrow Connector 3">
            <a:extLst>
              <a:ext uri="{FF2B5EF4-FFF2-40B4-BE49-F238E27FC236}">
                <a16:creationId xmlns:a16="http://schemas.microsoft.com/office/drawing/2014/main" id="{A283F2B6-BA61-CA3A-9B3A-1CE771E4E8C7}"/>
              </a:ext>
            </a:extLst>
          </p:cNvPr>
          <p:cNvCxnSpPr/>
          <p:nvPr/>
        </p:nvCxnSpPr>
        <p:spPr>
          <a:xfrm>
            <a:off x="5387009" y="3429000"/>
            <a:ext cx="0" cy="36774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31723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9A79-84FF-6564-8E35-FA9813225700}"/>
              </a:ext>
            </a:extLst>
          </p:cNvPr>
          <p:cNvSpPr>
            <a:spLocks noGrp="1"/>
          </p:cNvSpPr>
          <p:nvPr>
            <p:ph type="title"/>
          </p:nvPr>
        </p:nvSpPr>
        <p:spPr/>
        <p:txBody>
          <a:bodyPr/>
          <a:lstStyle/>
          <a:p>
            <a:r>
              <a:rPr lang="en-IN" b="1" dirty="0"/>
              <a:t>Hierarchical Divisive clustering</a:t>
            </a:r>
            <a:r>
              <a:rPr lang="en-US" b="1" dirty="0"/>
              <a:t> (Example)</a:t>
            </a:r>
            <a:endParaRPr lang="en-IN" dirty="0"/>
          </a:p>
        </p:txBody>
      </p:sp>
      <p:graphicFrame>
        <p:nvGraphicFramePr>
          <p:cNvPr id="4" name="Content Placeholder 3">
            <a:extLst>
              <a:ext uri="{FF2B5EF4-FFF2-40B4-BE49-F238E27FC236}">
                <a16:creationId xmlns:a16="http://schemas.microsoft.com/office/drawing/2014/main" id="{702D7A6E-5602-E87B-55BF-5F9A52AFAAE7}"/>
              </a:ext>
            </a:extLst>
          </p:cNvPr>
          <p:cNvGraphicFramePr>
            <a:graphicFrameLocks noGrp="1"/>
          </p:cNvGraphicFramePr>
          <p:nvPr>
            <p:ph idx="1"/>
          </p:nvPr>
        </p:nvGraphicFramePr>
        <p:xfrm>
          <a:off x="838200" y="2522351"/>
          <a:ext cx="3525078" cy="2560320"/>
        </p:xfrm>
        <a:graphic>
          <a:graphicData uri="http://schemas.openxmlformats.org/drawingml/2006/table">
            <a:tbl>
              <a:tblPr/>
              <a:tblGrid>
                <a:gridCol w="1060174">
                  <a:extLst>
                    <a:ext uri="{9D8B030D-6E8A-4147-A177-3AD203B41FA5}">
                      <a16:colId xmlns:a16="http://schemas.microsoft.com/office/drawing/2014/main" val="4293204504"/>
                    </a:ext>
                  </a:extLst>
                </a:gridCol>
                <a:gridCol w="2464904">
                  <a:extLst>
                    <a:ext uri="{9D8B030D-6E8A-4147-A177-3AD203B41FA5}">
                      <a16:colId xmlns:a16="http://schemas.microsoft.com/office/drawing/2014/main" val="2603044524"/>
                    </a:ext>
                  </a:extLst>
                </a:gridCol>
              </a:tblGrid>
              <a:tr h="0">
                <a:tc>
                  <a:txBody>
                    <a:bodyPr/>
                    <a:lstStyle/>
                    <a:p>
                      <a:pPr>
                        <a:buNone/>
                      </a:pPr>
                      <a:r>
                        <a:rPr lang="en-IN" b="1"/>
                        <a:t>Point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Coordinates (x, 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617898"/>
                  </a:ext>
                </a:extLst>
              </a:tr>
              <a:tr h="0">
                <a:tc>
                  <a:txBody>
                    <a:bodyPr/>
                    <a:lstStyle/>
                    <a:p>
                      <a:pPr>
                        <a:buNone/>
                      </a:pPr>
                      <a:r>
                        <a:rPr lang="en-IN"/>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486041"/>
                  </a:ext>
                </a:extLst>
              </a:tr>
              <a:tr h="0">
                <a:tc>
                  <a:txBody>
                    <a:bodyPr/>
                    <a:lstStyle/>
                    <a:p>
                      <a:pPr>
                        <a:buNone/>
                      </a:pPr>
                      <a:r>
                        <a:rPr lang="en-IN"/>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6871002"/>
                  </a:ext>
                </a:extLst>
              </a:tr>
              <a:tr h="0">
                <a:tc>
                  <a:txBody>
                    <a:bodyPr/>
                    <a:lstStyle/>
                    <a:p>
                      <a:pPr>
                        <a:buNone/>
                      </a:pPr>
                      <a:r>
                        <a:rPr lang="en-IN"/>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6563191"/>
                  </a:ext>
                </a:extLst>
              </a:tr>
              <a:tr h="0">
                <a:tc>
                  <a:txBody>
                    <a:bodyPr/>
                    <a:lstStyle/>
                    <a:p>
                      <a:pPr>
                        <a:buNone/>
                      </a:pPr>
                      <a:r>
                        <a:rPr lang="en-IN"/>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(6, 5)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3316684"/>
                  </a:ext>
                </a:extLst>
              </a:tr>
              <a:tr h="0">
                <a:tc>
                  <a:txBody>
                    <a:bodyPr/>
                    <a:lstStyle/>
                    <a:p>
                      <a:pPr>
                        <a:buNone/>
                      </a:pPr>
                      <a:r>
                        <a:rPr lang="en-IN"/>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(7, 6)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176638"/>
                  </a:ext>
                </a:extLst>
              </a:tr>
              <a:tr h="0">
                <a:tc>
                  <a:txBody>
                    <a:bodyPr/>
                    <a:lstStyle/>
                    <a:p>
                      <a:pPr>
                        <a:buNone/>
                      </a:pPr>
                      <a:r>
                        <a:rPr lang="en-IN"/>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(8, 7)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2182810"/>
                  </a:ext>
                </a:extLst>
              </a:tr>
            </a:tbl>
          </a:graphicData>
        </a:graphic>
      </p:graphicFrame>
      <p:sp>
        <p:nvSpPr>
          <p:cNvPr id="6" name="TextBox 5">
            <a:extLst>
              <a:ext uri="{FF2B5EF4-FFF2-40B4-BE49-F238E27FC236}">
                <a16:creationId xmlns:a16="http://schemas.microsoft.com/office/drawing/2014/main" id="{DF0D9E4A-F987-CE2B-1493-394598D598D4}"/>
              </a:ext>
            </a:extLst>
          </p:cNvPr>
          <p:cNvSpPr txBox="1"/>
          <p:nvPr/>
        </p:nvSpPr>
        <p:spPr>
          <a:xfrm>
            <a:off x="838200" y="1921853"/>
            <a:ext cx="3525078" cy="400110"/>
          </a:xfrm>
          <a:prstGeom prst="rect">
            <a:avLst/>
          </a:prstGeom>
          <a:noFill/>
        </p:spPr>
        <p:txBody>
          <a:bodyPr wrap="square">
            <a:spAutoFit/>
          </a:bodyPr>
          <a:lstStyle/>
          <a:p>
            <a:r>
              <a:rPr lang="en-IN" sz="2000" dirty="0"/>
              <a:t>Let us assume:</a:t>
            </a:r>
          </a:p>
        </p:txBody>
      </p:sp>
      <p:pic>
        <p:nvPicPr>
          <p:cNvPr id="8" name="Picture 7">
            <a:extLst>
              <a:ext uri="{FF2B5EF4-FFF2-40B4-BE49-F238E27FC236}">
                <a16:creationId xmlns:a16="http://schemas.microsoft.com/office/drawing/2014/main" id="{EF6E9768-AF66-BC7A-D57F-63F7C71F2346}"/>
              </a:ext>
            </a:extLst>
          </p:cNvPr>
          <p:cNvPicPr>
            <a:picLocks noChangeAspect="1"/>
          </p:cNvPicPr>
          <p:nvPr/>
        </p:nvPicPr>
        <p:blipFill>
          <a:blip r:embed="rId2"/>
          <a:stretch>
            <a:fillRect/>
          </a:stretch>
        </p:blipFill>
        <p:spPr>
          <a:xfrm>
            <a:off x="838200" y="5283059"/>
            <a:ext cx="5144218" cy="943107"/>
          </a:xfrm>
          <a:prstGeom prst="rect">
            <a:avLst/>
          </a:prstGeom>
        </p:spPr>
      </p:pic>
      <p:sp>
        <p:nvSpPr>
          <p:cNvPr id="12" name="TextBox 11">
            <a:extLst>
              <a:ext uri="{FF2B5EF4-FFF2-40B4-BE49-F238E27FC236}">
                <a16:creationId xmlns:a16="http://schemas.microsoft.com/office/drawing/2014/main" id="{4A5653FC-AA96-6858-C1B2-7142D83EA683}"/>
              </a:ext>
            </a:extLst>
          </p:cNvPr>
          <p:cNvSpPr txBox="1"/>
          <p:nvPr/>
        </p:nvSpPr>
        <p:spPr>
          <a:xfrm>
            <a:off x="6467889" y="5354502"/>
            <a:ext cx="4813024" cy="400110"/>
          </a:xfrm>
          <a:prstGeom prst="rect">
            <a:avLst/>
          </a:prstGeom>
          <a:noFill/>
        </p:spPr>
        <p:txBody>
          <a:bodyPr wrap="square">
            <a:spAutoFit/>
          </a:bodyPr>
          <a:lstStyle/>
          <a:p>
            <a:r>
              <a:rPr lang="en-US" sz="2000" dirty="0"/>
              <a:t>A is far from others → First split.</a:t>
            </a:r>
            <a:endParaRPr lang="en-IN" sz="2000" dirty="0"/>
          </a:p>
        </p:txBody>
      </p:sp>
      <p:graphicFrame>
        <p:nvGraphicFramePr>
          <p:cNvPr id="13" name="Table 12">
            <a:extLst>
              <a:ext uri="{FF2B5EF4-FFF2-40B4-BE49-F238E27FC236}">
                <a16:creationId xmlns:a16="http://schemas.microsoft.com/office/drawing/2014/main" id="{2A2DD9D0-85F5-468B-8EE8-50F99E61E30A}"/>
              </a:ext>
            </a:extLst>
          </p:cNvPr>
          <p:cNvGraphicFramePr>
            <a:graphicFrameLocks noGrp="1"/>
          </p:cNvGraphicFramePr>
          <p:nvPr/>
        </p:nvGraphicFramePr>
        <p:xfrm>
          <a:off x="5161723" y="2522351"/>
          <a:ext cx="6516755" cy="2560320"/>
        </p:xfrm>
        <a:graphic>
          <a:graphicData uri="http://schemas.openxmlformats.org/drawingml/2006/table">
            <a:tbl>
              <a:tblPr/>
              <a:tblGrid>
                <a:gridCol w="930965">
                  <a:extLst>
                    <a:ext uri="{9D8B030D-6E8A-4147-A177-3AD203B41FA5}">
                      <a16:colId xmlns:a16="http://schemas.microsoft.com/office/drawing/2014/main" val="3150303182"/>
                    </a:ext>
                  </a:extLst>
                </a:gridCol>
                <a:gridCol w="930965">
                  <a:extLst>
                    <a:ext uri="{9D8B030D-6E8A-4147-A177-3AD203B41FA5}">
                      <a16:colId xmlns:a16="http://schemas.microsoft.com/office/drawing/2014/main" val="2603224687"/>
                    </a:ext>
                  </a:extLst>
                </a:gridCol>
                <a:gridCol w="930965">
                  <a:extLst>
                    <a:ext uri="{9D8B030D-6E8A-4147-A177-3AD203B41FA5}">
                      <a16:colId xmlns:a16="http://schemas.microsoft.com/office/drawing/2014/main" val="4039960291"/>
                    </a:ext>
                  </a:extLst>
                </a:gridCol>
                <a:gridCol w="930965">
                  <a:extLst>
                    <a:ext uri="{9D8B030D-6E8A-4147-A177-3AD203B41FA5}">
                      <a16:colId xmlns:a16="http://schemas.microsoft.com/office/drawing/2014/main" val="382160913"/>
                    </a:ext>
                  </a:extLst>
                </a:gridCol>
                <a:gridCol w="930965">
                  <a:extLst>
                    <a:ext uri="{9D8B030D-6E8A-4147-A177-3AD203B41FA5}">
                      <a16:colId xmlns:a16="http://schemas.microsoft.com/office/drawing/2014/main" val="483299439"/>
                    </a:ext>
                  </a:extLst>
                </a:gridCol>
                <a:gridCol w="930965">
                  <a:extLst>
                    <a:ext uri="{9D8B030D-6E8A-4147-A177-3AD203B41FA5}">
                      <a16:colId xmlns:a16="http://schemas.microsoft.com/office/drawing/2014/main" val="607607089"/>
                    </a:ext>
                  </a:extLst>
                </a:gridCol>
                <a:gridCol w="930965">
                  <a:extLst>
                    <a:ext uri="{9D8B030D-6E8A-4147-A177-3AD203B41FA5}">
                      <a16:colId xmlns:a16="http://schemas.microsoft.com/office/drawing/2014/main" val="2442246804"/>
                    </a:ext>
                  </a:extLst>
                </a:gridCol>
              </a:tblGrid>
              <a:tr h="365760">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B</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F</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2414708"/>
                  </a:ext>
                </a:extLst>
              </a:tr>
              <a:tr h="365760">
                <a:tc>
                  <a:txBody>
                    <a:bodyPr/>
                    <a:lstStyle/>
                    <a:p>
                      <a:pPr>
                        <a:buNone/>
                      </a:pPr>
                      <a:r>
                        <a:rPr lang="en-IN" b="1"/>
                        <a:t>A</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6.40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6.40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7.81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9.22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10.63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8108874"/>
                  </a:ext>
                </a:extLst>
              </a:tr>
              <a:tr h="365760">
                <a:tc>
                  <a:txBody>
                    <a:bodyPr/>
                    <a:lstStyle/>
                    <a:p>
                      <a:pPr>
                        <a:buNone/>
                      </a:pPr>
                      <a:r>
                        <a:rPr lang="en-IN" b="1"/>
                        <a:t>B</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6.40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1.41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2.00</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2.83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4.24</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8892203"/>
                  </a:ext>
                </a:extLst>
              </a:tr>
              <a:tr h="365760">
                <a:tc>
                  <a:txBody>
                    <a:bodyPr/>
                    <a:lstStyle/>
                    <a:p>
                      <a:pPr>
                        <a:buNone/>
                      </a:pPr>
                      <a:r>
                        <a:rPr lang="en-IN" b="1"/>
                        <a:t>C</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6.40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1.41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2.83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4.24</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656569"/>
                  </a:ext>
                </a:extLst>
              </a:tr>
              <a:tr h="365760">
                <a:tc>
                  <a:txBody>
                    <a:bodyPr/>
                    <a:lstStyle/>
                    <a:p>
                      <a:pPr>
                        <a:buNone/>
                      </a:pPr>
                      <a:r>
                        <a:rPr lang="en-IN" b="1"/>
                        <a:t>D</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7.81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1.41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2.83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8943648"/>
                  </a:ext>
                </a:extLst>
              </a:tr>
              <a:tr h="365760">
                <a:tc>
                  <a:txBody>
                    <a:bodyPr/>
                    <a:lstStyle/>
                    <a:p>
                      <a:pPr>
                        <a:buNone/>
                      </a:pPr>
                      <a:r>
                        <a:rPr lang="en-IN" b="1"/>
                        <a:t>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1.41</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3382428"/>
                  </a:ext>
                </a:extLst>
              </a:tr>
              <a:tr h="365760">
                <a:tc>
                  <a:txBody>
                    <a:bodyPr/>
                    <a:lstStyle/>
                    <a:p>
                      <a:pPr>
                        <a:buNone/>
                      </a:pPr>
                      <a:r>
                        <a:rPr lang="en-IN" b="1"/>
                        <a:t>F</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4.24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4.24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2673773"/>
                  </a:ext>
                </a:extLst>
              </a:tr>
            </a:tbl>
          </a:graphicData>
        </a:graphic>
      </p:graphicFrame>
      <p:sp>
        <p:nvSpPr>
          <p:cNvPr id="15" name="TextBox 14">
            <a:extLst>
              <a:ext uri="{FF2B5EF4-FFF2-40B4-BE49-F238E27FC236}">
                <a16:creationId xmlns:a16="http://schemas.microsoft.com/office/drawing/2014/main" id="{4A42CD3C-58CD-1616-B4D3-A76798ACC35F}"/>
              </a:ext>
            </a:extLst>
          </p:cNvPr>
          <p:cNvSpPr txBox="1"/>
          <p:nvPr/>
        </p:nvSpPr>
        <p:spPr>
          <a:xfrm>
            <a:off x="5046593" y="1737187"/>
            <a:ext cx="6097656" cy="400110"/>
          </a:xfrm>
          <a:prstGeom prst="rect">
            <a:avLst/>
          </a:prstGeom>
          <a:noFill/>
        </p:spPr>
        <p:txBody>
          <a:bodyPr wrap="square">
            <a:spAutoFit/>
          </a:bodyPr>
          <a:lstStyle/>
          <a:p>
            <a:r>
              <a:rPr lang="en-IN" sz="2000" dirty="0"/>
              <a:t>Step 3: Pairwise Distance Calculations</a:t>
            </a:r>
          </a:p>
        </p:txBody>
      </p:sp>
    </p:spTree>
    <p:extLst>
      <p:ext uri="{BB962C8B-B14F-4D97-AF65-F5344CB8AC3E}">
        <p14:creationId xmlns:p14="http://schemas.microsoft.com/office/powerpoint/2010/main" val="410985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015E7-68C6-A40B-C697-E97D5BF2DE2F}"/>
              </a:ext>
            </a:extLst>
          </p:cNvPr>
          <p:cNvSpPr>
            <a:spLocks noGrp="1"/>
          </p:cNvSpPr>
          <p:nvPr>
            <p:ph type="title"/>
          </p:nvPr>
        </p:nvSpPr>
        <p:spPr/>
        <p:txBody>
          <a:bodyPr/>
          <a:lstStyle/>
          <a:p>
            <a:r>
              <a:rPr lang="en-IN" b="1" dirty="0"/>
              <a:t>Hierarchical Divisive clustering</a:t>
            </a:r>
            <a:r>
              <a:rPr lang="en-US" b="1" dirty="0"/>
              <a:t> (Example)</a:t>
            </a:r>
            <a:endParaRPr lang="en-IN" dirty="0"/>
          </a:p>
        </p:txBody>
      </p:sp>
      <p:sp>
        <p:nvSpPr>
          <p:cNvPr id="8" name="Content Placeholder 7">
            <a:extLst>
              <a:ext uri="{FF2B5EF4-FFF2-40B4-BE49-F238E27FC236}">
                <a16:creationId xmlns:a16="http://schemas.microsoft.com/office/drawing/2014/main" id="{2BCDBA87-DC6F-5C0E-1E18-A7E455F694ED}"/>
              </a:ext>
            </a:extLst>
          </p:cNvPr>
          <p:cNvSpPr>
            <a:spLocks noGrp="1"/>
          </p:cNvSpPr>
          <p:nvPr>
            <p:ph idx="1"/>
          </p:nvPr>
        </p:nvSpPr>
        <p:spPr/>
        <p:txBody>
          <a:bodyPr>
            <a:normAutofit/>
          </a:bodyPr>
          <a:lstStyle/>
          <a:p>
            <a:r>
              <a:rPr lang="en-IN" dirty="0"/>
              <a:t>Divisive Clustering Using Distances</a:t>
            </a:r>
          </a:p>
          <a:p>
            <a:pPr lvl="1"/>
            <a:r>
              <a:rPr lang="en-US" b="1" dirty="0"/>
              <a:t>Step 1: Split ABCDEF  </a:t>
            </a:r>
          </a:p>
          <a:p>
            <a:pPr lvl="2"/>
            <a:r>
              <a:rPr lang="en-US" dirty="0"/>
              <a:t>A has large distances </a:t>
            </a:r>
          </a:p>
          <a:p>
            <a:pPr lvl="2"/>
            <a:r>
              <a:rPr lang="en-US" dirty="0"/>
              <a:t>Split: {A}      {B C D E F}</a:t>
            </a:r>
          </a:p>
          <a:p>
            <a:pPr lvl="1"/>
            <a:r>
              <a:rPr lang="en-IN" b="1" dirty="0"/>
              <a:t>Step 2: Split BCDEF </a:t>
            </a:r>
          </a:p>
          <a:p>
            <a:pPr lvl="2"/>
            <a:r>
              <a:rPr lang="en-US" dirty="0"/>
              <a:t>Observe: B &amp; C close (1), D, E, F close among themselves </a:t>
            </a:r>
          </a:p>
          <a:p>
            <a:pPr lvl="2"/>
            <a:r>
              <a:rPr lang="en-US" dirty="0"/>
              <a:t>Split: {B C}      {D E F}</a:t>
            </a:r>
          </a:p>
          <a:p>
            <a:pPr lvl="1"/>
            <a:r>
              <a:rPr lang="en-IN" b="1" dirty="0"/>
              <a:t>Step 3: Split DEF</a:t>
            </a:r>
          </a:p>
          <a:p>
            <a:pPr lvl="2"/>
            <a:r>
              <a:rPr lang="en-IN" dirty="0"/>
              <a:t>D &amp; E closest (1)</a:t>
            </a:r>
          </a:p>
          <a:p>
            <a:pPr lvl="2"/>
            <a:r>
              <a:rPr lang="en-IN" dirty="0"/>
              <a:t>Split:  {D E}      {F}</a:t>
            </a:r>
          </a:p>
          <a:p>
            <a:pPr lvl="2"/>
            <a:endParaRPr lang="en-US" dirty="0"/>
          </a:p>
          <a:p>
            <a:pPr lvl="1"/>
            <a:endParaRPr lang="en-US" dirty="0"/>
          </a:p>
          <a:p>
            <a:pPr lvl="1"/>
            <a:endParaRPr lang="en-IN" dirty="0"/>
          </a:p>
        </p:txBody>
      </p:sp>
      <p:sp>
        <p:nvSpPr>
          <p:cNvPr id="3" name="Content Placeholder 2">
            <a:extLst>
              <a:ext uri="{FF2B5EF4-FFF2-40B4-BE49-F238E27FC236}">
                <a16:creationId xmlns:a16="http://schemas.microsoft.com/office/drawing/2014/main" id="{F1AFB2E1-D886-5971-8A3E-5934ABF95168}"/>
              </a:ext>
            </a:extLst>
          </p:cNvPr>
          <p:cNvSpPr txBox="1">
            <a:spLocks/>
          </p:cNvSpPr>
          <p:nvPr/>
        </p:nvSpPr>
        <p:spPr>
          <a:xfrm>
            <a:off x="7172498" y="1825625"/>
            <a:ext cx="4498571"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t-BR"/>
              <a:t>	 8.1</a:t>
            </a:r>
          </a:p>
          <a:p>
            <a:pPr marL="0" indent="0">
              <a:buFont typeface="Arial" panose="020B0604020202020204" pitchFamily="34" charset="0"/>
              <a:buNone/>
            </a:pPr>
            <a:r>
              <a:rPr lang="pt-BR"/>
              <a:t>                |</a:t>
            </a:r>
          </a:p>
          <a:p>
            <a:pPr marL="0" indent="0">
              <a:buFont typeface="Arial" panose="020B0604020202020204" pitchFamily="34" charset="0"/>
              <a:buNone/>
            </a:pPr>
            <a:r>
              <a:rPr lang="pt-BR"/>
              <a:t>        -----------------</a:t>
            </a:r>
          </a:p>
          <a:p>
            <a:pPr marL="0" indent="0">
              <a:buFont typeface="Arial" panose="020B0604020202020204" pitchFamily="34" charset="0"/>
              <a:buNone/>
            </a:pPr>
            <a:r>
              <a:rPr lang="pt-BR"/>
              <a:t>        |               |</a:t>
            </a:r>
          </a:p>
          <a:p>
            <a:pPr marL="0" indent="0">
              <a:buFont typeface="Arial" panose="020B0604020202020204" pitchFamily="34" charset="0"/>
              <a:buNone/>
            </a:pPr>
            <a:r>
              <a:rPr lang="pt-BR">
                <a:solidFill>
                  <a:srgbClr val="FF0000"/>
                </a:solidFill>
              </a:rPr>
              <a:t>        {A}              </a:t>
            </a:r>
            <a:r>
              <a:rPr lang="pt-BR"/>
              <a:t>4.2 {B,C,D,E,F}</a:t>
            </a:r>
          </a:p>
          <a:p>
            <a:pPr marL="0" indent="0">
              <a:buFont typeface="Arial" panose="020B0604020202020204" pitchFamily="34" charset="0"/>
              <a:buNone/>
            </a:pPr>
            <a:r>
              <a:rPr lang="pt-BR"/>
              <a:t>                      /    		\</a:t>
            </a:r>
          </a:p>
          <a:p>
            <a:pPr marL="0" indent="0">
              <a:buFont typeface="Arial" panose="020B0604020202020204" pitchFamily="34" charset="0"/>
              <a:buNone/>
            </a:pPr>
            <a:r>
              <a:rPr lang="pt-BR"/>
              <a:t>                    {B,C}      	2.8 {D,E,F}</a:t>
            </a:r>
          </a:p>
          <a:p>
            <a:pPr marL="0" indent="0">
              <a:buFont typeface="Arial" panose="020B0604020202020204" pitchFamily="34" charset="0"/>
              <a:buNone/>
            </a:pPr>
            <a:r>
              <a:rPr lang="pt-BR"/>
              <a:t>	         |		      /   \</a:t>
            </a:r>
          </a:p>
          <a:p>
            <a:pPr marL="0" indent="0">
              <a:buFont typeface="Arial" panose="020B0604020202020204" pitchFamily="34" charset="0"/>
              <a:buNone/>
            </a:pPr>
            <a:r>
              <a:rPr lang="pt-BR"/>
              <a:t>	         |		{D,E}    </a:t>
            </a:r>
            <a:r>
              <a:rPr lang="pt-BR">
                <a:solidFill>
                  <a:srgbClr val="FF0000"/>
                </a:solidFill>
              </a:rPr>
              <a:t>{F}</a:t>
            </a:r>
          </a:p>
          <a:p>
            <a:pPr marL="0" indent="0">
              <a:buFont typeface="Arial" panose="020B0604020202020204" pitchFamily="34" charset="0"/>
              <a:buNone/>
            </a:pPr>
            <a:r>
              <a:rPr lang="pt-BR"/>
              <a:t>	      /  \   	  /  \</a:t>
            </a:r>
          </a:p>
          <a:p>
            <a:pPr marL="0" indent="0">
              <a:buFont typeface="Arial" panose="020B0604020202020204" pitchFamily="34" charset="0"/>
              <a:buNone/>
            </a:pPr>
            <a:r>
              <a:rPr lang="pt-BR"/>
              <a:t> 	1.41 1.41         1.41 1.41</a:t>
            </a:r>
          </a:p>
          <a:p>
            <a:pPr marL="0" indent="0">
              <a:buFont typeface="Arial" panose="020B0604020202020204" pitchFamily="34" charset="0"/>
              <a:buNone/>
            </a:pPr>
            <a:r>
              <a:rPr lang="pt-BR"/>
              <a:t>                </a:t>
            </a:r>
            <a:r>
              <a:rPr lang="pt-BR">
                <a:solidFill>
                  <a:srgbClr val="FF0000"/>
                </a:solidFill>
              </a:rPr>
              <a:t>{B}     {C}          {D}     {E}</a:t>
            </a:r>
            <a:endParaRPr lang="en-IN" dirty="0">
              <a:solidFill>
                <a:srgbClr val="FF0000"/>
              </a:solidFill>
            </a:endParaRPr>
          </a:p>
        </p:txBody>
      </p:sp>
      <p:sp>
        <p:nvSpPr>
          <p:cNvPr id="5" name="TextBox 4">
            <a:extLst>
              <a:ext uri="{FF2B5EF4-FFF2-40B4-BE49-F238E27FC236}">
                <a16:creationId xmlns:a16="http://schemas.microsoft.com/office/drawing/2014/main" id="{251E142F-0ED3-0687-CFB9-EF0CBC8DD83F}"/>
              </a:ext>
            </a:extLst>
          </p:cNvPr>
          <p:cNvSpPr txBox="1"/>
          <p:nvPr/>
        </p:nvSpPr>
        <p:spPr>
          <a:xfrm>
            <a:off x="8084128" y="1275189"/>
            <a:ext cx="3586941" cy="830997"/>
          </a:xfrm>
          <a:prstGeom prst="rect">
            <a:avLst/>
          </a:prstGeom>
          <a:noFill/>
        </p:spPr>
        <p:txBody>
          <a:bodyPr wrap="square">
            <a:spAutoFit/>
          </a:bodyPr>
          <a:lstStyle/>
          <a:p>
            <a:r>
              <a:rPr lang="en-IN" sz="2400" dirty="0"/>
              <a:t>Dendrogram with Heights</a:t>
            </a:r>
          </a:p>
          <a:p>
            <a:endParaRPr lang="en-IN" sz="2400" dirty="0"/>
          </a:p>
        </p:txBody>
      </p:sp>
    </p:spTree>
    <p:extLst>
      <p:ext uri="{BB962C8B-B14F-4D97-AF65-F5344CB8AC3E}">
        <p14:creationId xmlns:p14="http://schemas.microsoft.com/office/powerpoint/2010/main" val="1682768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1153</Words>
  <Application>Microsoft Office PowerPoint</Application>
  <PresentationFormat>Widescreen</PresentationFormat>
  <Paragraphs>140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High clustering</vt:lpstr>
      <vt:lpstr>Hierarchical clustering</vt:lpstr>
      <vt:lpstr>PowerPoint Presentation</vt:lpstr>
      <vt:lpstr>Dendrogram</vt:lpstr>
      <vt:lpstr>Dendrogram</vt:lpstr>
      <vt:lpstr>Dendrogram</vt:lpstr>
      <vt:lpstr>Hierarchical Agglomerative Clustering (HAC)</vt:lpstr>
      <vt:lpstr>Workflow for Hierarchical Agglomerative clustering</vt:lpstr>
      <vt:lpstr>PowerPoint Presentation</vt:lpstr>
      <vt:lpstr>Generalized Agglomerative Sheme (GAS)</vt:lpstr>
      <vt:lpstr>A proximity dendrogram is a dendrogram that takes into account the level of proximity where two clusters are merged for the first time.  When a dissimilarity (similarity) measure is in use, the proximity dendrogram is called a dissimilarity (similarity) dendrogram.</vt:lpstr>
      <vt:lpstr>Hierarchical Divisive clustering (Top-Down)</vt:lpstr>
      <vt:lpstr>Hierarchical Divisive clustering (Example)</vt:lpstr>
      <vt:lpstr>Hierarchical Divisive clustering (Example)</vt:lpstr>
      <vt:lpstr>Hierarchical Divisive clustering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2026-03-12T05:43:13Z</dcterms:created>
  <dcterms:modified xsi:type="dcterms:W3CDTF">2026-03-12T05:43:57Z</dcterms:modified>
</cp:coreProperties>
</file>