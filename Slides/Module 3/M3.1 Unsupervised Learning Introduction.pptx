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375" r:id="rId2"/>
    <p:sldId id="337" r:id="rId3"/>
    <p:sldId id="338" r:id="rId4"/>
    <p:sldId id="339" r:id="rId5"/>
    <p:sldId id="327" r:id="rId6"/>
    <p:sldId id="288" r:id="rId7"/>
    <p:sldId id="289" r:id="rId8"/>
    <p:sldId id="290" r:id="rId9"/>
    <p:sldId id="340" r:id="rId10"/>
    <p:sldId id="369" r:id="rId11"/>
    <p:sldId id="3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835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1B7827-952A-409B-BB6F-68F25014DACA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C3C1E7A-DD55-42E9-939B-75154065E2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17971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p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76" name="Google Shape;576;p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1" name="Google Shape;581;p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2" name="Google Shape;582;p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588" name="Google Shape;588;p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0B00B1-D20B-27D2-A6B3-E3432E5586D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A897EA-60EA-C72F-0E56-C47BEABD48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DFBE7-0E40-9178-242F-CABDAE139D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948F0F-0E6D-4B52-A8BF-295463C54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F6E617-0DB3-3B0E-AE6A-77B58AEC9B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84055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7C0AB0-F6D9-740D-B915-84AA7626D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BE67B-04C1-71A3-E83F-3910A5073D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17CE4-F0CE-6826-90D7-8546AD390E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334189-7637-5647-69E2-F2C7ED0074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6520C-D1B5-A303-45BE-D102FC3EB4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12962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5AD673-819B-E435-4B65-68CCE9CC5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BFCC6C-DF25-BB9A-B8D8-2423BC33DF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B7A90-F852-B9D6-6718-BB41F5B9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5FAEC4-4CEE-5CF1-A20B-2C239C4348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7BE174-3F60-D3F4-97A8-90D910468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5470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B8D50A-2E0A-8DD1-097E-1B2D58906D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B681B-7D8B-033C-BF97-56DF1D387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80C7FA4-32E7-2970-E39C-52BB3766D3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A372F2-397D-DAE1-77E7-0AF8E88C8B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FC249C-1103-D690-0560-91F35B306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70AB01-95C0-C1C9-3C93-B16CE3B4C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5790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6DD18-28CE-4DC3-B6E5-E678B594D6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73C823-1DF4-3F6F-C6E6-6A1FA8799F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81EBBA8-578E-527B-B8B5-EB828D153D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D575ED1-09BC-A770-3A5E-3060B4C01F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BC9092-C347-EDD5-5ADC-C37CFE85B35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5605DF-12D7-4514-E8A6-C4FC7A19FD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C3C5F78-E9AD-9764-B201-4E091ADE87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867ECED-F996-001F-5B0A-82DB33AF0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21844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F0EF97-D366-BCA5-4F61-AFE5E1A6C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9CA71E4-FB73-32FD-CEBD-C2F403E09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FD860-19DD-9D03-52E2-CE8C78F9D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86A6B7-5BEC-9B7E-49F1-F7843BAA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142030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77726D-C214-81DD-A968-1B7467B6D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A2AD52-C637-6520-34E7-4C2E9D82D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90A7F4-8421-3E7C-F5B2-DA2232BA8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03059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10FC92-DA87-3F6C-56FC-24AEA1EA6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7B9DB7-723C-39B4-0358-20A819CC74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A49608-6D8F-D798-012C-67348B832A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EDB8B7-28FE-A884-9071-BDB64289D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7FDFE1-5604-4E3C-E028-BF1B64DE4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28A01A-C001-2741-379F-A71205F0E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3255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6C7E98-85F3-7F6F-44DD-A253C20933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49644B-EB54-465A-7AC2-DAD191664BE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8672DB-05E7-DC9A-1996-E043A5230A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BF3AF2-E4C1-AF6C-7340-BF104A163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AEB72A-8897-96A2-7493-B3327EAF9D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394043-4170-B86A-3C0D-3CB8799132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0482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CEE16A-CEB8-F526-696B-D17C3EAD4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1A9710-C20D-221B-1F24-601EDC21B5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5AD06-73AE-2A2B-E3F0-95596EBBE8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B348BD-7944-C9B0-9E5E-3839CFBD4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512A23-7C6D-2CF0-E2CC-DE4946A477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1986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552131C-2E5B-8DF6-8C7E-F9C5A8E7E5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85928-C2F2-4DB2-2B75-FE58835865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EA9966-0B16-D04C-3F62-4F3787377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56346E-FE66-32C8-B16C-9C1D889EFA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1918BA-C890-8610-ED54-81ADA1376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03583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93C8CA-55BF-4C54-7647-ABEE8CC15A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DC7014-C5D4-C254-F371-18D9D9B86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276891-1A4D-6A7F-10ED-1EA252E19B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A810BE-7BF3-4EDC-8E96-57CFA423C64D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C91BBB-B17C-3638-DC63-CA23C9474C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6B3BB-2F4A-03F1-D263-673B813544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CAD339-EB2D-4148-B86C-94723B33208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623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F93E8A-F48F-C0C1-E760-6F3C53D01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Why 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E80F1-2478-A1DA-8E73-7ABE05A83C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Unsupervised learning is harder </a:t>
            </a:r>
          </a:p>
          <a:p>
            <a:pPr lvl="1"/>
            <a:r>
              <a:rPr lang="en-US" dirty="0"/>
              <a:t>How do we know if results are meaningful? No answer labels are available. </a:t>
            </a:r>
          </a:p>
          <a:p>
            <a:pPr lvl="2"/>
            <a:r>
              <a:rPr lang="en-US" dirty="0"/>
              <a:t>Let the expert look at the results (external evaluation) </a:t>
            </a:r>
          </a:p>
          <a:p>
            <a:pPr lvl="2"/>
            <a:r>
              <a:rPr lang="en-US" dirty="0"/>
              <a:t>Define an objective function on clustering (internal evaluation) </a:t>
            </a:r>
          </a:p>
          <a:p>
            <a:r>
              <a:rPr lang="en-US" dirty="0"/>
              <a:t>We nevertheless need it because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Labeling large datasets is very costly (speech recognition)</a:t>
            </a:r>
          </a:p>
          <a:p>
            <a:pPr lvl="2"/>
            <a:r>
              <a:rPr lang="en-US" dirty="0"/>
              <a:t>Sometimes can label only a few examples by hand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May have no idea what/how many classes there are (data mining) </a:t>
            </a:r>
          </a:p>
          <a:p>
            <a:pPr marL="914400" lvl="1" indent="-457200">
              <a:buFont typeface="+mj-lt"/>
              <a:buAutoNum type="arabicPeriod"/>
            </a:pPr>
            <a:r>
              <a:rPr lang="en-US" dirty="0"/>
              <a:t>May want to use clustering to gain some insight into the structure of the data before designing a classifier  </a:t>
            </a:r>
          </a:p>
          <a:p>
            <a:pPr lvl="2"/>
            <a:r>
              <a:rPr lang="en-US" dirty="0"/>
              <a:t>Clustering as data description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1409865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69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879407" y="318812"/>
            <a:ext cx="10587037" cy="579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5" name="Google Shape;585;p70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1576388" y="365125"/>
            <a:ext cx="10615612" cy="605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1" name="Google Shape;591;p71"/>
          <p:cNvPicPr preferRelativeResize="0">
            <a:picLocks noGrp="1"/>
          </p:cNvPicPr>
          <p:nvPr>
            <p:ph type="body" idx="4294967295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97719" y="182562"/>
            <a:ext cx="10596562" cy="649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50BBE1-4E07-7CC9-2375-50F417B27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</a:t>
            </a:r>
          </a:p>
        </p:txBody>
      </p:sp>
      <p:pic>
        <p:nvPicPr>
          <p:cNvPr id="2050" name="Picture 2" descr="Introduction to Unsupervised Learning: Overview and applications">
            <a:extLst>
              <a:ext uri="{FF2B5EF4-FFF2-40B4-BE49-F238E27FC236}">
                <a16:creationId xmlns:a16="http://schemas.microsoft.com/office/drawing/2014/main" id="{37AD5551-798E-3F23-2EF2-5C0D9A78F5B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903" y="1351722"/>
            <a:ext cx="5802923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A set of different-colored shapes (unlabeled data) is input into an unsupervised learning algorithm, resulting in output of three homogenous groups (classes).">
            <a:extLst>
              <a:ext uri="{FF2B5EF4-FFF2-40B4-BE49-F238E27FC236}">
                <a16:creationId xmlns:a16="http://schemas.microsoft.com/office/drawing/2014/main" id="{5BFD669C-B03F-368E-9064-CDA17315AA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9600" y="4121150"/>
            <a:ext cx="6400800" cy="23717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20790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D92F7-4A34-C463-2575-3D8EBBFD81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4EA8D1-6707-4B0D-C0A0-8A361056F0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system tries to learn without a teacher or label. </a:t>
            </a:r>
          </a:p>
          <a:p>
            <a:r>
              <a:rPr lang="en-US" dirty="0"/>
              <a:t>Some of the most important unsupervised learning algorithms</a:t>
            </a:r>
          </a:p>
          <a:p>
            <a:pPr lvl="1"/>
            <a:r>
              <a:rPr lang="en-IN" dirty="0"/>
              <a:t>Clustering</a:t>
            </a:r>
          </a:p>
          <a:p>
            <a:pPr lvl="2"/>
            <a:r>
              <a:rPr lang="en-IN" b="1" dirty="0"/>
              <a:t>K-Means</a:t>
            </a:r>
            <a:r>
              <a:rPr lang="en-IN" dirty="0"/>
              <a:t>, DBSCAN, Hierarchical Cluster Analysis (HCA)</a:t>
            </a:r>
          </a:p>
          <a:p>
            <a:pPr lvl="1"/>
            <a:r>
              <a:rPr lang="en-US" dirty="0"/>
              <a:t>Anomaly detection and novelty detection</a:t>
            </a:r>
          </a:p>
          <a:p>
            <a:pPr lvl="2"/>
            <a:r>
              <a:rPr lang="en-IN" dirty="0"/>
              <a:t>One-class </a:t>
            </a:r>
            <a:r>
              <a:rPr lang="en-IN" b="1" dirty="0"/>
              <a:t>SVM</a:t>
            </a:r>
            <a:r>
              <a:rPr lang="en-IN" dirty="0"/>
              <a:t>, Isolation Forest, </a:t>
            </a:r>
          </a:p>
          <a:p>
            <a:pPr lvl="1"/>
            <a:r>
              <a:rPr lang="en-IN" dirty="0"/>
              <a:t>Visualization and dimensionality reduction</a:t>
            </a:r>
          </a:p>
          <a:p>
            <a:pPr lvl="2"/>
            <a:r>
              <a:rPr lang="en-IN" b="1" dirty="0"/>
              <a:t>Principal Component Analysis (PCA)</a:t>
            </a:r>
            <a:r>
              <a:rPr lang="en-IN" dirty="0"/>
              <a:t>, Kernel PCA, Locally Linear Embedding (LLE), </a:t>
            </a:r>
            <a:r>
              <a:rPr lang="en-US" dirty="0"/>
              <a:t>t-Distributed Stochastic Neighbor Embedding (t-SNE)</a:t>
            </a:r>
          </a:p>
          <a:p>
            <a:pPr lvl="1"/>
            <a:r>
              <a:rPr lang="en-IN" dirty="0"/>
              <a:t>Association rule learning</a:t>
            </a:r>
          </a:p>
          <a:p>
            <a:pPr lvl="2"/>
            <a:r>
              <a:rPr lang="en-IN" dirty="0" err="1"/>
              <a:t>Apriori</a:t>
            </a:r>
            <a:r>
              <a:rPr lang="en-IN" dirty="0"/>
              <a:t>, Eclat</a:t>
            </a:r>
          </a:p>
        </p:txBody>
      </p:sp>
    </p:spTree>
    <p:extLst>
      <p:ext uri="{BB962C8B-B14F-4D97-AF65-F5344CB8AC3E}">
        <p14:creationId xmlns:p14="http://schemas.microsoft.com/office/powerpoint/2010/main" val="28095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780318-C14A-C46C-B1D1-49EA8E8F74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 - Clustering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8065CA-D4C2-57BC-E53E-11C8FA65C6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138" y="1571417"/>
            <a:ext cx="7659758" cy="350697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459019A-498C-38AE-F0DA-872C6435F446}"/>
              </a:ext>
            </a:extLst>
          </p:cNvPr>
          <p:cNvSpPr txBox="1"/>
          <p:nvPr/>
        </p:nvSpPr>
        <p:spPr>
          <a:xfrm>
            <a:off x="838200" y="5170313"/>
            <a:ext cx="109595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/>
              <a:t>The goal is to group similar instances together into </a:t>
            </a:r>
            <a:r>
              <a:rPr lang="en-US" sz="2400" b="0" i="1" u="none" strike="noStrike" baseline="0" dirty="0"/>
              <a:t>clusters</a:t>
            </a:r>
            <a:r>
              <a:rPr lang="en-US" sz="2400" b="0" i="0" u="none" strike="noStrike" baseline="0" dirty="0"/>
              <a:t>. Clustering is a great tool for data analysis, customer segmentation, recommender systems, search engines, image segmentation, semi-supervised learning, dimensionality reduction, </a:t>
            </a:r>
            <a:r>
              <a:rPr lang="en-IN" sz="2400" b="0" i="0" u="none" strike="noStrike" baseline="0" dirty="0"/>
              <a:t>and more.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30176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F2D8A-EA4B-663F-FA72-EC8EA1185C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 - </a:t>
            </a:r>
            <a:r>
              <a:rPr lang="en-IN" i="1" dirty="0"/>
              <a:t>Anomaly detection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0973414-CCBC-77FF-C18C-5BBEFF57BF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9469" y="1673156"/>
            <a:ext cx="8259417" cy="3511687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7B3C896-5CF2-1836-66F4-64CF2FC80E9D}"/>
              </a:ext>
            </a:extLst>
          </p:cNvPr>
          <p:cNvSpPr txBox="1"/>
          <p:nvPr/>
        </p:nvSpPr>
        <p:spPr>
          <a:xfrm>
            <a:off x="838198" y="5380672"/>
            <a:ext cx="1088997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400" b="0" i="0" u="none" strike="noStrike" baseline="0" dirty="0"/>
              <a:t>The objective is to learn what “normal” data looks like, and then use that to detect abnormal instances, such as defective items on a production line or a new trend in a time series.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23888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DFCB6C-21E2-26F6-E594-77E90E48A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Unsupervised learning - </a:t>
            </a:r>
            <a:r>
              <a:rPr lang="en-IN" i="1" dirty="0"/>
              <a:t>Anomaly detection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4E482A-FE3A-ED19-43EA-81728907A0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Density estimation</a:t>
            </a:r>
          </a:p>
          <a:p>
            <a:pPr lvl="1"/>
            <a:r>
              <a:rPr lang="en-US" dirty="0"/>
              <a:t>This is the task of estimating the probability density function (PDF) of the random process that generated the dataset. </a:t>
            </a:r>
          </a:p>
          <a:p>
            <a:pPr lvl="1"/>
            <a:r>
              <a:rPr lang="en-US" dirty="0"/>
              <a:t>Density estimation is commonly used for anomaly detection: instances located in very low-density regions are likely to be anomalies. </a:t>
            </a:r>
          </a:p>
          <a:p>
            <a:pPr lvl="1"/>
            <a:r>
              <a:rPr lang="en-US" dirty="0"/>
              <a:t>It is also useful for data analysis and visualization.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58481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9243-B1C9-B822-56A1-F27FB633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basic steps that an expert must follow in order to develop a clustering task </a:t>
            </a:r>
            <a:r>
              <a:rPr lang="en-IN" sz="3600" dirty="0"/>
              <a:t>are the following: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0AD2E-2C55-1259-C1CA-A4924D3E1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Feature selection: </a:t>
            </a:r>
            <a:r>
              <a:rPr lang="en-US" sz="2400" dirty="0"/>
              <a:t>Features must be properly selected so as to encode as much information as possible concerning the task of interest.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Proximity measure:</a:t>
            </a:r>
            <a:r>
              <a:rPr lang="en-US" sz="2400" dirty="0"/>
              <a:t> This measure quantifies </a:t>
            </a:r>
            <a:r>
              <a:rPr lang="en-US" sz="2400" dirty="0" err="1"/>
              <a:t>how“similar”or“dissimilar”two</a:t>
            </a:r>
            <a:r>
              <a:rPr lang="en-US" sz="2400" dirty="0"/>
              <a:t> feature vectors are. All selected features contribute equally to the computation of the proximity measure and there are no features that dominate others.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Clustering criterion</a:t>
            </a:r>
            <a:r>
              <a:rPr lang="en-US" sz="2400" dirty="0"/>
              <a:t>. This criterion depends on the interpretation the expert gives to the term </a:t>
            </a:r>
            <a:r>
              <a:rPr lang="en-US" sz="2400" i="1" dirty="0"/>
              <a:t>sensible</a:t>
            </a:r>
            <a:r>
              <a:rPr lang="en-US" sz="2400" dirty="0"/>
              <a:t>, based on the type of clusters that are expected to underlie the data set.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Clustering algorithms:</a:t>
            </a:r>
            <a:r>
              <a:rPr lang="en-US" sz="2400" dirty="0"/>
              <a:t> Having adopted a proximity measure and a clustering criterion, this step refers to the choice of a specific algorithmic scheme that unravels the clustering structure of the data set.</a:t>
            </a:r>
          </a:p>
        </p:txBody>
      </p:sp>
    </p:spTree>
    <p:extLst>
      <p:ext uri="{BB962C8B-B14F-4D97-AF65-F5344CB8AC3E}">
        <p14:creationId xmlns:p14="http://schemas.microsoft.com/office/powerpoint/2010/main" val="4177317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779243-B1C9-B822-56A1-F27FB633D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The basic steps that an expert must follow in order to develop a clustering task </a:t>
            </a:r>
            <a:r>
              <a:rPr lang="en-IN" sz="3600" dirty="0"/>
              <a:t>are the following: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60AD2E-2C55-1259-C1CA-A4924D3E1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>
              <a:buFont typeface="+mj-lt"/>
              <a:buAutoNum type="arabicPeriod" startAt="5"/>
            </a:pPr>
            <a:r>
              <a:rPr lang="en-US" sz="2400" b="1" dirty="0"/>
              <a:t>Validation of the results:</a:t>
            </a:r>
            <a:r>
              <a:rPr lang="en-US" sz="2400" dirty="0"/>
              <a:t> Once the results of the clustering algorithm have been obtained, we have to verify their correctness. This is usually carried out </a:t>
            </a:r>
            <a:r>
              <a:rPr lang="en-IN" sz="2400" dirty="0"/>
              <a:t>using appropriate tests.</a:t>
            </a:r>
          </a:p>
          <a:p>
            <a:pPr marL="457200" indent="-457200">
              <a:buFont typeface="+mj-lt"/>
              <a:buAutoNum type="arabicPeriod" startAt="5"/>
            </a:pPr>
            <a:r>
              <a:rPr lang="en-US" sz="2400" b="1" dirty="0"/>
              <a:t>Interpretation of the results:</a:t>
            </a:r>
            <a:r>
              <a:rPr lang="en-US" sz="2400" dirty="0"/>
              <a:t> In many cases, the expert in the application field must integrate the results of clustering with other experimental evidence and analysis in order to draw the right conclusions.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8277530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565</Words>
  <Application>Microsoft Office PowerPoint</Application>
  <PresentationFormat>Widescreen</PresentationFormat>
  <Paragraphs>40</Paragraphs>
  <Slides>11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Why Unsupervised Learning</vt:lpstr>
      <vt:lpstr>PowerPoint Presentation</vt:lpstr>
      <vt:lpstr>PowerPoint Presentation</vt:lpstr>
      <vt:lpstr>PowerPoint Presentation</vt:lpstr>
      <vt:lpstr>Unsupervised learning</vt:lpstr>
      <vt:lpstr>Unsupervised learning</vt:lpstr>
      <vt:lpstr>Unsupervised learning - Clustering</vt:lpstr>
      <vt:lpstr>Unsupervised learning - Anomaly detection</vt:lpstr>
      <vt:lpstr>Unsupervised learning - Anomaly detection</vt:lpstr>
      <vt:lpstr>The basic steps that an expert must follow in order to develop a clustering task are the following:</vt:lpstr>
      <vt:lpstr>The basic steps that an expert must follow in order to develop a clustering task are the following: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Neethu Suman</dc:creator>
  <cp:lastModifiedBy>Neethu Suman</cp:lastModifiedBy>
  <cp:revision>1</cp:revision>
  <dcterms:created xsi:type="dcterms:W3CDTF">2026-03-10T16:54:34Z</dcterms:created>
  <dcterms:modified xsi:type="dcterms:W3CDTF">2026-03-10T16:55:18Z</dcterms:modified>
</cp:coreProperties>
</file>