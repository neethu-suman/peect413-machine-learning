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371" r:id="rId2"/>
    <p:sldId id="377" r:id="rId3"/>
    <p:sldId id="373" r:id="rId4"/>
    <p:sldId id="374" r:id="rId5"/>
    <p:sldId id="378" r:id="rId6"/>
    <p:sldId id="380" r:id="rId7"/>
    <p:sldId id="267" r:id="rId8"/>
    <p:sldId id="388" r:id="rId9"/>
    <p:sldId id="390" r:id="rId10"/>
    <p:sldId id="379" r:id="rId11"/>
    <p:sldId id="269" r:id="rId12"/>
    <p:sldId id="265" r:id="rId13"/>
    <p:sldId id="381" r:id="rId14"/>
    <p:sldId id="382" r:id="rId15"/>
    <p:sldId id="383" r:id="rId16"/>
    <p:sldId id="384" r:id="rId17"/>
    <p:sldId id="385" r:id="rId18"/>
    <p:sldId id="386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83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43D494-A2DF-4FD1-9B95-4449B061E938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A63003-B70B-4A20-BBF8-E541D8705D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70690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85FCC-7EB5-6343-2CC3-596C89B25F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CD8008-397F-EB69-D35C-0B0240CBAE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BC893A-8DFA-31C8-3FDA-7A64DC8DA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6B092-350E-44BA-BB65-6371800D05BE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B22DF-5DB2-AF73-B20B-DB9FE3324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65C7D8-5E4F-F1B9-9E8C-FFAA4C870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3B55D-93EB-4ECD-B131-0974ED151A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95220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2C240-E4E8-C03D-B9C5-A9AD91550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566686-6CEB-3600-133C-AEDCAEF46D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8EE478-5F68-3652-A98D-EA509443A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6B092-350E-44BA-BB65-6371800D05BE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9229BE-A3B5-07F7-98D6-76E81D84A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FBC0B6-AD21-D336-14FB-BC82642FD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3B55D-93EB-4ECD-B131-0974ED151A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1670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4A3E9-1A8F-A1F8-75AC-E9BCB0CF4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AE9E5C-5791-83DD-8224-0445A75EA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6332B1-F7FE-AF9B-0084-7F883CAF0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6B092-350E-44BA-BB65-6371800D05BE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639654-D68C-7DA5-6D5B-4561059BF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ADB4E2-1434-E149-7C18-66D8DFB16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3B55D-93EB-4ECD-B131-0974ED151A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0180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AB02F-DE49-433E-B779-D4A9C8BF7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D0BF2E-0BB4-B6CE-E823-5DA0896C7E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E3DDE0-162D-1D12-44C8-F6F4B7CFA7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2D74D4-8821-07BA-C695-59D37A02C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6B092-350E-44BA-BB65-6371800D05BE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DA2231-1D85-A0CC-CDCE-0D2C011FF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4D8287-17E6-17C4-144F-6CDE4EA1C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3B55D-93EB-4ECD-B131-0974ED151A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0870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F7B0D-B5A5-F366-B238-F28E5B705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32C879-1CE0-B3A9-CC92-6D129B1522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B22213-095C-7932-3E67-4AFC9E3068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ACCB50-5C51-60F7-DF02-248D451072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60A039-5B45-FF81-7624-CC62AA301E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84CC78-35CE-B61A-C10A-5B6B4DFD2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6B092-350E-44BA-BB65-6371800D05BE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F19513-6838-258D-58AE-980E608B4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5DF51F-9381-4AF1-681E-7D0B3EDBD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3B55D-93EB-4ECD-B131-0974ED151A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0842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26AA2-B96F-3AF4-C125-969102C99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035379-FE4C-6E85-3FDF-180E23A2E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6B092-350E-44BA-BB65-6371800D05BE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CDDDBD-5CC9-FBCA-3BD9-D5FB727EC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A3A8FA-FD82-5AF6-4C27-825B2D04F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3B55D-93EB-4ECD-B131-0974ED151A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3915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120EFB-B10F-D23D-60A9-795CE9C5F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6B092-350E-44BA-BB65-6371800D05BE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35DEF8-BE92-0115-6A70-819E434BD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F75AD0-CBBB-AC94-578F-4EB7AF663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3B55D-93EB-4ECD-B131-0974ED151A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9156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8F8E9-37A9-8B58-C806-152B7AFE8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3C7CE5-DEAE-4BE1-C55A-D9A832109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98FF16-25ED-9286-641A-3187D9E276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0CAB65-01AC-1E35-1C46-7CF7F7D3A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6B092-350E-44BA-BB65-6371800D05BE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BD4ECD-42FC-FC1A-320E-BC679CF63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A793A9-1596-A872-5C44-752C45564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3B55D-93EB-4ECD-B131-0974ED151A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818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294DA-7047-97C3-5BC8-0F5B85E63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A90C05-CF82-4228-C174-B288B171BC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A7D80F-EBB1-B1A0-952D-E65E898575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CDAA2D-E4B7-2A7B-1E83-794B976F8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6B092-350E-44BA-BB65-6371800D05BE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996F7-0C70-E21B-B2B9-24A389E9E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9CA1C8-028C-79FB-D67F-A27F51B07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3B55D-93EB-4ECD-B131-0974ED151A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86287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08206-CF2B-34F1-E8F9-8F9EF4048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EB57AA-A02C-0192-106A-65ADF1D4E0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1B86BB-E1B8-EE57-748F-74D5833E6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6B092-350E-44BA-BB65-6371800D05BE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D5DD97-4492-26D9-1057-306CAE342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53B8CA-1F05-C562-369C-75EE4E18C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3B55D-93EB-4ECD-B131-0974ED151A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33558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19F4C2-F9F4-0ADA-23F1-9AFF2F27BC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C09FCE-04D0-ED27-68A2-C10329C6B8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8A4D54-E7AA-09A3-9CB7-0BE57749E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6B092-350E-44BA-BB65-6371800D05BE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7AB57E-F68F-479C-069C-882EC8E95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6CDBF7-060A-6D80-F3A6-EA033B307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3B55D-93EB-4ECD-B131-0974ED151A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883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227746-E7F6-997B-7381-42C7351AE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BEEC6C-D5E0-AAFB-2ACE-2D568E187B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A3F417-C96A-22F0-2190-31A85AD686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96B092-350E-44BA-BB65-6371800D05BE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922AA2-E3B3-B88A-72D2-D42D281FEA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59840A-BFBF-5CF2-D873-4C26C1A513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B3B55D-93EB-4ECD-B131-0974ED151A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7768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E9694-323B-A4C8-48B0-6496A89FA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Clustering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6E1A47-99EA-2C04-0E16-222A91FC34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Let </a:t>
            </a:r>
            <a:r>
              <a:rPr lang="en-US" sz="2400" i="1" dirty="0"/>
              <a:t>X </a:t>
            </a:r>
            <a:r>
              <a:rPr lang="en-US" sz="2400" dirty="0"/>
              <a:t>be our data set, </a:t>
            </a:r>
            <a:r>
              <a:rPr lang="en-IN" sz="2400" dirty="0"/>
              <a:t>that is,         </a:t>
            </a:r>
            <a:r>
              <a:rPr lang="en-IN" sz="2400" i="1" dirty="0"/>
              <a:t>X </a:t>
            </a:r>
            <a:r>
              <a:rPr lang="en-IN" sz="2400" dirty="0"/>
              <a:t> {</a:t>
            </a:r>
            <a:r>
              <a:rPr lang="en-IN" sz="2400" b="1" i="1" dirty="0"/>
              <a:t>x</a:t>
            </a:r>
            <a:r>
              <a:rPr lang="en-IN" sz="2400" dirty="0"/>
              <a:t>1, </a:t>
            </a:r>
            <a:r>
              <a:rPr lang="en-IN" sz="2400" b="1" i="1" dirty="0"/>
              <a:t>x</a:t>
            </a:r>
            <a:r>
              <a:rPr lang="en-IN" sz="2400" dirty="0"/>
              <a:t>2, </a:t>
            </a:r>
            <a:r>
              <a:rPr lang="en-IN" sz="2400" i="1" dirty="0"/>
              <a:t>. . . </a:t>
            </a:r>
            <a:r>
              <a:rPr lang="en-IN" sz="2400" dirty="0"/>
              <a:t>, </a:t>
            </a:r>
            <a:r>
              <a:rPr lang="en-IN" sz="2400" b="1" i="1" dirty="0" err="1"/>
              <a:t>x</a:t>
            </a:r>
            <a:r>
              <a:rPr lang="en-IN" sz="2400" i="1" dirty="0" err="1"/>
              <a:t>N</a:t>
            </a:r>
            <a:r>
              <a:rPr lang="en-IN" sz="2400" i="1" dirty="0"/>
              <a:t> </a:t>
            </a:r>
            <a:r>
              <a:rPr lang="en-IN" sz="2400" dirty="0"/>
              <a:t>}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US" sz="2400" dirty="0"/>
              <a:t>the vectors contained in a cluster </a:t>
            </a:r>
            <a:r>
              <a:rPr lang="en-US" sz="2400" i="1" dirty="0"/>
              <a:t>Ci </a:t>
            </a:r>
            <a:r>
              <a:rPr lang="en-US" sz="2400" dirty="0"/>
              <a:t>are “more similar” to each other and “less similar” to the feature vectors of the other clusters</a:t>
            </a:r>
            <a:endParaRPr lang="en-IN" sz="2400" dirty="0"/>
          </a:p>
          <a:p>
            <a:pPr marL="0" indent="0">
              <a:buNone/>
            </a:pPr>
            <a:endParaRPr lang="en-IN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09BEE1-0974-32D0-3813-3C55AAD373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318325"/>
            <a:ext cx="10084904" cy="2638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720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83995-449F-03F8-89AF-35FC33641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Clustering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B26599-6B09-ACEF-491C-3DC873CBE6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Hard or crisp </a:t>
            </a:r>
            <a:r>
              <a:rPr lang="en-US" dirty="0"/>
              <a:t>clustering </a:t>
            </a:r>
            <a:r>
              <a:rPr lang="en-US" dirty="0">
                <a:sym typeface="Wingdings" panose="05000000000000000000" pitchFamily="2" charset="2"/>
              </a:rPr>
              <a:t> </a:t>
            </a:r>
            <a:r>
              <a:rPr lang="en-IN" dirty="0"/>
              <a:t>each vector belongs to </a:t>
            </a:r>
            <a:r>
              <a:rPr lang="en-US" dirty="0"/>
              <a:t>a single cluster</a:t>
            </a:r>
          </a:p>
          <a:p>
            <a:r>
              <a:rPr lang="en-US" dirty="0"/>
              <a:t>What is a good clustering? </a:t>
            </a:r>
          </a:p>
          <a:p>
            <a:pPr lvl="1"/>
            <a:r>
              <a:rPr lang="en-US" dirty="0"/>
              <a:t>Internal (within the cluster) distances should be small </a:t>
            </a:r>
          </a:p>
          <a:p>
            <a:pPr lvl="1"/>
            <a:r>
              <a:rPr lang="en-US" dirty="0"/>
              <a:t>External (intra-cluster) should be large</a:t>
            </a:r>
          </a:p>
          <a:p>
            <a:pPr lvl="1"/>
            <a:r>
              <a:rPr lang="en-US" dirty="0"/>
              <a:t>Clustering is a way to discover new categories (classes)</a:t>
            </a:r>
          </a:p>
          <a:p>
            <a:r>
              <a:rPr lang="en-US" dirty="0"/>
              <a:t>What we Need for Clustering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Proximity measure</a:t>
            </a:r>
            <a:r>
              <a:rPr lang="en-US" dirty="0"/>
              <a:t>, either </a:t>
            </a:r>
          </a:p>
          <a:p>
            <a:pPr lvl="2"/>
            <a:r>
              <a:rPr lang="en-US" dirty="0"/>
              <a:t>Dissimilarity(or distance) measure d(</a:t>
            </a:r>
            <a:r>
              <a:rPr lang="en-US" dirty="0" err="1"/>
              <a:t>x,y</a:t>
            </a:r>
            <a:r>
              <a:rPr lang="en-US" dirty="0"/>
              <a:t>): small if </a:t>
            </a:r>
            <a:r>
              <a:rPr lang="en-US" dirty="0" err="1"/>
              <a:t>x,y</a:t>
            </a:r>
            <a:r>
              <a:rPr lang="en-US" baseline="-25000" dirty="0"/>
              <a:t> </a:t>
            </a:r>
            <a:r>
              <a:rPr lang="en-US" dirty="0"/>
              <a:t>are similar</a:t>
            </a:r>
          </a:p>
          <a:p>
            <a:pPr lvl="2"/>
            <a:r>
              <a:rPr lang="en-US" dirty="0"/>
              <a:t>Similarity measure s(</a:t>
            </a:r>
            <a:r>
              <a:rPr lang="en-US" dirty="0" err="1"/>
              <a:t>x,y</a:t>
            </a:r>
            <a:r>
              <a:rPr lang="en-US" dirty="0"/>
              <a:t>): large if </a:t>
            </a:r>
            <a:r>
              <a:rPr lang="en-US" dirty="0" err="1"/>
              <a:t>x,y</a:t>
            </a:r>
            <a:r>
              <a:rPr lang="en-US" baseline="-25000" dirty="0"/>
              <a:t> </a:t>
            </a:r>
            <a:r>
              <a:rPr lang="en-US" dirty="0"/>
              <a:t>are similar </a:t>
            </a:r>
          </a:p>
          <a:p>
            <a:pPr lvl="2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019909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932770B-AB91-B6B1-F281-8CD8130A94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2020" y="518706"/>
            <a:ext cx="8487960" cy="582058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18533B7-BBF3-C227-95C2-20CA2F8FD7FD}"/>
              </a:ext>
            </a:extLst>
          </p:cNvPr>
          <p:cNvSpPr txBox="1"/>
          <p:nvPr/>
        </p:nvSpPr>
        <p:spPr>
          <a:xfrm>
            <a:off x="8716618" y="6339293"/>
            <a:ext cx="32500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u="none" strike="noStrike" baseline="0" dirty="0">
                <a:solidFill>
                  <a:srgbClr val="231F20"/>
                </a:solidFill>
              </a:rPr>
              <a:t>Triangular Inequality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4855145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3DC01B-3941-AE0C-5C3E-1E4497F81E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9572" y="256732"/>
            <a:ext cx="8992855" cy="6344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2319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37C95-CBC7-CBE5-6A5D-A70FBE16C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Dissimilarity(or distance) measure d(</a:t>
            </a:r>
            <a:r>
              <a:rPr lang="en-US" dirty="0" err="1"/>
              <a:t>x,y</a:t>
            </a:r>
            <a:r>
              <a:rPr lang="en-US" dirty="0"/>
              <a:t>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F737C7-5640-89CF-0595-4AB586F64A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IN" dirty="0"/>
              <a:t>Manhattan distance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Euclidean distance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Minkowski Distances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C1DC03-6599-E78C-3F1E-8B6FF0204F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2730" y="3135957"/>
            <a:ext cx="7603004" cy="3722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432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88A38-F726-A5F1-D067-53594F724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Manhattan distance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9F3898-C668-5D3B-1A5B-05E9A0DAEF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Special </a:t>
            </a:r>
            <a:r>
              <a:rPr lang="en-US" sz="2400" dirty="0" err="1"/>
              <a:t>lp</a:t>
            </a:r>
            <a:r>
              <a:rPr lang="en-US" sz="2400" dirty="0"/>
              <a:t> metric DMs that are also encountered in practice are the (weighted) l1 or Manhattan norm,</a:t>
            </a:r>
            <a:endParaRPr lang="en-IN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853A51-5C00-46F0-F481-D6F48C4557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2878" y="2759077"/>
            <a:ext cx="3797818" cy="1053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9267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60730-87BC-348E-F844-844C5622C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Euclidean distance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5242F9-BA89-7B43-2AA3-5DEDA90895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1478"/>
            <a:ext cx="10515600" cy="4785485"/>
          </a:xfrm>
        </p:spPr>
        <p:txBody>
          <a:bodyPr>
            <a:normAutofit/>
          </a:bodyPr>
          <a:lstStyle/>
          <a:p>
            <a:r>
              <a:rPr lang="en-IN" sz="2400" dirty="0"/>
              <a:t>This is a dissimilarity </a:t>
            </a:r>
            <a:r>
              <a:rPr lang="en-US" sz="2400" dirty="0"/>
              <a:t>measure on </a:t>
            </a:r>
            <a:r>
              <a:rPr lang="en-US" sz="2400" i="1" dirty="0"/>
              <a:t>X</a:t>
            </a:r>
            <a:r>
              <a:rPr lang="en-US" sz="2400" dirty="0"/>
              <a:t>, with </a:t>
            </a:r>
            <a:r>
              <a:rPr lang="en-US" sz="2400" i="1" dirty="0"/>
              <a:t>d</a:t>
            </a:r>
            <a:r>
              <a:rPr lang="en-US" sz="2400" baseline="-25000" dirty="0"/>
              <a:t>0</a:t>
            </a:r>
            <a:r>
              <a:rPr lang="en-US" sz="2400" dirty="0"/>
              <a:t> =  0; that is, the minimum possible distance between two vectors of </a:t>
            </a:r>
            <a:r>
              <a:rPr lang="en-US" sz="2400" i="1" dirty="0"/>
              <a:t>X </a:t>
            </a:r>
            <a:r>
              <a:rPr lang="en-US" sz="2400" dirty="0"/>
              <a:t>is 0. Moreover, the distance of a vector from itself is equal to 0. Also, it is easy to observe </a:t>
            </a:r>
            <a:r>
              <a:rPr lang="es-ES" sz="2400" dirty="0" err="1"/>
              <a:t>that</a:t>
            </a:r>
            <a:r>
              <a:rPr lang="es-ES" sz="2400" dirty="0"/>
              <a:t> </a:t>
            </a:r>
            <a:r>
              <a:rPr lang="es-ES" sz="2400" i="1" dirty="0"/>
              <a:t>d</a:t>
            </a:r>
            <a:r>
              <a:rPr lang="es-ES" sz="2400" dirty="0"/>
              <a:t>(</a:t>
            </a:r>
            <a:r>
              <a:rPr lang="es-ES" sz="2400" b="1" i="1" dirty="0"/>
              <a:t>x</a:t>
            </a:r>
            <a:r>
              <a:rPr lang="es-ES" sz="2400" dirty="0"/>
              <a:t>, </a:t>
            </a:r>
            <a:r>
              <a:rPr lang="es-ES" sz="2400" b="1" i="1" dirty="0"/>
              <a:t>y</a:t>
            </a:r>
            <a:r>
              <a:rPr lang="es-ES" sz="2400" dirty="0"/>
              <a:t>)  </a:t>
            </a:r>
            <a:r>
              <a:rPr lang="es-ES" sz="2400" i="1" dirty="0"/>
              <a:t>d</a:t>
            </a:r>
            <a:r>
              <a:rPr lang="es-ES" sz="2400" dirty="0"/>
              <a:t>( </a:t>
            </a:r>
            <a:r>
              <a:rPr lang="es-ES" sz="2400" b="1" i="1" dirty="0"/>
              <a:t>y</a:t>
            </a:r>
            <a:r>
              <a:rPr lang="es-ES" sz="2400" dirty="0"/>
              <a:t>, </a:t>
            </a:r>
            <a:r>
              <a:rPr lang="es-ES" sz="2400" b="1" i="1" dirty="0"/>
              <a:t>x</a:t>
            </a:r>
            <a:r>
              <a:rPr lang="es-ES" sz="2400" dirty="0"/>
              <a:t>).</a:t>
            </a:r>
            <a:endParaRPr lang="en-IN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FA649A-17AC-7062-5B44-6708758DC2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3304" y="2345635"/>
            <a:ext cx="8392696" cy="182905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DDA0679-10A1-C7F2-0E62-62B9299A06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294" y="4424392"/>
            <a:ext cx="11212490" cy="226726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FD7B18F-F67A-C765-B5FC-F5050C88193F}"/>
              </a:ext>
            </a:extLst>
          </p:cNvPr>
          <p:cNvSpPr/>
          <p:nvPr/>
        </p:nvSpPr>
        <p:spPr>
          <a:xfrm>
            <a:off x="728293" y="5262562"/>
            <a:ext cx="10254445" cy="15954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7901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54BA8-9B30-3EE4-0FD5-8FDED8DA6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Minkowski Distances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AB99B0C-8E3E-089B-CF0C-2703B57274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09072" y="2062686"/>
            <a:ext cx="9173855" cy="3877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7292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529CA-33BF-6AC4-2476-4186B47F2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Dissimilarity(or distance) measure d(</a:t>
            </a:r>
            <a:r>
              <a:rPr lang="en-US" dirty="0" err="1"/>
              <a:t>x,y</a:t>
            </a:r>
            <a:r>
              <a:rPr lang="en-US" dirty="0"/>
              <a:t>)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4409269-F7CC-511A-A03B-565056DBAE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2122" y="1451113"/>
            <a:ext cx="11449878" cy="515270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0FB0760-D124-2BAB-6676-6B07841037E3}"/>
              </a:ext>
            </a:extLst>
          </p:cNvPr>
          <p:cNvSpPr/>
          <p:nvPr/>
        </p:nvSpPr>
        <p:spPr>
          <a:xfrm>
            <a:off x="838200" y="2730410"/>
            <a:ext cx="487018" cy="32330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99495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D7F4D-588C-42CE-86F4-E1C22BFCD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Similarity measure s(</a:t>
            </a:r>
            <a:r>
              <a:rPr lang="en-US" dirty="0" err="1"/>
              <a:t>x,y</a:t>
            </a:r>
            <a:r>
              <a:rPr lang="en-US" dirty="0"/>
              <a:t>)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6928834-90D4-9727-16A9-6F4D10DFB8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10231278" cy="2638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7841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F60A8-09E3-065D-C9B2-0050B4FC3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Cosine Similarity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5142E0-8CC2-A014-14CF-70DF0E94A8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Closely related to the inner product is the </a:t>
            </a:r>
            <a:r>
              <a:rPr lang="en-US" sz="2400" i="1" dirty="0"/>
              <a:t>cosine similarity measure</a:t>
            </a:r>
            <a:r>
              <a:rPr lang="en-US" sz="2400" dirty="0"/>
              <a:t>, </a:t>
            </a:r>
            <a:r>
              <a:rPr lang="en-IN" sz="2400" dirty="0"/>
              <a:t>which is defined as</a:t>
            </a:r>
          </a:p>
          <a:p>
            <a:endParaRPr lang="en-IN" sz="2400" dirty="0"/>
          </a:p>
          <a:p>
            <a:endParaRPr lang="en-IN" sz="2400" dirty="0"/>
          </a:p>
          <a:p>
            <a:endParaRPr lang="en-IN" sz="2400" dirty="0"/>
          </a:p>
          <a:p>
            <a:endParaRPr lang="en-IN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B79FA1-A091-2CFB-ABF1-F96F711BDB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6435" y="2135765"/>
            <a:ext cx="4224566" cy="12932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21FEF04-E35B-90D6-1F9C-67CCB60542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361" y="3739140"/>
            <a:ext cx="10231278" cy="1219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0820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28956-0BDF-A0AF-0F21-1A58A9181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Criterion functions for clustering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26324-A109-F49C-1E17-78EE19F9DB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 </a:t>
            </a:r>
            <a:r>
              <a:rPr lang="en-US" sz="2400" b="1" dirty="0"/>
              <a:t>criterion function for clustering</a:t>
            </a:r>
            <a:r>
              <a:rPr lang="en-US" sz="2400" dirty="0"/>
              <a:t> is a mathematical measure used to evaluate and optimize the quality of clusters formed from a dataset.</a:t>
            </a:r>
          </a:p>
          <a:p>
            <a:r>
              <a:rPr lang="en-US" sz="2400" dirty="0"/>
              <a:t>Goal:</a:t>
            </a:r>
          </a:p>
          <a:p>
            <a:pPr lvl="1"/>
            <a:r>
              <a:rPr lang="en-US" sz="2000" b="1" dirty="0"/>
              <a:t>Minimize similarity within clusters (compactness)</a:t>
            </a:r>
            <a:endParaRPr lang="en-US" sz="2000" dirty="0"/>
          </a:p>
          <a:p>
            <a:pPr lvl="1"/>
            <a:r>
              <a:rPr lang="en-US" sz="2000" b="1" dirty="0"/>
              <a:t>Maximize dissimilarity between clusters (separation)</a:t>
            </a:r>
            <a:endParaRPr lang="en-US" sz="2000" dirty="0"/>
          </a:p>
          <a:p>
            <a:r>
              <a:rPr lang="en-US" sz="2400" b="1" dirty="0"/>
              <a:t>Types of Criterion Functions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Within-Cluster Sum of Squares (WCSS / SSE)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000" dirty="0"/>
              <a:t>Between-Cluster Separation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000" dirty="0"/>
              <a:t>Silhouette Coefficient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000" dirty="0"/>
              <a:t>Dunn Index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Scatter</a:t>
            </a:r>
            <a:endParaRPr lang="en-IN" sz="2000" dirty="0"/>
          </a:p>
          <a:p>
            <a:pPr marL="914400" lvl="1" indent="-457200">
              <a:buFont typeface="+mj-lt"/>
              <a:buAutoNum type="arabicPeriod"/>
            </a:pPr>
            <a:endParaRPr lang="en-US" sz="2000" dirty="0"/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4862459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7C065-4B59-FC05-0D2C-C3E955896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1. Within-Cluster Sum of Squares (WCSS / SSE)</a:t>
            </a:r>
            <a:endParaRPr lang="en-IN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944FE30-EED0-343C-EB2B-2F08561A3E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Used in </a:t>
                </a:r>
                <a:r>
                  <a:rPr lang="en-IN" b="1" dirty="0"/>
                  <a:t>K-Means</a:t>
                </a:r>
                <a:r>
                  <a:rPr lang="en-IN" dirty="0"/>
                  <a:t>.</a:t>
                </a:r>
              </a:p>
              <a:p>
                <a:endParaRPr lang="en-IN" dirty="0"/>
              </a:p>
              <a:p>
                <a:endParaRPr lang="en-IN" dirty="0"/>
              </a:p>
              <a:p>
                <a:r>
                  <a:rPr lang="en-IN" dirty="0"/>
                  <a:t>Where: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ar-AE" dirty="0"/>
                  <a:t>= </a:t>
                </a:r>
                <a:r>
                  <a:rPr lang="en-IN" dirty="0"/>
                  <a:t>cluster k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ar-AE" dirty="0"/>
                  <a:t>= </a:t>
                </a:r>
                <a:r>
                  <a:rPr lang="en-IN" dirty="0"/>
                  <a:t>centroid of cluster k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dirty="0"/>
                  <a:t>= </a:t>
                </a:r>
                <a:r>
                  <a:rPr lang="en-IN" dirty="0"/>
                  <a:t>data point</a:t>
                </a:r>
              </a:p>
              <a:p>
                <a:r>
                  <a:rPr lang="en-IN" dirty="0"/>
                  <a:t>Minimizes variance inside clusters.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944FE30-EED0-343C-EB2B-2F08561A3E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A0653E00-D2EA-EF73-BC62-486D5D5220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6310" y="1825625"/>
            <a:ext cx="2904324" cy="1185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8109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F7B1B-6099-D142-9A9A-07D175459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2. Between-Cluster Separation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48C3CB-7AD4-BD47-E5E8-86E47E88AC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endParaRPr lang="en-IN" dirty="0"/>
              </a:p>
              <a:p>
                <a:endParaRPr lang="en-IN" dirty="0"/>
              </a:p>
              <a:p>
                <a:r>
                  <a:rPr lang="en-IN" dirty="0"/>
                  <a:t>Where: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ar-AE" dirty="0"/>
                  <a:t>= </a:t>
                </a:r>
                <a:r>
                  <a:rPr lang="en-IN" dirty="0"/>
                  <a:t>number of points in cluster k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ar-AE" dirty="0"/>
                  <a:t>= </a:t>
                </a:r>
                <a:r>
                  <a:rPr lang="en-IN" dirty="0"/>
                  <a:t>cluster mean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IN" dirty="0"/>
                  <a:t>= global mean</a:t>
                </a:r>
              </a:p>
              <a:p>
                <a:r>
                  <a:rPr lang="en-IN" dirty="0"/>
                  <a:t>Maximizes distance between clusters.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48C3CB-7AD4-BD47-E5E8-86E47E88AC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B825B620-9237-53ED-1705-277CB19548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2296" y="1825625"/>
            <a:ext cx="3283081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0355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9505B-69E2-B41F-1A06-CCF851A50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3. Silhouette Coefficient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C23FAB-6B9C-1680-98BB-D0080BBDA32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endParaRPr lang="en-IN" sz="2400" dirty="0"/>
              </a:p>
              <a:p>
                <a:endParaRPr lang="en-IN" sz="2400" dirty="0"/>
              </a:p>
              <a:p>
                <a:endParaRPr lang="en-IN" sz="2400" dirty="0"/>
              </a:p>
              <a:p>
                <a:r>
                  <a:rPr lang="en-IN" sz="2400" dirty="0"/>
                  <a:t>Where: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ar-AE" sz="2000" dirty="0"/>
                  <a:t>= </a:t>
                </a:r>
                <a:r>
                  <a:rPr lang="en-IN" sz="2000" dirty="0"/>
                  <a:t>average distance within same cluster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</a:rPr>
                      <m:t>𝑏</m:t>
                    </m:r>
                    <m:d>
                      <m:d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ar-AE" sz="2000" dirty="0"/>
                  <a:t>= </a:t>
                </a:r>
                <a:r>
                  <a:rPr lang="en-IN" sz="2000" dirty="0"/>
                  <a:t>average distance to nearest cluster</a:t>
                </a:r>
              </a:p>
              <a:p>
                <a:r>
                  <a:rPr lang="en-IN" sz="2400" dirty="0"/>
                  <a:t>Range: </a:t>
                </a:r>
                <a:r>
                  <a:rPr lang="en-IN" sz="2400" b="1" dirty="0"/>
                  <a:t>−1 to +1</a:t>
                </a:r>
              </a:p>
              <a:p>
                <a:r>
                  <a:rPr lang="en-IN" sz="2400" dirty="0"/>
                  <a:t>Higher value = better clustering.</a:t>
                </a:r>
              </a:p>
              <a:p>
                <a:endParaRPr lang="en-IN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C23FAB-6B9C-1680-98BB-D0080BBDA3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296B17FC-295B-AC9B-73BB-AB6EF0962F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5492" y="1690688"/>
            <a:ext cx="3450232" cy="1215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3716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7F6CF-66E2-3E2E-AB85-F46B18323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4. Dunn Index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3BE57F-B268-AD90-DA1E-D8858A15ED4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  <a:p>
                <a:r>
                  <a:rPr lang="en-IN" sz="2400" dirty="0"/>
                  <a:t>Where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ar-AE" sz="2400" dirty="0"/>
                  <a:t>= </a:t>
                </a:r>
                <a:r>
                  <a:rPr lang="en-IN" sz="2400" dirty="0"/>
                  <a:t>k-</a:t>
                </a:r>
                <a:r>
                  <a:rPr lang="en-IN" sz="2400" dirty="0" err="1"/>
                  <a:t>th</a:t>
                </a:r>
                <a:r>
                  <a:rPr lang="en-IN" sz="2400" dirty="0"/>
                  <a:t> cluster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 sz="240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ar-AE" sz="2400" dirty="0"/>
                  <a:t>= </a:t>
                </a:r>
                <a:r>
                  <a:rPr lang="en-IN" sz="2400" dirty="0"/>
                  <a:t>any two points in the same cluster</a:t>
                </a:r>
              </a:p>
              <a:p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400"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ar-AE" sz="2400" dirty="0"/>
                  <a:t>= </a:t>
                </a:r>
                <a:r>
                  <a:rPr lang="en-IN" sz="2400" dirty="0"/>
                  <a:t>distance metric (usually Euclidean)</a:t>
                </a:r>
              </a:p>
              <a:p>
                <a:r>
                  <a:rPr lang="en-IN" sz="2400" dirty="0"/>
                  <a:t>It represents the </a:t>
                </a:r>
                <a:r>
                  <a:rPr lang="en-IN" sz="2400" b="1" dirty="0"/>
                  <a:t>largest distance between any two points within a cluster</a:t>
                </a:r>
                <a:r>
                  <a:rPr lang="en-IN" sz="2400" dirty="0"/>
                  <a:t>.</a:t>
                </a:r>
              </a:p>
              <a:p>
                <a:r>
                  <a:rPr lang="en-US" sz="2400" dirty="0"/>
                  <a:t>Large Dunn Index = better clusters.</a:t>
                </a:r>
                <a:endParaRPr lang="en-IN" sz="2400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3BE57F-B268-AD90-DA1E-D8858A15ED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b="-112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A95CFF82-0B7D-AA0B-FBBB-89BA712EBB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9667" y="1366792"/>
            <a:ext cx="3526889" cy="10337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7FDA971-7512-6005-3EE3-E3D72A0922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6829" y="2433824"/>
            <a:ext cx="4829241" cy="1145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3733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A8754-51B9-60F0-7029-E26482148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Scatter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68B7053-FEEB-9EE8-B6BA-0B740E112C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b="1" dirty="0"/>
                  <a:t>Scatter</a:t>
                </a:r>
                <a:r>
                  <a:rPr lang="en-US" sz="2400" dirty="0"/>
                  <a:t> is a measure of the variability or dispersion of data points around a center (mean/centroid) in a dataset or cluster.</a:t>
                </a:r>
              </a:p>
              <a:p>
                <a:r>
                  <a:rPr lang="en-US" sz="2400" b="1" dirty="0"/>
                  <a:t>Types of Scatter in Clustering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sz="2000" b="1" dirty="0"/>
                  <a:t>Within-Cluster Scatter (Intra-cluster scatter) : </a:t>
                </a:r>
                <a:r>
                  <a:rPr lang="en-US" sz="2000" dirty="0"/>
                  <a:t>Measures compactness</a:t>
                </a:r>
              </a:p>
              <a:p>
                <a:pPr lvl="2"/>
                <a:r>
                  <a:rPr lang="en-US" dirty="0"/>
                  <a:t>Small value → cluster is compact.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20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ar-AE" sz="22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ar-AE" sz="2200" dirty="0"/>
                  <a:t>= </a:t>
                </a:r>
                <a:r>
                  <a:rPr lang="en-IN" sz="2200" dirty="0"/>
                  <a:t>cluster mean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IN" sz="2200" i="1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IN" sz="2200" dirty="0"/>
                  <a:t>= overall mean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2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ar-AE" sz="22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ar-AE" sz="2200" dirty="0"/>
                  <a:t>= </a:t>
                </a:r>
                <a:r>
                  <a:rPr lang="en-IN" sz="2200" dirty="0"/>
                  <a:t>number of samples</a:t>
                </a:r>
              </a:p>
              <a:p>
                <a:pPr marL="914400" lvl="1" indent="-457200">
                  <a:buFont typeface="+mj-lt"/>
                  <a:buAutoNum type="arabicPeriod"/>
                </a:pPr>
                <a:endParaRPr lang="en-IN" sz="2000" b="1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IN" sz="2000" b="1" dirty="0"/>
                  <a:t>Between-Cluster Scatter (Inter-cluster scatter): </a:t>
                </a:r>
                <a:r>
                  <a:rPr lang="en-IN" sz="2000" dirty="0"/>
                  <a:t>Measures separation.</a:t>
                </a:r>
                <a:endParaRPr lang="en-US" sz="2000" dirty="0"/>
              </a:p>
              <a:p>
                <a:pPr lvl="2"/>
                <a:r>
                  <a:rPr lang="en-US" dirty="0"/>
                  <a:t>Large value → clusters are well separated.</a:t>
                </a:r>
              </a:p>
              <a:p>
                <a:pPr lvl="2"/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68B7053-FEEB-9EE8-B6BA-0B740E112C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1961" r="-12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2BC1F35B-3269-E8B8-A89C-9E1516E7D3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5498" y="5425557"/>
            <a:ext cx="4498302" cy="128097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31C4B1C-A5B2-8943-3BDC-09E1BE4EAC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5498" y="3498573"/>
            <a:ext cx="4845327" cy="1133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5943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1682F-F8E9-99AA-A598-4CA7D1327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Scatter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95A856F-DA8C-92A5-B4C7-C99B75A0A9C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b="1" dirty="0"/>
                  <a:t>Total Scatter   </a:t>
                </a:r>
                <a:endParaRPr lang="en-I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𝑊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ar-AE" dirty="0"/>
              </a:p>
              <a:p>
                <a:r>
                  <a:rPr lang="en-IN" sz="2400" dirty="0"/>
                  <a:t>Represents total data variance.</a:t>
                </a:r>
              </a:p>
              <a:p>
                <a:r>
                  <a:rPr lang="en-US" altLang="en-US" sz="2400" b="1" dirty="0"/>
                  <a:t>Low scatter</a:t>
                </a:r>
                <a:r>
                  <a:rPr lang="en-US" altLang="en-US" sz="2400" dirty="0"/>
                  <a:t> → points are close → tight clusters.</a:t>
                </a:r>
              </a:p>
              <a:p>
                <a:r>
                  <a:rPr lang="en-US" altLang="en-US" sz="2400" b="1" dirty="0"/>
                  <a:t>High scatter</a:t>
                </a:r>
                <a:r>
                  <a:rPr lang="en-US" altLang="en-US" sz="2400" dirty="0"/>
                  <a:t> → points are far → spread-out clusters.</a:t>
                </a:r>
              </a:p>
              <a:p>
                <a:r>
                  <a:rPr lang="en-US" sz="2400" dirty="0"/>
                  <a:t>Example:</a:t>
                </a:r>
              </a:p>
              <a:p>
                <a:pPr lvl="1"/>
                <a:r>
                  <a:rPr lang="en-US" sz="2000" dirty="0"/>
                  <a:t>Marks: 70, 71, 72 → low scatter</a:t>
                </a:r>
              </a:p>
              <a:p>
                <a:pPr lvl="1"/>
                <a:r>
                  <a:rPr lang="en-US" sz="2000" dirty="0"/>
                  <a:t>Marks: 30, 60, 90 → high scatter</a:t>
                </a:r>
                <a:endParaRPr lang="en-US" altLang="en-US" sz="2000" dirty="0"/>
              </a:p>
              <a:p>
                <a:pPr lvl="1"/>
                <a:endParaRPr lang="en-IN" sz="2000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95A856F-DA8C-92A5-B4C7-C99B75A0A9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52884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634</Words>
  <Application>Microsoft Office PowerPoint</Application>
  <PresentationFormat>Widescreen</PresentationFormat>
  <Paragraphs>102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Cambria Math</vt:lpstr>
      <vt:lpstr>Wingdings</vt:lpstr>
      <vt:lpstr>Office Theme</vt:lpstr>
      <vt:lpstr>Clustering</vt:lpstr>
      <vt:lpstr>Clustering</vt:lpstr>
      <vt:lpstr>PowerPoint Presentation</vt:lpstr>
      <vt:lpstr>PowerPoint Presentation</vt:lpstr>
      <vt:lpstr>Dissimilarity(or distance) measure d(x,y)</vt:lpstr>
      <vt:lpstr>Manhattan distance</vt:lpstr>
      <vt:lpstr>Euclidean distance</vt:lpstr>
      <vt:lpstr>Minkowski Distances</vt:lpstr>
      <vt:lpstr>Dissimilarity(or distance) measure d(x,y)</vt:lpstr>
      <vt:lpstr>Similarity measure s(x,y)</vt:lpstr>
      <vt:lpstr>Cosine Similarity</vt:lpstr>
      <vt:lpstr>Criterion functions for clustering</vt:lpstr>
      <vt:lpstr>1. Within-Cluster Sum of Squares (WCSS / SSE)</vt:lpstr>
      <vt:lpstr>2. Between-Cluster Separation</vt:lpstr>
      <vt:lpstr>3. Silhouette Coefficient</vt:lpstr>
      <vt:lpstr>4. Dunn Index</vt:lpstr>
      <vt:lpstr>5. Scatter</vt:lpstr>
      <vt:lpstr>5. Scatter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Neethu Suman</dc:creator>
  <cp:lastModifiedBy>Neethu Suman</cp:lastModifiedBy>
  <cp:revision>1</cp:revision>
  <dcterms:created xsi:type="dcterms:W3CDTF">2026-03-10T16:52:48Z</dcterms:created>
  <dcterms:modified xsi:type="dcterms:W3CDTF">2026-03-10T16:56:21Z</dcterms:modified>
</cp:coreProperties>
</file>