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7"/>
  </p:notesMasterIdLst>
  <p:sldIdLst>
    <p:sldId id="270" r:id="rId2"/>
    <p:sldId id="408" r:id="rId3"/>
    <p:sldId id="409" r:id="rId4"/>
    <p:sldId id="328" r:id="rId5"/>
    <p:sldId id="407" r:id="rId6"/>
    <p:sldId id="320" r:id="rId7"/>
    <p:sldId id="411" r:id="rId8"/>
    <p:sldId id="412" r:id="rId9"/>
    <p:sldId id="413" r:id="rId10"/>
    <p:sldId id="417" r:id="rId11"/>
    <p:sldId id="418" r:id="rId12"/>
    <p:sldId id="419" r:id="rId13"/>
    <p:sldId id="415" r:id="rId14"/>
    <p:sldId id="420" r:id="rId15"/>
    <p:sldId id="447" r:id="rId16"/>
    <p:sldId id="448" r:id="rId17"/>
    <p:sldId id="421" r:id="rId18"/>
    <p:sldId id="425" r:id="rId19"/>
    <p:sldId id="272" r:id="rId20"/>
    <p:sldId id="426" r:id="rId21"/>
    <p:sldId id="427" r:id="rId22"/>
    <p:sldId id="428" r:id="rId23"/>
    <p:sldId id="429" r:id="rId24"/>
    <p:sldId id="430" r:id="rId25"/>
    <p:sldId id="431"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7" d="100"/>
          <a:sy n="77" d="100"/>
        </p:scale>
        <p:origin x="835" y="9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0401658-F211-4136-942C-B8C552848A96}" type="datetimeFigureOut">
              <a:rPr lang="en-IN" smtClean="0"/>
              <a:t>12-03-2026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4334CC1-E107-474C-8CA9-DB8DAA38F6A0}" type="slidenum">
              <a:rPr lang="en-IN" smtClean="0"/>
              <a:t>‹#›</a:t>
            </a:fld>
            <a:endParaRPr lang="en-IN"/>
          </a:p>
        </p:txBody>
      </p:sp>
    </p:spTree>
    <p:extLst>
      <p:ext uri="{BB962C8B-B14F-4D97-AF65-F5344CB8AC3E}">
        <p14:creationId xmlns:p14="http://schemas.microsoft.com/office/powerpoint/2010/main" val="4433720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SARSA (State–Action–Reward–State–Action)</a:t>
            </a:r>
            <a:endParaRPr lang="en-IN" dirty="0"/>
          </a:p>
        </p:txBody>
      </p:sp>
      <p:sp>
        <p:nvSpPr>
          <p:cNvPr id="4" name="Slide Number Placeholder 3"/>
          <p:cNvSpPr>
            <a:spLocks noGrp="1"/>
          </p:cNvSpPr>
          <p:nvPr>
            <p:ph type="sldNum" sz="quarter" idx="5"/>
          </p:nvPr>
        </p:nvSpPr>
        <p:spPr/>
        <p:txBody>
          <a:bodyPr/>
          <a:lstStyle/>
          <a:p>
            <a:fld id="{0AB9D3CC-8FCA-4F58-A2C8-CC61D9824948}" type="slidenum">
              <a:rPr lang="en-IN" smtClean="0"/>
              <a:t>8</a:t>
            </a:fld>
            <a:endParaRPr lang="en-IN"/>
          </a:p>
        </p:txBody>
      </p:sp>
    </p:spTree>
    <p:extLst>
      <p:ext uri="{BB962C8B-B14F-4D97-AF65-F5344CB8AC3E}">
        <p14:creationId xmlns:p14="http://schemas.microsoft.com/office/powerpoint/2010/main" val="41471115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6D8282-E4B1-C00B-E5C8-8E6D75D5BF5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796DEE48-317C-496B-64E6-A8E9E215421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82F1B1B-C5EB-D2EC-6250-C96524615EB1}"/>
              </a:ext>
            </a:extLst>
          </p:cNvPr>
          <p:cNvSpPr>
            <a:spLocks noGrp="1"/>
          </p:cNvSpPr>
          <p:nvPr>
            <p:ph type="dt" sz="half" idx="10"/>
          </p:nvPr>
        </p:nvSpPr>
        <p:spPr/>
        <p:txBody>
          <a:bodyPr/>
          <a:lstStyle/>
          <a:p>
            <a:fld id="{1441E47D-0B0F-4FB0-882B-8EEA2743FD01}" type="datetimeFigureOut">
              <a:rPr lang="en-IN" smtClean="0"/>
              <a:t>12-03-2026</a:t>
            </a:fld>
            <a:endParaRPr lang="en-IN"/>
          </a:p>
        </p:txBody>
      </p:sp>
      <p:sp>
        <p:nvSpPr>
          <p:cNvPr id="5" name="Footer Placeholder 4">
            <a:extLst>
              <a:ext uri="{FF2B5EF4-FFF2-40B4-BE49-F238E27FC236}">
                <a16:creationId xmlns:a16="http://schemas.microsoft.com/office/drawing/2014/main" id="{815A10E7-8CAA-DA16-CAB8-0FB8321D642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3539629-F534-3B32-C08C-8E12174457F4}"/>
              </a:ext>
            </a:extLst>
          </p:cNvPr>
          <p:cNvSpPr>
            <a:spLocks noGrp="1"/>
          </p:cNvSpPr>
          <p:nvPr>
            <p:ph type="sldNum" sz="quarter" idx="12"/>
          </p:nvPr>
        </p:nvSpPr>
        <p:spPr/>
        <p:txBody>
          <a:bodyPr/>
          <a:lstStyle/>
          <a:p>
            <a:fld id="{653C5566-F9E7-448D-98A0-851CE37B17C0}" type="slidenum">
              <a:rPr lang="en-IN" smtClean="0"/>
              <a:t>‹#›</a:t>
            </a:fld>
            <a:endParaRPr lang="en-IN"/>
          </a:p>
        </p:txBody>
      </p:sp>
    </p:spTree>
    <p:extLst>
      <p:ext uri="{BB962C8B-B14F-4D97-AF65-F5344CB8AC3E}">
        <p14:creationId xmlns:p14="http://schemas.microsoft.com/office/powerpoint/2010/main" val="256931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4EBE6C-FE33-7E71-D9D3-7AC0EEFF247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74374EE-721D-DB7A-1BE1-79127FB6D73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E528E49-67B8-3611-EE96-E98D78E67C25}"/>
              </a:ext>
            </a:extLst>
          </p:cNvPr>
          <p:cNvSpPr>
            <a:spLocks noGrp="1"/>
          </p:cNvSpPr>
          <p:nvPr>
            <p:ph type="dt" sz="half" idx="10"/>
          </p:nvPr>
        </p:nvSpPr>
        <p:spPr/>
        <p:txBody>
          <a:bodyPr/>
          <a:lstStyle/>
          <a:p>
            <a:fld id="{1441E47D-0B0F-4FB0-882B-8EEA2743FD01}" type="datetimeFigureOut">
              <a:rPr lang="en-IN" smtClean="0"/>
              <a:t>12-03-2026</a:t>
            </a:fld>
            <a:endParaRPr lang="en-IN"/>
          </a:p>
        </p:txBody>
      </p:sp>
      <p:sp>
        <p:nvSpPr>
          <p:cNvPr id="5" name="Footer Placeholder 4">
            <a:extLst>
              <a:ext uri="{FF2B5EF4-FFF2-40B4-BE49-F238E27FC236}">
                <a16:creationId xmlns:a16="http://schemas.microsoft.com/office/drawing/2014/main" id="{CD502150-FC32-BD89-D3D9-38F27B97ABA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0F425CB-04F7-19F6-86CE-E69DE403E795}"/>
              </a:ext>
            </a:extLst>
          </p:cNvPr>
          <p:cNvSpPr>
            <a:spLocks noGrp="1"/>
          </p:cNvSpPr>
          <p:nvPr>
            <p:ph type="sldNum" sz="quarter" idx="12"/>
          </p:nvPr>
        </p:nvSpPr>
        <p:spPr/>
        <p:txBody>
          <a:bodyPr/>
          <a:lstStyle/>
          <a:p>
            <a:fld id="{653C5566-F9E7-448D-98A0-851CE37B17C0}" type="slidenum">
              <a:rPr lang="en-IN" smtClean="0"/>
              <a:t>‹#›</a:t>
            </a:fld>
            <a:endParaRPr lang="en-IN"/>
          </a:p>
        </p:txBody>
      </p:sp>
    </p:spTree>
    <p:extLst>
      <p:ext uri="{BB962C8B-B14F-4D97-AF65-F5344CB8AC3E}">
        <p14:creationId xmlns:p14="http://schemas.microsoft.com/office/powerpoint/2010/main" val="8703208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A56CFB-8C0B-B804-AA99-23D23E889EE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38D6B76-F040-DDF4-0FE4-DD28169B3A8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6FE0442-1ABA-7680-A556-2D44C19C6F00}"/>
              </a:ext>
            </a:extLst>
          </p:cNvPr>
          <p:cNvSpPr>
            <a:spLocks noGrp="1"/>
          </p:cNvSpPr>
          <p:nvPr>
            <p:ph type="dt" sz="half" idx="10"/>
          </p:nvPr>
        </p:nvSpPr>
        <p:spPr/>
        <p:txBody>
          <a:bodyPr/>
          <a:lstStyle/>
          <a:p>
            <a:fld id="{1441E47D-0B0F-4FB0-882B-8EEA2743FD01}" type="datetimeFigureOut">
              <a:rPr lang="en-IN" smtClean="0"/>
              <a:t>12-03-2026</a:t>
            </a:fld>
            <a:endParaRPr lang="en-IN"/>
          </a:p>
        </p:txBody>
      </p:sp>
      <p:sp>
        <p:nvSpPr>
          <p:cNvPr id="5" name="Footer Placeholder 4">
            <a:extLst>
              <a:ext uri="{FF2B5EF4-FFF2-40B4-BE49-F238E27FC236}">
                <a16:creationId xmlns:a16="http://schemas.microsoft.com/office/drawing/2014/main" id="{26D8A427-0927-E939-65FB-193ABA860A7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328BD29-412C-99B1-C6B0-7C18978FFBA9}"/>
              </a:ext>
            </a:extLst>
          </p:cNvPr>
          <p:cNvSpPr>
            <a:spLocks noGrp="1"/>
          </p:cNvSpPr>
          <p:nvPr>
            <p:ph type="sldNum" sz="quarter" idx="12"/>
          </p:nvPr>
        </p:nvSpPr>
        <p:spPr/>
        <p:txBody>
          <a:bodyPr/>
          <a:lstStyle/>
          <a:p>
            <a:fld id="{653C5566-F9E7-448D-98A0-851CE37B17C0}" type="slidenum">
              <a:rPr lang="en-IN" smtClean="0"/>
              <a:t>‹#›</a:t>
            </a:fld>
            <a:endParaRPr lang="en-IN"/>
          </a:p>
        </p:txBody>
      </p:sp>
    </p:spTree>
    <p:extLst>
      <p:ext uri="{BB962C8B-B14F-4D97-AF65-F5344CB8AC3E}">
        <p14:creationId xmlns:p14="http://schemas.microsoft.com/office/powerpoint/2010/main" val="40740619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C6464D-6A4C-6169-CD18-75434061278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4A07202-0175-0694-8ACC-348896DD506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5A67483-27EE-9887-35CA-675F2B67645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422328D-DEF8-9186-6791-41A8335C8555}"/>
              </a:ext>
            </a:extLst>
          </p:cNvPr>
          <p:cNvSpPr>
            <a:spLocks noGrp="1"/>
          </p:cNvSpPr>
          <p:nvPr>
            <p:ph type="dt" sz="half" idx="10"/>
          </p:nvPr>
        </p:nvSpPr>
        <p:spPr/>
        <p:txBody>
          <a:bodyPr/>
          <a:lstStyle/>
          <a:p>
            <a:fld id="{1441E47D-0B0F-4FB0-882B-8EEA2743FD01}" type="datetimeFigureOut">
              <a:rPr lang="en-IN" smtClean="0"/>
              <a:t>12-03-2026</a:t>
            </a:fld>
            <a:endParaRPr lang="en-IN"/>
          </a:p>
        </p:txBody>
      </p:sp>
      <p:sp>
        <p:nvSpPr>
          <p:cNvPr id="6" name="Footer Placeholder 5">
            <a:extLst>
              <a:ext uri="{FF2B5EF4-FFF2-40B4-BE49-F238E27FC236}">
                <a16:creationId xmlns:a16="http://schemas.microsoft.com/office/drawing/2014/main" id="{4BFAE664-3B96-44AF-102A-96310F7D394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A00AAD6-C302-1E53-54E8-BCA154E57633}"/>
              </a:ext>
            </a:extLst>
          </p:cNvPr>
          <p:cNvSpPr>
            <a:spLocks noGrp="1"/>
          </p:cNvSpPr>
          <p:nvPr>
            <p:ph type="sldNum" sz="quarter" idx="12"/>
          </p:nvPr>
        </p:nvSpPr>
        <p:spPr/>
        <p:txBody>
          <a:bodyPr/>
          <a:lstStyle/>
          <a:p>
            <a:fld id="{653C5566-F9E7-448D-98A0-851CE37B17C0}" type="slidenum">
              <a:rPr lang="en-IN" smtClean="0"/>
              <a:t>‹#›</a:t>
            </a:fld>
            <a:endParaRPr lang="en-IN"/>
          </a:p>
        </p:txBody>
      </p:sp>
    </p:spTree>
    <p:extLst>
      <p:ext uri="{BB962C8B-B14F-4D97-AF65-F5344CB8AC3E}">
        <p14:creationId xmlns:p14="http://schemas.microsoft.com/office/powerpoint/2010/main" val="427330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F1966E-B459-D2C1-8998-B49C6FD41B3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6DA6678-0B84-3B20-824D-A897DAC83C1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683E5C9-AB82-545D-4F01-B84E197F9DF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CE8E356C-42DB-1E41-270C-6BF556E8BF9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909557C-2E06-F2F8-795E-504905A881F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CFBC939-73BF-F8C9-8CB3-BBD135F9D4DC}"/>
              </a:ext>
            </a:extLst>
          </p:cNvPr>
          <p:cNvSpPr>
            <a:spLocks noGrp="1"/>
          </p:cNvSpPr>
          <p:nvPr>
            <p:ph type="dt" sz="half" idx="10"/>
          </p:nvPr>
        </p:nvSpPr>
        <p:spPr/>
        <p:txBody>
          <a:bodyPr/>
          <a:lstStyle/>
          <a:p>
            <a:fld id="{1441E47D-0B0F-4FB0-882B-8EEA2743FD01}" type="datetimeFigureOut">
              <a:rPr lang="en-IN" smtClean="0"/>
              <a:t>12-03-2026</a:t>
            </a:fld>
            <a:endParaRPr lang="en-IN"/>
          </a:p>
        </p:txBody>
      </p:sp>
      <p:sp>
        <p:nvSpPr>
          <p:cNvPr id="8" name="Footer Placeholder 7">
            <a:extLst>
              <a:ext uri="{FF2B5EF4-FFF2-40B4-BE49-F238E27FC236}">
                <a16:creationId xmlns:a16="http://schemas.microsoft.com/office/drawing/2014/main" id="{BD9D9AE8-6780-1735-2D8C-2EDA008D137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D0D331F0-90FB-EBA1-A887-12C2CD0555CE}"/>
              </a:ext>
            </a:extLst>
          </p:cNvPr>
          <p:cNvSpPr>
            <a:spLocks noGrp="1"/>
          </p:cNvSpPr>
          <p:nvPr>
            <p:ph type="sldNum" sz="quarter" idx="12"/>
          </p:nvPr>
        </p:nvSpPr>
        <p:spPr/>
        <p:txBody>
          <a:bodyPr/>
          <a:lstStyle/>
          <a:p>
            <a:fld id="{653C5566-F9E7-448D-98A0-851CE37B17C0}" type="slidenum">
              <a:rPr lang="en-IN" smtClean="0"/>
              <a:t>‹#›</a:t>
            </a:fld>
            <a:endParaRPr lang="en-IN"/>
          </a:p>
        </p:txBody>
      </p:sp>
    </p:spTree>
    <p:extLst>
      <p:ext uri="{BB962C8B-B14F-4D97-AF65-F5344CB8AC3E}">
        <p14:creationId xmlns:p14="http://schemas.microsoft.com/office/powerpoint/2010/main" val="29002039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5E2973-BAD8-BE7D-8172-06F38D15440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C49F123-E3F2-3721-963C-7DC542881148}"/>
              </a:ext>
            </a:extLst>
          </p:cNvPr>
          <p:cNvSpPr>
            <a:spLocks noGrp="1"/>
          </p:cNvSpPr>
          <p:nvPr>
            <p:ph type="dt" sz="half" idx="10"/>
          </p:nvPr>
        </p:nvSpPr>
        <p:spPr/>
        <p:txBody>
          <a:bodyPr/>
          <a:lstStyle/>
          <a:p>
            <a:fld id="{1441E47D-0B0F-4FB0-882B-8EEA2743FD01}" type="datetimeFigureOut">
              <a:rPr lang="en-IN" smtClean="0"/>
              <a:t>12-03-2026</a:t>
            </a:fld>
            <a:endParaRPr lang="en-IN"/>
          </a:p>
        </p:txBody>
      </p:sp>
      <p:sp>
        <p:nvSpPr>
          <p:cNvPr id="4" name="Footer Placeholder 3">
            <a:extLst>
              <a:ext uri="{FF2B5EF4-FFF2-40B4-BE49-F238E27FC236}">
                <a16:creationId xmlns:a16="http://schemas.microsoft.com/office/drawing/2014/main" id="{AFC3AEED-EF12-B078-9B2A-A06BFAA8DAF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7580EEF-A090-EEC8-305F-FA18614C33EB}"/>
              </a:ext>
            </a:extLst>
          </p:cNvPr>
          <p:cNvSpPr>
            <a:spLocks noGrp="1"/>
          </p:cNvSpPr>
          <p:nvPr>
            <p:ph type="sldNum" sz="quarter" idx="12"/>
          </p:nvPr>
        </p:nvSpPr>
        <p:spPr/>
        <p:txBody>
          <a:bodyPr/>
          <a:lstStyle/>
          <a:p>
            <a:fld id="{653C5566-F9E7-448D-98A0-851CE37B17C0}" type="slidenum">
              <a:rPr lang="en-IN" smtClean="0"/>
              <a:t>‹#›</a:t>
            </a:fld>
            <a:endParaRPr lang="en-IN"/>
          </a:p>
        </p:txBody>
      </p:sp>
    </p:spTree>
    <p:extLst>
      <p:ext uri="{BB962C8B-B14F-4D97-AF65-F5344CB8AC3E}">
        <p14:creationId xmlns:p14="http://schemas.microsoft.com/office/powerpoint/2010/main" val="8466710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0CF5722-1AB1-27C7-9968-0FE7704F403D}"/>
              </a:ext>
            </a:extLst>
          </p:cNvPr>
          <p:cNvSpPr>
            <a:spLocks noGrp="1"/>
          </p:cNvSpPr>
          <p:nvPr>
            <p:ph type="dt" sz="half" idx="10"/>
          </p:nvPr>
        </p:nvSpPr>
        <p:spPr/>
        <p:txBody>
          <a:bodyPr/>
          <a:lstStyle/>
          <a:p>
            <a:fld id="{1441E47D-0B0F-4FB0-882B-8EEA2743FD01}" type="datetimeFigureOut">
              <a:rPr lang="en-IN" smtClean="0"/>
              <a:t>12-03-2026</a:t>
            </a:fld>
            <a:endParaRPr lang="en-IN"/>
          </a:p>
        </p:txBody>
      </p:sp>
      <p:sp>
        <p:nvSpPr>
          <p:cNvPr id="3" name="Footer Placeholder 2">
            <a:extLst>
              <a:ext uri="{FF2B5EF4-FFF2-40B4-BE49-F238E27FC236}">
                <a16:creationId xmlns:a16="http://schemas.microsoft.com/office/drawing/2014/main" id="{3AC38835-4E43-9537-4DCB-BC3F10476A24}"/>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6CDA3864-1AB5-CEC2-F65C-59906AC36A6F}"/>
              </a:ext>
            </a:extLst>
          </p:cNvPr>
          <p:cNvSpPr>
            <a:spLocks noGrp="1"/>
          </p:cNvSpPr>
          <p:nvPr>
            <p:ph type="sldNum" sz="quarter" idx="12"/>
          </p:nvPr>
        </p:nvSpPr>
        <p:spPr/>
        <p:txBody>
          <a:bodyPr/>
          <a:lstStyle/>
          <a:p>
            <a:fld id="{653C5566-F9E7-448D-98A0-851CE37B17C0}" type="slidenum">
              <a:rPr lang="en-IN" smtClean="0"/>
              <a:t>‹#›</a:t>
            </a:fld>
            <a:endParaRPr lang="en-IN"/>
          </a:p>
        </p:txBody>
      </p:sp>
    </p:spTree>
    <p:extLst>
      <p:ext uri="{BB962C8B-B14F-4D97-AF65-F5344CB8AC3E}">
        <p14:creationId xmlns:p14="http://schemas.microsoft.com/office/powerpoint/2010/main" val="39025468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D543F7-AEC1-32EC-0C46-9C898F91FB4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1FCBB97-E7A2-F7B1-60BC-002151B73CE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85CA564-4BAC-FF1F-0B8B-F2E55253B00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2961000-77B7-43F6-BB63-CFCDCE4839B2}"/>
              </a:ext>
            </a:extLst>
          </p:cNvPr>
          <p:cNvSpPr>
            <a:spLocks noGrp="1"/>
          </p:cNvSpPr>
          <p:nvPr>
            <p:ph type="dt" sz="half" idx="10"/>
          </p:nvPr>
        </p:nvSpPr>
        <p:spPr/>
        <p:txBody>
          <a:bodyPr/>
          <a:lstStyle/>
          <a:p>
            <a:fld id="{1441E47D-0B0F-4FB0-882B-8EEA2743FD01}" type="datetimeFigureOut">
              <a:rPr lang="en-IN" smtClean="0"/>
              <a:t>12-03-2026</a:t>
            </a:fld>
            <a:endParaRPr lang="en-IN"/>
          </a:p>
        </p:txBody>
      </p:sp>
      <p:sp>
        <p:nvSpPr>
          <p:cNvPr id="6" name="Footer Placeholder 5">
            <a:extLst>
              <a:ext uri="{FF2B5EF4-FFF2-40B4-BE49-F238E27FC236}">
                <a16:creationId xmlns:a16="http://schemas.microsoft.com/office/drawing/2014/main" id="{A7BAE02C-DD22-C66A-36E6-D824EE81728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EF9C8D4-8C9B-320A-1C6C-E8341398AD3F}"/>
              </a:ext>
            </a:extLst>
          </p:cNvPr>
          <p:cNvSpPr>
            <a:spLocks noGrp="1"/>
          </p:cNvSpPr>
          <p:nvPr>
            <p:ph type="sldNum" sz="quarter" idx="12"/>
          </p:nvPr>
        </p:nvSpPr>
        <p:spPr/>
        <p:txBody>
          <a:bodyPr/>
          <a:lstStyle/>
          <a:p>
            <a:fld id="{653C5566-F9E7-448D-98A0-851CE37B17C0}" type="slidenum">
              <a:rPr lang="en-IN" smtClean="0"/>
              <a:t>‹#›</a:t>
            </a:fld>
            <a:endParaRPr lang="en-IN"/>
          </a:p>
        </p:txBody>
      </p:sp>
    </p:spTree>
    <p:extLst>
      <p:ext uri="{BB962C8B-B14F-4D97-AF65-F5344CB8AC3E}">
        <p14:creationId xmlns:p14="http://schemas.microsoft.com/office/powerpoint/2010/main" val="37341075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9F1F8E-23EE-9676-813E-A7DDB00D375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31B0D4B-FF31-959A-BFBB-56081CA5F8E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0AA237F-09EB-B7A2-3E13-FB6259E50A9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63865A8-0EF0-CBF9-0FE7-DC603F4165C3}"/>
              </a:ext>
            </a:extLst>
          </p:cNvPr>
          <p:cNvSpPr>
            <a:spLocks noGrp="1"/>
          </p:cNvSpPr>
          <p:nvPr>
            <p:ph type="dt" sz="half" idx="10"/>
          </p:nvPr>
        </p:nvSpPr>
        <p:spPr/>
        <p:txBody>
          <a:bodyPr/>
          <a:lstStyle/>
          <a:p>
            <a:fld id="{1441E47D-0B0F-4FB0-882B-8EEA2743FD01}" type="datetimeFigureOut">
              <a:rPr lang="en-IN" smtClean="0"/>
              <a:t>12-03-2026</a:t>
            </a:fld>
            <a:endParaRPr lang="en-IN"/>
          </a:p>
        </p:txBody>
      </p:sp>
      <p:sp>
        <p:nvSpPr>
          <p:cNvPr id="6" name="Footer Placeholder 5">
            <a:extLst>
              <a:ext uri="{FF2B5EF4-FFF2-40B4-BE49-F238E27FC236}">
                <a16:creationId xmlns:a16="http://schemas.microsoft.com/office/drawing/2014/main" id="{B0B1BA35-0F42-6DFE-6F88-D73FE3F6B23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32EBB3F-5846-2E98-1FB1-75F13921224F}"/>
              </a:ext>
            </a:extLst>
          </p:cNvPr>
          <p:cNvSpPr>
            <a:spLocks noGrp="1"/>
          </p:cNvSpPr>
          <p:nvPr>
            <p:ph type="sldNum" sz="quarter" idx="12"/>
          </p:nvPr>
        </p:nvSpPr>
        <p:spPr/>
        <p:txBody>
          <a:bodyPr/>
          <a:lstStyle/>
          <a:p>
            <a:fld id="{653C5566-F9E7-448D-98A0-851CE37B17C0}" type="slidenum">
              <a:rPr lang="en-IN" smtClean="0"/>
              <a:t>‹#›</a:t>
            </a:fld>
            <a:endParaRPr lang="en-IN"/>
          </a:p>
        </p:txBody>
      </p:sp>
    </p:spTree>
    <p:extLst>
      <p:ext uri="{BB962C8B-B14F-4D97-AF65-F5344CB8AC3E}">
        <p14:creationId xmlns:p14="http://schemas.microsoft.com/office/powerpoint/2010/main" val="1167291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232518-4CA1-E15A-E07B-9E571307604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AB7C495-6958-4877-AFB5-AEDC2D1B320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A9671B8-3656-C217-D97C-F32F2535525A}"/>
              </a:ext>
            </a:extLst>
          </p:cNvPr>
          <p:cNvSpPr>
            <a:spLocks noGrp="1"/>
          </p:cNvSpPr>
          <p:nvPr>
            <p:ph type="dt" sz="half" idx="10"/>
          </p:nvPr>
        </p:nvSpPr>
        <p:spPr/>
        <p:txBody>
          <a:bodyPr/>
          <a:lstStyle/>
          <a:p>
            <a:fld id="{1441E47D-0B0F-4FB0-882B-8EEA2743FD01}" type="datetimeFigureOut">
              <a:rPr lang="en-IN" smtClean="0"/>
              <a:t>12-03-2026</a:t>
            </a:fld>
            <a:endParaRPr lang="en-IN"/>
          </a:p>
        </p:txBody>
      </p:sp>
      <p:sp>
        <p:nvSpPr>
          <p:cNvPr id="5" name="Footer Placeholder 4">
            <a:extLst>
              <a:ext uri="{FF2B5EF4-FFF2-40B4-BE49-F238E27FC236}">
                <a16:creationId xmlns:a16="http://schemas.microsoft.com/office/drawing/2014/main" id="{6676532A-2719-7E1F-D882-245A1F8F2D8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96C3AE9-69D1-CEBF-3AEE-3819FE041F21}"/>
              </a:ext>
            </a:extLst>
          </p:cNvPr>
          <p:cNvSpPr>
            <a:spLocks noGrp="1"/>
          </p:cNvSpPr>
          <p:nvPr>
            <p:ph type="sldNum" sz="quarter" idx="12"/>
          </p:nvPr>
        </p:nvSpPr>
        <p:spPr/>
        <p:txBody>
          <a:bodyPr/>
          <a:lstStyle/>
          <a:p>
            <a:fld id="{653C5566-F9E7-448D-98A0-851CE37B17C0}" type="slidenum">
              <a:rPr lang="en-IN" smtClean="0"/>
              <a:t>‹#›</a:t>
            </a:fld>
            <a:endParaRPr lang="en-IN"/>
          </a:p>
        </p:txBody>
      </p:sp>
    </p:spTree>
    <p:extLst>
      <p:ext uri="{BB962C8B-B14F-4D97-AF65-F5344CB8AC3E}">
        <p14:creationId xmlns:p14="http://schemas.microsoft.com/office/powerpoint/2010/main" val="18582749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7EF7ABF-E285-CF9F-19AE-370CCB55794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7F51107-4918-FBFF-60FF-5E64B7F0D74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51FCCB8-FEC3-6426-5B36-FA4BFDA1C99C}"/>
              </a:ext>
            </a:extLst>
          </p:cNvPr>
          <p:cNvSpPr>
            <a:spLocks noGrp="1"/>
          </p:cNvSpPr>
          <p:nvPr>
            <p:ph type="dt" sz="half" idx="10"/>
          </p:nvPr>
        </p:nvSpPr>
        <p:spPr/>
        <p:txBody>
          <a:bodyPr/>
          <a:lstStyle/>
          <a:p>
            <a:fld id="{1441E47D-0B0F-4FB0-882B-8EEA2743FD01}" type="datetimeFigureOut">
              <a:rPr lang="en-IN" smtClean="0"/>
              <a:t>12-03-2026</a:t>
            </a:fld>
            <a:endParaRPr lang="en-IN"/>
          </a:p>
        </p:txBody>
      </p:sp>
      <p:sp>
        <p:nvSpPr>
          <p:cNvPr id="5" name="Footer Placeholder 4">
            <a:extLst>
              <a:ext uri="{FF2B5EF4-FFF2-40B4-BE49-F238E27FC236}">
                <a16:creationId xmlns:a16="http://schemas.microsoft.com/office/drawing/2014/main" id="{413631AC-A610-11B6-7A02-01ADD5291E1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0012E6D-C665-D770-7820-FC1C269A6CE7}"/>
              </a:ext>
            </a:extLst>
          </p:cNvPr>
          <p:cNvSpPr>
            <a:spLocks noGrp="1"/>
          </p:cNvSpPr>
          <p:nvPr>
            <p:ph type="sldNum" sz="quarter" idx="12"/>
          </p:nvPr>
        </p:nvSpPr>
        <p:spPr/>
        <p:txBody>
          <a:bodyPr/>
          <a:lstStyle/>
          <a:p>
            <a:fld id="{653C5566-F9E7-448D-98A0-851CE37B17C0}" type="slidenum">
              <a:rPr lang="en-IN" smtClean="0"/>
              <a:t>‹#›</a:t>
            </a:fld>
            <a:endParaRPr lang="en-IN"/>
          </a:p>
        </p:txBody>
      </p:sp>
    </p:spTree>
    <p:extLst>
      <p:ext uri="{BB962C8B-B14F-4D97-AF65-F5344CB8AC3E}">
        <p14:creationId xmlns:p14="http://schemas.microsoft.com/office/powerpoint/2010/main" val="26347906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B623236-8E78-D935-9752-F17AFA2E5FE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C73453D-E61A-9CAE-7F5F-90FE74F0B3D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57A07E3-B619-DDBD-1540-5BDC877AE2F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441E47D-0B0F-4FB0-882B-8EEA2743FD01}" type="datetimeFigureOut">
              <a:rPr lang="en-IN" smtClean="0"/>
              <a:t>12-03-2026</a:t>
            </a:fld>
            <a:endParaRPr lang="en-IN"/>
          </a:p>
        </p:txBody>
      </p:sp>
      <p:sp>
        <p:nvSpPr>
          <p:cNvPr id="5" name="Footer Placeholder 4">
            <a:extLst>
              <a:ext uri="{FF2B5EF4-FFF2-40B4-BE49-F238E27FC236}">
                <a16:creationId xmlns:a16="http://schemas.microsoft.com/office/drawing/2014/main" id="{3E22BC0E-924C-B360-82D8-E58DAA279AE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A4EDB91E-AD87-7A56-BBB0-DC14F20AFB5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53C5566-F9E7-448D-98A0-851CE37B17C0}" type="slidenum">
              <a:rPr lang="en-IN" smtClean="0"/>
              <a:t>‹#›</a:t>
            </a:fld>
            <a:endParaRPr lang="en-IN"/>
          </a:p>
        </p:txBody>
      </p:sp>
    </p:spTree>
    <p:extLst>
      <p:ext uri="{BB962C8B-B14F-4D97-AF65-F5344CB8AC3E}">
        <p14:creationId xmlns:p14="http://schemas.microsoft.com/office/powerpoint/2010/main" val="4621345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9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63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66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1092D8-1610-F0EE-9EB3-8AEC4B2C47D4}"/>
              </a:ext>
            </a:extLst>
          </p:cNvPr>
          <p:cNvSpPr>
            <a:spLocks noGrp="1"/>
          </p:cNvSpPr>
          <p:nvPr>
            <p:ph type="title"/>
          </p:nvPr>
        </p:nvSpPr>
        <p:spPr/>
        <p:txBody>
          <a:bodyPr>
            <a:normAutofit/>
          </a:bodyPr>
          <a:lstStyle/>
          <a:p>
            <a:r>
              <a:rPr lang="en-US" dirty="0"/>
              <a:t>Agent based learning</a:t>
            </a:r>
            <a:endParaRPr lang="en-IN" dirty="0"/>
          </a:p>
        </p:txBody>
      </p:sp>
      <p:sp>
        <p:nvSpPr>
          <p:cNvPr id="3" name="Content Placeholder 2">
            <a:extLst>
              <a:ext uri="{FF2B5EF4-FFF2-40B4-BE49-F238E27FC236}">
                <a16:creationId xmlns:a16="http://schemas.microsoft.com/office/drawing/2014/main" id="{52DD11A2-B013-6E01-30E7-21172DE585A2}"/>
              </a:ext>
            </a:extLst>
          </p:cNvPr>
          <p:cNvSpPr>
            <a:spLocks noGrp="1"/>
          </p:cNvSpPr>
          <p:nvPr>
            <p:ph idx="1"/>
          </p:nvPr>
        </p:nvSpPr>
        <p:spPr/>
        <p:txBody>
          <a:bodyPr>
            <a:normAutofit/>
          </a:bodyPr>
          <a:lstStyle/>
          <a:p>
            <a:r>
              <a:rPr lang="en-US" sz="2400" dirty="0"/>
              <a:t>Agent-based learning involves simulating autonomous, decision-making entities (agents) that interact within a defined environment, updating their behavior over time through experience, reinforcement learning, or evolutionary strategies. These models, often used to understand complex systems, allow agents to adapt to new situations and learn from past actions, rather than relying solely on pre-programmed rules. </a:t>
            </a:r>
          </a:p>
          <a:p>
            <a:r>
              <a:rPr lang="en-US" sz="2400" dirty="0"/>
              <a:t>Agent based modelling is a class of computational models that simulate the </a:t>
            </a:r>
            <a:r>
              <a:rPr lang="en-US" sz="2400" dirty="0" err="1"/>
              <a:t>behaviour</a:t>
            </a:r>
            <a:r>
              <a:rPr lang="en-US" sz="2400" dirty="0"/>
              <a:t> of autonomous agents such as people, animals, vehicles or organizations, or even cells. Each agent operates according to a set of rules and interacts with other agents and their environment and then the model then tracks how these local interactions give rise to global patterns.</a:t>
            </a:r>
            <a:endParaRPr lang="en-IN" sz="2400" dirty="0"/>
          </a:p>
          <a:p>
            <a:endParaRPr lang="en-US" sz="2400" b="1" dirty="0"/>
          </a:p>
          <a:p>
            <a:pPr lvl="1"/>
            <a:endParaRPr lang="en-US" dirty="0"/>
          </a:p>
        </p:txBody>
      </p:sp>
    </p:spTree>
    <p:extLst>
      <p:ext uri="{BB962C8B-B14F-4D97-AF65-F5344CB8AC3E}">
        <p14:creationId xmlns:p14="http://schemas.microsoft.com/office/powerpoint/2010/main" val="40474705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4E7F05-350B-3D60-5F83-CED39AE297A3}"/>
              </a:ext>
            </a:extLst>
          </p:cNvPr>
          <p:cNvSpPr>
            <a:spLocks noGrp="1"/>
          </p:cNvSpPr>
          <p:nvPr>
            <p:ph type="title"/>
          </p:nvPr>
        </p:nvSpPr>
        <p:spPr/>
        <p:txBody>
          <a:bodyPr/>
          <a:lstStyle/>
          <a:p>
            <a:r>
              <a:rPr lang="en-US" b="1" dirty="0"/>
              <a:t>Core Components of Agent-Based Learning</a:t>
            </a:r>
            <a:endParaRPr lang="en-IN" dirty="0"/>
          </a:p>
        </p:txBody>
      </p:sp>
      <p:sp>
        <p:nvSpPr>
          <p:cNvPr id="6" name="Rectangle 3">
            <a:extLst>
              <a:ext uri="{FF2B5EF4-FFF2-40B4-BE49-F238E27FC236}">
                <a16:creationId xmlns:a16="http://schemas.microsoft.com/office/drawing/2014/main" id="{CFA589DA-54FE-2471-A1C7-B8D6C0D10DF2}"/>
              </a:ext>
            </a:extLst>
          </p:cNvPr>
          <p:cNvSpPr>
            <a:spLocks noGrp="1" noChangeArrowheads="1"/>
          </p:cNvSpPr>
          <p:nvPr>
            <p:ph idx="1"/>
          </p:nvPr>
        </p:nvSpPr>
        <p:spPr bwMode="auto">
          <a:xfrm>
            <a:off x="838200" y="1652516"/>
            <a:ext cx="10363200" cy="406265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357188" indent="-357188" eaLnBrk="0" fontAlgn="base" hangingPunct="0">
              <a:lnSpc>
                <a:spcPct val="100000"/>
              </a:lnSpc>
              <a:spcBef>
                <a:spcPct val="0"/>
              </a:spcBef>
              <a:spcAft>
                <a:spcPct val="0"/>
              </a:spcAft>
            </a:pPr>
            <a:r>
              <a:rPr kumimoji="0" lang="en-US" altLang="en-US" sz="2400" b="1" i="0" u="none" strike="noStrike" cap="none" normalizeH="0" baseline="0" dirty="0">
                <a:ln>
                  <a:noFill/>
                </a:ln>
                <a:solidFill>
                  <a:srgbClr val="0A0A0A"/>
                </a:solidFill>
                <a:effectLst/>
                <a:cs typeface="Arial" panose="020B0604020202020204" pitchFamily="34" charset="0"/>
              </a:rPr>
              <a:t>Agents:</a:t>
            </a:r>
            <a:r>
              <a:rPr kumimoji="0" lang="en-US" altLang="en-US" sz="2400" b="0" i="0" u="none" strike="noStrike" cap="none" normalizeH="0" baseline="0" dirty="0">
                <a:ln>
                  <a:noFill/>
                </a:ln>
                <a:solidFill>
                  <a:srgbClr val="0A0A0A"/>
                </a:solidFill>
                <a:effectLst/>
                <a:cs typeface="Arial" panose="020B0604020202020204" pitchFamily="34" charset="0"/>
              </a:rPr>
              <a:t> Autonomous, independent entities with individual characteristics, goals, and behaviors. </a:t>
            </a:r>
            <a:r>
              <a:rPr lang="en-US" sz="2400" dirty="0"/>
              <a:t>Each agent operates according to a set of rules that govern its behavior, decision making processes and interactions with other agents and the environment.</a:t>
            </a:r>
            <a:endParaRPr kumimoji="0" lang="en-US" altLang="en-US" sz="2400" b="0" i="0" u="none" strike="noStrike" cap="none" normalizeH="0" baseline="0" dirty="0">
              <a:ln>
                <a:noFill/>
              </a:ln>
              <a:solidFill>
                <a:srgbClr val="0A0A0A"/>
              </a:solidFill>
              <a:effectLst/>
              <a:cs typeface="Arial" panose="020B0604020202020204" pitchFamily="34" charset="0"/>
            </a:endParaRPr>
          </a:p>
          <a:p>
            <a:pPr marL="357188" indent="-357188" eaLnBrk="0" fontAlgn="base" hangingPunct="0">
              <a:lnSpc>
                <a:spcPct val="100000"/>
              </a:lnSpc>
              <a:spcBef>
                <a:spcPct val="0"/>
              </a:spcBef>
              <a:spcAft>
                <a:spcPct val="0"/>
              </a:spcAft>
            </a:pPr>
            <a:r>
              <a:rPr kumimoji="0" lang="en-US" altLang="en-US" sz="2400" b="1" i="0" u="none" strike="noStrike" cap="none" normalizeH="0" baseline="0" dirty="0">
                <a:ln>
                  <a:noFill/>
                </a:ln>
                <a:solidFill>
                  <a:srgbClr val="0A0A0A"/>
                </a:solidFill>
                <a:effectLst/>
                <a:cs typeface="Arial" panose="020B0604020202020204" pitchFamily="34" charset="0"/>
              </a:rPr>
              <a:t>Environment:</a:t>
            </a:r>
            <a:r>
              <a:rPr kumimoji="0" lang="en-US" altLang="en-US" sz="2400" b="0" i="0" u="none" strike="noStrike" cap="none" normalizeH="0" baseline="0" dirty="0">
                <a:ln>
                  <a:noFill/>
                </a:ln>
                <a:solidFill>
                  <a:srgbClr val="0A0A0A"/>
                </a:solidFill>
                <a:effectLst/>
                <a:cs typeface="Arial" panose="020B0604020202020204" pitchFamily="34" charset="0"/>
              </a:rPr>
              <a:t> The space where agents exist, interact, and access resources.</a:t>
            </a:r>
          </a:p>
          <a:p>
            <a:pPr marL="357188" indent="-357188" eaLnBrk="0" fontAlgn="base" hangingPunct="0">
              <a:lnSpc>
                <a:spcPct val="100000"/>
              </a:lnSpc>
              <a:spcBef>
                <a:spcPct val="0"/>
              </a:spcBef>
              <a:spcAft>
                <a:spcPct val="0"/>
              </a:spcAft>
            </a:pPr>
            <a:r>
              <a:rPr kumimoji="0" lang="en-US" altLang="en-US" sz="2400" b="1" i="0" u="none" strike="noStrike" cap="none" normalizeH="0" baseline="0" dirty="0">
                <a:ln>
                  <a:noFill/>
                </a:ln>
                <a:solidFill>
                  <a:srgbClr val="0A0A0A"/>
                </a:solidFill>
                <a:effectLst/>
                <a:cs typeface="Arial" panose="020B0604020202020204" pitchFamily="34" charset="0"/>
              </a:rPr>
              <a:t>Interaction Rules: </a:t>
            </a:r>
            <a:r>
              <a:rPr kumimoji="0" lang="en-US" altLang="en-US" sz="2400" b="0" i="0" u="none" strike="noStrike" cap="none" normalizeH="0" baseline="0" dirty="0">
                <a:ln>
                  <a:noFill/>
                </a:ln>
                <a:solidFill>
                  <a:srgbClr val="0A0A0A"/>
                </a:solidFill>
                <a:effectLst/>
                <a:cs typeface="Arial" panose="020B0604020202020204" pitchFamily="34" charset="0"/>
              </a:rPr>
              <a:t>Guidelines that define how agents interact with each other and their surroundings.</a:t>
            </a:r>
          </a:p>
          <a:p>
            <a:pPr marL="357188" indent="-357188" eaLnBrk="0" fontAlgn="base" hangingPunct="0">
              <a:lnSpc>
                <a:spcPct val="100000"/>
              </a:lnSpc>
              <a:spcBef>
                <a:spcPct val="0"/>
              </a:spcBef>
              <a:spcAft>
                <a:spcPct val="0"/>
              </a:spcAft>
            </a:pPr>
            <a:r>
              <a:rPr kumimoji="0" lang="en-US" altLang="en-US" sz="2400" b="1" i="0" u="none" strike="noStrike" cap="none" normalizeH="0" baseline="0" dirty="0">
                <a:ln>
                  <a:noFill/>
                </a:ln>
                <a:solidFill>
                  <a:srgbClr val="0A0A0A"/>
                </a:solidFill>
                <a:effectLst/>
                <a:cs typeface="Arial" panose="020B0604020202020204" pitchFamily="34" charset="0"/>
              </a:rPr>
              <a:t>Learning Mechanism:</a:t>
            </a:r>
            <a:r>
              <a:rPr kumimoji="0" lang="en-US" altLang="en-US" sz="2400" b="0" i="0" u="none" strike="noStrike" cap="none" normalizeH="0" baseline="0" dirty="0">
                <a:ln>
                  <a:noFill/>
                </a:ln>
                <a:solidFill>
                  <a:srgbClr val="0A0A0A"/>
                </a:solidFill>
                <a:effectLst/>
                <a:cs typeface="Arial" panose="020B0604020202020204" pitchFamily="34" charset="0"/>
              </a:rPr>
              <a:t> Methods such as reinforcement learning or genetic algorithms that allow agents to adapt and improve performance over time.</a:t>
            </a:r>
          </a:p>
          <a:p>
            <a:pPr marL="357188" indent="-357188" eaLnBrk="0" fontAlgn="base" hangingPunct="0">
              <a:lnSpc>
                <a:spcPct val="100000"/>
              </a:lnSpc>
              <a:spcBef>
                <a:spcPct val="0"/>
              </a:spcBef>
              <a:spcAft>
                <a:spcPct val="0"/>
              </a:spcAft>
            </a:pPr>
            <a:r>
              <a:rPr kumimoji="0" lang="en-US" altLang="en-US" sz="2400" b="1" i="0" u="none" strike="noStrike" cap="none" normalizeH="0" baseline="0" dirty="0">
                <a:ln>
                  <a:noFill/>
                </a:ln>
                <a:solidFill>
                  <a:srgbClr val="0A0A0A"/>
                </a:solidFill>
                <a:effectLst/>
                <a:cs typeface="Arial" panose="020B0604020202020204" pitchFamily="34" charset="0"/>
              </a:rPr>
              <a:t>Emergence:</a:t>
            </a:r>
            <a:r>
              <a:rPr kumimoji="0" lang="en-US" altLang="en-US" sz="2400" b="0" i="0" u="none" strike="noStrike" cap="none" normalizeH="0" baseline="0" dirty="0">
                <a:ln>
                  <a:noFill/>
                </a:ln>
                <a:solidFill>
                  <a:srgbClr val="0A0A0A"/>
                </a:solidFill>
                <a:effectLst/>
                <a:cs typeface="Arial" panose="020B0604020202020204" pitchFamily="34" charset="0"/>
              </a:rPr>
              <a:t> System-level patterns that arise from the collective, individual actions of agents. </a:t>
            </a:r>
            <a:endParaRPr kumimoji="0" lang="en-US" altLang="en-US" sz="24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39587835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2FCFC-5C9B-891B-6810-496862602C88}"/>
              </a:ext>
            </a:extLst>
          </p:cNvPr>
          <p:cNvSpPr>
            <a:spLocks noGrp="1"/>
          </p:cNvSpPr>
          <p:nvPr>
            <p:ph type="title"/>
          </p:nvPr>
        </p:nvSpPr>
        <p:spPr/>
        <p:txBody>
          <a:bodyPr/>
          <a:lstStyle/>
          <a:p>
            <a:r>
              <a:rPr lang="en-US" dirty="0"/>
              <a:t>Agent based learning</a:t>
            </a:r>
            <a:endParaRPr lang="en-IN" dirty="0"/>
          </a:p>
        </p:txBody>
      </p:sp>
      <p:sp>
        <p:nvSpPr>
          <p:cNvPr id="4" name="Rectangle 1">
            <a:extLst>
              <a:ext uri="{FF2B5EF4-FFF2-40B4-BE49-F238E27FC236}">
                <a16:creationId xmlns:a16="http://schemas.microsoft.com/office/drawing/2014/main" id="{3F60079F-AAB3-7054-70DB-83D791ACBFD3}"/>
              </a:ext>
            </a:extLst>
          </p:cNvPr>
          <p:cNvSpPr>
            <a:spLocks noGrp="1" noChangeArrowheads="1"/>
          </p:cNvSpPr>
          <p:nvPr>
            <p:ph idx="1"/>
          </p:nvPr>
        </p:nvSpPr>
        <p:spPr bwMode="auto">
          <a:xfrm>
            <a:off x="741679" y="1819354"/>
            <a:ext cx="10767833" cy="369331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0A0A0A"/>
                </a:solidFill>
                <a:effectLst/>
                <a:cs typeface="Arial" panose="020B0604020202020204" pitchFamily="34" charset="0"/>
              </a:rPr>
              <a:t>Key Characteristics and Applications</a:t>
            </a:r>
            <a:endParaRPr kumimoji="0" lang="en-US" altLang="en-US" sz="2400" b="0" i="0" u="none" strike="noStrike" cap="none" normalizeH="0" baseline="0" dirty="0">
              <a:ln>
                <a:noFill/>
              </a:ln>
              <a:solidFill>
                <a:schemeClr val="tx1"/>
              </a:solidFill>
              <a:effectLst/>
            </a:endParaRPr>
          </a:p>
          <a:p>
            <a:pPr marL="536575" indent="-536575" eaLnBrk="0" fontAlgn="base" hangingPunct="0">
              <a:lnSpc>
                <a:spcPct val="100000"/>
              </a:lnSpc>
              <a:spcBef>
                <a:spcPct val="0"/>
              </a:spcBef>
              <a:spcAft>
                <a:spcPct val="0"/>
              </a:spcAft>
            </a:pPr>
            <a:r>
              <a:rPr kumimoji="0" lang="en-US" altLang="en-US" sz="2400" b="1" i="0" u="none" strike="noStrike" cap="none" normalizeH="0" baseline="0" dirty="0">
                <a:ln>
                  <a:noFill/>
                </a:ln>
                <a:solidFill>
                  <a:srgbClr val="0A0A0A"/>
                </a:solidFill>
                <a:effectLst/>
                <a:cs typeface="Arial" panose="020B0604020202020204" pitchFamily="34" charset="0"/>
              </a:rPr>
              <a:t>Adaptation:</a:t>
            </a:r>
            <a:r>
              <a:rPr kumimoji="0" lang="en-US" altLang="en-US" sz="2400" b="0" i="0" u="none" strike="noStrike" cap="none" normalizeH="0" baseline="0" dirty="0">
                <a:ln>
                  <a:noFill/>
                </a:ln>
                <a:solidFill>
                  <a:srgbClr val="0A0A0A"/>
                </a:solidFill>
                <a:effectLst/>
                <a:cs typeface="Arial" panose="020B0604020202020204" pitchFamily="34" charset="0"/>
              </a:rPr>
              <a:t> Agents update their internal models based on environmental observations to improve future actions.</a:t>
            </a:r>
          </a:p>
          <a:p>
            <a:pPr marL="536575" indent="-536575" eaLnBrk="0" fontAlgn="base" hangingPunct="0">
              <a:lnSpc>
                <a:spcPct val="100000"/>
              </a:lnSpc>
              <a:spcBef>
                <a:spcPct val="0"/>
              </a:spcBef>
              <a:spcAft>
                <a:spcPct val="0"/>
              </a:spcAft>
            </a:pPr>
            <a:r>
              <a:rPr kumimoji="0" lang="en-US" altLang="en-US" sz="2400" b="1" i="0" u="none" strike="noStrike" cap="none" normalizeH="0" baseline="0" dirty="0">
                <a:ln>
                  <a:noFill/>
                </a:ln>
                <a:solidFill>
                  <a:srgbClr val="0A0A0A"/>
                </a:solidFill>
                <a:effectLst/>
                <a:cs typeface="Arial" panose="020B0604020202020204" pitchFamily="34" charset="0"/>
              </a:rPr>
              <a:t>Heterogeneity:</a:t>
            </a:r>
            <a:r>
              <a:rPr kumimoji="0" lang="en-US" altLang="en-US" sz="2400" b="0" i="0" u="none" strike="noStrike" cap="none" normalizeH="0" baseline="0" dirty="0">
                <a:ln>
                  <a:noFill/>
                </a:ln>
                <a:solidFill>
                  <a:srgbClr val="0A0A0A"/>
                </a:solidFill>
                <a:effectLst/>
                <a:cs typeface="Arial" panose="020B0604020202020204" pitchFamily="34" charset="0"/>
              </a:rPr>
              <a:t> Agents often differ in attributes like age, preferences, or memory, leading to diverse responses.</a:t>
            </a:r>
          </a:p>
          <a:p>
            <a:pPr marL="536575" indent="-536575" eaLnBrk="0" fontAlgn="base" hangingPunct="0">
              <a:lnSpc>
                <a:spcPct val="100000"/>
              </a:lnSpc>
              <a:spcBef>
                <a:spcPct val="0"/>
              </a:spcBef>
              <a:spcAft>
                <a:spcPct val="0"/>
              </a:spcAft>
            </a:pPr>
            <a:r>
              <a:rPr kumimoji="0" lang="en-US" altLang="en-US" sz="2400" b="1" i="0" u="none" strike="noStrike" cap="none" normalizeH="0" baseline="0" dirty="0">
                <a:ln>
                  <a:noFill/>
                </a:ln>
                <a:solidFill>
                  <a:srgbClr val="0A0A0A"/>
                </a:solidFill>
                <a:effectLst/>
                <a:cs typeface="Arial" panose="020B0604020202020204" pitchFamily="34" charset="0"/>
              </a:rPr>
              <a:t>Applications:</a:t>
            </a:r>
            <a:r>
              <a:rPr kumimoji="0" lang="en-US" altLang="en-US" sz="2400" b="0" i="0" u="none" strike="noStrike" cap="none" normalizeH="0" baseline="0" dirty="0">
                <a:ln>
                  <a:noFill/>
                </a:ln>
                <a:solidFill>
                  <a:srgbClr val="0A0A0A"/>
                </a:solidFill>
                <a:effectLst/>
                <a:cs typeface="Arial" panose="020B0604020202020204" pitchFamily="34" charset="0"/>
              </a:rPr>
              <a:t> Commonly used in complex systems analysis, including economics, social sciences, and organizational behavior.</a:t>
            </a:r>
          </a:p>
          <a:p>
            <a:pPr marL="536575" indent="-536575" eaLnBrk="0" fontAlgn="base" hangingPunct="0">
              <a:lnSpc>
                <a:spcPct val="100000"/>
              </a:lnSpc>
              <a:spcBef>
                <a:spcPct val="0"/>
              </a:spcBef>
              <a:spcAft>
                <a:spcPct val="0"/>
              </a:spcAft>
            </a:pPr>
            <a:r>
              <a:rPr kumimoji="0" lang="en-US" altLang="en-US" sz="2400" b="1" i="0" u="none" strike="noStrike" cap="none" normalizeH="0" baseline="0" dirty="0">
                <a:ln>
                  <a:noFill/>
                </a:ln>
                <a:solidFill>
                  <a:srgbClr val="0A0A0A"/>
                </a:solidFill>
                <a:effectLst/>
                <a:cs typeface="Arial" panose="020B0604020202020204" pitchFamily="34" charset="0"/>
              </a:rPr>
              <a:t>Simulation &amp; Modeling:</a:t>
            </a:r>
            <a:r>
              <a:rPr kumimoji="0" lang="en-US" altLang="en-US" sz="2400" b="0" i="0" u="none" strike="noStrike" cap="none" normalizeH="0" baseline="0" dirty="0">
                <a:ln>
                  <a:noFill/>
                </a:ln>
                <a:solidFill>
                  <a:srgbClr val="0A0A0A"/>
                </a:solidFill>
                <a:effectLst/>
                <a:cs typeface="Arial" panose="020B0604020202020204" pitchFamily="34" charset="0"/>
              </a:rPr>
              <a:t> These models are used for "bottom-up" simulations, where individual behaviors create system-level phenomena.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26918837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F7F837-11C3-16C3-A207-6323D728D590}"/>
              </a:ext>
            </a:extLst>
          </p:cNvPr>
          <p:cNvSpPr>
            <a:spLocks noGrp="1"/>
          </p:cNvSpPr>
          <p:nvPr>
            <p:ph type="title"/>
          </p:nvPr>
        </p:nvSpPr>
        <p:spPr/>
        <p:txBody>
          <a:bodyPr/>
          <a:lstStyle/>
          <a:p>
            <a:r>
              <a:rPr lang="en-IN" dirty="0"/>
              <a:t>Reinforcement Learning</a:t>
            </a:r>
          </a:p>
        </p:txBody>
      </p:sp>
      <p:pic>
        <p:nvPicPr>
          <p:cNvPr id="5" name="Content Placeholder 4">
            <a:extLst>
              <a:ext uri="{FF2B5EF4-FFF2-40B4-BE49-F238E27FC236}">
                <a16:creationId xmlns:a16="http://schemas.microsoft.com/office/drawing/2014/main" id="{E28C03AD-79DF-40F7-2403-B347EBEB76AD}"/>
              </a:ext>
            </a:extLst>
          </p:cNvPr>
          <p:cNvPicPr>
            <a:picLocks noGrp="1" noChangeAspect="1"/>
          </p:cNvPicPr>
          <p:nvPr>
            <p:ph idx="1"/>
          </p:nvPr>
        </p:nvPicPr>
        <p:blipFill>
          <a:blip r:embed="rId2"/>
          <a:stretch>
            <a:fillRect/>
          </a:stretch>
        </p:blipFill>
        <p:spPr>
          <a:xfrm>
            <a:off x="452960" y="1690688"/>
            <a:ext cx="6555053" cy="4351338"/>
          </a:xfrm>
          <a:prstGeom prst="rect">
            <a:avLst/>
          </a:prstGeom>
        </p:spPr>
      </p:pic>
      <p:pic>
        <p:nvPicPr>
          <p:cNvPr id="11" name="Picture 10">
            <a:extLst>
              <a:ext uri="{FF2B5EF4-FFF2-40B4-BE49-F238E27FC236}">
                <a16:creationId xmlns:a16="http://schemas.microsoft.com/office/drawing/2014/main" id="{D09BEF47-93E8-1936-19F9-93638B61EF82}"/>
              </a:ext>
            </a:extLst>
          </p:cNvPr>
          <p:cNvPicPr>
            <a:picLocks noChangeAspect="1"/>
          </p:cNvPicPr>
          <p:nvPr/>
        </p:nvPicPr>
        <p:blipFill>
          <a:blip r:embed="rId3"/>
          <a:stretch>
            <a:fillRect/>
          </a:stretch>
        </p:blipFill>
        <p:spPr>
          <a:xfrm>
            <a:off x="7008013" y="1555885"/>
            <a:ext cx="5246520" cy="4270734"/>
          </a:xfrm>
          <a:prstGeom prst="rect">
            <a:avLst/>
          </a:prstGeom>
        </p:spPr>
      </p:pic>
    </p:spTree>
    <p:extLst>
      <p:ext uri="{BB962C8B-B14F-4D97-AF65-F5344CB8AC3E}">
        <p14:creationId xmlns:p14="http://schemas.microsoft.com/office/powerpoint/2010/main" val="39180420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801BBB-3E5D-FCAB-3D64-90DD2CA119F0}"/>
              </a:ext>
            </a:extLst>
          </p:cNvPr>
          <p:cNvSpPr>
            <a:spLocks noGrp="1"/>
          </p:cNvSpPr>
          <p:nvPr>
            <p:ph type="title"/>
          </p:nvPr>
        </p:nvSpPr>
        <p:spPr/>
        <p:txBody>
          <a:bodyPr/>
          <a:lstStyle/>
          <a:p>
            <a:r>
              <a:rPr lang="en-US" b="1" dirty="0"/>
              <a:t>Reinforcement Learning (RL)</a:t>
            </a:r>
            <a:endParaRPr lang="en-IN" dirty="0"/>
          </a:p>
        </p:txBody>
      </p:sp>
      <p:sp>
        <p:nvSpPr>
          <p:cNvPr id="3" name="Content Placeholder 2">
            <a:extLst>
              <a:ext uri="{FF2B5EF4-FFF2-40B4-BE49-F238E27FC236}">
                <a16:creationId xmlns:a16="http://schemas.microsoft.com/office/drawing/2014/main" id="{D9FB991B-9510-25B9-BF37-0CB179F846BB}"/>
              </a:ext>
            </a:extLst>
          </p:cNvPr>
          <p:cNvSpPr>
            <a:spLocks noGrp="1"/>
          </p:cNvSpPr>
          <p:nvPr>
            <p:ph idx="1"/>
          </p:nvPr>
        </p:nvSpPr>
        <p:spPr>
          <a:xfrm>
            <a:off x="838200" y="1690688"/>
            <a:ext cx="10810461" cy="4890052"/>
          </a:xfrm>
        </p:spPr>
        <p:txBody>
          <a:bodyPr>
            <a:normAutofit/>
          </a:bodyPr>
          <a:lstStyle/>
          <a:p>
            <a:r>
              <a:rPr lang="en-US" sz="2000" b="1" dirty="0"/>
              <a:t>Reinforcement Learning (RL)</a:t>
            </a:r>
            <a:r>
              <a:rPr lang="en-US" sz="2000" dirty="0"/>
              <a:t> is the dominant machine learning methodology used to actually execute Agent-Based Learning. It provides the mathematical structure for </a:t>
            </a:r>
            <a:r>
              <a:rPr lang="en-US" sz="2000" i="1" dirty="0"/>
              <a:t>how</a:t>
            </a:r>
            <a:r>
              <a:rPr lang="en-US" sz="2000" dirty="0"/>
              <a:t> the agent learns from its environment.</a:t>
            </a:r>
          </a:p>
          <a:p>
            <a:r>
              <a:rPr lang="en-US" sz="2000" dirty="0"/>
              <a:t>RL uses a system of numerical </a:t>
            </a:r>
            <a:r>
              <a:rPr lang="en-US" sz="2000" b="1" dirty="0"/>
              <a:t>rewards</a:t>
            </a:r>
            <a:r>
              <a:rPr lang="en-US" sz="2000" dirty="0"/>
              <a:t> and </a:t>
            </a:r>
            <a:r>
              <a:rPr lang="en-US" sz="2000" b="1" dirty="0"/>
              <a:t>punishments</a:t>
            </a:r>
            <a:r>
              <a:rPr lang="en-US" sz="2000" dirty="0"/>
              <a:t> to guide the agent's behavior over time.</a:t>
            </a:r>
          </a:p>
          <a:p>
            <a:r>
              <a:rPr lang="en-US" sz="2000" dirty="0"/>
              <a:t>The learning system, known as an </a:t>
            </a:r>
            <a:r>
              <a:rPr lang="en-US" sz="2000" b="1" dirty="0"/>
              <a:t>agent</a:t>
            </a:r>
            <a:r>
              <a:rPr lang="en-US" sz="2000" dirty="0"/>
              <a:t>, can observe its </a:t>
            </a:r>
            <a:r>
              <a:rPr lang="en-US" sz="2000" b="1" dirty="0"/>
              <a:t>environment</a:t>
            </a:r>
            <a:r>
              <a:rPr lang="en-US" sz="2000" dirty="0"/>
              <a:t>, choose and perform </a:t>
            </a:r>
            <a:r>
              <a:rPr lang="en-US" sz="2000" b="1" dirty="0"/>
              <a:t>actions</a:t>
            </a:r>
            <a:r>
              <a:rPr lang="en-US" sz="2000" dirty="0"/>
              <a:t>, and receive </a:t>
            </a:r>
            <a:r>
              <a:rPr lang="en-US" sz="2000" b="1" dirty="0"/>
              <a:t>rewards</a:t>
            </a:r>
            <a:r>
              <a:rPr lang="en-US" sz="2000" dirty="0"/>
              <a:t> or penalties (negative rewards) in response.</a:t>
            </a:r>
          </a:p>
          <a:p>
            <a:r>
              <a:rPr lang="en-US" sz="2000" dirty="0"/>
              <a:t>Self-learning occurs as the agent develops a strategy to </a:t>
            </a:r>
            <a:r>
              <a:rPr lang="en-US" sz="2000" dirty="0" err="1"/>
              <a:t>maximise</a:t>
            </a:r>
            <a:r>
              <a:rPr lang="en-US" sz="2000" dirty="0"/>
              <a:t> its rewards over time.</a:t>
            </a:r>
          </a:p>
          <a:p>
            <a:r>
              <a:rPr lang="en-US" sz="2000" dirty="0"/>
              <a:t>A policy outlines the action the agent should take when faced with a specific situation.</a:t>
            </a:r>
          </a:p>
          <a:p>
            <a:r>
              <a:rPr lang="en-US" sz="2000" dirty="0"/>
              <a:t>For example, many robots implement Reinforcement Learning algorithms to learn </a:t>
            </a:r>
            <a:r>
              <a:rPr lang="en-IN" sz="2000" dirty="0"/>
              <a:t>how to walk.</a:t>
            </a:r>
            <a:endParaRPr lang="en-US" sz="2000" dirty="0"/>
          </a:p>
        </p:txBody>
      </p:sp>
    </p:spTree>
    <p:extLst>
      <p:ext uri="{BB962C8B-B14F-4D97-AF65-F5344CB8AC3E}">
        <p14:creationId xmlns:p14="http://schemas.microsoft.com/office/powerpoint/2010/main" val="855989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182C54-D40A-7287-399B-0C09927A05BE}"/>
              </a:ext>
            </a:extLst>
          </p:cNvPr>
          <p:cNvSpPr>
            <a:spLocks noGrp="1"/>
          </p:cNvSpPr>
          <p:nvPr>
            <p:ph type="title"/>
          </p:nvPr>
        </p:nvSpPr>
        <p:spPr/>
        <p:txBody>
          <a:bodyPr/>
          <a:lstStyle/>
          <a:p>
            <a:r>
              <a:rPr lang="en-IN" dirty="0"/>
              <a:t>Reinforcement Learning</a:t>
            </a:r>
          </a:p>
        </p:txBody>
      </p:sp>
      <p:pic>
        <p:nvPicPr>
          <p:cNvPr id="1026" name="Picture 2" descr="Reinforcement learning process">
            <a:extLst>
              <a:ext uri="{FF2B5EF4-FFF2-40B4-BE49-F238E27FC236}">
                <a16:creationId xmlns:a16="http://schemas.microsoft.com/office/drawing/2014/main" id="{6975F8CE-BDD7-B127-0FF6-390FD46FA964}"/>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085147" y="1518202"/>
            <a:ext cx="8021706" cy="48130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804484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C15550-F4A8-CC53-FB23-C205E4674FFA}"/>
              </a:ext>
            </a:extLst>
          </p:cNvPr>
          <p:cNvSpPr>
            <a:spLocks noGrp="1"/>
          </p:cNvSpPr>
          <p:nvPr>
            <p:ph type="title"/>
          </p:nvPr>
        </p:nvSpPr>
        <p:spPr/>
        <p:txBody>
          <a:bodyPr/>
          <a:lstStyle/>
          <a:p>
            <a:r>
              <a:rPr lang="en-IN" b="1" dirty="0"/>
              <a:t>Key Aspects of Reinforcement Learning</a:t>
            </a:r>
            <a:endParaRPr lang="en-IN" dirty="0"/>
          </a:p>
        </p:txBody>
      </p:sp>
      <p:sp>
        <p:nvSpPr>
          <p:cNvPr id="3" name="Content Placeholder 2">
            <a:extLst>
              <a:ext uri="{FF2B5EF4-FFF2-40B4-BE49-F238E27FC236}">
                <a16:creationId xmlns:a16="http://schemas.microsoft.com/office/drawing/2014/main" id="{62983F9A-CD35-660A-3C1E-A6A67F246C01}"/>
              </a:ext>
            </a:extLst>
          </p:cNvPr>
          <p:cNvSpPr>
            <a:spLocks noGrp="1"/>
          </p:cNvSpPr>
          <p:nvPr>
            <p:ph idx="1"/>
          </p:nvPr>
        </p:nvSpPr>
        <p:spPr>
          <a:xfrm>
            <a:off x="838199" y="1690688"/>
            <a:ext cx="10820401" cy="4802187"/>
          </a:xfrm>
        </p:spPr>
        <p:txBody>
          <a:bodyPr>
            <a:normAutofit/>
          </a:bodyPr>
          <a:lstStyle/>
          <a:p>
            <a:pPr lvl="0"/>
            <a:r>
              <a:rPr lang="en-IN" sz="2400" b="1" dirty="0"/>
              <a:t>Core Components:</a:t>
            </a:r>
            <a:r>
              <a:rPr lang="en-IN" sz="2400" dirty="0"/>
              <a:t> The process involves an </a:t>
            </a:r>
            <a:r>
              <a:rPr lang="en-IN" sz="2400" b="1" dirty="0"/>
              <a:t>Agent</a:t>
            </a:r>
            <a:r>
              <a:rPr lang="en-IN" sz="2400" dirty="0"/>
              <a:t> (the learner), </a:t>
            </a:r>
            <a:r>
              <a:rPr lang="en-IN" sz="2400" b="1" dirty="0"/>
              <a:t>Environment </a:t>
            </a:r>
            <a:r>
              <a:rPr lang="en-IN" sz="2400" dirty="0"/>
              <a:t> (the world it operates in), </a:t>
            </a:r>
            <a:r>
              <a:rPr lang="en-IN" sz="2400" b="1" dirty="0"/>
              <a:t>State</a:t>
            </a:r>
            <a:r>
              <a:rPr lang="en-IN" sz="2400" dirty="0"/>
              <a:t> (current situation), </a:t>
            </a:r>
            <a:r>
              <a:rPr lang="en-IN" sz="2400" b="1" dirty="0"/>
              <a:t>Action</a:t>
            </a:r>
            <a:r>
              <a:rPr lang="en-IN" sz="2400" dirty="0"/>
              <a:t> (decision made), and </a:t>
            </a:r>
            <a:r>
              <a:rPr lang="en-IN" sz="2400" b="1" dirty="0"/>
              <a:t>Reward</a:t>
            </a:r>
            <a:r>
              <a:rPr lang="en-IN" sz="2400" dirty="0"/>
              <a:t> (feedback).</a:t>
            </a:r>
          </a:p>
          <a:p>
            <a:pPr lvl="0"/>
            <a:r>
              <a:rPr lang="en-IN" sz="2400" b="1" dirty="0"/>
              <a:t>Learning Process:</a:t>
            </a:r>
            <a:r>
              <a:rPr lang="en-IN" sz="2400" dirty="0"/>
              <a:t> Unlike supervised learning, RL agents learn by taking actions and experiencing consequences, improving their strategies over time.</a:t>
            </a:r>
          </a:p>
          <a:p>
            <a:pPr lvl="0"/>
            <a:r>
              <a:rPr lang="en-IN" sz="2400" b="1" dirty="0"/>
              <a:t>Key Paradigms:</a:t>
            </a:r>
            <a:endParaRPr lang="en-IN" sz="2400" dirty="0"/>
          </a:p>
          <a:p>
            <a:pPr lvl="1"/>
            <a:r>
              <a:rPr lang="en-IN" sz="2000" b="1" dirty="0"/>
              <a:t>Value-based:</a:t>
            </a:r>
            <a:r>
              <a:rPr lang="en-IN" sz="2000" dirty="0"/>
              <a:t> The agent finds the best strategy by examining the value of specific actions. Example: Q-Learning </a:t>
            </a:r>
          </a:p>
          <a:p>
            <a:pPr lvl="1"/>
            <a:r>
              <a:rPr lang="en-IN" sz="2000" b="1" dirty="0"/>
              <a:t>Policy-based:</a:t>
            </a:r>
            <a:r>
              <a:rPr lang="en-IN" sz="2000" dirty="0"/>
              <a:t> The agent determines the best strategy by examining the relationships between actions and outcomes (Directly learn policy). Example: Policy Gradient</a:t>
            </a:r>
          </a:p>
          <a:p>
            <a:pPr lvl="1"/>
            <a:r>
              <a:rPr lang="en-US" sz="2000" b="1" dirty="0"/>
              <a:t>Actor-Critic Methods: </a:t>
            </a:r>
            <a:r>
              <a:rPr lang="en-US" sz="2000" dirty="0"/>
              <a:t>Combination of value + policy methods.</a:t>
            </a:r>
          </a:p>
          <a:p>
            <a:pPr lvl="1"/>
            <a:r>
              <a:rPr lang="en-IN" sz="2000" b="1" dirty="0"/>
              <a:t>Model-based:</a:t>
            </a:r>
            <a:r>
              <a:rPr lang="en-IN" sz="2000" dirty="0"/>
              <a:t> The agent creates an internal model of the environment to simulate and plan actions.</a:t>
            </a:r>
          </a:p>
        </p:txBody>
      </p:sp>
    </p:spTree>
    <p:extLst>
      <p:ext uri="{BB962C8B-B14F-4D97-AF65-F5344CB8AC3E}">
        <p14:creationId xmlns:p14="http://schemas.microsoft.com/office/powerpoint/2010/main" val="26489011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8DB111-177A-F605-DB9D-A86D0AA66865}"/>
              </a:ext>
            </a:extLst>
          </p:cNvPr>
          <p:cNvSpPr>
            <a:spLocks noGrp="1"/>
          </p:cNvSpPr>
          <p:nvPr>
            <p:ph type="title"/>
          </p:nvPr>
        </p:nvSpPr>
        <p:spPr/>
        <p:txBody>
          <a:bodyPr/>
          <a:lstStyle/>
          <a:p>
            <a:r>
              <a:rPr lang="en-IN" b="1" dirty="0"/>
              <a:t>Key Aspects of Reinforcement Learning</a:t>
            </a:r>
            <a:endParaRPr lang="en-IN" dirty="0"/>
          </a:p>
        </p:txBody>
      </p:sp>
      <p:sp>
        <p:nvSpPr>
          <p:cNvPr id="3" name="Content Placeholder 2">
            <a:extLst>
              <a:ext uri="{FF2B5EF4-FFF2-40B4-BE49-F238E27FC236}">
                <a16:creationId xmlns:a16="http://schemas.microsoft.com/office/drawing/2014/main" id="{2C5C4651-D4F0-A260-DA45-3235759FE724}"/>
              </a:ext>
            </a:extLst>
          </p:cNvPr>
          <p:cNvSpPr>
            <a:spLocks noGrp="1"/>
          </p:cNvSpPr>
          <p:nvPr>
            <p:ph idx="1"/>
          </p:nvPr>
        </p:nvSpPr>
        <p:spPr/>
        <p:txBody>
          <a:bodyPr>
            <a:normAutofit/>
          </a:bodyPr>
          <a:lstStyle/>
          <a:p>
            <a:pPr lvl="0"/>
            <a:r>
              <a:rPr lang="en-IN" sz="2400" b="1" dirty="0"/>
              <a:t>Common Algorithms:</a:t>
            </a:r>
            <a:r>
              <a:rPr lang="en-IN" sz="2400" dirty="0"/>
              <a:t> Frequently used methods include Q-learning, SARSA, and Actor-Critic, often applied in deep learning contexts (Deep Q-Networks).</a:t>
            </a:r>
          </a:p>
          <a:p>
            <a:pPr lvl="0"/>
            <a:r>
              <a:rPr lang="en-IN" sz="2400" b="1" dirty="0"/>
              <a:t>Applications:</a:t>
            </a:r>
            <a:r>
              <a:rPr lang="en-IN" sz="2400" dirty="0"/>
              <a:t> RL is used for robotics, autonomous driving, gaming, and optimizing systems like personalized recommendations.</a:t>
            </a:r>
          </a:p>
          <a:p>
            <a:pPr lvl="0"/>
            <a:r>
              <a:rPr lang="en-IN" sz="2400" b="1" dirty="0"/>
              <a:t>Reinforcement Learning from Human Feedback (RLHF):</a:t>
            </a:r>
            <a:r>
              <a:rPr lang="en-IN" sz="2400" dirty="0"/>
              <a:t> A specialized form often used to align AI models with human preferences, such as in Large Language Models</a:t>
            </a:r>
          </a:p>
          <a:p>
            <a:pPr marL="0" indent="0">
              <a:buNone/>
            </a:pPr>
            <a:endParaRPr lang="en-IN" sz="2400" dirty="0"/>
          </a:p>
        </p:txBody>
      </p:sp>
    </p:spTree>
    <p:extLst>
      <p:ext uri="{BB962C8B-B14F-4D97-AF65-F5344CB8AC3E}">
        <p14:creationId xmlns:p14="http://schemas.microsoft.com/office/powerpoint/2010/main" val="8342617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073BE0-55E7-E292-1BED-C53692F6A643}"/>
              </a:ext>
            </a:extLst>
          </p:cNvPr>
          <p:cNvSpPr>
            <a:spLocks noGrp="1"/>
          </p:cNvSpPr>
          <p:nvPr>
            <p:ph type="title"/>
          </p:nvPr>
        </p:nvSpPr>
        <p:spPr/>
        <p:txBody>
          <a:bodyPr/>
          <a:lstStyle/>
          <a:p>
            <a:r>
              <a:rPr lang="en-US" b="1" dirty="0"/>
              <a:t>Core Components of </a:t>
            </a:r>
            <a:r>
              <a:rPr lang="en-IN" b="1" dirty="0"/>
              <a:t>Reinforcement Learning</a:t>
            </a:r>
            <a:endParaRPr lang="en-IN" dirty="0"/>
          </a:p>
        </p:txBody>
      </p:sp>
      <p:sp>
        <p:nvSpPr>
          <p:cNvPr id="3" name="Content Placeholder 2">
            <a:extLst>
              <a:ext uri="{FF2B5EF4-FFF2-40B4-BE49-F238E27FC236}">
                <a16:creationId xmlns:a16="http://schemas.microsoft.com/office/drawing/2014/main" id="{6F66991A-9892-D9F1-AED0-59F7E3CA842A}"/>
              </a:ext>
            </a:extLst>
          </p:cNvPr>
          <p:cNvSpPr>
            <a:spLocks noGrp="1"/>
          </p:cNvSpPr>
          <p:nvPr>
            <p:ph idx="1"/>
          </p:nvPr>
        </p:nvSpPr>
        <p:spPr>
          <a:xfrm>
            <a:off x="838200" y="1690688"/>
            <a:ext cx="10515600" cy="4551086"/>
          </a:xfrm>
        </p:spPr>
        <p:txBody>
          <a:bodyPr>
            <a:noAutofit/>
          </a:bodyPr>
          <a:lstStyle/>
          <a:p>
            <a:pPr marL="457200" indent="-457200">
              <a:buFont typeface="+mj-lt"/>
              <a:buAutoNum type="arabicPeriod"/>
            </a:pPr>
            <a:r>
              <a:rPr lang="en-IN" sz="2400" b="1" dirty="0"/>
              <a:t>Agent			</a:t>
            </a:r>
            <a:r>
              <a:rPr lang="el-GR" sz="2400" dirty="0"/>
              <a:t> π(</a:t>
            </a:r>
            <a:r>
              <a:rPr lang="en-IN" sz="2400" dirty="0"/>
              <a:t>s)→a</a:t>
            </a:r>
            <a:endParaRPr lang="en-IN" sz="2400" b="1" dirty="0"/>
          </a:p>
          <a:p>
            <a:pPr lvl="1"/>
            <a:r>
              <a:rPr lang="en-US" sz="2000" dirty="0"/>
              <a:t>The </a:t>
            </a:r>
            <a:r>
              <a:rPr lang="en-US" sz="2000" b="1" dirty="0"/>
              <a:t>learner or decision-maker </a:t>
            </a:r>
            <a:r>
              <a:rPr lang="en-US" sz="2000" dirty="0"/>
              <a:t> which observes the environment and take actions an receives rewards accordingly and improves its behavior.</a:t>
            </a:r>
          </a:p>
          <a:p>
            <a:pPr lvl="1"/>
            <a:r>
              <a:rPr lang="en-US" sz="2000" dirty="0"/>
              <a:t>Example: Robot, Self-driving car, Game-playing AI</a:t>
            </a:r>
          </a:p>
          <a:p>
            <a:pPr marL="457200" indent="-457200">
              <a:buFont typeface="+mj-lt"/>
              <a:buAutoNum type="arabicPeriod"/>
            </a:pPr>
            <a:r>
              <a:rPr lang="en-US" sz="2400" b="1" dirty="0"/>
              <a:t>Environment	</a:t>
            </a:r>
            <a:r>
              <a:rPr lang="en-US" sz="2400" dirty="0"/>
              <a:t> 	(</a:t>
            </a:r>
            <a:r>
              <a:rPr lang="en-US" sz="2400" dirty="0" err="1"/>
              <a:t>st</a:t>
            </a:r>
            <a:r>
              <a:rPr lang="en-US" sz="2400" dirty="0"/>
              <a:t>​,at​)→(st+1​,rt​)</a:t>
            </a:r>
            <a:endParaRPr lang="en-US" sz="2400" b="1" dirty="0"/>
          </a:p>
          <a:p>
            <a:pPr lvl="1"/>
            <a:r>
              <a:rPr lang="en-US" sz="2000" dirty="0"/>
              <a:t>The </a:t>
            </a:r>
            <a:r>
              <a:rPr lang="en-US" sz="2000" b="1" dirty="0"/>
              <a:t>world in which the agent operates </a:t>
            </a:r>
            <a:r>
              <a:rPr lang="en-US" sz="2000" dirty="0"/>
              <a:t>and provides feedback to the agent and changes state based on agent’s actions.</a:t>
            </a:r>
          </a:p>
          <a:p>
            <a:pPr lvl="1"/>
            <a:r>
              <a:rPr lang="en-US" sz="2000" dirty="0"/>
              <a:t>Example: Chess board, Road for self-driving car</a:t>
            </a:r>
          </a:p>
          <a:p>
            <a:pPr marL="457200" indent="-457200">
              <a:buFont typeface="+mj-lt"/>
              <a:buAutoNum type="arabicPeriod"/>
            </a:pPr>
            <a:r>
              <a:rPr lang="en-US" sz="2400" b="1" dirty="0"/>
              <a:t>State (S)</a:t>
            </a:r>
          </a:p>
          <a:p>
            <a:pPr lvl="1"/>
            <a:r>
              <a:rPr lang="en-US" sz="2000" dirty="0"/>
              <a:t>A </a:t>
            </a:r>
            <a:r>
              <a:rPr lang="en-US" sz="2000" b="1" dirty="0"/>
              <a:t>representation of the current situation</a:t>
            </a:r>
            <a:r>
              <a:rPr lang="en-US" sz="2000" dirty="0"/>
              <a:t> of the environment. It contains all necessary information for decision-making.</a:t>
            </a:r>
          </a:p>
          <a:p>
            <a:pPr lvl="1"/>
            <a:r>
              <a:rPr lang="en-US" sz="2000" dirty="0"/>
              <a:t>Example: In chess → board configuration, In robot navigation → current position</a:t>
            </a:r>
          </a:p>
          <a:p>
            <a:pPr marL="457200" indent="-457200">
              <a:buFont typeface="+mj-lt"/>
              <a:buAutoNum type="arabicPeriod"/>
            </a:pPr>
            <a:endParaRPr lang="en-US" sz="2400" dirty="0"/>
          </a:p>
          <a:p>
            <a:pPr marL="457200" indent="-457200" fontAlgn="base">
              <a:buFont typeface="+mj-lt"/>
              <a:buAutoNum type="arabicPeriod"/>
            </a:pPr>
            <a:endParaRPr lang="en-US" sz="2400" b="1" dirty="0"/>
          </a:p>
          <a:p>
            <a:endParaRPr lang="en-IN" sz="2400" dirty="0"/>
          </a:p>
        </p:txBody>
      </p:sp>
    </p:spTree>
    <p:extLst>
      <p:ext uri="{BB962C8B-B14F-4D97-AF65-F5344CB8AC3E}">
        <p14:creationId xmlns:p14="http://schemas.microsoft.com/office/powerpoint/2010/main" val="12858154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8314FE-679B-4900-3CB0-3D3874E27537}"/>
              </a:ext>
            </a:extLst>
          </p:cNvPr>
          <p:cNvSpPr>
            <a:spLocks noGrp="1"/>
          </p:cNvSpPr>
          <p:nvPr>
            <p:ph type="title"/>
          </p:nvPr>
        </p:nvSpPr>
        <p:spPr/>
        <p:txBody>
          <a:bodyPr/>
          <a:lstStyle/>
          <a:p>
            <a:r>
              <a:rPr lang="en-US" b="1" dirty="0"/>
              <a:t>Core Components of </a:t>
            </a:r>
            <a:r>
              <a:rPr lang="en-IN" b="1" dirty="0"/>
              <a:t>Reinforcement Learning</a:t>
            </a:r>
            <a:endParaRPr lang="en-IN" dirty="0"/>
          </a:p>
        </p:txBody>
      </p:sp>
      <p:sp>
        <p:nvSpPr>
          <p:cNvPr id="3" name="Content Placeholder 2">
            <a:extLst>
              <a:ext uri="{FF2B5EF4-FFF2-40B4-BE49-F238E27FC236}">
                <a16:creationId xmlns:a16="http://schemas.microsoft.com/office/drawing/2014/main" id="{43541325-758D-0441-4423-9283272F6F5D}"/>
              </a:ext>
            </a:extLst>
          </p:cNvPr>
          <p:cNvSpPr>
            <a:spLocks noGrp="1"/>
          </p:cNvSpPr>
          <p:nvPr>
            <p:ph idx="1"/>
          </p:nvPr>
        </p:nvSpPr>
        <p:spPr/>
        <p:txBody>
          <a:bodyPr>
            <a:normAutofit/>
          </a:bodyPr>
          <a:lstStyle/>
          <a:p>
            <a:pPr marL="514350" indent="-514350">
              <a:buFont typeface="+mj-lt"/>
              <a:buAutoNum type="arabicPeriod" startAt="4"/>
            </a:pPr>
            <a:r>
              <a:rPr lang="en-US" sz="2400" b="1" dirty="0"/>
              <a:t>Action (A)		</a:t>
            </a:r>
            <a:endParaRPr lang="en-US" sz="2000" b="1" dirty="0"/>
          </a:p>
          <a:p>
            <a:pPr lvl="1"/>
            <a:r>
              <a:rPr lang="en-US" sz="2000" dirty="0"/>
              <a:t>The </a:t>
            </a:r>
            <a:r>
              <a:rPr lang="en-US" sz="2000" b="1" dirty="0"/>
              <a:t>set of possible moves</a:t>
            </a:r>
            <a:r>
              <a:rPr lang="en-US" sz="2000" dirty="0"/>
              <a:t> the agent can take.</a:t>
            </a:r>
          </a:p>
          <a:p>
            <a:pPr lvl="1"/>
            <a:r>
              <a:rPr lang="en-US" sz="2000" dirty="0"/>
              <a:t>Example: Move left/right, Accelerate/brake </a:t>
            </a:r>
          </a:p>
          <a:p>
            <a:pPr marL="514350" indent="-514350">
              <a:buFont typeface="+mj-lt"/>
              <a:buAutoNum type="arabicPeriod" startAt="4"/>
            </a:pPr>
            <a:r>
              <a:rPr lang="en-US" sz="2400" b="1" dirty="0"/>
              <a:t>Reward (R)		</a:t>
            </a:r>
            <a:r>
              <a:rPr lang="en-IN" sz="2400" dirty="0"/>
              <a:t> R:S×A→R</a:t>
            </a:r>
            <a:endParaRPr lang="en-US" sz="2400" b="1" dirty="0"/>
          </a:p>
          <a:p>
            <a:pPr lvl="1"/>
            <a:r>
              <a:rPr lang="en-US" sz="2000" dirty="0"/>
              <a:t>Represents the goal of the RL problem.</a:t>
            </a:r>
          </a:p>
          <a:p>
            <a:pPr lvl="1"/>
            <a:r>
              <a:rPr lang="en-US" sz="2000" dirty="0"/>
              <a:t>Reward guides learning.</a:t>
            </a:r>
          </a:p>
          <a:p>
            <a:pPr lvl="1"/>
            <a:r>
              <a:rPr lang="en-US" sz="2000" dirty="0"/>
              <a:t>Guides the agent by providing feedback (positive/negative rewards). Positive reward → good action, Negative reward → bad action</a:t>
            </a:r>
          </a:p>
          <a:p>
            <a:pPr lvl="1"/>
            <a:r>
              <a:rPr lang="en-US" sz="2000" dirty="0"/>
              <a:t>Example: +10 for winning a game, -1 for collision, For self-driving cars rewards can be fewer collisions, shorter travel time, lane discipline.</a:t>
            </a:r>
            <a:endParaRPr lang="en-IN" sz="2000" dirty="0"/>
          </a:p>
        </p:txBody>
      </p:sp>
    </p:spTree>
    <p:extLst>
      <p:ext uri="{BB962C8B-B14F-4D97-AF65-F5344CB8AC3E}">
        <p14:creationId xmlns:p14="http://schemas.microsoft.com/office/powerpoint/2010/main" val="7604456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A2E38A-2C8D-1FA1-AB3F-6D245B8BA5DB}"/>
              </a:ext>
            </a:extLst>
          </p:cNvPr>
          <p:cNvSpPr>
            <a:spLocks noGrp="1"/>
          </p:cNvSpPr>
          <p:nvPr>
            <p:ph type="title"/>
          </p:nvPr>
        </p:nvSpPr>
        <p:spPr/>
        <p:txBody>
          <a:bodyPr/>
          <a:lstStyle/>
          <a:p>
            <a:r>
              <a:rPr lang="en-US" b="1" dirty="0"/>
              <a:t>Core Components of </a:t>
            </a:r>
            <a:r>
              <a:rPr lang="en-IN" b="1" dirty="0"/>
              <a:t>Reinforcement Learning</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E4B15BC-D944-DD0C-C241-552BE5F601BE}"/>
                  </a:ext>
                </a:extLst>
              </p:cNvPr>
              <p:cNvSpPr>
                <a:spLocks noGrp="1"/>
              </p:cNvSpPr>
              <p:nvPr>
                <p:ph idx="1"/>
              </p:nvPr>
            </p:nvSpPr>
            <p:spPr>
              <a:xfrm>
                <a:off x="838199" y="1530626"/>
                <a:ext cx="11217965" cy="5208104"/>
              </a:xfrm>
            </p:spPr>
            <p:txBody>
              <a:bodyPr>
                <a:normAutofit lnSpcReduction="10000"/>
              </a:bodyPr>
              <a:lstStyle/>
              <a:p>
                <a:pPr marL="514350" indent="-514350">
                  <a:buFont typeface="+mj-lt"/>
                  <a:buAutoNum type="arabicPeriod" startAt="6"/>
                </a:pPr>
                <a:r>
                  <a:rPr lang="en-IN" sz="2400" b="1" dirty="0"/>
                  <a:t>Policy (</a:t>
                </a:r>
                <a:r>
                  <a:rPr lang="el-GR" sz="2400" b="1" dirty="0"/>
                  <a:t>π)</a:t>
                </a:r>
                <a:r>
                  <a:rPr lang="en-IN" sz="2400" b="1" dirty="0"/>
                  <a:t>		</a:t>
                </a:r>
                <a:r>
                  <a:rPr lang="el-GR" sz="2400" dirty="0"/>
                  <a:t> π:</a:t>
                </a:r>
                <a:r>
                  <a:rPr lang="en-IN" sz="2400" dirty="0"/>
                  <a:t>S→A </a:t>
                </a:r>
                <a:r>
                  <a:rPr lang="en-IN" sz="2400" b="1" dirty="0"/>
                  <a:t>	</a:t>
                </a:r>
                <a:endParaRPr lang="el-GR" sz="2400" b="1" dirty="0"/>
              </a:p>
              <a:p>
                <a:pPr lvl="1"/>
                <a:r>
                  <a:rPr lang="en-IN" sz="2000" dirty="0"/>
                  <a:t>The </a:t>
                </a:r>
                <a:r>
                  <a:rPr lang="en-IN" sz="2000" b="1" dirty="0"/>
                  <a:t>strategy</a:t>
                </a:r>
                <a:r>
                  <a:rPr lang="en-IN" sz="2000" dirty="0"/>
                  <a:t> that defines what action to take in each state.  		</a:t>
                </a:r>
                <a:endParaRPr lang="ar-AE" sz="2000" dirty="0"/>
              </a:p>
              <a:p>
                <a:pPr lvl="1"/>
                <a:r>
                  <a:rPr lang="en-IN" sz="2000" dirty="0"/>
                  <a:t>Types: Deterministic policy (A = </a:t>
                </a:r>
                <a:r>
                  <a:rPr lang="el-GR" sz="2000" dirty="0"/>
                  <a:t>π(</a:t>
                </a:r>
                <a:r>
                  <a:rPr lang="en-IN" sz="2000" dirty="0"/>
                  <a:t>S)), Stochastic policy (</a:t>
                </a:r>
                <a:r>
                  <a:rPr lang="el-GR" sz="2000" dirty="0"/>
                  <a:t>π(</a:t>
                </a:r>
                <a:r>
                  <a:rPr lang="en-IN" sz="2000" dirty="0"/>
                  <a:t>A∣S)=P(A∣S))</a:t>
                </a:r>
              </a:p>
              <a:p>
                <a:pPr lvl="1"/>
                <a:r>
                  <a:rPr lang="en-IN" sz="2000" dirty="0"/>
                  <a:t>Goal of RL: Find the </a:t>
                </a:r>
                <a:r>
                  <a:rPr lang="en-IN" sz="2000" b="1" dirty="0"/>
                  <a:t>optimal policy</a:t>
                </a:r>
                <a:r>
                  <a:rPr lang="en-IN" sz="2000" dirty="0"/>
                  <a:t> that maximizes long-term reward.</a:t>
                </a:r>
              </a:p>
              <a:p>
                <a:pPr lvl="1" fontAlgn="base"/>
                <a:r>
                  <a:rPr lang="en-US" sz="2000" dirty="0"/>
                  <a:t>Defines the agent’s behavior </a:t>
                </a:r>
                <a:r>
                  <a:rPr lang="en-US" sz="2000" dirty="0" err="1"/>
                  <a:t>i.e</a:t>
                </a:r>
                <a:r>
                  <a:rPr lang="en-US" sz="2000" dirty="0"/>
                  <a:t> maps states for actions.</a:t>
                </a:r>
              </a:p>
              <a:p>
                <a:pPr lvl="1" fontAlgn="base"/>
                <a:r>
                  <a:rPr lang="en-US" sz="2000" dirty="0"/>
                  <a:t>Can be simple rules or complex computations.</a:t>
                </a:r>
              </a:p>
              <a:p>
                <a:pPr lvl="1" fontAlgn="base"/>
                <a:r>
                  <a:rPr lang="en-US" sz="2000" b="1" dirty="0"/>
                  <a:t>Example</a:t>
                </a:r>
                <a:r>
                  <a:rPr lang="en-US" sz="2000" dirty="0"/>
                  <a:t>: An autonomous car maps pedestrian detection to make necessary stops.</a:t>
                </a:r>
              </a:p>
              <a:p>
                <a:pPr marL="457200" indent="-457200" fontAlgn="base">
                  <a:buFont typeface="+mj-lt"/>
                  <a:buAutoNum type="arabicPeriod" startAt="6"/>
                </a:pPr>
                <a:r>
                  <a:rPr lang="en-IN" sz="2400" b="1" dirty="0"/>
                  <a:t>Value Function</a:t>
                </a:r>
              </a:p>
              <a:p>
                <a:pPr lvl="1"/>
                <a:r>
                  <a:rPr lang="en-US" sz="2000" dirty="0"/>
                  <a:t>Evaluates long-term benefits, not just immediate rewards.</a:t>
                </a:r>
              </a:p>
              <a:p>
                <a:pPr lvl="1"/>
                <a:r>
                  <a:rPr lang="en-IN" sz="2000" dirty="0"/>
                  <a:t>Measures how good a state (or state-action pair) is.</a:t>
                </a:r>
              </a:p>
              <a:p>
                <a:pPr lvl="1"/>
                <a:r>
                  <a:rPr lang="en-IN" sz="2000" b="1" dirty="0"/>
                  <a:t>State Value Function: </a:t>
                </a:r>
                <a14:m>
                  <m:oMath xmlns:m="http://schemas.openxmlformats.org/officeDocument/2006/math">
                    <m:r>
                      <a:rPr lang="en-IN" i="1">
                        <a:latin typeface="Cambria Math" panose="02040503050406030204" pitchFamily="18" charset="0"/>
                      </a:rPr>
                      <m:t>𝑉</m:t>
                    </m:r>
                    <m:d>
                      <m:dPr>
                        <m:ctrlPr>
                          <a:rPr lang="ar-AE" i="1">
                            <a:latin typeface="Cambria Math" panose="02040503050406030204" pitchFamily="18" charset="0"/>
                          </a:rPr>
                        </m:ctrlPr>
                      </m:dPr>
                      <m:e>
                        <m:r>
                          <a:rPr lang="en-IN" b="0" i="1" smtClean="0">
                            <a:latin typeface="Cambria Math" panose="02040503050406030204" pitchFamily="18" charset="0"/>
                          </a:rPr>
                          <m:t>𝑆</m:t>
                        </m:r>
                      </m:e>
                    </m:d>
                  </m:oMath>
                </a14:m>
                <a:r>
                  <a:rPr lang="en-IN" sz="2400" dirty="0"/>
                  <a:t>, </a:t>
                </a:r>
                <a:r>
                  <a:rPr lang="en-IN" sz="2000" dirty="0"/>
                  <a:t>Expected total reward starting from state s.</a:t>
                </a:r>
              </a:p>
              <a:p>
                <a:pPr lvl="1"/>
                <a:r>
                  <a:rPr lang="en-IN" sz="2000" b="1" dirty="0"/>
                  <a:t>Action Value Function (Q-function): </a:t>
                </a:r>
                <a14:m>
                  <m:oMath xmlns:m="http://schemas.openxmlformats.org/officeDocument/2006/math">
                    <m:r>
                      <a:rPr lang="en-IN" i="1">
                        <a:latin typeface="Cambria Math" panose="02040503050406030204" pitchFamily="18" charset="0"/>
                      </a:rPr>
                      <m:t>𝑄</m:t>
                    </m:r>
                    <m:d>
                      <m:dPr>
                        <m:sepChr m:val=","/>
                        <m:ctrlPr>
                          <a:rPr lang="ar-AE" i="1">
                            <a:latin typeface="Cambria Math" panose="02040503050406030204" pitchFamily="18" charset="0"/>
                          </a:rPr>
                        </m:ctrlPr>
                      </m:dPr>
                      <m:e>
                        <m:r>
                          <a:rPr lang="en-IN" b="0" i="1" smtClean="0">
                            <a:latin typeface="Cambria Math" panose="02040503050406030204" pitchFamily="18" charset="0"/>
                          </a:rPr>
                          <m:t>𝑆</m:t>
                        </m:r>
                      </m:e>
                      <m:e>
                        <m:r>
                          <a:rPr lang="en-IN" b="0" i="1" smtClean="0">
                            <a:latin typeface="Cambria Math" panose="02040503050406030204" pitchFamily="18" charset="0"/>
                          </a:rPr>
                          <m:t>𝐴</m:t>
                        </m:r>
                      </m:e>
                    </m:d>
                  </m:oMath>
                </a14:m>
                <a:r>
                  <a:rPr lang="en-IN" sz="2400" dirty="0"/>
                  <a:t>, </a:t>
                </a:r>
                <a:r>
                  <a:rPr lang="en-IN" sz="2000" dirty="0"/>
                  <a:t>Expected total reward after taking action a in state s.</a:t>
                </a:r>
              </a:p>
              <a:p>
                <a:pPr lvl="1" fontAlgn="base"/>
                <a:r>
                  <a:rPr lang="en-US" sz="2000" dirty="0"/>
                  <a:t>Measures desirability of a state considering future outcomes.</a:t>
                </a:r>
              </a:p>
              <a:p>
                <a:pPr lvl="1" fontAlgn="base"/>
                <a:r>
                  <a:rPr lang="en-US" sz="2000" b="1" dirty="0"/>
                  <a:t>Example</a:t>
                </a:r>
                <a:r>
                  <a:rPr lang="en-US" sz="2000" dirty="0"/>
                  <a:t>: A vehicle may avoid reckless maneuvers (short-term gain) to maximize overall safety and efficiency.</a:t>
                </a:r>
                <a:endParaRPr lang="en-IN" sz="2400" dirty="0"/>
              </a:p>
            </p:txBody>
          </p:sp>
        </mc:Choice>
        <mc:Fallback xmlns="">
          <p:sp>
            <p:nvSpPr>
              <p:cNvPr id="3" name="Content Placeholder 2">
                <a:extLst>
                  <a:ext uri="{FF2B5EF4-FFF2-40B4-BE49-F238E27FC236}">
                    <a16:creationId xmlns:a16="http://schemas.microsoft.com/office/drawing/2014/main" id="{5E4B15BC-D944-DD0C-C241-552BE5F601BE}"/>
                  </a:ext>
                </a:extLst>
              </p:cNvPr>
              <p:cNvSpPr>
                <a:spLocks noGrp="1" noRot="1" noChangeAspect="1" noMove="1" noResize="1" noEditPoints="1" noAdjustHandles="1" noChangeArrowheads="1" noChangeShapeType="1" noTextEdit="1"/>
              </p:cNvSpPr>
              <p:nvPr>
                <p:ph idx="1"/>
              </p:nvPr>
            </p:nvSpPr>
            <p:spPr>
              <a:xfrm>
                <a:off x="838199" y="1530626"/>
                <a:ext cx="11217965" cy="5208104"/>
              </a:xfrm>
              <a:blipFill>
                <a:blip r:embed="rId2"/>
                <a:stretch>
                  <a:fillRect l="-815" t="-2342" r="-163"/>
                </a:stretch>
              </a:blipFill>
            </p:spPr>
            <p:txBody>
              <a:bodyPr/>
              <a:lstStyle/>
              <a:p>
                <a:r>
                  <a:rPr lang="en-IN">
                    <a:noFill/>
                  </a:rPr>
                  <a:t> </a:t>
                </a:r>
              </a:p>
            </p:txBody>
          </p:sp>
        </mc:Fallback>
      </mc:AlternateContent>
    </p:spTree>
    <p:extLst>
      <p:ext uri="{BB962C8B-B14F-4D97-AF65-F5344CB8AC3E}">
        <p14:creationId xmlns:p14="http://schemas.microsoft.com/office/powerpoint/2010/main" val="24948586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1A1010-D30D-33B0-34AF-E360C990D504}"/>
              </a:ext>
            </a:extLst>
          </p:cNvPr>
          <p:cNvSpPr>
            <a:spLocks noGrp="1"/>
          </p:cNvSpPr>
          <p:nvPr>
            <p:ph type="title"/>
          </p:nvPr>
        </p:nvSpPr>
        <p:spPr/>
        <p:txBody>
          <a:bodyPr/>
          <a:lstStyle/>
          <a:p>
            <a:r>
              <a:rPr lang="en-US" b="1" dirty="0"/>
              <a:t>Core Components of </a:t>
            </a:r>
            <a:r>
              <a:rPr lang="en-IN" b="1" dirty="0"/>
              <a:t>Reinforcement Learning</a:t>
            </a:r>
            <a:endParaRPr lang="en-IN" dirty="0"/>
          </a:p>
        </p:txBody>
      </p:sp>
      <p:sp>
        <p:nvSpPr>
          <p:cNvPr id="3" name="Content Placeholder 2">
            <a:extLst>
              <a:ext uri="{FF2B5EF4-FFF2-40B4-BE49-F238E27FC236}">
                <a16:creationId xmlns:a16="http://schemas.microsoft.com/office/drawing/2014/main" id="{19C92151-F5E1-E8FE-8252-77E0ABF19A57}"/>
              </a:ext>
            </a:extLst>
          </p:cNvPr>
          <p:cNvSpPr>
            <a:spLocks noGrp="1"/>
          </p:cNvSpPr>
          <p:nvPr>
            <p:ph idx="1"/>
          </p:nvPr>
        </p:nvSpPr>
        <p:spPr>
          <a:xfrm>
            <a:off x="838200" y="1825625"/>
            <a:ext cx="10515600" cy="4585114"/>
          </a:xfrm>
        </p:spPr>
        <p:txBody>
          <a:bodyPr>
            <a:normAutofit lnSpcReduction="10000"/>
          </a:bodyPr>
          <a:lstStyle/>
          <a:p>
            <a:pPr marL="514350" indent="-514350">
              <a:buFont typeface="+mj-lt"/>
              <a:buAutoNum type="arabicPeriod" startAt="8"/>
            </a:pPr>
            <a:r>
              <a:rPr lang="en-US" sz="2400" b="1" dirty="0"/>
              <a:t>Model (Optional)</a:t>
            </a:r>
          </a:p>
          <a:p>
            <a:pPr lvl="1"/>
            <a:r>
              <a:rPr lang="en-US" sz="2000" dirty="0"/>
              <a:t>A mathematical description of how the environment works.</a:t>
            </a:r>
          </a:p>
          <a:p>
            <a:pPr lvl="1"/>
            <a:r>
              <a:rPr lang="en-US" sz="2000" dirty="0"/>
              <a:t>Model-based RL → knows transition probabilities</a:t>
            </a:r>
          </a:p>
          <a:p>
            <a:pPr lvl="1"/>
            <a:r>
              <a:rPr lang="en-US" sz="2000" dirty="0"/>
              <a:t>Model-free RL → learns from experience</a:t>
            </a:r>
          </a:p>
          <a:p>
            <a:pPr lvl="1" fontAlgn="base"/>
            <a:r>
              <a:rPr lang="en-US" sz="2000" dirty="0"/>
              <a:t>Simulates the environment to predict outcomes of actions.</a:t>
            </a:r>
          </a:p>
          <a:p>
            <a:pPr lvl="1" fontAlgn="base"/>
            <a:r>
              <a:rPr lang="en-US" sz="2000" dirty="0"/>
              <a:t>Enables planning and foresight.</a:t>
            </a:r>
          </a:p>
          <a:p>
            <a:pPr lvl="1" fontAlgn="base"/>
            <a:r>
              <a:rPr lang="en-US" sz="2000" b="1" dirty="0"/>
              <a:t>Example</a:t>
            </a:r>
            <a:r>
              <a:rPr lang="en-US" sz="2000" dirty="0"/>
              <a:t>: Predicting other vehicles’ movements to plan safer routes.</a:t>
            </a:r>
          </a:p>
          <a:p>
            <a:pPr marL="514350" indent="-514350">
              <a:buFont typeface="+mj-lt"/>
              <a:buAutoNum type="arabicPeriod" startAt="9"/>
            </a:pPr>
            <a:r>
              <a:rPr lang="en-US" sz="2600" b="1" dirty="0"/>
              <a:t>Exploration vs Exploitation</a:t>
            </a:r>
          </a:p>
          <a:p>
            <a:pPr lvl="1"/>
            <a:r>
              <a:rPr lang="en-US" sz="2200" dirty="0"/>
              <a:t>One of the most important concepts in RL. </a:t>
            </a:r>
          </a:p>
          <a:p>
            <a:pPr lvl="1"/>
            <a:r>
              <a:rPr lang="en-US" sz="2200" b="1" dirty="0"/>
              <a:t>Exploitation : </a:t>
            </a:r>
            <a:r>
              <a:rPr lang="en-US" sz="2200" dirty="0"/>
              <a:t>Choose the best known action.</a:t>
            </a:r>
          </a:p>
          <a:p>
            <a:pPr lvl="1"/>
            <a:r>
              <a:rPr lang="en-US" sz="2200" b="1" dirty="0"/>
              <a:t>Exploration: </a:t>
            </a:r>
            <a:r>
              <a:rPr lang="en-US" sz="2200" dirty="0"/>
              <a:t>Try new actions to discover better rewards.</a:t>
            </a:r>
          </a:p>
          <a:p>
            <a:pPr lvl="1"/>
            <a:r>
              <a:rPr lang="en-US" sz="2200" dirty="0"/>
              <a:t>Common strategy: ε-greedy method</a:t>
            </a:r>
          </a:p>
          <a:p>
            <a:pPr lvl="1"/>
            <a:r>
              <a:rPr lang="en-US" sz="2200" dirty="0"/>
              <a:t>With probability ε → explore, With probability 1-ε → exploit</a:t>
            </a:r>
          </a:p>
          <a:p>
            <a:pPr lvl="1" fontAlgn="base"/>
            <a:endParaRPr lang="en-US" sz="2000" dirty="0"/>
          </a:p>
          <a:p>
            <a:pPr lvl="1"/>
            <a:endParaRPr lang="en-US" sz="2000" dirty="0"/>
          </a:p>
          <a:p>
            <a:endParaRPr lang="en-IN" sz="2400" dirty="0"/>
          </a:p>
        </p:txBody>
      </p:sp>
    </p:spTree>
    <p:extLst>
      <p:ext uri="{BB962C8B-B14F-4D97-AF65-F5344CB8AC3E}">
        <p14:creationId xmlns:p14="http://schemas.microsoft.com/office/powerpoint/2010/main" val="14236329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06B6E4-3B7E-FC9E-3E9B-D19CFCD35C3D}"/>
              </a:ext>
            </a:extLst>
          </p:cNvPr>
          <p:cNvSpPr>
            <a:spLocks noGrp="1"/>
          </p:cNvSpPr>
          <p:nvPr>
            <p:ph type="title"/>
          </p:nvPr>
        </p:nvSpPr>
        <p:spPr/>
        <p:txBody>
          <a:bodyPr/>
          <a:lstStyle/>
          <a:p>
            <a:r>
              <a:rPr lang="en-IN" b="1" dirty="0"/>
              <a:t>Working of Reinforcement Learning</a:t>
            </a:r>
            <a:endParaRPr lang="en-IN" dirty="0"/>
          </a:p>
        </p:txBody>
      </p:sp>
      <p:sp>
        <p:nvSpPr>
          <p:cNvPr id="3" name="Content Placeholder 2">
            <a:extLst>
              <a:ext uri="{FF2B5EF4-FFF2-40B4-BE49-F238E27FC236}">
                <a16:creationId xmlns:a16="http://schemas.microsoft.com/office/drawing/2014/main" id="{FB639E63-67A9-F05E-C83F-FFF00AC54B03}"/>
              </a:ext>
            </a:extLst>
          </p:cNvPr>
          <p:cNvSpPr>
            <a:spLocks noGrp="1"/>
          </p:cNvSpPr>
          <p:nvPr>
            <p:ph idx="1"/>
          </p:nvPr>
        </p:nvSpPr>
        <p:spPr>
          <a:xfrm>
            <a:off x="838200" y="1580322"/>
            <a:ext cx="10515600" cy="4820477"/>
          </a:xfrm>
        </p:spPr>
        <p:txBody>
          <a:bodyPr>
            <a:normAutofit/>
          </a:bodyPr>
          <a:lstStyle/>
          <a:p>
            <a:pPr marL="0" indent="0" fontAlgn="base">
              <a:buNone/>
            </a:pPr>
            <a:r>
              <a:rPr lang="en-US" sz="2400" dirty="0"/>
              <a:t>The agent interacts iteratively with its environment in a feedback loop:</a:t>
            </a:r>
          </a:p>
          <a:p>
            <a:pPr marL="514350" indent="-514350" fontAlgn="base">
              <a:buFont typeface="+mj-lt"/>
              <a:buAutoNum type="arabicPeriod"/>
            </a:pPr>
            <a:r>
              <a:rPr lang="en-US" sz="2400" dirty="0"/>
              <a:t>The agent observes the current state of the environment.</a:t>
            </a:r>
          </a:p>
          <a:p>
            <a:pPr marL="514350" indent="-514350" fontAlgn="base">
              <a:buFont typeface="+mj-lt"/>
              <a:buAutoNum type="arabicPeriod"/>
            </a:pPr>
            <a:r>
              <a:rPr lang="en-US" sz="2400" dirty="0"/>
              <a:t>It chooses and performs an action based on its policy.</a:t>
            </a:r>
          </a:p>
          <a:p>
            <a:pPr marL="514350" indent="-514350" fontAlgn="base">
              <a:buFont typeface="+mj-lt"/>
              <a:buAutoNum type="arabicPeriod"/>
            </a:pPr>
            <a:r>
              <a:rPr lang="en-US" sz="2400" dirty="0"/>
              <a:t>The environment responds by transitioning to a new state and providing a reward (or penalty).</a:t>
            </a:r>
          </a:p>
          <a:p>
            <a:pPr marL="514350" indent="-514350" fontAlgn="base">
              <a:buFont typeface="+mj-lt"/>
              <a:buAutoNum type="arabicPeriod"/>
            </a:pPr>
            <a:r>
              <a:rPr lang="en-US" sz="2400" dirty="0"/>
              <a:t>The agent updates its knowledge (policy, value function) based on the reward received and the new state.</a:t>
            </a:r>
          </a:p>
          <a:p>
            <a:pPr marL="514350" indent="-514350" fontAlgn="base">
              <a:buFont typeface="+mj-lt"/>
              <a:buAutoNum type="arabicPeriod"/>
            </a:pPr>
            <a:r>
              <a:rPr lang="en-US" sz="2400" dirty="0"/>
              <a:t>This cycle repeats with the agent balancing exploration (trying new actions) and exploitation (using known good actions) to maximize the cumulative reward over time. This process is mathematically framed as a Markov Decision Process (MDP) where future states depend only on the current state and action, not on the prior sequence of events.</a:t>
            </a:r>
          </a:p>
          <a:p>
            <a:pPr marL="514350" indent="-514350">
              <a:buFont typeface="+mj-lt"/>
              <a:buAutoNum type="arabicPeriod"/>
            </a:pPr>
            <a:endParaRPr lang="en-IN" sz="2400" dirty="0"/>
          </a:p>
        </p:txBody>
      </p:sp>
    </p:spTree>
    <p:extLst>
      <p:ext uri="{BB962C8B-B14F-4D97-AF65-F5344CB8AC3E}">
        <p14:creationId xmlns:p14="http://schemas.microsoft.com/office/powerpoint/2010/main" val="1391444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091A35-445C-3797-A97E-6C4F61A872ED}"/>
              </a:ext>
            </a:extLst>
          </p:cNvPr>
          <p:cNvSpPr>
            <a:spLocks noGrp="1"/>
          </p:cNvSpPr>
          <p:nvPr>
            <p:ph type="title"/>
          </p:nvPr>
        </p:nvSpPr>
        <p:spPr/>
        <p:txBody>
          <a:bodyPr/>
          <a:lstStyle/>
          <a:p>
            <a:r>
              <a:rPr lang="en-IN" dirty="0"/>
              <a:t>Markov Decision Process (MDP)</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D788A4F-29BD-9DF2-A616-E6D3B130237D}"/>
                  </a:ext>
                </a:extLst>
              </p:cNvPr>
              <p:cNvSpPr>
                <a:spLocks noGrp="1"/>
              </p:cNvSpPr>
              <p:nvPr>
                <p:ph idx="1"/>
              </p:nvPr>
            </p:nvSpPr>
            <p:spPr/>
            <p:txBody>
              <a:bodyPr>
                <a:normAutofit/>
              </a:bodyPr>
              <a:lstStyle/>
              <a:p>
                <a:r>
                  <a:rPr lang="en-IN" sz="2400" dirty="0"/>
                  <a:t>Reinforcement learning problems are mathematically formulated as an:</a:t>
                </a:r>
              </a:p>
              <a:p>
                <a:r>
                  <a:rPr lang="en-IN" sz="2400" dirty="0"/>
                  <a:t>An MDP is defined by:	</a:t>
                </a:r>
                <a14:m>
                  <m:oMath xmlns:m="http://schemas.openxmlformats.org/officeDocument/2006/math">
                    <m:d>
                      <m:dPr>
                        <m:sepChr m:val=","/>
                        <m:ctrlPr>
                          <a:rPr lang="ar-AE" sz="2400" i="1" smtClean="0">
                            <a:latin typeface="Cambria Math" panose="02040503050406030204" pitchFamily="18" charset="0"/>
                          </a:rPr>
                        </m:ctrlPr>
                      </m:dPr>
                      <m:e>
                        <m:r>
                          <a:rPr lang="ar-AE" sz="2400" i="1">
                            <a:latin typeface="Cambria Math" panose="02040503050406030204" pitchFamily="18" charset="0"/>
                          </a:rPr>
                          <m:t>𝑆</m:t>
                        </m:r>
                      </m:e>
                      <m:e>
                        <m:r>
                          <a:rPr lang="en-IN" sz="2400" b="0" i="1" smtClean="0">
                            <a:latin typeface="Cambria Math" panose="02040503050406030204" pitchFamily="18" charset="0"/>
                          </a:rPr>
                          <m:t>𝑇</m:t>
                        </m:r>
                      </m:e>
                      <m:e>
                        <m:r>
                          <a:rPr lang="en-IN" sz="2400" b="0" i="1" smtClean="0">
                            <a:latin typeface="Cambria Math" panose="02040503050406030204" pitchFamily="18" charset="0"/>
                          </a:rPr>
                          <m:t>𝐴</m:t>
                        </m:r>
                      </m:e>
                      <m:e>
                        <m:r>
                          <a:rPr lang="ar-AE" sz="2400" i="1">
                            <a:latin typeface="Cambria Math" panose="02040503050406030204" pitchFamily="18" charset="0"/>
                          </a:rPr>
                          <m:t>𝑅</m:t>
                        </m:r>
                      </m:e>
                      <m:e>
                        <m:r>
                          <m:rPr>
                            <m:sty m:val="p"/>
                          </m:rPr>
                          <a:rPr lang="el-GR" sz="2400" i="1" smtClean="0">
                            <a:latin typeface="Cambria Math" panose="02040503050406030204" pitchFamily="18" charset="0"/>
                          </a:rPr>
                          <m:t>π</m:t>
                        </m:r>
                      </m:e>
                    </m:d>
                  </m:oMath>
                </a14:m>
                <a:endParaRPr lang="ar-AE" sz="2400" dirty="0"/>
              </a:p>
              <a:p>
                <a:pPr lvl="1"/>
                <a:r>
                  <a:rPr lang="en-IN" sz="2000" dirty="0"/>
                  <a:t>S = Set of states</a:t>
                </a:r>
              </a:p>
              <a:p>
                <a:pPr lvl="1"/>
                <a:r>
                  <a:rPr lang="en-IN" sz="2000" dirty="0"/>
                  <a:t>T = Transition model (T)</a:t>
                </a:r>
              </a:p>
              <a:p>
                <a:pPr lvl="1"/>
                <a:r>
                  <a:rPr lang="en-IN" sz="2000" dirty="0"/>
                  <a:t>A = Set of actions</a:t>
                </a:r>
              </a:p>
              <a:p>
                <a:pPr lvl="1"/>
                <a:r>
                  <a:rPr lang="en-IN" sz="2000" dirty="0"/>
                  <a:t>R = Reward function</a:t>
                </a:r>
              </a:p>
              <a:p>
                <a:pPr lvl="1"/>
                <a:r>
                  <a:rPr lang="el-GR" sz="2000" dirty="0"/>
                  <a:t>π</a:t>
                </a:r>
                <a:r>
                  <a:rPr lang="en-IN" sz="2000" dirty="0"/>
                  <a:t>(s) = Policy </a:t>
                </a:r>
              </a:p>
              <a:p>
                <a:pPr lvl="1"/>
                <a:r>
                  <a:rPr lang="en-US" sz="2400" b="1" dirty="0"/>
                  <a:t>Discount Factor (γ)</a:t>
                </a:r>
              </a:p>
              <a:p>
                <a:pPr lvl="1"/>
                <a14:m>
                  <m:oMath xmlns:m="http://schemas.openxmlformats.org/officeDocument/2006/math">
                    <m:r>
                      <a:rPr lang="en-US">
                        <a:latin typeface="Cambria Math" panose="02040503050406030204" pitchFamily="18" charset="0"/>
                      </a:rPr>
                      <m:t>0</m:t>
                    </m:r>
                    <m:r>
                      <a:rPr lang="en-US">
                        <a:latin typeface="Cambria Math" panose="02040503050406030204" pitchFamily="18" charset="0"/>
                      </a:rPr>
                      <m:t>≤</m:t>
                    </m:r>
                    <m:r>
                      <a:rPr lang="en-US" i="1">
                        <a:latin typeface="Cambria Math" panose="02040503050406030204" pitchFamily="18" charset="0"/>
                      </a:rPr>
                      <m:t>𝛾</m:t>
                    </m:r>
                    <m:r>
                      <a:rPr lang="en-US">
                        <a:latin typeface="Cambria Math" panose="02040503050406030204" pitchFamily="18" charset="0"/>
                      </a:rPr>
                      <m:t>≤</m:t>
                    </m:r>
                    <m:r>
                      <a:rPr lang="en-US">
                        <a:latin typeface="Cambria Math" panose="02040503050406030204" pitchFamily="18" charset="0"/>
                      </a:rPr>
                      <m:t>1</m:t>
                    </m:r>
                  </m:oMath>
                </a14:m>
                <a:endParaRPr lang="en-US" sz="2000" dirty="0"/>
              </a:p>
              <a:p>
                <a:pPr lvl="1"/>
                <a:r>
                  <a:rPr lang="en-US" sz="2000" dirty="0"/>
                  <a:t>γ close to 0 → Short-term rewards</a:t>
                </a:r>
              </a:p>
              <a:p>
                <a:pPr lvl="1"/>
                <a:r>
                  <a:rPr lang="en-US" sz="2000" dirty="0"/>
                  <a:t>γ close to 1 → Long-term rewards</a:t>
                </a:r>
                <a:endParaRPr lang="en-IN" sz="2400" dirty="0"/>
              </a:p>
            </p:txBody>
          </p:sp>
        </mc:Choice>
        <mc:Fallback xmlns="">
          <p:sp>
            <p:nvSpPr>
              <p:cNvPr id="3" name="Content Placeholder 2">
                <a:extLst>
                  <a:ext uri="{FF2B5EF4-FFF2-40B4-BE49-F238E27FC236}">
                    <a16:creationId xmlns:a16="http://schemas.microsoft.com/office/drawing/2014/main" id="{6D788A4F-29BD-9DF2-A616-E6D3B130237D}"/>
                  </a:ext>
                </a:extLst>
              </p:cNvPr>
              <p:cNvSpPr>
                <a:spLocks noGrp="1" noRot="1" noChangeAspect="1" noMove="1" noResize="1" noEditPoints="1" noAdjustHandles="1" noChangeArrowheads="1" noChangeShapeType="1" noTextEdit="1"/>
              </p:cNvSpPr>
              <p:nvPr>
                <p:ph idx="1"/>
              </p:nvPr>
            </p:nvSpPr>
            <p:spPr>
              <a:blipFill>
                <a:blip r:embed="rId2"/>
                <a:stretch>
                  <a:fillRect l="-812" t="-1961"/>
                </a:stretch>
              </a:blipFill>
            </p:spPr>
            <p:txBody>
              <a:bodyPr/>
              <a:lstStyle/>
              <a:p>
                <a:r>
                  <a:rPr lang="en-IN">
                    <a:noFill/>
                  </a:rPr>
                  <a:t> </a:t>
                </a:r>
              </a:p>
            </p:txBody>
          </p:sp>
        </mc:Fallback>
      </mc:AlternateContent>
    </p:spTree>
    <p:extLst>
      <p:ext uri="{BB962C8B-B14F-4D97-AF65-F5344CB8AC3E}">
        <p14:creationId xmlns:p14="http://schemas.microsoft.com/office/powerpoint/2010/main" val="25514197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DC60F-0EE1-F2C9-0F60-90B0B52BB745}"/>
              </a:ext>
            </a:extLst>
          </p:cNvPr>
          <p:cNvSpPr>
            <a:spLocks noGrp="1"/>
          </p:cNvSpPr>
          <p:nvPr>
            <p:ph type="title"/>
          </p:nvPr>
        </p:nvSpPr>
        <p:spPr/>
        <p:txBody>
          <a:bodyPr/>
          <a:lstStyle/>
          <a:p>
            <a:r>
              <a:rPr lang="en-IN" dirty="0"/>
              <a:t>Markov Decision Process (MDP)</a:t>
            </a:r>
          </a:p>
        </p:txBody>
      </p:sp>
      <p:sp>
        <p:nvSpPr>
          <p:cNvPr id="3" name="Content Placeholder 2">
            <a:extLst>
              <a:ext uri="{FF2B5EF4-FFF2-40B4-BE49-F238E27FC236}">
                <a16:creationId xmlns:a16="http://schemas.microsoft.com/office/drawing/2014/main" id="{D9C73FBC-9A94-0575-F811-FC5A20C4113D}"/>
              </a:ext>
            </a:extLst>
          </p:cNvPr>
          <p:cNvSpPr>
            <a:spLocks noGrp="1"/>
          </p:cNvSpPr>
          <p:nvPr>
            <p:ph idx="1"/>
          </p:nvPr>
        </p:nvSpPr>
        <p:spPr/>
        <p:txBody>
          <a:bodyPr>
            <a:normAutofit fontScale="85000" lnSpcReduction="10000"/>
          </a:bodyPr>
          <a:lstStyle/>
          <a:p>
            <a:pPr fontAlgn="base"/>
            <a:r>
              <a:rPr lang="en-US" b="1" dirty="0"/>
              <a:t>1. States (S):</a:t>
            </a:r>
            <a:r>
              <a:rPr lang="en-US" dirty="0"/>
              <a:t> A state is a situation or condition the agent can be in. For example, A position on a grid like being at cell (1,1).</a:t>
            </a:r>
          </a:p>
          <a:p>
            <a:pPr fontAlgn="base"/>
            <a:r>
              <a:rPr lang="en-US" b="1" dirty="0"/>
              <a:t>2. Actions (A):</a:t>
            </a:r>
            <a:r>
              <a:rPr lang="en-US" dirty="0"/>
              <a:t> An action is something the agent can do. For example, Move UP, DOWN, LEFT or RIGHT. Each state can have one or more possible actions.</a:t>
            </a:r>
          </a:p>
          <a:p>
            <a:pPr fontAlgn="base"/>
            <a:r>
              <a:rPr lang="en-US" b="1" dirty="0"/>
              <a:t>3. Transition Model (T):</a:t>
            </a:r>
            <a:r>
              <a:rPr lang="en-US" dirty="0"/>
              <a:t> The model tells us what happens when an action is taken in a state. It’s like asking: “If I move RIGHT from here, where will I land?” Sometimes the outcome isn’t always the same that’s uncertainty. For example:</a:t>
            </a:r>
          </a:p>
          <a:p>
            <a:pPr fontAlgn="base"/>
            <a:r>
              <a:rPr lang="en-US" dirty="0"/>
              <a:t>80% chance of moving in the intended direction</a:t>
            </a:r>
          </a:p>
          <a:p>
            <a:pPr fontAlgn="base"/>
            <a:r>
              <a:rPr lang="en-US" dirty="0"/>
              <a:t>10% chance of slipping to the left</a:t>
            </a:r>
          </a:p>
          <a:p>
            <a:pPr fontAlgn="base"/>
            <a:r>
              <a:rPr lang="en-US" dirty="0"/>
              <a:t>10% chance of slipping to the right</a:t>
            </a:r>
          </a:p>
          <a:p>
            <a:pPr fontAlgn="base"/>
            <a:r>
              <a:rPr lang="en-US" dirty="0"/>
              <a:t>This randomness is called a stochastic transition.</a:t>
            </a:r>
          </a:p>
        </p:txBody>
      </p:sp>
    </p:spTree>
    <p:extLst>
      <p:ext uri="{BB962C8B-B14F-4D97-AF65-F5344CB8AC3E}">
        <p14:creationId xmlns:p14="http://schemas.microsoft.com/office/powerpoint/2010/main" val="30463149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A43415-B2A8-75C8-EF35-E4AB96D45362}"/>
              </a:ext>
            </a:extLst>
          </p:cNvPr>
          <p:cNvSpPr>
            <a:spLocks noGrp="1"/>
          </p:cNvSpPr>
          <p:nvPr>
            <p:ph type="title"/>
          </p:nvPr>
        </p:nvSpPr>
        <p:spPr/>
        <p:txBody>
          <a:bodyPr/>
          <a:lstStyle/>
          <a:p>
            <a:r>
              <a:rPr lang="en-IN" dirty="0"/>
              <a:t>Markov Decision Process (MDP)</a:t>
            </a:r>
          </a:p>
        </p:txBody>
      </p:sp>
      <p:sp>
        <p:nvSpPr>
          <p:cNvPr id="3" name="Content Placeholder 2">
            <a:extLst>
              <a:ext uri="{FF2B5EF4-FFF2-40B4-BE49-F238E27FC236}">
                <a16:creationId xmlns:a16="http://schemas.microsoft.com/office/drawing/2014/main" id="{A2EB6346-1E54-FFA1-7E7C-0BDB22A4A6A7}"/>
              </a:ext>
            </a:extLst>
          </p:cNvPr>
          <p:cNvSpPr>
            <a:spLocks noGrp="1"/>
          </p:cNvSpPr>
          <p:nvPr>
            <p:ph idx="1"/>
          </p:nvPr>
        </p:nvSpPr>
        <p:spPr/>
        <p:txBody>
          <a:bodyPr>
            <a:normAutofit fontScale="92500"/>
          </a:bodyPr>
          <a:lstStyle/>
          <a:p>
            <a:pPr fontAlgn="base"/>
            <a:r>
              <a:rPr lang="en-US" b="1" dirty="0"/>
              <a:t>4. Reward (R): </a:t>
            </a:r>
            <a:r>
              <a:rPr lang="en-US" dirty="0"/>
              <a:t>A reward is a number given to the agent after it takes an action. If the reward is positive, it means the result of the action was good. If the reward is negative it means the outcome was bad or there was a penalty help the agent learn what’s good or bad. Examples:</a:t>
            </a:r>
          </a:p>
          <a:p>
            <a:pPr fontAlgn="base"/>
            <a:r>
              <a:rPr lang="en-US" dirty="0"/>
              <a:t>+1 for reaching the goal</a:t>
            </a:r>
          </a:p>
          <a:p>
            <a:pPr fontAlgn="base"/>
            <a:r>
              <a:rPr lang="en-US" dirty="0"/>
              <a:t>-1 for stepping into fire</a:t>
            </a:r>
          </a:p>
          <a:p>
            <a:pPr fontAlgn="base"/>
            <a:r>
              <a:rPr lang="en-US" dirty="0"/>
              <a:t>-0.1 for each step to encourage fewer moves</a:t>
            </a:r>
          </a:p>
          <a:p>
            <a:pPr fontAlgn="base"/>
            <a:r>
              <a:rPr lang="en-US" b="1" dirty="0"/>
              <a:t>5. Policy (π):</a:t>
            </a:r>
            <a:r>
              <a:rPr lang="en-US" dirty="0"/>
              <a:t> A policy is the agent’s plan. It tells the agent: “If you are in this state, take this action.” The goal is to find the best policy that helps the agent earn the highest total reward over time.</a:t>
            </a:r>
          </a:p>
          <a:p>
            <a:endParaRPr lang="en-IN" dirty="0"/>
          </a:p>
        </p:txBody>
      </p:sp>
    </p:spTree>
    <p:extLst>
      <p:ext uri="{BB962C8B-B14F-4D97-AF65-F5344CB8AC3E}">
        <p14:creationId xmlns:p14="http://schemas.microsoft.com/office/powerpoint/2010/main" val="16476828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14B214-A5C9-82DE-7B30-F1100D0E75B6}"/>
              </a:ext>
            </a:extLst>
          </p:cNvPr>
          <p:cNvSpPr>
            <a:spLocks noGrp="1"/>
          </p:cNvSpPr>
          <p:nvPr>
            <p:ph type="title"/>
          </p:nvPr>
        </p:nvSpPr>
        <p:spPr/>
        <p:txBody>
          <a:bodyPr/>
          <a:lstStyle/>
          <a:p>
            <a:r>
              <a:rPr lang="en-IN" b="1" dirty="0"/>
              <a:t>How RL Learning Happens (Basic Flow)</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5B2C825-A442-C15A-0119-5A01A29BB761}"/>
                  </a:ext>
                </a:extLst>
              </p:cNvPr>
              <p:cNvSpPr>
                <a:spLocks noGrp="1"/>
              </p:cNvSpPr>
              <p:nvPr>
                <p:ph idx="1"/>
              </p:nvPr>
            </p:nvSpPr>
            <p:spPr/>
            <p:txBody>
              <a:bodyPr/>
              <a:lstStyle/>
              <a:p>
                <a:pPr marL="514350" indent="-514350">
                  <a:buFont typeface="+mj-lt"/>
                  <a:buAutoNum type="arabicPeriod"/>
                </a:pPr>
                <a:r>
                  <a:rPr lang="en-IN" dirty="0"/>
                  <a:t>Agent observes state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𝑠</m:t>
                        </m:r>
                      </m:e>
                      <m:sub>
                        <m:r>
                          <a:rPr lang="ar-AE" i="1">
                            <a:latin typeface="Cambria Math" panose="02040503050406030204" pitchFamily="18" charset="0"/>
                          </a:rPr>
                          <m:t>𝑡</m:t>
                        </m:r>
                      </m:sub>
                    </m:sSub>
                  </m:oMath>
                </a14:m>
                <a:endParaRPr lang="ar-AE" dirty="0"/>
              </a:p>
              <a:p>
                <a:pPr marL="514350" indent="-514350">
                  <a:buFont typeface="+mj-lt"/>
                  <a:buAutoNum type="arabicPeriod"/>
                </a:pPr>
                <a:r>
                  <a:rPr lang="en-IN" dirty="0"/>
                  <a:t>Takes action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𝑎</m:t>
                        </m:r>
                      </m:e>
                      <m:sub>
                        <m:r>
                          <a:rPr lang="ar-AE" i="1">
                            <a:latin typeface="Cambria Math" panose="02040503050406030204" pitchFamily="18" charset="0"/>
                          </a:rPr>
                          <m:t>𝑡</m:t>
                        </m:r>
                      </m:sub>
                    </m:sSub>
                  </m:oMath>
                </a14:m>
                <a:endParaRPr lang="ar-AE" dirty="0"/>
              </a:p>
              <a:p>
                <a:pPr marL="514350" indent="-514350">
                  <a:buFont typeface="+mj-lt"/>
                  <a:buAutoNum type="arabicPeriod"/>
                </a:pPr>
                <a:r>
                  <a:rPr lang="en-IN" dirty="0"/>
                  <a:t>Environment returns:</a:t>
                </a:r>
              </a:p>
              <a:p>
                <a:pPr lvl="1"/>
                <a:r>
                  <a:rPr lang="en-IN" dirty="0"/>
                  <a:t>Reward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𝑟</m:t>
                        </m:r>
                      </m:e>
                      <m:sub>
                        <m:r>
                          <a:rPr lang="ar-AE" i="1">
                            <a:latin typeface="Cambria Math" panose="02040503050406030204" pitchFamily="18" charset="0"/>
                          </a:rPr>
                          <m:t>𝑡</m:t>
                        </m:r>
                      </m:sub>
                    </m:sSub>
                  </m:oMath>
                </a14:m>
                <a:endParaRPr lang="ar-AE" dirty="0"/>
              </a:p>
              <a:p>
                <a:pPr lvl="1"/>
                <a:r>
                  <a:rPr lang="en-IN" dirty="0"/>
                  <a:t>Next state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𝑠</m:t>
                        </m:r>
                      </m:e>
                      <m:sub>
                        <m:r>
                          <a:rPr lang="ar-AE" i="1">
                            <a:latin typeface="Cambria Math" panose="02040503050406030204" pitchFamily="18" charset="0"/>
                          </a:rPr>
                          <m:t>𝑡</m:t>
                        </m:r>
                        <m:r>
                          <a:rPr lang="ar-AE">
                            <a:latin typeface="Cambria Math" panose="02040503050406030204" pitchFamily="18" charset="0"/>
                          </a:rPr>
                          <m:t>+</m:t>
                        </m:r>
                        <m:r>
                          <a:rPr lang="ar-AE">
                            <a:latin typeface="Cambria Math" panose="02040503050406030204" pitchFamily="18" charset="0"/>
                          </a:rPr>
                          <m:t>1</m:t>
                        </m:r>
                      </m:sub>
                    </m:sSub>
                  </m:oMath>
                </a14:m>
                <a:endParaRPr lang="ar-AE" dirty="0"/>
              </a:p>
              <a:p>
                <a:pPr marL="514350" indent="-514350">
                  <a:buFont typeface="+mj-lt"/>
                  <a:buAutoNum type="arabicPeriod"/>
                </a:pPr>
                <a:r>
                  <a:rPr lang="en-IN" dirty="0"/>
                  <a:t>Agent updates knowledge</a:t>
                </a:r>
              </a:p>
              <a:p>
                <a:pPr marL="514350" indent="-514350">
                  <a:buFont typeface="+mj-lt"/>
                  <a:buAutoNum type="arabicPeriod"/>
                </a:pPr>
                <a:r>
                  <a:rPr lang="en-IN" dirty="0"/>
                  <a:t>Repeat</a:t>
                </a:r>
              </a:p>
              <a:p>
                <a:r>
                  <a:rPr lang="en-IN" dirty="0"/>
                  <a:t>This interaction continues until the agent learns an optimal policy.</a:t>
                </a:r>
              </a:p>
              <a:p>
                <a:endParaRPr lang="en-IN" dirty="0"/>
              </a:p>
            </p:txBody>
          </p:sp>
        </mc:Choice>
        <mc:Fallback xmlns="">
          <p:sp>
            <p:nvSpPr>
              <p:cNvPr id="3" name="Content Placeholder 2">
                <a:extLst>
                  <a:ext uri="{FF2B5EF4-FFF2-40B4-BE49-F238E27FC236}">
                    <a16:creationId xmlns:a16="http://schemas.microsoft.com/office/drawing/2014/main" id="{55B2C825-A442-C15A-0119-5A01A29BB761}"/>
                  </a:ext>
                </a:extLst>
              </p:cNvPr>
              <p:cNvSpPr>
                <a:spLocks noGrp="1" noRot="1" noChangeAspect="1" noMove="1" noResize="1" noEditPoints="1" noAdjustHandles="1" noChangeArrowheads="1" noChangeShapeType="1" noTextEdit="1"/>
              </p:cNvSpPr>
              <p:nvPr>
                <p:ph idx="1"/>
              </p:nvPr>
            </p:nvSpPr>
            <p:spPr>
              <a:blipFill>
                <a:blip r:embed="rId2"/>
                <a:stretch>
                  <a:fillRect l="-1217" t="-2381"/>
                </a:stretch>
              </a:blipFill>
            </p:spPr>
            <p:txBody>
              <a:bodyPr/>
              <a:lstStyle/>
              <a:p>
                <a:r>
                  <a:rPr lang="en-IN">
                    <a:noFill/>
                  </a:rPr>
                  <a:t> </a:t>
                </a:r>
              </a:p>
            </p:txBody>
          </p:sp>
        </mc:Fallback>
      </mc:AlternateContent>
    </p:spTree>
    <p:extLst>
      <p:ext uri="{BB962C8B-B14F-4D97-AF65-F5344CB8AC3E}">
        <p14:creationId xmlns:p14="http://schemas.microsoft.com/office/powerpoint/2010/main" val="1238960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F604CA-BEA1-0CBE-EA2F-BA5E926C164D}"/>
              </a:ext>
            </a:extLst>
          </p:cNvPr>
          <p:cNvSpPr>
            <a:spLocks noGrp="1"/>
          </p:cNvSpPr>
          <p:nvPr>
            <p:ph type="title"/>
          </p:nvPr>
        </p:nvSpPr>
        <p:spPr/>
        <p:txBody>
          <a:bodyPr/>
          <a:lstStyle/>
          <a:p>
            <a:r>
              <a:rPr lang="en-IN" dirty="0"/>
              <a:t>Reinforcement Learning</a:t>
            </a:r>
          </a:p>
        </p:txBody>
      </p:sp>
      <p:sp>
        <p:nvSpPr>
          <p:cNvPr id="3" name="Content Placeholder 2">
            <a:extLst>
              <a:ext uri="{FF2B5EF4-FFF2-40B4-BE49-F238E27FC236}">
                <a16:creationId xmlns:a16="http://schemas.microsoft.com/office/drawing/2014/main" id="{0AD7BC71-9D50-A1BC-4DDA-F642F8EFF3D4}"/>
              </a:ext>
            </a:extLst>
          </p:cNvPr>
          <p:cNvSpPr>
            <a:spLocks noGrp="1"/>
          </p:cNvSpPr>
          <p:nvPr>
            <p:ph idx="1"/>
          </p:nvPr>
        </p:nvSpPr>
        <p:spPr>
          <a:xfrm>
            <a:off x="838200" y="1690688"/>
            <a:ext cx="10515600" cy="4610721"/>
          </a:xfrm>
        </p:spPr>
        <p:txBody>
          <a:bodyPr>
            <a:normAutofit/>
          </a:bodyPr>
          <a:lstStyle/>
          <a:p>
            <a:r>
              <a:rPr lang="en-IN" sz="2400" b="1" dirty="0"/>
              <a:t>Advantages </a:t>
            </a:r>
          </a:p>
          <a:p>
            <a:pPr lvl="1"/>
            <a:r>
              <a:rPr lang="en-US" sz="2000" dirty="0"/>
              <a:t>Learns without labeled data</a:t>
            </a:r>
          </a:p>
          <a:p>
            <a:pPr lvl="1"/>
            <a:r>
              <a:rPr lang="en-US" sz="2000" dirty="0"/>
              <a:t>Suitable for dynamic environments</a:t>
            </a:r>
          </a:p>
          <a:p>
            <a:pPr lvl="1"/>
            <a:r>
              <a:rPr lang="en-US" sz="2000" dirty="0"/>
              <a:t>Handles sequential decision problems</a:t>
            </a:r>
          </a:p>
          <a:p>
            <a:pPr lvl="1"/>
            <a:r>
              <a:rPr lang="en-US" sz="2000" dirty="0"/>
              <a:t>Can optimize long-term performance</a:t>
            </a:r>
          </a:p>
          <a:p>
            <a:r>
              <a:rPr lang="en-US" sz="2400" b="1" dirty="0"/>
              <a:t>Disadvantages / Challenges</a:t>
            </a:r>
          </a:p>
          <a:p>
            <a:pPr lvl="1"/>
            <a:r>
              <a:rPr lang="en-US" sz="2000" dirty="0"/>
              <a:t>Requires large number of interactions</a:t>
            </a:r>
          </a:p>
          <a:p>
            <a:pPr lvl="1"/>
            <a:r>
              <a:rPr lang="en-US" sz="2000" dirty="0"/>
              <a:t>Slow convergence</a:t>
            </a:r>
          </a:p>
          <a:p>
            <a:pPr lvl="1"/>
            <a:r>
              <a:rPr lang="en-US" sz="2000" dirty="0"/>
              <a:t>Reward design is difficult</a:t>
            </a:r>
          </a:p>
          <a:p>
            <a:pPr lvl="1"/>
            <a:r>
              <a:rPr lang="en-US" sz="2000" dirty="0"/>
              <a:t>Exploration may be risky in real systems</a:t>
            </a:r>
          </a:p>
          <a:p>
            <a:pPr lvl="1"/>
            <a:r>
              <a:rPr lang="en-US" sz="2000" dirty="0"/>
              <a:t>Computationally expensive</a:t>
            </a:r>
          </a:p>
          <a:p>
            <a:pPr lvl="1"/>
            <a:endParaRPr lang="en-IN" sz="2000" dirty="0"/>
          </a:p>
        </p:txBody>
      </p:sp>
    </p:spTree>
    <p:extLst>
      <p:ext uri="{BB962C8B-B14F-4D97-AF65-F5344CB8AC3E}">
        <p14:creationId xmlns:p14="http://schemas.microsoft.com/office/powerpoint/2010/main" val="82635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E5A61F-8236-C75D-0469-10022BC32B88}"/>
              </a:ext>
            </a:extLst>
          </p:cNvPr>
          <p:cNvSpPr>
            <a:spLocks noGrp="1"/>
          </p:cNvSpPr>
          <p:nvPr>
            <p:ph type="title"/>
          </p:nvPr>
        </p:nvSpPr>
        <p:spPr/>
        <p:txBody>
          <a:bodyPr>
            <a:normAutofit/>
          </a:bodyPr>
          <a:lstStyle/>
          <a:p>
            <a:r>
              <a:rPr lang="en-US" dirty="0"/>
              <a:t>Q-learning</a:t>
            </a:r>
            <a:endParaRPr lang="en-IN" dirty="0"/>
          </a:p>
        </p:txBody>
      </p:sp>
      <p:sp>
        <p:nvSpPr>
          <p:cNvPr id="3" name="Content Placeholder 2">
            <a:extLst>
              <a:ext uri="{FF2B5EF4-FFF2-40B4-BE49-F238E27FC236}">
                <a16:creationId xmlns:a16="http://schemas.microsoft.com/office/drawing/2014/main" id="{A48AEE44-1218-C7A8-48BC-2D159F9E04E8}"/>
              </a:ext>
            </a:extLst>
          </p:cNvPr>
          <p:cNvSpPr>
            <a:spLocks noGrp="1"/>
          </p:cNvSpPr>
          <p:nvPr>
            <p:ph idx="1"/>
          </p:nvPr>
        </p:nvSpPr>
        <p:spPr/>
        <p:txBody>
          <a:bodyPr>
            <a:normAutofit/>
          </a:bodyPr>
          <a:lstStyle/>
          <a:p>
            <a:r>
              <a:rPr lang="en-US" sz="2400" b="1" dirty="0"/>
              <a:t>Agent-Based Learning</a:t>
            </a:r>
            <a:r>
              <a:rPr lang="en-US" sz="2400" dirty="0"/>
              <a:t> is the broad paradigm, </a:t>
            </a:r>
            <a:r>
              <a:rPr lang="en-US" sz="2400" b="1" dirty="0"/>
              <a:t>Reinforcement Learning</a:t>
            </a:r>
            <a:r>
              <a:rPr lang="en-US" sz="2400" dirty="0"/>
              <a:t> is the specific mathematical framework used to achieve it, and </a:t>
            </a:r>
            <a:r>
              <a:rPr lang="en-US" sz="2400" b="1" dirty="0"/>
              <a:t>Q-Learning</a:t>
            </a:r>
            <a:r>
              <a:rPr lang="en-US" sz="2400" dirty="0"/>
              <a:t> is one specific algorithm within that framework.</a:t>
            </a:r>
          </a:p>
          <a:p>
            <a:r>
              <a:rPr lang="en-US" sz="2400" dirty="0"/>
              <a:t>Q-learning update rule:</a:t>
            </a:r>
          </a:p>
          <a:p>
            <a:endParaRPr lang="en-IN" sz="2400" dirty="0"/>
          </a:p>
        </p:txBody>
      </p:sp>
      <p:pic>
        <p:nvPicPr>
          <p:cNvPr id="5" name="Picture 4">
            <a:extLst>
              <a:ext uri="{FF2B5EF4-FFF2-40B4-BE49-F238E27FC236}">
                <a16:creationId xmlns:a16="http://schemas.microsoft.com/office/drawing/2014/main" id="{F81C3327-DFA5-EF39-AE02-A28211BBC7D2}"/>
              </a:ext>
            </a:extLst>
          </p:cNvPr>
          <p:cNvPicPr>
            <a:picLocks noChangeAspect="1"/>
          </p:cNvPicPr>
          <p:nvPr/>
        </p:nvPicPr>
        <p:blipFill>
          <a:blip r:embed="rId2"/>
          <a:stretch>
            <a:fillRect/>
          </a:stretch>
        </p:blipFill>
        <p:spPr>
          <a:xfrm>
            <a:off x="1445659" y="3429000"/>
            <a:ext cx="9164855" cy="2882900"/>
          </a:xfrm>
          <a:prstGeom prst="rect">
            <a:avLst/>
          </a:prstGeom>
        </p:spPr>
      </p:pic>
    </p:spTree>
    <p:extLst>
      <p:ext uri="{BB962C8B-B14F-4D97-AF65-F5344CB8AC3E}">
        <p14:creationId xmlns:p14="http://schemas.microsoft.com/office/powerpoint/2010/main" val="3663524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3F9310-83F1-E2D2-6232-FC7A444C7ADE}"/>
              </a:ext>
            </a:extLst>
          </p:cNvPr>
          <p:cNvSpPr>
            <a:spLocks noGrp="1"/>
          </p:cNvSpPr>
          <p:nvPr>
            <p:ph type="title"/>
          </p:nvPr>
        </p:nvSpPr>
        <p:spPr/>
        <p:txBody>
          <a:bodyPr/>
          <a:lstStyle/>
          <a:p>
            <a:r>
              <a:rPr lang="en-IN" dirty="0"/>
              <a:t>Example: Simple 2-State System</a:t>
            </a:r>
          </a:p>
        </p:txBody>
      </p:sp>
      <p:sp>
        <p:nvSpPr>
          <p:cNvPr id="3" name="Content Placeholder 2">
            <a:extLst>
              <a:ext uri="{FF2B5EF4-FFF2-40B4-BE49-F238E27FC236}">
                <a16:creationId xmlns:a16="http://schemas.microsoft.com/office/drawing/2014/main" id="{70A4DD4C-CAA9-C5F8-A06D-1BD373300F32}"/>
              </a:ext>
            </a:extLst>
          </p:cNvPr>
          <p:cNvSpPr>
            <a:spLocks noGrp="1"/>
          </p:cNvSpPr>
          <p:nvPr>
            <p:ph idx="1"/>
          </p:nvPr>
        </p:nvSpPr>
        <p:spPr/>
        <p:txBody>
          <a:bodyPr>
            <a:normAutofit/>
          </a:bodyPr>
          <a:lstStyle/>
          <a:p>
            <a:r>
              <a:rPr lang="en-US" dirty="0"/>
              <a:t>States: 		S1, S2 (Terminal)</a:t>
            </a:r>
          </a:p>
          <a:p>
            <a:r>
              <a:rPr lang="en-US" dirty="0"/>
              <a:t>Actions from S1:	A1, A2</a:t>
            </a:r>
          </a:p>
          <a:p>
            <a:r>
              <a:rPr lang="en-US" dirty="0"/>
              <a:t>Rewards:</a:t>
            </a:r>
          </a:p>
          <a:p>
            <a:pPr lvl="1"/>
            <a:r>
              <a:rPr lang="en-US" dirty="0"/>
              <a:t>If A1 → go to S2, reward = 5</a:t>
            </a:r>
          </a:p>
          <a:p>
            <a:pPr lvl="1"/>
            <a:r>
              <a:rPr lang="en-US" dirty="0"/>
              <a:t>If A2 → stay in S1, reward = 1</a:t>
            </a:r>
          </a:p>
          <a:p>
            <a:r>
              <a:rPr lang="en-US" dirty="0"/>
              <a:t>Parameters:</a:t>
            </a:r>
          </a:p>
          <a:p>
            <a:pPr lvl="1"/>
            <a:r>
              <a:rPr lang="en-US" dirty="0"/>
              <a:t>α = 0.5</a:t>
            </a:r>
          </a:p>
          <a:p>
            <a:pPr lvl="1"/>
            <a:r>
              <a:rPr lang="en-US" dirty="0"/>
              <a:t>γ = 0.9</a:t>
            </a:r>
          </a:p>
          <a:p>
            <a:pPr lvl="1"/>
            <a:r>
              <a:rPr lang="en-US" dirty="0"/>
              <a:t>Initial Q = 0</a:t>
            </a:r>
          </a:p>
          <a:p>
            <a:endParaRPr lang="en-IN" dirty="0"/>
          </a:p>
        </p:txBody>
      </p:sp>
    </p:spTree>
    <p:extLst>
      <p:ext uri="{BB962C8B-B14F-4D97-AF65-F5344CB8AC3E}">
        <p14:creationId xmlns:p14="http://schemas.microsoft.com/office/powerpoint/2010/main" val="19859809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B83547-4146-895C-5BF1-1C618F146961}"/>
              </a:ext>
            </a:extLst>
          </p:cNvPr>
          <p:cNvSpPr>
            <a:spLocks noGrp="1"/>
          </p:cNvSpPr>
          <p:nvPr>
            <p:ph type="title"/>
          </p:nvPr>
        </p:nvSpPr>
        <p:spPr/>
        <p:txBody>
          <a:bodyPr/>
          <a:lstStyle/>
          <a:p>
            <a:r>
              <a:rPr lang="en-IN" dirty="0"/>
              <a:t>Example: Simple 2-State System</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A2DF29F-7108-8505-B84D-B395C79E6E0E}"/>
                  </a:ext>
                </a:extLst>
              </p:cNvPr>
              <p:cNvSpPr>
                <a:spLocks noGrp="1"/>
              </p:cNvSpPr>
              <p:nvPr>
                <p:ph idx="1"/>
              </p:nvPr>
            </p:nvSpPr>
            <p:spPr/>
            <p:txBody>
              <a:bodyPr>
                <a:normAutofit/>
              </a:bodyPr>
              <a:lstStyle/>
              <a:p>
                <a:r>
                  <a:rPr lang="en-US" b="1" dirty="0"/>
                  <a:t>Step 1: Take A1 in S1</a:t>
                </a:r>
              </a:p>
              <a:p>
                <a:pPr lvl="1"/>
                <a:r>
                  <a:rPr lang="en-IN" dirty="0"/>
                  <a:t>Initial: Q(S1,A1) = 0, Q(S1,A2) = 0</a:t>
                </a:r>
              </a:p>
              <a:p>
                <a:pPr lvl="1"/>
                <a:r>
                  <a:rPr lang="en-IN" dirty="0"/>
                  <a:t>After action:	r = 5,  s' = S2, max Q(S2, a) = 0 (terminal)</a:t>
                </a:r>
              </a:p>
              <a:p>
                <a:pPr lvl="1"/>
                <a:r>
                  <a:rPr lang="en-IN" dirty="0"/>
                  <a:t>Update:		Q(S1,A1) =</a:t>
                </a:r>
                <a14:m>
                  <m:oMath xmlns:m="http://schemas.openxmlformats.org/officeDocument/2006/math">
                    <m:r>
                      <a:rPr lang="en-IN" b="0" i="0" smtClean="0">
                        <a:latin typeface="Cambria Math" panose="02040503050406030204" pitchFamily="18" charset="0"/>
                      </a:rPr>
                      <m:t> </m:t>
                    </m:r>
                    <m:r>
                      <a:rPr lang="en-IN">
                        <a:latin typeface="Cambria Math" panose="02040503050406030204" pitchFamily="18" charset="0"/>
                      </a:rPr>
                      <m:t>0</m:t>
                    </m:r>
                    <m:r>
                      <a:rPr lang="en-IN">
                        <a:latin typeface="Cambria Math" panose="02040503050406030204" pitchFamily="18" charset="0"/>
                      </a:rPr>
                      <m:t>+</m:t>
                    </m:r>
                    <m:r>
                      <a:rPr lang="en-IN">
                        <a:latin typeface="Cambria Math" panose="02040503050406030204" pitchFamily="18" charset="0"/>
                      </a:rPr>
                      <m:t>0</m:t>
                    </m:r>
                    <m:r>
                      <a:rPr lang="en-IN">
                        <a:latin typeface="Cambria Math" panose="02040503050406030204" pitchFamily="18" charset="0"/>
                      </a:rPr>
                      <m:t>.</m:t>
                    </m:r>
                    <m:r>
                      <a:rPr lang="en-IN">
                        <a:latin typeface="Cambria Math" panose="02040503050406030204" pitchFamily="18" charset="0"/>
                      </a:rPr>
                      <m:t>5</m:t>
                    </m:r>
                    <m:d>
                      <m:dPr>
                        <m:begChr m:val="["/>
                        <m:endChr m:val="]"/>
                        <m:ctrlPr>
                          <a:rPr lang="ar-AE" i="1">
                            <a:latin typeface="Cambria Math" panose="02040503050406030204" pitchFamily="18" charset="0"/>
                          </a:rPr>
                        </m:ctrlPr>
                      </m:dPr>
                      <m:e>
                        <m:r>
                          <a:rPr lang="ar-AE">
                            <a:latin typeface="Cambria Math" panose="02040503050406030204" pitchFamily="18" charset="0"/>
                          </a:rPr>
                          <m:t>5</m:t>
                        </m:r>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9</m:t>
                        </m:r>
                        <m:d>
                          <m:dPr>
                            <m:ctrlPr>
                              <a:rPr lang="ar-AE" i="1">
                                <a:latin typeface="Cambria Math" panose="02040503050406030204" pitchFamily="18" charset="0"/>
                              </a:rPr>
                            </m:ctrlPr>
                          </m:dPr>
                          <m:e>
                            <m:r>
                              <a:rPr lang="ar-AE">
                                <a:latin typeface="Cambria Math" panose="02040503050406030204" pitchFamily="18" charset="0"/>
                              </a:rPr>
                              <m:t>0</m:t>
                            </m:r>
                          </m:e>
                        </m:d>
                        <m:r>
                          <a:rPr lang="ar-AE">
                            <a:latin typeface="Cambria Math" panose="02040503050406030204" pitchFamily="18" charset="0"/>
                          </a:rPr>
                          <m:t>−</m:t>
                        </m:r>
                        <m:r>
                          <a:rPr lang="ar-AE">
                            <a:latin typeface="Cambria Math" panose="02040503050406030204" pitchFamily="18" charset="0"/>
                          </a:rPr>
                          <m:t>0</m:t>
                        </m:r>
                      </m:e>
                    </m:d>
                  </m:oMath>
                </a14:m>
                <a:r>
                  <a:rPr lang="en-IN" dirty="0"/>
                  <a:t> </a:t>
                </a:r>
                <a14:m>
                  <m:oMath xmlns:m="http://schemas.openxmlformats.org/officeDocument/2006/math">
                    <m:r>
                      <a:rPr lang="ar-AE" smtClean="0">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5</m:t>
                    </m:r>
                    <m:r>
                      <a:rPr lang="ar-AE">
                        <a:latin typeface="Cambria Math" panose="02040503050406030204" pitchFamily="18" charset="0"/>
                      </a:rPr>
                      <m:t>×</m:t>
                    </m:r>
                    <m:r>
                      <a:rPr lang="ar-AE">
                        <a:latin typeface="Cambria Math" panose="02040503050406030204" pitchFamily="18" charset="0"/>
                      </a:rPr>
                      <m:t>5</m:t>
                    </m:r>
                  </m:oMath>
                </a14:m>
                <a:r>
                  <a:rPr lang="en-IN" dirty="0"/>
                  <a:t>  </a:t>
                </a:r>
                <a14:m>
                  <m:oMath xmlns:m="http://schemas.openxmlformats.org/officeDocument/2006/math">
                    <m:r>
                      <a:rPr lang="ar-AE">
                        <a:latin typeface="Cambria Math" panose="02040503050406030204" pitchFamily="18" charset="0"/>
                      </a:rPr>
                      <m:t>=</m:t>
                    </m:r>
                    <m:r>
                      <a:rPr lang="ar-AE">
                        <a:latin typeface="Cambria Math" panose="02040503050406030204" pitchFamily="18" charset="0"/>
                      </a:rPr>
                      <m:t>2</m:t>
                    </m:r>
                    <m:r>
                      <a:rPr lang="ar-AE">
                        <a:latin typeface="Cambria Math" panose="02040503050406030204" pitchFamily="18" charset="0"/>
                      </a:rPr>
                      <m:t>.</m:t>
                    </m:r>
                    <m:r>
                      <a:rPr lang="ar-AE">
                        <a:latin typeface="Cambria Math" panose="02040503050406030204" pitchFamily="18" charset="0"/>
                      </a:rPr>
                      <m:t>5</m:t>
                    </m:r>
                  </m:oMath>
                </a14:m>
                <a:endParaRPr lang="en-IN" dirty="0"/>
              </a:p>
              <a:p>
                <a:r>
                  <a:rPr lang="en-IN" b="1" dirty="0"/>
                  <a:t>Step 2: Take A1 again</a:t>
                </a:r>
              </a:p>
              <a:p>
                <a:pPr lvl="1"/>
                <a14:m>
                  <m:oMath xmlns:m="http://schemas.openxmlformats.org/officeDocument/2006/math">
                    <m:r>
                      <a:rPr lang="en-IN" i="1">
                        <a:latin typeface="Cambria Math" panose="02040503050406030204" pitchFamily="18" charset="0"/>
                      </a:rPr>
                      <m:t>𝑄</m:t>
                    </m:r>
                    <m:r>
                      <a:rPr lang="en-IN">
                        <a:latin typeface="Cambria Math" panose="02040503050406030204" pitchFamily="18" charset="0"/>
                      </a:rPr>
                      <m:t>=</m:t>
                    </m:r>
                    <m:r>
                      <a:rPr lang="en-IN">
                        <a:latin typeface="Cambria Math" panose="02040503050406030204" pitchFamily="18" charset="0"/>
                      </a:rPr>
                      <m:t>2</m:t>
                    </m:r>
                    <m:r>
                      <a:rPr lang="en-IN">
                        <a:latin typeface="Cambria Math" panose="02040503050406030204" pitchFamily="18" charset="0"/>
                      </a:rPr>
                      <m:t>.</m:t>
                    </m:r>
                    <m:r>
                      <a:rPr lang="en-IN">
                        <a:latin typeface="Cambria Math" panose="02040503050406030204" pitchFamily="18" charset="0"/>
                      </a:rPr>
                      <m:t>5</m:t>
                    </m:r>
                    <m:r>
                      <a:rPr lang="en-IN">
                        <a:latin typeface="Cambria Math" panose="02040503050406030204" pitchFamily="18" charset="0"/>
                      </a:rPr>
                      <m:t>+</m:t>
                    </m:r>
                    <m:r>
                      <a:rPr lang="en-IN">
                        <a:latin typeface="Cambria Math" panose="02040503050406030204" pitchFamily="18" charset="0"/>
                      </a:rPr>
                      <m:t>0</m:t>
                    </m:r>
                    <m:r>
                      <a:rPr lang="en-IN">
                        <a:latin typeface="Cambria Math" panose="02040503050406030204" pitchFamily="18" charset="0"/>
                      </a:rPr>
                      <m:t>.</m:t>
                    </m:r>
                    <m:r>
                      <a:rPr lang="en-IN">
                        <a:latin typeface="Cambria Math" panose="02040503050406030204" pitchFamily="18" charset="0"/>
                      </a:rPr>
                      <m:t>5</m:t>
                    </m:r>
                    <m:d>
                      <m:dPr>
                        <m:begChr m:val="["/>
                        <m:endChr m:val="]"/>
                        <m:ctrlPr>
                          <a:rPr lang="ar-AE" i="1">
                            <a:latin typeface="Cambria Math" panose="02040503050406030204" pitchFamily="18" charset="0"/>
                          </a:rPr>
                        </m:ctrlPr>
                      </m:dPr>
                      <m:e>
                        <m:r>
                          <a:rPr lang="ar-AE">
                            <a:latin typeface="Cambria Math" panose="02040503050406030204" pitchFamily="18" charset="0"/>
                          </a:rPr>
                          <m:t>5</m:t>
                        </m:r>
                        <m:r>
                          <a:rPr lang="ar-AE">
                            <a:latin typeface="Cambria Math" panose="02040503050406030204" pitchFamily="18" charset="0"/>
                          </a:rPr>
                          <m:t>−</m:t>
                        </m:r>
                        <m:r>
                          <a:rPr lang="ar-AE">
                            <a:latin typeface="Cambria Math" panose="02040503050406030204" pitchFamily="18" charset="0"/>
                          </a:rPr>
                          <m:t>2</m:t>
                        </m:r>
                        <m:r>
                          <a:rPr lang="ar-AE">
                            <a:latin typeface="Cambria Math" panose="02040503050406030204" pitchFamily="18" charset="0"/>
                          </a:rPr>
                          <m:t>.</m:t>
                        </m:r>
                        <m:r>
                          <a:rPr lang="ar-AE">
                            <a:latin typeface="Cambria Math" panose="02040503050406030204" pitchFamily="18" charset="0"/>
                          </a:rPr>
                          <m:t>5</m:t>
                        </m:r>
                      </m:e>
                    </m:d>
                  </m:oMath>
                </a14:m>
                <a:r>
                  <a:rPr lang="en-IN" dirty="0"/>
                  <a:t>  </a:t>
                </a:r>
                <a14:m>
                  <m:oMath xmlns:m="http://schemas.openxmlformats.org/officeDocument/2006/math">
                    <m:r>
                      <a:rPr lang="ar-AE">
                        <a:latin typeface="Cambria Math" panose="02040503050406030204" pitchFamily="18" charset="0"/>
                      </a:rPr>
                      <m:t>=</m:t>
                    </m:r>
                    <m:r>
                      <a:rPr lang="ar-AE">
                        <a:latin typeface="Cambria Math" panose="02040503050406030204" pitchFamily="18" charset="0"/>
                      </a:rPr>
                      <m:t>2</m:t>
                    </m:r>
                    <m:r>
                      <a:rPr lang="ar-AE">
                        <a:latin typeface="Cambria Math" panose="02040503050406030204" pitchFamily="18" charset="0"/>
                      </a:rPr>
                      <m:t>.</m:t>
                    </m:r>
                    <m:r>
                      <a:rPr lang="ar-AE">
                        <a:latin typeface="Cambria Math" panose="02040503050406030204" pitchFamily="18" charset="0"/>
                      </a:rPr>
                      <m:t>5</m:t>
                    </m:r>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5</m:t>
                    </m:r>
                    <m:d>
                      <m:dPr>
                        <m:ctrlPr>
                          <a:rPr lang="ar-AE" i="1">
                            <a:latin typeface="Cambria Math" panose="02040503050406030204" pitchFamily="18" charset="0"/>
                          </a:rPr>
                        </m:ctrlPr>
                      </m:dPr>
                      <m:e>
                        <m:r>
                          <a:rPr lang="ar-AE">
                            <a:latin typeface="Cambria Math" panose="02040503050406030204" pitchFamily="18" charset="0"/>
                          </a:rPr>
                          <m:t>2</m:t>
                        </m:r>
                        <m:r>
                          <a:rPr lang="ar-AE">
                            <a:latin typeface="Cambria Math" panose="02040503050406030204" pitchFamily="18" charset="0"/>
                          </a:rPr>
                          <m:t>.</m:t>
                        </m:r>
                        <m:r>
                          <a:rPr lang="ar-AE">
                            <a:latin typeface="Cambria Math" panose="02040503050406030204" pitchFamily="18" charset="0"/>
                          </a:rPr>
                          <m:t>5</m:t>
                        </m:r>
                      </m:e>
                    </m:d>
                  </m:oMath>
                </a14:m>
                <a:r>
                  <a:rPr lang="en-IN" dirty="0"/>
                  <a:t> </a:t>
                </a:r>
                <a14:m>
                  <m:oMath xmlns:m="http://schemas.openxmlformats.org/officeDocument/2006/math">
                    <m:r>
                      <a:rPr lang="ar-AE">
                        <a:latin typeface="Cambria Math" panose="02040503050406030204" pitchFamily="18" charset="0"/>
                      </a:rPr>
                      <m:t>=</m:t>
                    </m:r>
                    <m:r>
                      <a:rPr lang="ar-AE">
                        <a:latin typeface="Cambria Math" panose="02040503050406030204" pitchFamily="18" charset="0"/>
                      </a:rPr>
                      <m:t>2</m:t>
                    </m:r>
                    <m:r>
                      <a:rPr lang="ar-AE">
                        <a:latin typeface="Cambria Math" panose="02040503050406030204" pitchFamily="18" charset="0"/>
                      </a:rPr>
                      <m:t>.</m:t>
                    </m:r>
                    <m:r>
                      <a:rPr lang="ar-AE">
                        <a:latin typeface="Cambria Math" panose="02040503050406030204" pitchFamily="18" charset="0"/>
                      </a:rPr>
                      <m:t>5</m:t>
                    </m:r>
                    <m:r>
                      <a:rPr lang="ar-AE">
                        <a:latin typeface="Cambria Math" panose="02040503050406030204" pitchFamily="18" charset="0"/>
                      </a:rPr>
                      <m:t>+</m:t>
                    </m:r>
                    <m:r>
                      <a:rPr lang="ar-AE">
                        <a:latin typeface="Cambria Math" panose="02040503050406030204" pitchFamily="18" charset="0"/>
                      </a:rPr>
                      <m:t>1</m:t>
                    </m:r>
                    <m:r>
                      <a:rPr lang="ar-AE">
                        <a:latin typeface="Cambria Math" panose="02040503050406030204" pitchFamily="18" charset="0"/>
                      </a:rPr>
                      <m:t>.</m:t>
                    </m:r>
                    <m:r>
                      <a:rPr lang="ar-AE">
                        <a:latin typeface="Cambria Math" panose="02040503050406030204" pitchFamily="18" charset="0"/>
                      </a:rPr>
                      <m:t>25</m:t>
                    </m:r>
                  </m:oMath>
                </a14:m>
                <a:r>
                  <a:rPr lang="en-IN" dirty="0"/>
                  <a:t> </a:t>
                </a:r>
                <a14:m>
                  <m:oMath xmlns:m="http://schemas.openxmlformats.org/officeDocument/2006/math">
                    <m:r>
                      <a:rPr lang="ar-AE">
                        <a:latin typeface="Cambria Math" panose="02040503050406030204" pitchFamily="18" charset="0"/>
                      </a:rPr>
                      <m:t>=</m:t>
                    </m:r>
                    <m:r>
                      <a:rPr lang="ar-AE">
                        <a:latin typeface="Cambria Math" panose="02040503050406030204" pitchFamily="18" charset="0"/>
                      </a:rPr>
                      <m:t>3</m:t>
                    </m:r>
                    <m:r>
                      <a:rPr lang="ar-AE">
                        <a:latin typeface="Cambria Math" panose="02040503050406030204" pitchFamily="18" charset="0"/>
                      </a:rPr>
                      <m:t>.</m:t>
                    </m:r>
                    <m:r>
                      <a:rPr lang="ar-AE">
                        <a:latin typeface="Cambria Math" panose="02040503050406030204" pitchFamily="18" charset="0"/>
                      </a:rPr>
                      <m:t>75</m:t>
                    </m:r>
                  </m:oMath>
                </a14:m>
                <a:endParaRPr lang="en-IN" dirty="0"/>
              </a:p>
              <a:p>
                <a:pPr lvl="1"/>
                <a:r>
                  <a:rPr lang="en-US" dirty="0"/>
                  <a:t>Eventually Q → 5 (optimal value)</a:t>
                </a:r>
                <a:endParaRPr lang="ar-AE" dirty="0"/>
              </a:p>
              <a:p>
                <a:pPr lvl="1"/>
                <a:endParaRPr lang="ar-AE" dirty="0"/>
              </a:p>
              <a:p>
                <a:endParaRPr lang="en-IN" dirty="0"/>
              </a:p>
            </p:txBody>
          </p:sp>
        </mc:Choice>
        <mc:Fallback xmlns="">
          <p:sp>
            <p:nvSpPr>
              <p:cNvPr id="3" name="Content Placeholder 2">
                <a:extLst>
                  <a:ext uri="{FF2B5EF4-FFF2-40B4-BE49-F238E27FC236}">
                    <a16:creationId xmlns:a16="http://schemas.microsoft.com/office/drawing/2014/main" id="{6A2DF29F-7108-8505-B84D-B395C79E6E0E}"/>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IN">
                    <a:noFill/>
                  </a:rPr>
                  <a:t> </a:t>
                </a:r>
              </a:p>
            </p:txBody>
          </p:sp>
        </mc:Fallback>
      </mc:AlternateContent>
    </p:spTree>
    <p:extLst>
      <p:ext uri="{BB962C8B-B14F-4D97-AF65-F5344CB8AC3E}">
        <p14:creationId xmlns:p14="http://schemas.microsoft.com/office/powerpoint/2010/main" val="5239355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8DA38D-E228-16FE-233C-A1AA837C4D66}"/>
              </a:ext>
            </a:extLst>
          </p:cNvPr>
          <p:cNvSpPr>
            <a:spLocks noGrp="1"/>
          </p:cNvSpPr>
          <p:nvPr>
            <p:ph type="title"/>
          </p:nvPr>
        </p:nvSpPr>
        <p:spPr/>
        <p:txBody>
          <a:bodyPr/>
          <a:lstStyle/>
          <a:p>
            <a:r>
              <a:rPr lang="en-IN" dirty="0"/>
              <a:t>Example: 2×2 Grid</a:t>
            </a:r>
          </a:p>
        </p:txBody>
      </p:sp>
      <p:sp>
        <p:nvSpPr>
          <p:cNvPr id="3" name="Content Placeholder 2">
            <a:extLst>
              <a:ext uri="{FF2B5EF4-FFF2-40B4-BE49-F238E27FC236}">
                <a16:creationId xmlns:a16="http://schemas.microsoft.com/office/drawing/2014/main" id="{24CFF1D1-0F83-6B09-2119-8047F1CCD47D}"/>
              </a:ext>
            </a:extLst>
          </p:cNvPr>
          <p:cNvSpPr>
            <a:spLocks noGrp="1"/>
          </p:cNvSpPr>
          <p:nvPr>
            <p:ph idx="1"/>
          </p:nvPr>
        </p:nvSpPr>
        <p:spPr>
          <a:xfrm>
            <a:off x="838200" y="1574159"/>
            <a:ext cx="10515600" cy="4602804"/>
          </a:xfrm>
        </p:spPr>
        <p:txBody>
          <a:bodyPr>
            <a:normAutofit/>
          </a:bodyPr>
          <a:lstStyle/>
          <a:p>
            <a:r>
              <a:rPr lang="en-US" sz="2400" dirty="0"/>
              <a:t>Reward:</a:t>
            </a:r>
          </a:p>
          <a:p>
            <a:pPr lvl="1"/>
            <a:r>
              <a:rPr lang="en-US" sz="2000" dirty="0"/>
              <a:t>Goal = +10</a:t>
            </a:r>
          </a:p>
          <a:p>
            <a:pPr lvl="1"/>
            <a:r>
              <a:rPr lang="en-US" sz="2000" dirty="0"/>
              <a:t>Other = -1 per step</a:t>
            </a:r>
          </a:p>
          <a:p>
            <a:r>
              <a:rPr lang="en-US" sz="2400" dirty="0"/>
              <a:t>Actions: 	Up, Down, Left, Right</a:t>
            </a:r>
          </a:p>
          <a:p>
            <a:r>
              <a:rPr lang="en-IN" sz="2400" dirty="0"/>
              <a:t>Initial Q-table:</a:t>
            </a:r>
          </a:p>
          <a:p>
            <a:pPr marL="0" indent="0">
              <a:buNone/>
            </a:pPr>
            <a:endParaRPr lang="en-IN" sz="2400" dirty="0"/>
          </a:p>
          <a:p>
            <a:endParaRPr lang="en-IN" sz="2400" dirty="0"/>
          </a:p>
          <a:p>
            <a:r>
              <a:rPr lang="en-IN" sz="2400" dirty="0"/>
              <a:t>Assume:</a:t>
            </a:r>
          </a:p>
          <a:p>
            <a:pPr lvl="1"/>
            <a:r>
              <a:rPr lang="el-GR" sz="2000" dirty="0"/>
              <a:t>α = 0.5</a:t>
            </a:r>
            <a:r>
              <a:rPr lang="en-IN" sz="2000" dirty="0"/>
              <a:t>, </a:t>
            </a:r>
            <a:r>
              <a:rPr lang="el-GR" sz="2000" dirty="0"/>
              <a:t>γ = 0.9</a:t>
            </a:r>
            <a:endParaRPr lang="en-US" sz="2400" dirty="0"/>
          </a:p>
          <a:p>
            <a:endParaRPr lang="en-IN" sz="2400" dirty="0"/>
          </a:p>
        </p:txBody>
      </p:sp>
      <p:graphicFrame>
        <p:nvGraphicFramePr>
          <p:cNvPr id="5" name="Table 4">
            <a:extLst>
              <a:ext uri="{FF2B5EF4-FFF2-40B4-BE49-F238E27FC236}">
                <a16:creationId xmlns:a16="http://schemas.microsoft.com/office/drawing/2014/main" id="{EB3D48C5-3CEA-EB42-CB32-62C508C136D7}"/>
              </a:ext>
            </a:extLst>
          </p:cNvPr>
          <p:cNvGraphicFramePr>
            <a:graphicFrameLocks noGrp="1"/>
          </p:cNvGraphicFramePr>
          <p:nvPr/>
        </p:nvGraphicFramePr>
        <p:xfrm>
          <a:off x="7079973" y="1512020"/>
          <a:ext cx="2491410" cy="1371600"/>
        </p:xfrm>
        <a:graphic>
          <a:graphicData uri="http://schemas.openxmlformats.org/drawingml/2006/table">
            <a:tbl>
              <a:tblPr/>
              <a:tblGrid>
                <a:gridCol w="1245705">
                  <a:extLst>
                    <a:ext uri="{9D8B030D-6E8A-4147-A177-3AD203B41FA5}">
                      <a16:colId xmlns:a16="http://schemas.microsoft.com/office/drawing/2014/main" val="794673853"/>
                    </a:ext>
                  </a:extLst>
                </a:gridCol>
                <a:gridCol w="1245705">
                  <a:extLst>
                    <a:ext uri="{9D8B030D-6E8A-4147-A177-3AD203B41FA5}">
                      <a16:colId xmlns:a16="http://schemas.microsoft.com/office/drawing/2014/main" val="2688135685"/>
                    </a:ext>
                  </a:extLst>
                </a:gridCol>
              </a:tblGrid>
              <a:tr h="0">
                <a:tc gridSpan="2">
                  <a:txBody>
                    <a:bodyPr/>
                    <a:lstStyle/>
                    <a:p>
                      <a:pPr algn="ctr">
                        <a:buNone/>
                      </a:pPr>
                      <a:r>
                        <a:rPr lang="en-IN" sz="2400" dirty="0"/>
                        <a:t>State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buNone/>
                      </a:pPr>
                      <a:endParaRPr lang="en-IN" dirty="0"/>
                    </a:p>
                  </a:txBody>
                  <a:tcPr anchor="ctr">
                    <a:lnL>
                      <a:noFill/>
                    </a:lnL>
                    <a:lnR>
                      <a:noFill/>
                    </a:lnR>
                    <a:lnT>
                      <a:noFill/>
                    </a:lnT>
                    <a:lnB>
                      <a:noFill/>
                    </a:lnB>
                    <a:noFill/>
                  </a:tcPr>
                </a:tc>
                <a:extLst>
                  <a:ext uri="{0D108BD9-81ED-4DB2-BD59-A6C34878D82A}">
                    <a16:rowId xmlns:a16="http://schemas.microsoft.com/office/drawing/2014/main" val="3435666609"/>
                  </a:ext>
                </a:extLst>
              </a:tr>
              <a:tr h="0">
                <a:tc>
                  <a:txBody>
                    <a:bodyPr/>
                    <a:lstStyle/>
                    <a:p>
                      <a:pPr>
                        <a:buNone/>
                      </a:pPr>
                      <a:r>
                        <a:rPr lang="en-IN" sz="2400"/>
                        <a:t>S1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dirty="0"/>
                        <a:t>S2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70424706"/>
                  </a:ext>
                </a:extLst>
              </a:tr>
              <a:tr h="0">
                <a:tc>
                  <a:txBody>
                    <a:bodyPr/>
                    <a:lstStyle/>
                    <a:p>
                      <a:pPr>
                        <a:buNone/>
                      </a:pPr>
                      <a:r>
                        <a:rPr lang="en-IN" sz="2400"/>
                        <a:t>S3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dirty="0"/>
                        <a:t>Goal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65379604"/>
                  </a:ext>
                </a:extLst>
              </a:tr>
            </a:tbl>
          </a:graphicData>
        </a:graphic>
      </p:graphicFrame>
      <p:graphicFrame>
        <p:nvGraphicFramePr>
          <p:cNvPr id="6" name="Table 5">
            <a:extLst>
              <a:ext uri="{FF2B5EF4-FFF2-40B4-BE49-F238E27FC236}">
                <a16:creationId xmlns:a16="http://schemas.microsoft.com/office/drawing/2014/main" id="{46482D73-935D-A00F-DA74-858B45E63428}"/>
              </a:ext>
            </a:extLst>
          </p:cNvPr>
          <p:cNvGraphicFramePr>
            <a:graphicFrameLocks noGrp="1"/>
          </p:cNvGraphicFramePr>
          <p:nvPr/>
        </p:nvGraphicFramePr>
        <p:xfrm>
          <a:off x="3680792" y="3262058"/>
          <a:ext cx="6546575" cy="1828800"/>
        </p:xfrm>
        <a:graphic>
          <a:graphicData uri="http://schemas.openxmlformats.org/drawingml/2006/table">
            <a:tbl>
              <a:tblPr/>
              <a:tblGrid>
                <a:gridCol w="1309315">
                  <a:extLst>
                    <a:ext uri="{9D8B030D-6E8A-4147-A177-3AD203B41FA5}">
                      <a16:colId xmlns:a16="http://schemas.microsoft.com/office/drawing/2014/main" val="4131714800"/>
                    </a:ext>
                  </a:extLst>
                </a:gridCol>
                <a:gridCol w="1309315">
                  <a:extLst>
                    <a:ext uri="{9D8B030D-6E8A-4147-A177-3AD203B41FA5}">
                      <a16:colId xmlns:a16="http://schemas.microsoft.com/office/drawing/2014/main" val="2223017984"/>
                    </a:ext>
                  </a:extLst>
                </a:gridCol>
                <a:gridCol w="1309315">
                  <a:extLst>
                    <a:ext uri="{9D8B030D-6E8A-4147-A177-3AD203B41FA5}">
                      <a16:colId xmlns:a16="http://schemas.microsoft.com/office/drawing/2014/main" val="220849874"/>
                    </a:ext>
                  </a:extLst>
                </a:gridCol>
                <a:gridCol w="1309315">
                  <a:extLst>
                    <a:ext uri="{9D8B030D-6E8A-4147-A177-3AD203B41FA5}">
                      <a16:colId xmlns:a16="http://schemas.microsoft.com/office/drawing/2014/main" val="3408967300"/>
                    </a:ext>
                  </a:extLst>
                </a:gridCol>
                <a:gridCol w="1309315">
                  <a:extLst>
                    <a:ext uri="{9D8B030D-6E8A-4147-A177-3AD203B41FA5}">
                      <a16:colId xmlns:a16="http://schemas.microsoft.com/office/drawing/2014/main" val="308682378"/>
                    </a:ext>
                  </a:extLst>
                </a:gridCol>
              </a:tblGrid>
              <a:tr h="0">
                <a:tc>
                  <a:txBody>
                    <a:bodyPr/>
                    <a:lstStyle/>
                    <a:p>
                      <a:pPr>
                        <a:buNone/>
                      </a:pPr>
                      <a:r>
                        <a:rPr lang="en-IN" sz="2400"/>
                        <a:t>State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Up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Down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Left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Right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41175373"/>
                  </a:ext>
                </a:extLst>
              </a:tr>
              <a:tr h="0">
                <a:tc>
                  <a:txBody>
                    <a:bodyPr/>
                    <a:lstStyle/>
                    <a:p>
                      <a:pPr>
                        <a:buNone/>
                      </a:pPr>
                      <a:r>
                        <a:rPr lang="en-IN" sz="2400"/>
                        <a:t>S1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97129258"/>
                  </a:ext>
                </a:extLst>
              </a:tr>
              <a:tr h="0">
                <a:tc>
                  <a:txBody>
                    <a:bodyPr/>
                    <a:lstStyle/>
                    <a:p>
                      <a:pPr>
                        <a:buNone/>
                      </a:pPr>
                      <a:r>
                        <a:rPr lang="en-IN" sz="2400"/>
                        <a:t>S2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96243103"/>
                  </a:ext>
                </a:extLst>
              </a:tr>
              <a:tr h="0">
                <a:tc>
                  <a:txBody>
                    <a:bodyPr/>
                    <a:lstStyle/>
                    <a:p>
                      <a:pPr>
                        <a:buNone/>
                      </a:pPr>
                      <a:r>
                        <a:rPr lang="en-IN" sz="2400"/>
                        <a:t>S3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9292981"/>
                  </a:ext>
                </a:extLst>
              </a:tr>
            </a:tbl>
          </a:graphicData>
        </a:graphic>
      </p:graphicFrame>
    </p:spTree>
    <p:extLst>
      <p:ext uri="{BB962C8B-B14F-4D97-AF65-F5344CB8AC3E}">
        <p14:creationId xmlns:p14="http://schemas.microsoft.com/office/powerpoint/2010/main" val="31519197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E23168-E3B0-BEE5-FBFC-A0C79B12E3A3}"/>
              </a:ext>
            </a:extLst>
          </p:cNvPr>
          <p:cNvSpPr>
            <a:spLocks noGrp="1"/>
          </p:cNvSpPr>
          <p:nvPr>
            <p:ph type="title"/>
          </p:nvPr>
        </p:nvSpPr>
        <p:spPr/>
        <p:txBody>
          <a:bodyPr/>
          <a:lstStyle/>
          <a:p>
            <a:r>
              <a:rPr lang="en-IN" dirty="0"/>
              <a:t>Example: 2×2 Grid</a:t>
            </a:r>
          </a:p>
        </p:txBody>
      </p:sp>
      <p:pic>
        <p:nvPicPr>
          <p:cNvPr id="5" name="Content Placeholder 4">
            <a:extLst>
              <a:ext uri="{FF2B5EF4-FFF2-40B4-BE49-F238E27FC236}">
                <a16:creationId xmlns:a16="http://schemas.microsoft.com/office/drawing/2014/main" id="{33DA9962-D82F-14FB-CBB4-769B4830F274}"/>
              </a:ext>
            </a:extLst>
          </p:cNvPr>
          <p:cNvPicPr>
            <a:picLocks noGrp="1" noChangeAspect="1"/>
          </p:cNvPicPr>
          <p:nvPr>
            <p:ph idx="1"/>
          </p:nvPr>
        </p:nvPicPr>
        <p:blipFill>
          <a:blip r:embed="rId2"/>
          <a:stretch>
            <a:fillRect/>
          </a:stretch>
        </p:blipFill>
        <p:spPr>
          <a:xfrm>
            <a:off x="955084" y="1429946"/>
            <a:ext cx="9928263" cy="4374505"/>
          </a:xfrm>
          <a:prstGeom prst="rect">
            <a:avLst/>
          </a:prstGeom>
        </p:spPr>
      </p:pic>
    </p:spTree>
    <p:extLst>
      <p:ext uri="{BB962C8B-B14F-4D97-AF65-F5344CB8AC3E}">
        <p14:creationId xmlns:p14="http://schemas.microsoft.com/office/powerpoint/2010/main" val="255836243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EB3ED1-2DA2-9653-D1BA-4263090BE508}"/>
              </a:ext>
            </a:extLst>
          </p:cNvPr>
          <p:cNvSpPr>
            <a:spLocks noGrp="1"/>
          </p:cNvSpPr>
          <p:nvPr>
            <p:ph type="title"/>
          </p:nvPr>
        </p:nvSpPr>
        <p:spPr/>
        <p:txBody>
          <a:bodyPr/>
          <a:lstStyle/>
          <a:p>
            <a:r>
              <a:rPr lang="en-IN" dirty="0"/>
              <a:t>Example: 2×2 Grid</a:t>
            </a:r>
          </a:p>
        </p:txBody>
      </p:sp>
      <p:pic>
        <p:nvPicPr>
          <p:cNvPr id="5" name="Content Placeholder 4">
            <a:extLst>
              <a:ext uri="{FF2B5EF4-FFF2-40B4-BE49-F238E27FC236}">
                <a16:creationId xmlns:a16="http://schemas.microsoft.com/office/drawing/2014/main" id="{DE71F3A3-B276-D806-909F-F7E98B408DC3}"/>
              </a:ext>
            </a:extLst>
          </p:cNvPr>
          <p:cNvPicPr>
            <a:picLocks noGrp="1" noChangeAspect="1"/>
          </p:cNvPicPr>
          <p:nvPr>
            <p:ph idx="1"/>
          </p:nvPr>
        </p:nvPicPr>
        <p:blipFill>
          <a:blip r:embed="rId2"/>
          <a:stretch>
            <a:fillRect/>
          </a:stretch>
        </p:blipFill>
        <p:spPr>
          <a:xfrm>
            <a:off x="838200" y="1825625"/>
            <a:ext cx="10711070" cy="4351338"/>
          </a:xfrm>
          <a:prstGeom prst="rect">
            <a:avLst/>
          </a:prstGeom>
        </p:spPr>
      </p:pic>
    </p:spTree>
    <p:extLst>
      <p:ext uri="{BB962C8B-B14F-4D97-AF65-F5344CB8AC3E}">
        <p14:creationId xmlns:p14="http://schemas.microsoft.com/office/powerpoint/2010/main" val="39509133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E53DAE-CFA2-A6B1-AD4E-C9DFDACE2F64}"/>
              </a:ext>
            </a:extLst>
          </p:cNvPr>
          <p:cNvSpPr>
            <a:spLocks noGrp="1"/>
          </p:cNvSpPr>
          <p:nvPr>
            <p:ph type="title"/>
          </p:nvPr>
        </p:nvSpPr>
        <p:spPr/>
        <p:txBody>
          <a:bodyPr/>
          <a:lstStyle/>
          <a:p>
            <a:r>
              <a:rPr lang="en-IN"/>
              <a:t>Example: 2×2 Grid</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DBD3936-DE99-1506-6D5B-C66502041FEA}"/>
                  </a:ext>
                </a:extLst>
              </p:cNvPr>
              <p:cNvSpPr>
                <a:spLocks noGrp="1"/>
              </p:cNvSpPr>
              <p:nvPr>
                <p:ph idx="1"/>
              </p:nvPr>
            </p:nvSpPr>
            <p:spPr>
              <a:xfrm>
                <a:off x="838199" y="1825625"/>
                <a:ext cx="11058939" cy="4351338"/>
              </a:xfrm>
            </p:spPr>
            <p:txBody>
              <a:bodyPr/>
              <a:lstStyle/>
              <a:p>
                <a:r>
                  <a:rPr lang="en-IN" dirty="0"/>
                  <a:t>Next episode, S3 → Right:</a:t>
                </a:r>
              </a:p>
              <a:p>
                <a:pPr lvl="1"/>
                <a14:m>
                  <m:oMath xmlns:m="http://schemas.openxmlformats.org/officeDocument/2006/math">
                    <m:r>
                      <a:rPr lang="en-IN" i="1">
                        <a:latin typeface="Cambria Math" panose="02040503050406030204" pitchFamily="18" charset="0"/>
                      </a:rPr>
                      <m:t>𝑄</m:t>
                    </m:r>
                    <m:r>
                      <a:rPr lang="en-IN">
                        <a:latin typeface="Cambria Math" panose="02040503050406030204" pitchFamily="18" charset="0"/>
                      </a:rPr>
                      <m:t>=−</m:t>
                    </m:r>
                    <m:r>
                      <a:rPr lang="en-IN">
                        <a:latin typeface="Cambria Math" panose="02040503050406030204" pitchFamily="18" charset="0"/>
                      </a:rPr>
                      <m:t>0</m:t>
                    </m:r>
                    <m:r>
                      <a:rPr lang="en-IN">
                        <a:latin typeface="Cambria Math" panose="02040503050406030204" pitchFamily="18" charset="0"/>
                      </a:rPr>
                      <m:t>.</m:t>
                    </m:r>
                    <m:r>
                      <a:rPr lang="en-IN">
                        <a:latin typeface="Cambria Math" panose="02040503050406030204" pitchFamily="18" charset="0"/>
                      </a:rPr>
                      <m:t>5</m:t>
                    </m:r>
                    <m:r>
                      <a:rPr lang="en-IN">
                        <a:latin typeface="Cambria Math" panose="02040503050406030204" pitchFamily="18" charset="0"/>
                      </a:rPr>
                      <m:t>+</m:t>
                    </m:r>
                    <m:r>
                      <a:rPr lang="en-IN">
                        <a:latin typeface="Cambria Math" panose="02040503050406030204" pitchFamily="18" charset="0"/>
                      </a:rPr>
                      <m:t>0</m:t>
                    </m:r>
                    <m:r>
                      <a:rPr lang="en-IN">
                        <a:latin typeface="Cambria Math" panose="02040503050406030204" pitchFamily="18" charset="0"/>
                      </a:rPr>
                      <m:t>.</m:t>
                    </m:r>
                    <m:r>
                      <a:rPr lang="en-IN">
                        <a:latin typeface="Cambria Math" panose="02040503050406030204" pitchFamily="18" charset="0"/>
                      </a:rPr>
                      <m:t>5</m:t>
                    </m:r>
                    <m:d>
                      <m:dPr>
                        <m:begChr m:val="["/>
                        <m:endChr m:val="]"/>
                        <m:ctrlPr>
                          <a:rPr lang="ar-AE" i="1">
                            <a:latin typeface="Cambria Math" panose="02040503050406030204" pitchFamily="18" charset="0"/>
                          </a:rPr>
                        </m:ctrlPr>
                      </m:dPr>
                      <m:e>
                        <m:r>
                          <a:rPr lang="ar-AE">
                            <a:latin typeface="Cambria Math" panose="02040503050406030204" pitchFamily="18" charset="0"/>
                          </a:rPr>
                          <m:t>−</m:t>
                        </m:r>
                        <m:r>
                          <a:rPr lang="ar-AE">
                            <a:latin typeface="Cambria Math" panose="02040503050406030204" pitchFamily="18" charset="0"/>
                          </a:rPr>
                          <m:t>1</m:t>
                        </m:r>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9</m:t>
                        </m:r>
                        <m:d>
                          <m:dPr>
                            <m:ctrlPr>
                              <a:rPr lang="ar-AE" i="1">
                                <a:latin typeface="Cambria Math" panose="02040503050406030204" pitchFamily="18" charset="0"/>
                              </a:rPr>
                            </m:ctrlPr>
                          </m:dPr>
                          <m:e>
                            <m:r>
                              <a:rPr lang="ar-AE">
                                <a:latin typeface="Cambria Math" panose="02040503050406030204" pitchFamily="18" charset="0"/>
                              </a:rPr>
                              <m:t>5</m:t>
                            </m:r>
                          </m:e>
                        </m:d>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5</m:t>
                        </m:r>
                      </m:e>
                    </m:d>
                  </m:oMath>
                </a14:m>
                <a:r>
                  <a:rPr lang="en-IN" dirty="0"/>
                  <a:t> </a:t>
                </a:r>
                <a14:m>
                  <m:oMath xmlns:m="http://schemas.openxmlformats.org/officeDocument/2006/math">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5</m:t>
                    </m:r>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5</m:t>
                    </m:r>
                    <m:d>
                      <m:dPr>
                        <m:begChr m:val="["/>
                        <m:endChr m:val="]"/>
                        <m:ctrlPr>
                          <a:rPr lang="ar-AE" i="1">
                            <a:latin typeface="Cambria Math" panose="02040503050406030204" pitchFamily="18" charset="0"/>
                          </a:rPr>
                        </m:ctrlPr>
                      </m:dPr>
                      <m:e>
                        <m:r>
                          <a:rPr lang="ar-AE">
                            <a:latin typeface="Cambria Math" panose="02040503050406030204" pitchFamily="18" charset="0"/>
                          </a:rPr>
                          <m:t>3</m:t>
                        </m:r>
                        <m:r>
                          <a:rPr lang="ar-AE">
                            <a:latin typeface="Cambria Math" panose="02040503050406030204" pitchFamily="18" charset="0"/>
                          </a:rPr>
                          <m:t>.</m:t>
                        </m:r>
                        <m:r>
                          <a:rPr lang="ar-AE">
                            <a:latin typeface="Cambria Math" panose="02040503050406030204" pitchFamily="18" charset="0"/>
                          </a:rPr>
                          <m:t>5</m:t>
                        </m:r>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5</m:t>
                        </m:r>
                      </m:e>
                    </m:d>
                  </m:oMath>
                </a14:m>
                <a:r>
                  <a:rPr lang="en-IN" dirty="0"/>
                  <a:t> </a:t>
                </a:r>
                <a14:m>
                  <m:oMath xmlns:m="http://schemas.openxmlformats.org/officeDocument/2006/math">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5</m:t>
                    </m:r>
                    <m:r>
                      <a:rPr lang="ar-AE">
                        <a:latin typeface="Cambria Math" panose="02040503050406030204" pitchFamily="18" charset="0"/>
                      </a:rPr>
                      <m:t>+</m:t>
                    </m:r>
                    <m:r>
                      <a:rPr lang="ar-AE">
                        <a:latin typeface="Cambria Math" panose="02040503050406030204" pitchFamily="18" charset="0"/>
                      </a:rPr>
                      <m:t>2</m:t>
                    </m:r>
                  </m:oMath>
                </a14:m>
                <a:r>
                  <a:rPr lang="en-IN" dirty="0"/>
                  <a:t> </a:t>
                </a:r>
                <a14:m>
                  <m:oMath xmlns:m="http://schemas.openxmlformats.org/officeDocument/2006/math">
                    <m:r>
                      <a:rPr lang="ar-AE">
                        <a:latin typeface="Cambria Math" panose="02040503050406030204" pitchFamily="18" charset="0"/>
                      </a:rPr>
                      <m:t>=</m:t>
                    </m:r>
                    <m:r>
                      <a:rPr lang="ar-AE">
                        <a:latin typeface="Cambria Math" panose="02040503050406030204" pitchFamily="18" charset="0"/>
                      </a:rPr>
                      <m:t>1</m:t>
                    </m:r>
                    <m:r>
                      <a:rPr lang="ar-AE">
                        <a:latin typeface="Cambria Math" panose="02040503050406030204" pitchFamily="18" charset="0"/>
                      </a:rPr>
                      <m:t>.</m:t>
                    </m:r>
                    <m:r>
                      <a:rPr lang="ar-AE">
                        <a:latin typeface="Cambria Math" panose="02040503050406030204" pitchFamily="18" charset="0"/>
                      </a:rPr>
                      <m:t>5</m:t>
                    </m:r>
                  </m:oMath>
                </a14:m>
                <a:endParaRPr lang="ar-AE" dirty="0"/>
              </a:p>
              <a:p>
                <a:endParaRPr lang="en-IN" dirty="0"/>
              </a:p>
            </p:txBody>
          </p:sp>
        </mc:Choice>
        <mc:Fallback xmlns="">
          <p:sp>
            <p:nvSpPr>
              <p:cNvPr id="3" name="Content Placeholder 2">
                <a:extLst>
                  <a:ext uri="{FF2B5EF4-FFF2-40B4-BE49-F238E27FC236}">
                    <a16:creationId xmlns:a16="http://schemas.microsoft.com/office/drawing/2014/main" id="{4DBD3936-DE99-1506-6D5B-C66502041FEA}"/>
                  </a:ext>
                </a:extLst>
              </p:cNvPr>
              <p:cNvSpPr>
                <a:spLocks noGrp="1" noRot="1" noChangeAspect="1" noMove="1" noResize="1" noEditPoints="1" noAdjustHandles="1" noChangeArrowheads="1" noChangeShapeType="1" noTextEdit="1"/>
              </p:cNvSpPr>
              <p:nvPr>
                <p:ph idx="1"/>
              </p:nvPr>
            </p:nvSpPr>
            <p:spPr>
              <a:xfrm>
                <a:off x="838199" y="1825625"/>
                <a:ext cx="11058939" cy="4351338"/>
              </a:xfrm>
              <a:blipFill>
                <a:blip r:embed="rId2"/>
                <a:stretch>
                  <a:fillRect l="-937" t="-2241"/>
                </a:stretch>
              </a:blipFill>
            </p:spPr>
            <p:txBody>
              <a:bodyPr/>
              <a:lstStyle/>
              <a:p>
                <a:r>
                  <a:rPr lang="en-IN">
                    <a:noFill/>
                  </a:rPr>
                  <a:t> </a:t>
                </a:r>
              </a:p>
            </p:txBody>
          </p:sp>
        </mc:Fallback>
      </mc:AlternateContent>
      <p:graphicFrame>
        <p:nvGraphicFramePr>
          <p:cNvPr id="4" name="Table 3">
            <a:extLst>
              <a:ext uri="{FF2B5EF4-FFF2-40B4-BE49-F238E27FC236}">
                <a16:creationId xmlns:a16="http://schemas.microsoft.com/office/drawing/2014/main" id="{CAF26821-95FC-5534-1022-54FB9B548428}"/>
              </a:ext>
            </a:extLst>
          </p:cNvPr>
          <p:cNvGraphicFramePr>
            <a:graphicFrameLocks noGrp="1"/>
          </p:cNvGraphicFramePr>
          <p:nvPr/>
        </p:nvGraphicFramePr>
        <p:xfrm>
          <a:off x="838200" y="3269774"/>
          <a:ext cx="10515600" cy="1828800"/>
        </p:xfrm>
        <a:graphic>
          <a:graphicData uri="http://schemas.openxmlformats.org/drawingml/2006/table">
            <a:tbl>
              <a:tblPr/>
              <a:tblGrid>
                <a:gridCol w="2103120">
                  <a:extLst>
                    <a:ext uri="{9D8B030D-6E8A-4147-A177-3AD203B41FA5}">
                      <a16:colId xmlns:a16="http://schemas.microsoft.com/office/drawing/2014/main" val="730596205"/>
                    </a:ext>
                  </a:extLst>
                </a:gridCol>
                <a:gridCol w="2103120">
                  <a:extLst>
                    <a:ext uri="{9D8B030D-6E8A-4147-A177-3AD203B41FA5}">
                      <a16:colId xmlns:a16="http://schemas.microsoft.com/office/drawing/2014/main" val="2600509016"/>
                    </a:ext>
                  </a:extLst>
                </a:gridCol>
                <a:gridCol w="2103120">
                  <a:extLst>
                    <a:ext uri="{9D8B030D-6E8A-4147-A177-3AD203B41FA5}">
                      <a16:colId xmlns:a16="http://schemas.microsoft.com/office/drawing/2014/main" val="17074991"/>
                    </a:ext>
                  </a:extLst>
                </a:gridCol>
                <a:gridCol w="2103120">
                  <a:extLst>
                    <a:ext uri="{9D8B030D-6E8A-4147-A177-3AD203B41FA5}">
                      <a16:colId xmlns:a16="http://schemas.microsoft.com/office/drawing/2014/main" val="2031107464"/>
                    </a:ext>
                  </a:extLst>
                </a:gridCol>
                <a:gridCol w="2103120">
                  <a:extLst>
                    <a:ext uri="{9D8B030D-6E8A-4147-A177-3AD203B41FA5}">
                      <a16:colId xmlns:a16="http://schemas.microsoft.com/office/drawing/2014/main" val="1286434427"/>
                    </a:ext>
                  </a:extLst>
                </a:gridCol>
              </a:tblGrid>
              <a:tr h="0">
                <a:tc>
                  <a:txBody>
                    <a:bodyPr/>
                    <a:lstStyle/>
                    <a:p>
                      <a:pPr>
                        <a:buNone/>
                      </a:pPr>
                      <a:r>
                        <a:rPr lang="en-IN" sz="2400"/>
                        <a:t>State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Up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dirty="0"/>
                        <a:t>Down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Left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Right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34321115"/>
                  </a:ext>
                </a:extLst>
              </a:tr>
              <a:tr h="0">
                <a:tc>
                  <a:txBody>
                    <a:bodyPr/>
                    <a:lstStyle/>
                    <a:p>
                      <a:pPr>
                        <a:buNone/>
                      </a:pPr>
                      <a:r>
                        <a:rPr lang="en-IN" sz="2400" dirty="0"/>
                        <a:t>S1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dirty="0"/>
                        <a:t>-0.5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75694470"/>
                  </a:ext>
                </a:extLst>
              </a:tr>
              <a:tr h="0">
                <a:tc>
                  <a:txBody>
                    <a:bodyPr/>
                    <a:lstStyle/>
                    <a:p>
                      <a:pPr>
                        <a:buNone/>
                      </a:pPr>
                      <a:r>
                        <a:rPr lang="en-IN" sz="2400"/>
                        <a:t>S2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dirty="0"/>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06582821"/>
                  </a:ext>
                </a:extLst>
              </a:tr>
              <a:tr h="0">
                <a:tc>
                  <a:txBody>
                    <a:bodyPr/>
                    <a:lstStyle/>
                    <a:p>
                      <a:pPr>
                        <a:buNone/>
                      </a:pPr>
                      <a:r>
                        <a:rPr lang="en-IN" sz="2400"/>
                        <a:t>S3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dirty="0"/>
                        <a:t>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89291889"/>
                  </a:ext>
                </a:extLst>
              </a:tr>
            </a:tbl>
          </a:graphicData>
        </a:graphic>
      </p:graphicFrame>
    </p:spTree>
    <p:extLst>
      <p:ext uri="{BB962C8B-B14F-4D97-AF65-F5344CB8AC3E}">
        <p14:creationId xmlns:p14="http://schemas.microsoft.com/office/powerpoint/2010/main" val="389684212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2121</Words>
  <Application>Microsoft Office PowerPoint</Application>
  <PresentationFormat>Widescreen</PresentationFormat>
  <Paragraphs>223</Paragraphs>
  <Slides>25</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Arial</vt:lpstr>
      <vt:lpstr>Calibri</vt:lpstr>
      <vt:lpstr>Calibri Light</vt:lpstr>
      <vt:lpstr>Cambria Math</vt:lpstr>
      <vt:lpstr>Office Theme</vt:lpstr>
      <vt:lpstr>Agent based learning</vt:lpstr>
      <vt:lpstr>Core Components of Agent-Based Learning</vt:lpstr>
      <vt:lpstr>Agent based learning</vt:lpstr>
      <vt:lpstr>Reinforcement Learning</vt:lpstr>
      <vt:lpstr>Reinforcement Learning (RL)</vt:lpstr>
      <vt:lpstr>Reinforcement Learning</vt:lpstr>
      <vt:lpstr>Key Aspects of Reinforcement Learning</vt:lpstr>
      <vt:lpstr>Key Aspects of Reinforcement Learning</vt:lpstr>
      <vt:lpstr>Core Components of Reinforcement Learning</vt:lpstr>
      <vt:lpstr>Core Components of Reinforcement Learning</vt:lpstr>
      <vt:lpstr>Core Components of Reinforcement Learning</vt:lpstr>
      <vt:lpstr>Core Components of Reinforcement Learning</vt:lpstr>
      <vt:lpstr>Working of Reinforcement Learning</vt:lpstr>
      <vt:lpstr>Markov Decision Process (MDP)</vt:lpstr>
      <vt:lpstr>Markov Decision Process (MDP)</vt:lpstr>
      <vt:lpstr>Markov Decision Process (MDP)</vt:lpstr>
      <vt:lpstr>How RL Learning Happens (Basic Flow)</vt:lpstr>
      <vt:lpstr>Reinforcement Learning</vt:lpstr>
      <vt:lpstr>Q-learning</vt:lpstr>
      <vt:lpstr>Example: Simple 2-State System</vt:lpstr>
      <vt:lpstr>Example: Simple 2-State System</vt:lpstr>
      <vt:lpstr>Example: 2×2 Grid</vt:lpstr>
      <vt:lpstr>Example: 2×2 Grid</vt:lpstr>
      <vt:lpstr>Example: 2×2 Grid</vt:lpstr>
      <vt:lpstr>Example: 2×2 Grid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Neethu Suman</dc:creator>
  <cp:lastModifiedBy>Neethu Suman</cp:lastModifiedBy>
  <cp:revision>1</cp:revision>
  <dcterms:created xsi:type="dcterms:W3CDTF">2026-03-12T05:44:27Z</dcterms:created>
  <dcterms:modified xsi:type="dcterms:W3CDTF">2026-03-12T05:45:26Z</dcterms:modified>
</cp:coreProperties>
</file>