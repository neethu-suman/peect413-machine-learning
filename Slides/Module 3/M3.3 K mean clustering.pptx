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41" r:id="rId2"/>
    <p:sldId id="345" r:id="rId3"/>
    <p:sldId id="342" r:id="rId4"/>
    <p:sldId id="343" r:id="rId5"/>
    <p:sldId id="344" r:id="rId6"/>
    <p:sldId id="261" r:id="rId7"/>
    <p:sldId id="262" r:id="rId8"/>
    <p:sldId id="346" r:id="rId9"/>
    <p:sldId id="347" r:id="rId10"/>
    <p:sldId id="350" r:id="rId11"/>
    <p:sldId id="351" r:id="rId12"/>
    <p:sldId id="352" r:id="rId13"/>
    <p:sldId id="353" r:id="rId14"/>
    <p:sldId id="354" r:id="rId15"/>
    <p:sldId id="402" r:id="rId16"/>
    <p:sldId id="332" r:id="rId17"/>
    <p:sldId id="333" r:id="rId18"/>
    <p:sldId id="334" r:id="rId19"/>
    <p:sldId id="335" r:id="rId20"/>
    <p:sldId id="336" r:id="rId21"/>
    <p:sldId id="359" r:id="rId22"/>
    <p:sldId id="368" r:id="rId23"/>
    <p:sldId id="360" r:id="rId24"/>
    <p:sldId id="348" r:id="rId25"/>
    <p:sldId id="349" r:id="rId26"/>
    <p:sldId id="356" r:id="rId27"/>
    <p:sldId id="355" r:id="rId28"/>
    <p:sldId id="446" r:id="rId29"/>
    <p:sldId id="387" r:id="rId30"/>
    <p:sldId id="357" r:id="rId31"/>
    <p:sldId id="358" r:id="rId32"/>
    <p:sldId id="361" r:id="rId33"/>
    <p:sldId id="362" r:id="rId34"/>
    <p:sldId id="363" r:id="rId35"/>
    <p:sldId id="364" r:id="rId36"/>
    <p:sldId id="36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BBD8F-AEC7-4B9C-9651-34E5620CEF2E}"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47639E-F5CC-427D-B413-FEF135EF95A3}" type="slidenum">
              <a:rPr lang="en-IN" smtClean="0"/>
              <a:t>‹#›</a:t>
            </a:fld>
            <a:endParaRPr lang="en-IN"/>
          </a:p>
        </p:txBody>
      </p:sp>
    </p:spTree>
    <p:extLst>
      <p:ext uri="{BB962C8B-B14F-4D97-AF65-F5344CB8AC3E}">
        <p14:creationId xmlns:p14="http://schemas.microsoft.com/office/powerpoint/2010/main" val="64407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7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4" name="Google Shape;624;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1" name="Google Shape;631;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8" name="Google Shape;638;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5" name="Google Shape;645;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2" name="Google Shape;652;p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184A-7F5D-1CCB-0F8E-32503242A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34B56B-468B-4440-B747-04A348EC70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206537-68E9-026F-ECAA-5294F662F62A}"/>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433A330D-621A-97E5-2F17-49B908B8B9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57897-A027-F40C-739D-A23B3884B293}"/>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226487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9DAC-ED18-524B-0D4B-1F57D11C7A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C06C9E-925A-805B-33FE-E3A34713F8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3680AF-E863-726F-3674-C0E38CA65044}"/>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0376BF00-D1FA-9C22-5835-82F974DD94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C99EDF-E6C2-A40D-4B13-608F7F13982D}"/>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3265186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39E1-7AAB-E212-D0B6-A077162F65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B8EB0E-18A3-BF02-562E-8CE1B5E812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0123F4-26AB-285E-0E9A-8316CC8B9683}"/>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96EA4CBA-2689-0871-88A6-A1B5DB4773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2B568C-5462-5ABB-5B6C-93573895BA51}"/>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404031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F2F4-195C-82D3-278F-58C9EFBB4D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C30F05-F6A7-B84A-7A5B-9BD2BCF7B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0EE581E-9A3C-28E4-C3F9-F732C7A4B5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CAEC8F-9E20-0A05-7354-2C8A486AD9EC}"/>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6" name="Footer Placeholder 5">
            <a:extLst>
              <a:ext uri="{FF2B5EF4-FFF2-40B4-BE49-F238E27FC236}">
                <a16:creationId xmlns:a16="http://schemas.microsoft.com/office/drawing/2014/main" id="{D16C4ED2-6A8B-13D2-D979-E920EEA603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723567-ED92-C475-3575-3752B5BC0EC6}"/>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156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B7B7C-2C56-66F3-AE9C-16F2FC01D3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59511A-1D7D-4648-2BF3-041B29AD55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3B287-0C0F-8B1F-C2A5-2CA4466CDF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CD9745-7769-D7FE-2A3C-52C18B25C8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18A951-6CB4-A7F4-5121-27AE979BDB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5C9C70-FD33-CC6B-FF79-DA00913A66C1}"/>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8" name="Footer Placeholder 7">
            <a:extLst>
              <a:ext uri="{FF2B5EF4-FFF2-40B4-BE49-F238E27FC236}">
                <a16:creationId xmlns:a16="http://schemas.microsoft.com/office/drawing/2014/main" id="{19232312-26CD-7569-2985-88D0A15E6E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7C1099-F9D5-1698-C10C-890AEC850E0B}"/>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385927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FBAAF-E85A-6920-9EB2-C613C371BF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02AE641-E73B-2FC4-BCC5-53016936F0D6}"/>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4" name="Footer Placeholder 3">
            <a:extLst>
              <a:ext uri="{FF2B5EF4-FFF2-40B4-BE49-F238E27FC236}">
                <a16:creationId xmlns:a16="http://schemas.microsoft.com/office/drawing/2014/main" id="{E2B2C13C-FF58-D9CD-329A-6EFA736C56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22A9A2-EB0F-8F8D-8173-EB13297F9A8F}"/>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603483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B5A04F-51C1-267E-A5F5-B87950F95DF1}"/>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3" name="Footer Placeholder 2">
            <a:extLst>
              <a:ext uri="{FF2B5EF4-FFF2-40B4-BE49-F238E27FC236}">
                <a16:creationId xmlns:a16="http://schemas.microsoft.com/office/drawing/2014/main" id="{6353C1E6-E50C-65D8-94DD-83BEF36263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4D7A58-B45C-4901-8F61-F3688306AEE9}"/>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261004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1CF4-4C61-D466-50E2-3A04653E64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7B51EA-761D-76E5-FFB0-95AF196751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6E6DAA-1C28-37F2-25DE-687BB557E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836D3-149F-34E5-AB4E-1C25FC5F2FC0}"/>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6" name="Footer Placeholder 5">
            <a:extLst>
              <a:ext uri="{FF2B5EF4-FFF2-40B4-BE49-F238E27FC236}">
                <a16:creationId xmlns:a16="http://schemas.microsoft.com/office/drawing/2014/main" id="{B0B23530-9D21-D895-FADE-42480EFEBD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401E73-C8C8-3669-ECA7-E799F1D79E13}"/>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1335308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3286C-AB16-D44A-FA89-A87941C2A4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D7D2E5-D9A8-3ECA-B0FA-A39352F190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9ECBA4-382D-1BC2-9092-14D1A29D3D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94626-879B-7AC4-A028-C6E4A6D96157}"/>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6" name="Footer Placeholder 5">
            <a:extLst>
              <a:ext uri="{FF2B5EF4-FFF2-40B4-BE49-F238E27FC236}">
                <a16:creationId xmlns:a16="http://schemas.microsoft.com/office/drawing/2014/main" id="{E38C0949-AB8D-DCE2-8666-2EA0FBDFBF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AB6309-56B3-26D3-FAA7-99C0A1C9056E}"/>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3908037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3BBF-BF71-2ED5-774D-6E0C3DF6E9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0DA077-247F-53A5-BD24-E9F55BFE25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4CF7F2-3CE3-B343-4ED0-692C2B920E11}"/>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52C985C9-A3C2-258E-73D3-5D90DD5992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0AE9F-78BA-F597-1012-48AA995E75A8}"/>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3007030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AD179B-1B4D-D043-BDB9-8093060D99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C378DF-DFAE-9886-ACEB-5CAF0F3F0F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20A72-C765-778A-7F06-5A8385EE4F2F}"/>
              </a:ext>
            </a:extLst>
          </p:cNvPr>
          <p:cNvSpPr>
            <a:spLocks noGrp="1"/>
          </p:cNvSpPr>
          <p:nvPr>
            <p:ph type="dt" sz="half" idx="10"/>
          </p:nvPr>
        </p:nvSpPr>
        <p:spPr/>
        <p:txBody>
          <a:body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EBD9848A-586D-1738-C132-712D1D1A5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469369-96E9-0426-FD1E-B6D3227CCE77}"/>
              </a:ext>
            </a:extLst>
          </p:cNvPr>
          <p:cNvSpPr>
            <a:spLocks noGrp="1"/>
          </p:cNvSpPr>
          <p:nvPr>
            <p:ph type="sldNum" sz="quarter" idx="12"/>
          </p:nvPr>
        </p:nvSpPr>
        <p:spPr/>
        <p:txBody>
          <a:bodyPr/>
          <a:lstStyle/>
          <a:p>
            <a:fld id="{24DC5E1E-5C7F-4459-ACC4-F92959AD8695}" type="slidenum">
              <a:rPr lang="en-IN" smtClean="0"/>
              <a:t>‹#›</a:t>
            </a:fld>
            <a:endParaRPr lang="en-IN"/>
          </a:p>
        </p:txBody>
      </p:sp>
    </p:spTree>
    <p:extLst>
      <p:ext uri="{BB962C8B-B14F-4D97-AF65-F5344CB8AC3E}">
        <p14:creationId xmlns:p14="http://schemas.microsoft.com/office/powerpoint/2010/main" val="853107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F68F97-200E-F50D-248B-24EA55826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EF2431-225C-F500-FF39-C6E2219F33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CC97CD-B640-B12B-BDB2-9255B85A47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BC6E6-F1C7-4D51-84D0-9DA1A800A677}" type="datetimeFigureOut">
              <a:rPr lang="en-IN" smtClean="0"/>
              <a:t>12-03-2026</a:t>
            </a:fld>
            <a:endParaRPr lang="en-IN"/>
          </a:p>
        </p:txBody>
      </p:sp>
      <p:sp>
        <p:nvSpPr>
          <p:cNvPr id="5" name="Footer Placeholder 4">
            <a:extLst>
              <a:ext uri="{FF2B5EF4-FFF2-40B4-BE49-F238E27FC236}">
                <a16:creationId xmlns:a16="http://schemas.microsoft.com/office/drawing/2014/main" id="{632D1471-0055-5A29-30C6-5DC9455209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AFB12B-8766-5E7F-AAC8-188608F0B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DC5E1E-5C7F-4459-ACC4-F92959AD8695}" type="slidenum">
              <a:rPr lang="en-IN" smtClean="0"/>
              <a:t>‹#›</a:t>
            </a:fld>
            <a:endParaRPr lang="en-IN"/>
          </a:p>
        </p:txBody>
      </p:sp>
    </p:spTree>
    <p:extLst>
      <p:ext uri="{BB962C8B-B14F-4D97-AF65-F5344CB8AC3E}">
        <p14:creationId xmlns:p14="http://schemas.microsoft.com/office/powerpoint/2010/main" val="2382795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0.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35BB-381B-8E45-3C91-E66735BAF7A4}"/>
              </a:ext>
            </a:extLst>
          </p:cNvPr>
          <p:cNvSpPr>
            <a:spLocks noGrp="1"/>
          </p:cNvSpPr>
          <p:nvPr>
            <p:ph type="title"/>
          </p:nvPr>
        </p:nvSpPr>
        <p:spPr/>
        <p:txBody>
          <a:bodyPr/>
          <a:lstStyle/>
          <a:p>
            <a:r>
              <a:rPr lang="en-IN" dirty="0"/>
              <a:t>Clustering</a:t>
            </a:r>
          </a:p>
        </p:txBody>
      </p:sp>
      <p:sp>
        <p:nvSpPr>
          <p:cNvPr id="3" name="Content Placeholder 2">
            <a:extLst>
              <a:ext uri="{FF2B5EF4-FFF2-40B4-BE49-F238E27FC236}">
                <a16:creationId xmlns:a16="http://schemas.microsoft.com/office/drawing/2014/main" id="{F88388E8-5CD1-C8CF-8B8A-E436DFDFCC8C}"/>
              </a:ext>
            </a:extLst>
          </p:cNvPr>
          <p:cNvSpPr>
            <a:spLocks noGrp="1"/>
          </p:cNvSpPr>
          <p:nvPr>
            <p:ph idx="1"/>
          </p:nvPr>
        </p:nvSpPr>
        <p:spPr/>
        <p:txBody>
          <a:bodyPr>
            <a:normAutofit/>
          </a:bodyPr>
          <a:lstStyle/>
          <a:p>
            <a:r>
              <a:rPr lang="en-US" sz="2400" dirty="0"/>
              <a:t>Clustering is the task of identifying similar instances and assigning them to clusters, or groups of similar instances.</a:t>
            </a:r>
          </a:p>
          <a:p>
            <a:r>
              <a:rPr lang="en-IN" b="1" dirty="0"/>
              <a:t>Two different kinds of clusters</a:t>
            </a:r>
          </a:p>
          <a:p>
            <a:pPr marL="914400" lvl="1" indent="-457200">
              <a:buFont typeface="+mj-lt"/>
              <a:buAutoNum type="arabicPeriod"/>
            </a:pPr>
            <a:r>
              <a:rPr lang="en-IN" dirty="0"/>
              <a:t>Some algorithms </a:t>
            </a:r>
            <a:r>
              <a:rPr lang="en-US" dirty="0"/>
              <a:t>look for instances centered around a particular point, called a centroid. </a:t>
            </a:r>
          </a:p>
          <a:p>
            <a:pPr marL="914400" lvl="1" indent="-457200">
              <a:buFont typeface="+mj-lt"/>
              <a:buAutoNum type="arabicPeriod"/>
            </a:pPr>
            <a:r>
              <a:rPr lang="en-US" dirty="0"/>
              <a:t>Others look for continuous regions of densely packed instances: these clusters can take on any shape. </a:t>
            </a:r>
          </a:p>
          <a:p>
            <a:r>
              <a:rPr lang="en-US" dirty="0"/>
              <a:t>Some algorithms are hierarchical, looking for clusters of clusters.</a:t>
            </a:r>
            <a:endParaRPr lang="en-US" sz="2400" dirty="0"/>
          </a:p>
          <a:p>
            <a:endParaRPr lang="en-IN" sz="2000" dirty="0"/>
          </a:p>
        </p:txBody>
      </p:sp>
    </p:spTree>
    <p:extLst>
      <p:ext uri="{BB962C8B-B14F-4D97-AF65-F5344CB8AC3E}">
        <p14:creationId xmlns:p14="http://schemas.microsoft.com/office/powerpoint/2010/main" val="4183210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22F14-8966-48FA-E5E0-8B22A406BEF5}"/>
              </a:ext>
            </a:extLst>
          </p:cNvPr>
          <p:cNvSpPr>
            <a:spLocks noGrp="1"/>
          </p:cNvSpPr>
          <p:nvPr>
            <p:ph type="title"/>
          </p:nvPr>
        </p:nvSpPr>
        <p:spPr/>
        <p:txBody>
          <a:bodyPr/>
          <a:lstStyle/>
          <a:p>
            <a:r>
              <a:rPr lang="en-IN" dirty="0"/>
              <a:t>Application of Clustering </a:t>
            </a:r>
          </a:p>
        </p:txBody>
      </p:sp>
      <p:sp>
        <p:nvSpPr>
          <p:cNvPr id="3" name="Content Placeholder 2">
            <a:extLst>
              <a:ext uri="{FF2B5EF4-FFF2-40B4-BE49-F238E27FC236}">
                <a16:creationId xmlns:a16="http://schemas.microsoft.com/office/drawing/2014/main" id="{25BBD2B9-C3A4-47A2-2CD6-5F449D380DFB}"/>
              </a:ext>
            </a:extLst>
          </p:cNvPr>
          <p:cNvSpPr>
            <a:spLocks noGrp="1"/>
          </p:cNvSpPr>
          <p:nvPr>
            <p:ph idx="1"/>
          </p:nvPr>
        </p:nvSpPr>
        <p:spPr/>
        <p:txBody>
          <a:bodyPr/>
          <a:lstStyle/>
          <a:p>
            <a:r>
              <a:rPr lang="en-US" sz="2400" dirty="0"/>
              <a:t>Clustering is used in a wide variety of applications, including these:</a:t>
            </a:r>
          </a:p>
          <a:p>
            <a:r>
              <a:rPr lang="en-IN" sz="2400" b="1" dirty="0"/>
              <a:t>For customer segmentation</a:t>
            </a:r>
          </a:p>
          <a:p>
            <a:pPr lvl="1"/>
            <a:r>
              <a:rPr lang="en-US" sz="2000" dirty="0"/>
              <a:t>You can cluster your customers based on their purchases and their activity on your website. </a:t>
            </a:r>
          </a:p>
          <a:p>
            <a:pPr lvl="1"/>
            <a:r>
              <a:rPr lang="en-US" sz="2000" dirty="0"/>
              <a:t>This is useful to understand who your customers are and what they need, so you can adapt your products and marketing campaigns to each segment.</a:t>
            </a:r>
          </a:p>
          <a:p>
            <a:pPr lvl="1"/>
            <a:r>
              <a:rPr lang="en-US" sz="2000" dirty="0"/>
              <a:t>For example, customer segmentation can be useful in recommender systems to suggest content that other users in the same cluster enjoyed.</a:t>
            </a:r>
          </a:p>
          <a:p>
            <a:r>
              <a:rPr lang="en-IN" sz="2400" b="1" dirty="0"/>
              <a:t>For data analysis</a:t>
            </a:r>
          </a:p>
          <a:p>
            <a:pPr lvl="1"/>
            <a:r>
              <a:rPr lang="en-US" sz="2000" dirty="0"/>
              <a:t>When you analyze a new dataset, it can be helpful to run a clustering algorithm, and then analyze each cluster separately.</a:t>
            </a:r>
            <a:endParaRPr lang="en-IN" dirty="0"/>
          </a:p>
        </p:txBody>
      </p:sp>
    </p:spTree>
    <p:extLst>
      <p:ext uri="{BB962C8B-B14F-4D97-AF65-F5344CB8AC3E}">
        <p14:creationId xmlns:p14="http://schemas.microsoft.com/office/powerpoint/2010/main" val="1548379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DD3E-BAE9-D2CA-8052-C65C13AFAC41}"/>
              </a:ext>
            </a:extLst>
          </p:cNvPr>
          <p:cNvSpPr>
            <a:spLocks noGrp="1"/>
          </p:cNvSpPr>
          <p:nvPr>
            <p:ph type="title"/>
          </p:nvPr>
        </p:nvSpPr>
        <p:spPr>
          <a:xfrm>
            <a:off x="838200" y="365126"/>
            <a:ext cx="10515600" cy="837510"/>
          </a:xfrm>
        </p:spPr>
        <p:txBody>
          <a:bodyPr/>
          <a:lstStyle/>
          <a:p>
            <a:r>
              <a:rPr lang="en-IN" dirty="0"/>
              <a:t>Clustering</a:t>
            </a:r>
          </a:p>
        </p:txBody>
      </p:sp>
      <p:sp>
        <p:nvSpPr>
          <p:cNvPr id="3" name="Content Placeholder 2">
            <a:extLst>
              <a:ext uri="{FF2B5EF4-FFF2-40B4-BE49-F238E27FC236}">
                <a16:creationId xmlns:a16="http://schemas.microsoft.com/office/drawing/2014/main" id="{B15B26DA-811C-4CCF-4D88-2CCAD6CFCA21}"/>
              </a:ext>
            </a:extLst>
          </p:cNvPr>
          <p:cNvSpPr>
            <a:spLocks noGrp="1"/>
          </p:cNvSpPr>
          <p:nvPr>
            <p:ph idx="1"/>
          </p:nvPr>
        </p:nvSpPr>
        <p:spPr>
          <a:xfrm>
            <a:off x="838200" y="1659834"/>
            <a:ext cx="10515600" cy="4833039"/>
          </a:xfrm>
        </p:spPr>
        <p:txBody>
          <a:bodyPr>
            <a:noAutofit/>
          </a:bodyPr>
          <a:lstStyle/>
          <a:p>
            <a:r>
              <a:rPr lang="en-IN" sz="2400" b="1" dirty="0"/>
              <a:t>As a dimensionality reduction technique</a:t>
            </a:r>
          </a:p>
          <a:p>
            <a:pPr lvl="1"/>
            <a:r>
              <a:rPr lang="en-US" sz="2000" dirty="0"/>
              <a:t>Once a dataset has been clustered, it is usually possible to measure each instance’s affinity with each cluster (affinity is any measure of how well an instance fits into a cluster). </a:t>
            </a:r>
          </a:p>
          <a:p>
            <a:pPr lvl="1"/>
            <a:r>
              <a:rPr lang="en-US" sz="2000" dirty="0"/>
              <a:t>Each instance’s feature vector </a:t>
            </a:r>
            <a:r>
              <a:rPr lang="en-US" sz="2000" b="1" dirty="0"/>
              <a:t>x </a:t>
            </a:r>
            <a:r>
              <a:rPr lang="en-US" sz="2000" dirty="0"/>
              <a:t>can then be replaced with the vector of its cluster affinities. </a:t>
            </a:r>
          </a:p>
          <a:p>
            <a:pPr lvl="1"/>
            <a:r>
              <a:rPr lang="en-US" sz="2000" dirty="0"/>
              <a:t>If there are k clusters, then this vector is k-dimensional. This vector is typically much lower-dimensional than the original feature vector, but it can preserve enough information for further processing.</a:t>
            </a:r>
          </a:p>
          <a:p>
            <a:r>
              <a:rPr lang="en-US" sz="2400" b="1" dirty="0"/>
              <a:t>For anomaly detection (also called outlier detection)</a:t>
            </a:r>
          </a:p>
          <a:p>
            <a:pPr lvl="1"/>
            <a:r>
              <a:rPr lang="en-US" sz="2000" dirty="0"/>
              <a:t>Any instance that has a low affinity to all the clusters is likely to be an anomaly.</a:t>
            </a:r>
          </a:p>
          <a:p>
            <a:pPr lvl="1"/>
            <a:r>
              <a:rPr lang="en-US" sz="2000" dirty="0"/>
              <a:t>For example, if you have clustered the users of your website based on their behavior, you can detect users with unusual behavior, such as an unusual number of requests per second. Anomaly detection is particularly useful in detecting defects in manufacturing, or for </a:t>
            </a:r>
            <a:r>
              <a:rPr lang="en-US" sz="2000" i="1" dirty="0"/>
              <a:t>fraud detection</a:t>
            </a:r>
            <a:r>
              <a:rPr lang="en-US" sz="2000" dirty="0"/>
              <a:t>.</a:t>
            </a:r>
          </a:p>
        </p:txBody>
      </p:sp>
    </p:spTree>
    <p:extLst>
      <p:ext uri="{BB962C8B-B14F-4D97-AF65-F5344CB8AC3E}">
        <p14:creationId xmlns:p14="http://schemas.microsoft.com/office/powerpoint/2010/main" val="41332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B889C-B94E-4E21-032F-02012C6D4467}"/>
              </a:ext>
            </a:extLst>
          </p:cNvPr>
          <p:cNvSpPr>
            <a:spLocks noGrp="1"/>
          </p:cNvSpPr>
          <p:nvPr>
            <p:ph type="title"/>
          </p:nvPr>
        </p:nvSpPr>
        <p:spPr>
          <a:xfrm>
            <a:off x="838200" y="365125"/>
            <a:ext cx="10515600" cy="757997"/>
          </a:xfrm>
        </p:spPr>
        <p:txBody>
          <a:bodyPr/>
          <a:lstStyle/>
          <a:p>
            <a:r>
              <a:rPr lang="en-IN" dirty="0"/>
              <a:t>Clustering</a:t>
            </a:r>
          </a:p>
        </p:txBody>
      </p:sp>
      <p:sp>
        <p:nvSpPr>
          <p:cNvPr id="3" name="Content Placeholder 2">
            <a:extLst>
              <a:ext uri="{FF2B5EF4-FFF2-40B4-BE49-F238E27FC236}">
                <a16:creationId xmlns:a16="http://schemas.microsoft.com/office/drawing/2014/main" id="{872E815F-E2A5-5FBA-D088-D4F4417265A0}"/>
              </a:ext>
            </a:extLst>
          </p:cNvPr>
          <p:cNvSpPr>
            <a:spLocks noGrp="1"/>
          </p:cNvSpPr>
          <p:nvPr>
            <p:ph idx="1"/>
          </p:nvPr>
        </p:nvSpPr>
        <p:spPr>
          <a:xfrm>
            <a:off x="838200" y="1232452"/>
            <a:ext cx="10515600" cy="5357191"/>
          </a:xfrm>
        </p:spPr>
        <p:txBody>
          <a:bodyPr>
            <a:normAutofit/>
          </a:bodyPr>
          <a:lstStyle/>
          <a:p>
            <a:r>
              <a:rPr lang="en-IN" sz="2400" b="1" dirty="0"/>
              <a:t>For semi-supervised learning</a:t>
            </a:r>
            <a:endParaRPr lang="en-IN" sz="2000" b="1" dirty="0"/>
          </a:p>
          <a:p>
            <a:pPr lvl="1"/>
            <a:r>
              <a:rPr lang="en-US" sz="2000" dirty="0"/>
              <a:t>If you only have a few labels, you could perform clustering and propagate the labels to all the instances in the same cluster. This technique can greatly increase the number of labels available for a subsequent supervised learning algorithm, and thus improve its performance.</a:t>
            </a:r>
          </a:p>
          <a:p>
            <a:r>
              <a:rPr lang="en-IN" sz="2400" b="1" dirty="0"/>
              <a:t>For search engines</a:t>
            </a:r>
          </a:p>
          <a:p>
            <a:pPr lvl="1"/>
            <a:r>
              <a:rPr lang="en-US" sz="2000" dirty="0"/>
              <a:t>Some search engines let you search for images that are similar to a reference image. To build such a system, you would first apply a clustering algorithm to all the images in your database; similar images would end up in the same cluster.</a:t>
            </a:r>
          </a:p>
          <a:p>
            <a:pPr lvl="1"/>
            <a:r>
              <a:rPr lang="en-US" sz="2000" dirty="0"/>
              <a:t>Then when a user provides a reference image, all you need to do is use the trained clustering model to find this image’s cluster, and you can then simply return all the images from this cluster.</a:t>
            </a:r>
          </a:p>
          <a:p>
            <a:r>
              <a:rPr lang="en-IN" sz="2400" b="1" dirty="0"/>
              <a:t>To segment an image </a:t>
            </a:r>
          </a:p>
          <a:p>
            <a:pPr lvl="1"/>
            <a:r>
              <a:rPr lang="en-US" sz="2000" dirty="0"/>
              <a:t>By clustering pixels according to their color, then replacing each pixel’s color with the mean color of its cluster, it is possible to considerably reduce the number of different colors in the image. Image segmentation is used in many object detection and tracking systems, as it makes it easier to detect the contour of each </a:t>
            </a:r>
            <a:r>
              <a:rPr lang="en-IN" sz="2000" dirty="0"/>
              <a:t>object.</a:t>
            </a:r>
            <a:endParaRPr lang="en-IN" sz="4800" dirty="0"/>
          </a:p>
          <a:p>
            <a:endParaRPr lang="en-IN" dirty="0"/>
          </a:p>
        </p:txBody>
      </p:sp>
    </p:spTree>
    <p:extLst>
      <p:ext uri="{BB962C8B-B14F-4D97-AF65-F5344CB8AC3E}">
        <p14:creationId xmlns:p14="http://schemas.microsoft.com/office/powerpoint/2010/main" val="189193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F4C6-7BED-990E-55DB-AD92DB327FA5}"/>
              </a:ext>
            </a:extLst>
          </p:cNvPr>
          <p:cNvSpPr>
            <a:spLocks noGrp="1"/>
          </p:cNvSpPr>
          <p:nvPr>
            <p:ph type="title"/>
          </p:nvPr>
        </p:nvSpPr>
        <p:spPr/>
        <p:txBody>
          <a:bodyPr/>
          <a:lstStyle/>
          <a:p>
            <a:r>
              <a:rPr lang="en-IN" dirty="0"/>
              <a:t>K-Means Clustering</a:t>
            </a:r>
          </a:p>
        </p:txBody>
      </p:sp>
      <p:sp>
        <p:nvSpPr>
          <p:cNvPr id="3" name="Content Placeholder 2">
            <a:extLst>
              <a:ext uri="{FF2B5EF4-FFF2-40B4-BE49-F238E27FC236}">
                <a16:creationId xmlns:a16="http://schemas.microsoft.com/office/drawing/2014/main" id="{6C5FB175-AA62-BCC7-1F0A-CFB90CBD6551}"/>
              </a:ext>
            </a:extLst>
          </p:cNvPr>
          <p:cNvSpPr>
            <a:spLocks noGrp="1"/>
          </p:cNvSpPr>
          <p:nvPr>
            <p:ph idx="1"/>
          </p:nvPr>
        </p:nvSpPr>
        <p:spPr/>
        <p:txBody>
          <a:bodyPr>
            <a:normAutofit fontScale="92500" lnSpcReduction="10000"/>
          </a:bodyPr>
          <a:lstStyle/>
          <a:p>
            <a:pPr fontAlgn="base"/>
            <a:r>
              <a:rPr lang="en-US" sz="2400" dirty="0"/>
              <a:t>K-Means Clustering groups similar data points into clusters without needing labeled data. It is used to uncover hidden patterns when the goal is to organize data based on similarity.</a:t>
            </a:r>
          </a:p>
          <a:p>
            <a:pPr lvl="1" fontAlgn="base"/>
            <a:r>
              <a:rPr lang="en-US" sz="2000" dirty="0"/>
              <a:t>Helps identify natural groupings in unlabeled datasets</a:t>
            </a:r>
          </a:p>
          <a:p>
            <a:pPr lvl="1" fontAlgn="base"/>
            <a:r>
              <a:rPr lang="en-US" sz="2000" dirty="0"/>
              <a:t>Works by grouping points based on distance to cluster centers</a:t>
            </a:r>
          </a:p>
          <a:p>
            <a:pPr lvl="1" fontAlgn="base"/>
            <a:r>
              <a:rPr lang="en-US" sz="2000" dirty="0"/>
              <a:t>Commonly used in customer segmentation, image compression, and pattern discovery</a:t>
            </a:r>
          </a:p>
          <a:p>
            <a:pPr lvl="1" fontAlgn="base"/>
            <a:r>
              <a:rPr lang="en-US" sz="2000" dirty="0"/>
              <a:t>Useful when you need structure from raw, unorganized data</a:t>
            </a:r>
          </a:p>
          <a:p>
            <a:r>
              <a:rPr lang="en-US" sz="2600" dirty="0"/>
              <a:t>The vast majority of the instances were clearly assigned to the appropriate cluster, but a few instances were probably mislabeled (especially near the boundary between the top-left cluster and the central cluster). </a:t>
            </a:r>
          </a:p>
          <a:p>
            <a:r>
              <a:rPr lang="en-US" sz="2600" dirty="0"/>
              <a:t>Indeed, the K-Means algorithm does not behave very well when the blobs have very different diameters because all it cares about when assigning an instance to a cluster is the distance to the centroid.</a:t>
            </a:r>
            <a:endParaRPr lang="en-US" sz="5800" dirty="0"/>
          </a:p>
        </p:txBody>
      </p:sp>
    </p:spTree>
    <p:extLst>
      <p:ext uri="{BB962C8B-B14F-4D97-AF65-F5344CB8AC3E}">
        <p14:creationId xmlns:p14="http://schemas.microsoft.com/office/powerpoint/2010/main" val="65426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B870A-EF90-B1F2-E4AA-894776BE4880}"/>
              </a:ext>
            </a:extLst>
          </p:cNvPr>
          <p:cNvSpPr>
            <a:spLocks noGrp="1"/>
          </p:cNvSpPr>
          <p:nvPr>
            <p:ph type="title"/>
          </p:nvPr>
        </p:nvSpPr>
        <p:spPr/>
        <p:txBody>
          <a:bodyPr/>
          <a:lstStyle/>
          <a:p>
            <a:r>
              <a:rPr lang="en-IN" dirty="0"/>
              <a:t>K-Means Clustering</a:t>
            </a:r>
          </a:p>
        </p:txBody>
      </p:sp>
      <p:pic>
        <p:nvPicPr>
          <p:cNvPr id="5" name="Content Placeholder 4">
            <a:extLst>
              <a:ext uri="{FF2B5EF4-FFF2-40B4-BE49-F238E27FC236}">
                <a16:creationId xmlns:a16="http://schemas.microsoft.com/office/drawing/2014/main" id="{8784F921-8ECA-6329-698B-4243D652386B}"/>
              </a:ext>
            </a:extLst>
          </p:cNvPr>
          <p:cNvPicPr>
            <a:picLocks noGrp="1" noChangeAspect="1"/>
          </p:cNvPicPr>
          <p:nvPr>
            <p:ph idx="1"/>
          </p:nvPr>
        </p:nvPicPr>
        <p:blipFill>
          <a:blip r:embed="rId2"/>
          <a:stretch>
            <a:fillRect/>
          </a:stretch>
        </p:blipFill>
        <p:spPr>
          <a:xfrm>
            <a:off x="1" y="1402965"/>
            <a:ext cx="6788426" cy="3177686"/>
          </a:xfrm>
          <a:prstGeom prst="rect">
            <a:avLst/>
          </a:prstGeom>
        </p:spPr>
      </p:pic>
      <p:pic>
        <p:nvPicPr>
          <p:cNvPr id="7" name="Picture 6">
            <a:extLst>
              <a:ext uri="{FF2B5EF4-FFF2-40B4-BE49-F238E27FC236}">
                <a16:creationId xmlns:a16="http://schemas.microsoft.com/office/drawing/2014/main" id="{A4F3BE89-01C5-A366-53BB-4858951DBAA6}"/>
              </a:ext>
            </a:extLst>
          </p:cNvPr>
          <p:cNvPicPr>
            <a:picLocks noChangeAspect="1"/>
          </p:cNvPicPr>
          <p:nvPr/>
        </p:nvPicPr>
        <p:blipFill>
          <a:blip r:embed="rId3"/>
          <a:stretch>
            <a:fillRect/>
          </a:stretch>
        </p:blipFill>
        <p:spPr>
          <a:xfrm>
            <a:off x="4422559" y="3235852"/>
            <a:ext cx="7769440" cy="3622148"/>
          </a:xfrm>
          <a:prstGeom prst="rect">
            <a:avLst/>
          </a:prstGeom>
        </p:spPr>
      </p:pic>
    </p:spTree>
    <p:extLst>
      <p:ext uri="{BB962C8B-B14F-4D97-AF65-F5344CB8AC3E}">
        <p14:creationId xmlns:p14="http://schemas.microsoft.com/office/powerpoint/2010/main" val="421061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CDD1-C848-1895-00F2-D6D0396DCAC0}"/>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4327F9C2-C77F-0F72-5650-A9EF11EA4D8E}"/>
              </a:ext>
            </a:extLst>
          </p:cNvPr>
          <p:cNvSpPr>
            <a:spLocks noGrp="1"/>
          </p:cNvSpPr>
          <p:nvPr>
            <p:ph idx="1"/>
          </p:nvPr>
        </p:nvSpPr>
        <p:spPr/>
        <p:txBody>
          <a:bodyPr>
            <a:normAutofit/>
          </a:bodyPr>
          <a:lstStyle/>
          <a:p>
            <a:r>
              <a:rPr lang="en-US" sz="2400" dirty="0"/>
              <a:t>Instead of assigning each instance to a single cluster, which is called </a:t>
            </a:r>
            <a:r>
              <a:rPr lang="en-US" sz="2400" b="1" dirty="0"/>
              <a:t>hard clustering</a:t>
            </a:r>
            <a:r>
              <a:rPr lang="en-US" sz="2400" dirty="0"/>
              <a:t>, it can be useful to give each instance a score per cluster, which is called </a:t>
            </a:r>
            <a:r>
              <a:rPr lang="en-US" sz="2400" b="1" dirty="0"/>
              <a:t>soft clustering</a:t>
            </a:r>
            <a:r>
              <a:rPr lang="en-US" sz="2400" dirty="0"/>
              <a:t>.</a:t>
            </a:r>
          </a:p>
          <a:p>
            <a:r>
              <a:rPr lang="en-US" sz="2400" dirty="0"/>
              <a:t>The score can be the distance between the instance and the centroid; conversely, it can be a similarity score (or affinity), such as the Gaussian Radial Basis Function.</a:t>
            </a:r>
          </a:p>
          <a:p>
            <a:r>
              <a:rPr lang="en-US" sz="2400" dirty="0"/>
              <a:t>The computational complexity of the algorithm is generally linear with regard to the number of instances </a:t>
            </a:r>
            <a:r>
              <a:rPr lang="en-US" sz="2400" i="1" dirty="0"/>
              <a:t>m</a:t>
            </a:r>
            <a:r>
              <a:rPr lang="en-US" sz="2400" dirty="0"/>
              <a:t>, the number of clusters </a:t>
            </a:r>
            <a:r>
              <a:rPr lang="en-US" sz="2400" i="1" dirty="0"/>
              <a:t>k</a:t>
            </a:r>
            <a:r>
              <a:rPr lang="en-US" sz="2400" dirty="0"/>
              <a:t>, and the number of dimensions </a:t>
            </a:r>
            <a:r>
              <a:rPr lang="en-US" sz="2400" i="1" dirty="0"/>
              <a:t>n</a:t>
            </a:r>
            <a:r>
              <a:rPr lang="en-US" sz="2400" dirty="0"/>
              <a:t>. However, this is only true when the data has a clustering structure. If it does not, then in the </a:t>
            </a:r>
            <a:r>
              <a:rPr lang="en-US" sz="2400" dirty="0" err="1"/>
              <a:t>worstcase</a:t>
            </a:r>
            <a:r>
              <a:rPr lang="en-US" sz="2400" dirty="0"/>
              <a:t> scenario the complexity can increase exponentially with the number of instances. In practice, this rarely happens, and K-Means is generally one of the fastest clustering algorithms.</a:t>
            </a:r>
            <a:endParaRPr lang="en-IN" sz="2400" dirty="0"/>
          </a:p>
        </p:txBody>
      </p:sp>
    </p:spTree>
    <p:extLst>
      <p:ext uri="{BB962C8B-B14F-4D97-AF65-F5344CB8AC3E}">
        <p14:creationId xmlns:p14="http://schemas.microsoft.com/office/powerpoint/2010/main" val="207786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4BB518-0EB1-41C8-95AD-97E4FC711379}"/>
              </a:ext>
            </a:extLst>
          </p:cNvPr>
          <p:cNvPicPr>
            <a:picLocks noChangeAspect="1"/>
          </p:cNvPicPr>
          <p:nvPr/>
        </p:nvPicPr>
        <p:blipFill>
          <a:blip r:embed="rId2"/>
          <a:stretch>
            <a:fillRect/>
          </a:stretch>
        </p:blipFill>
        <p:spPr>
          <a:xfrm>
            <a:off x="1790740" y="0"/>
            <a:ext cx="8610519" cy="6858000"/>
          </a:xfrm>
          <a:prstGeom prst="rect">
            <a:avLst/>
          </a:prstGeom>
        </p:spPr>
      </p:pic>
    </p:spTree>
    <p:extLst>
      <p:ext uri="{BB962C8B-B14F-4D97-AF65-F5344CB8AC3E}">
        <p14:creationId xmlns:p14="http://schemas.microsoft.com/office/powerpoint/2010/main" val="89083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BE38-8314-C085-908D-72DBC915820A}"/>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9D4717D5-7092-8FAA-AC6A-00FE73185B92}"/>
              </a:ext>
            </a:extLst>
          </p:cNvPr>
          <p:cNvSpPr>
            <a:spLocks noGrp="1"/>
          </p:cNvSpPr>
          <p:nvPr>
            <p:ph idx="1"/>
          </p:nvPr>
        </p:nvSpPr>
        <p:spPr>
          <a:xfrm>
            <a:off x="838200" y="1825625"/>
            <a:ext cx="10979426" cy="4351338"/>
          </a:xfrm>
        </p:spPr>
        <p:txBody>
          <a:bodyPr>
            <a:normAutofit/>
          </a:bodyPr>
          <a:lstStyle/>
          <a:p>
            <a:pPr marL="514350" indent="-514350">
              <a:buFont typeface="+mj-lt"/>
              <a:buAutoNum type="arabicPeriod"/>
            </a:pPr>
            <a:r>
              <a:rPr lang="en-US" sz="2400" b="1" dirty="0"/>
              <a:t>Choose Number of Clusters (K)</a:t>
            </a:r>
          </a:p>
          <a:p>
            <a:pPr lvl="1"/>
            <a:r>
              <a:rPr lang="en-US" sz="2000" dirty="0"/>
              <a:t>Select the number of clusters </a:t>
            </a:r>
            <a:r>
              <a:rPr lang="en-US" sz="2000" b="1" dirty="0"/>
              <a:t>K</a:t>
            </a:r>
            <a:r>
              <a:rPr lang="en-US" sz="2000" dirty="0"/>
              <a:t> based on the problem requirement.</a:t>
            </a:r>
          </a:p>
          <a:p>
            <a:pPr lvl="1"/>
            <a:r>
              <a:rPr lang="en-US" sz="2000" dirty="0"/>
              <a:t>Methods like the </a:t>
            </a:r>
            <a:r>
              <a:rPr lang="en-US" sz="2000" b="1" dirty="0"/>
              <a:t>Elbow Method</a:t>
            </a:r>
            <a:r>
              <a:rPr lang="en-US" sz="2000" dirty="0"/>
              <a:t> can help in choosing optimal K.</a:t>
            </a:r>
            <a:endParaRPr lang="en-IN" sz="2000" b="1" dirty="0"/>
          </a:p>
          <a:p>
            <a:pPr marL="514350" indent="-514350">
              <a:buFont typeface="+mj-lt"/>
              <a:buAutoNum type="arabicPeriod"/>
            </a:pPr>
            <a:r>
              <a:rPr lang="en-IN" sz="2400" b="1" dirty="0"/>
              <a:t>Initializing Random Centroids</a:t>
            </a:r>
          </a:p>
          <a:p>
            <a:pPr lvl="1"/>
            <a:r>
              <a:rPr lang="en-US" sz="2000" dirty="0"/>
              <a:t>Randomly select </a:t>
            </a:r>
            <a:r>
              <a:rPr lang="en-US" sz="2000" b="1" dirty="0"/>
              <a:t>K data points</a:t>
            </a:r>
            <a:r>
              <a:rPr lang="en-US" sz="2000" dirty="0"/>
              <a:t> as the initial cluster centroids.</a:t>
            </a:r>
          </a:p>
          <a:p>
            <a:pPr lvl="1"/>
            <a:r>
              <a:rPr lang="en-US" sz="2000" dirty="0"/>
              <a:t>These centroids represent the center of each cluster.</a:t>
            </a:r>
          </a:p>
          <a:p>
            <a:pPr marL="514350" indent="-514350">
              <a:buFont typeface="+mj-lt"/>
              <a:buAutoNum type="arabicPeriod"/>
            </a:pPr>
            <a:r>
              <a:rPr lang="en-US" sz="2400" b="1" dirty="0"/>
              <a:t>Assign Data Points to Nearest Centroid</a:t>
            </a:r>
          </a:p>
          <a:p>
            <a:pPr lvl="1"/>
            <a:r>
              <a:rPr lang="en-US" sz="2000" dirty="0"/>
              <a:t>For each data point, compute the </a:t>
            </a:r>
            <a:r>
              <a:rPr lang="en-US" sz="2000" b="1" dirty="0"/>
              <a:t>distance</a:t>
            </a:r>
            <a:r>
              <a:rPr lang="en-US" sz="2000" dirty="0"/>
              <a:t> (usually Euclidean distance) from all centroids.</a:t>
            </a:r>
          </a:p>
          <a:p>
            <a:pPr lvl="1"/>
            <a:r>
              <a:rPr lang="en-US" sz="2000" dirty="0"/>
              <a:t>Assign each point to the cluster with the </a:t>
            </a:r>
            <a:r>
              <a:rPr lang="en-US" sz="2000" b="1" dirty="0"/>
              <a:t>minimum distance</a:t>
            </a:r>
            <a:r>
              <a:rPr lang="en-US" sz="2000" dirty="0"/>
              <a:t>.</a:t>
            </a:r>
          </a:p>
          <a:p>
            <a:pPr marL="457200" lvl="1" indent="0">
              <a:buNone/>
            </a:pPr>
            <a:endParaRPr lang="en-IN" sz="2000" b="1" dirty="0"/>
          </a:p>
          <a:p>
            <a:pPr marL="514350" indent="-514350">
              <a:buFont typeface="+mj-lt"/>
              <a:buAutoNum type="arabicPeriod"/>
            </a:pPr>
            <a:endParaRPr lang="en-IN" sz="2400" dirty="0"/>
          </a:p>
        </p:txBody>
      </p:sp>
    </p:spTree>
    <p:extLst>
      <p:ext uri="{BB962C8B-B14F-4D97-AF65-F5344CB8AC3E}">
        <p14:creationId xmlns:p14="http://schemas.microsoft.com/office/powerpoint/2010/main" val="147495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8828-AC48-1693-45C3-7E7F751D0951}"/>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2E6F64B3-D969-707D-B9E1-E030B3BA7CE8}"/>
              </a:ext>
            </a:extLst>
          </p:cNvPr>
          <p:cNvSpPr>
            <a:spLocks noGrp="1"/>
          </p:cNvSpPr>
          <p:nvPr>
            <p:ph idx="1"/>
          </p:nvPr>
        </p:nvSpPr>
        <p:spPr/>
        <p:txBody>
          <a:bodyPr/>
          <a:lstStyle/>
          <a:p>
            <a:pPr marL="514350" indent="-514350">
              <a:buFont typeface="+mj-lt"/>
              <a:buAutoNum type="arabicPeriod" startAt="4"/>
            </a:pPr>
            <a:r>
              <a:rPr lang="en-US" sz="2400" b="1" dirty="0"/>
              <a:t>Update Centroids</a:t>
            </a:r>
          </a:p>
          <a:p>
            <a:pPr lvl="1"/>
            <a:r>
              <a:rPr lang="en-US" sz="2000" dirty="0"/>
              <a:t>Recalculate the centroid of each cluster by taking the </a:t>
            </a:r>
            <a:r>
              <a:rPr lang="en-US" sz="2000" b="1" dirty="0"/>
              <a:t>mean of all points</a:t>
            </a:r>
            <a:r>
              <a:rPr lang="en-US" sz="2000" dirty="0"/>
              <a:t> assigned to that cluster.</a:t>
            </a:r>
          </a:p>
          <a:p>
            <a:pPr lvl="1"/>
            <a:endParaRPr lang="en-US" sz="2000" dirty="0"/>
          </a:p>
          <a:p>
            <a:pPr lvl="1"/>
            <a:endParaRPr lang="en-US" sz="2000" dirty="0"/>
          </a:p>
          <a:p>
            <a:pPr lvl="1"/>
            <a:endParaRPr lang="en-US" sz="2000" dirty="0"/>
          </a:p>
          <a:p>
            <a:pPr lvl="1"/>
            <a:endParaRPr lang="en-US" sz="2000" dirty="0"/>
          </a:p>
          <a:p>
            <a:pPr marL="457200" indent="-457200">
              <a:buFont typeface="+mj-lt"/>
              <a:buAutoNum type="arabicPeriod" startAt="5"/>
            </a:pPr>
            <a:r>
              <a:rPr lang="en-US" sz="2400" b="1" dirty="0"/>
              <a:t>Check for Convergence</a:t>
            </a:r>
          </a:p>
          <a:p>
            <a:pPr lvl="1"/>
            <a:r>
              <a:rPr lang="en-US" sz="2000" dirty="0"/>
              <a:t>Compare old and new centroids.</a:t>
            </a:r>
          </a:p>
          <a:p>
            <a:pPr lvl="1"/>
            <a:r>
              <a:rPr lang="en-US" sz="2000" dirty="0"/>
              <a:t>If centroids do not change (or change is below a threshold), the algorithm stops.</a:t>
            </a:r>
          </a:p>
          <a:p>
            <a:pPr lvl="1"/>
            <a:r>
              <a:rPr lang="en-US" sz="2000" dirty="0"/>
              <a:t>Otherwise, repeat Steps 3 and 4.</a:t>
            </a:r>
          </a:p>
          <a:p>
            <a:endParaRPr lang="en-US" sz="2400" dirty="0"/>
          </a:p>
          <a:p>
            <a:pPr lvl="1"/>
            <a:endParaRPr lang="en-US" sz="2000" dirty="0"/>
          </a:p>
          <a:p>
            <a:endParaRPr lang="en-IN" dirty="0"/>
          </a:p>
        </p:txBody>
      </p:sp>
      <p:pic>
        <p:nvPicPr>
          <p:cNvPr id="5" name="Picture 4">
            <a:extLst>
              <a:ext uri="{FF2B5EF4-FFF2-40B4-BE49-F238E27FC236}">
                <a16:creationId xmlns:a16="http://schemas.microsoft.com/office/drawing/2014/main" id="{853E27B8-693D-8CA8-7E91-67D33477A74D}"/>
              </a:ext>
            </a:extLst>
          </p:cNvPr>
          <p:cNvPicPr>
            <a:picLocks noChangeAspect="1"/>
          </p:cNvPicPr>
          <p:nvPr/>
        </p:nvPicPr>
        <p:blipFill>
          <a:blip r:embed="rId2"/>
          <a:stretch>
            <a:fillRect/>
          </a:stretch>
        </p:blipFill>
        <p:spPr>
          <a:xfrm>
            <a:off x="3562452" y="2839416"/>
            <a:ext cx="3583783" cy="1433514"/>
          </a:xfrm>
          <a:prstGeom prst="rect">
            <a:avLst/>
          </a:prstGeom>
        </p:spPr>
      </p:pic>
    </p:spTree>
    <p:extLst>
      <p:ext uri="{BB962C8B-B14F-4D97-AF65-F5344CB8AC3E}">
        <p14:creationId xmlns:p14="http://schemas.microsoft.com/office/powerpoint/2010/main" val="4035874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5945-9995-A6CC-576E-38DF9DFDE86F}"/>
              </a:ext>
            </a:extLst>
          </p:cNvPr>
          <p:cNvSpPr>
            <a:spLocks noGrp="1"/>
          </p:cNvSpPr>
          <p:nvPr>
            <p:ph type="title"/>
          </p:nvPr>
        </p:nvSpPr>
        <p:spPr/>
        <p:txBody>
          <a:bodyPr/>
          <a:lstStyle/>
          <a:p>
            <a:r>
              <a:rPr lang="en-IN" dirty="0"/>
              <a:t>Steps in </a:t>
            </a:r>
            <a:r>
              <a:rPr lang="en-US" dirty="0"/>
              <a:t>K-means clustering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4B083C-20AC-79AC-30FB-3E1954C991CF}"/>
                  </a:ext>
                </a:extLst>
              </p:cNvPr>
              <p:cNvSpPr>
                <a:spLocks noGrp="1"/>
              </p:cNvSpPr>
              <p:nvPr>
                <p:ph idx="1"/>
              </p:nvPr>
            </p:nvSpPr>
            <p:spPr/>
            <p:txBody>
              <a:bodyPr/>
              <a:lstStyle/>
              <a:p>
                <a:pPr marL="514350" indent="-514350">
                  <a:buFont typeface="+mj-lt"/>
                  <a:buAutoNum type="arabicPeriod" startAt="6"/>
                </a:pPr>
                <a:r>
                  <a:rPr lang="en-US" b="1" dirty="0"/>
                  <a:t>Output Clusters</a:t>
                </a:r>
              </a:p>
              <a:p>
                <a:pPr lvl="1"/>
                <a:r>
                  <a:rPr lang="en-US" dirty="0"/>
                  <a:t>Final clusters and centroids are produced, minimizing intra-cluster variance.</a:t>
                </a:r>
              </a:p>
              <a:p>
                <a:pPr lvl="1"/>
                <a:r>
                  <a:rPr lang="en-IN" b="1" dirty="0"/>
                  <a:t>Objective Function: </a:t>
                </a:r>
                <a:r>
                  <a:rPr lang="en-IN" dirty="0"/>
                  <a:t>K-Means minimizes:</a:t>
                </a:r>
              </a:p>
              <a:p>
                <a:pPr lvl="1"/>
                <a:endParaRPr lang="en-IN" dirty="0"/>
              </a:p>
              <a:p>
                <a:pPr lvl="1"/>
                <a:endParaRPr lang="en-IN" dirty="0"/>
              </a:p>
              <a:p>
                <a:pPr lvl="1"/>
                <a:endParaRPr lang="en-IN" dirty="0"/>
              </a:p>
              <a:p>
                <a:pPr lvl="1"/>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oMath>
                </a14:m>
                <a:r>
                  <a:rPr lang="en-IN" dirty="0"/>
                  <a:t>is centroid of cluster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ar-AE" dirty="0"/>
                  <a:t>.</a:t>
                </a:r>
              </a:p>
              <a:p>
                <a:pPr lvl="1"/>
                <a:endParaRPr lang="en-US" dirty="0"/>
              </a:p>
              <a:p>
                <a:endParaRPr lang="en-IN" dirty="0"/>
              </a:p>
            </p:txBody>
          </p:sp>
        </mc:Choice>
        <mc:Fallback xmlns="">
          <p:sp>
            <p:nvSpPr>
              <p:cNvPr id="3" name="Content Placeholder 2">
                <a:extLst>
                  <a:ext uri="{FF2B5EF4-FFF2-40B4-BE49-F238E27FC236}">
                    <a16:creationId xmlns:a16="http://schemas.microsoft.com/office/drawing/2014/main" id="{314B083C-20AC-79AC-30FB-3E1954C991C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7C5AD20-F91B-FDB1-5CB9-427D9351550E}"/>
              </a:ext>
            </a:extLst>
          </p:cNvPr>
          <p:cNvPicPr>
            <a:picLocks noChangeAspect="1"/>
          </p:cNvPicPr>
          <p:nvPr/>
        </p:nvPicPr>
        <p:blipFill>
          <a:blip r:embed="rId3"/>
          <a:stretch>
            <a:fillRect/>
          </a:stretch>
        </p:blipFill>
        <p:spPr>
          <a:xfrm>
            <a:off x="5823544" y="2959732"/>
            <a:ext cx="3687010" cy="1294215"/>
          </a:xfrm>
          <a:prstGeom prst="rect">
            <a:avLst/>
          </a:prstGeom>
        </p:spPr>
      </p:pic>
    </p:spTree>
    <p:extLst>
      <p:ext uri="{BB962C8B-B14F-4D97-AF65-F5344CB8AC3E}">
        <p14:creationId xmlns:p14="http://schemas.microsoft.com/office/powerpoint/2010/main" val="303089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E222-CF93-BB3E-F667-FEF8751767C1}"/>
              </a:ext>
            </a:extLst>
          </p:cNvPr>
          <p:cNvSpPr>
            <a:spLocks noGrp="1"/>
          </p:cNvSpPr>
          <p:nvPr>
            <p:ph type="title"/>
          </p:nvPr>
        </p:nvSpPr>
        <p:spPr/>
        <p:txBody>
          <a:bodyPr/>
          <a:lstStyle/>
          <a:p>
            <a:r>
              <a:rPr lang="en-US" dirty="0"/>
              <a:t>Simple Example of K-Means Clustering</a:t>
            </a:r>
            <a:endParaRPr lang="en-IN" dirty="0"/>
          </a:p>
        </p:txBody>
      </p:sp>
      <p:sp>
        <p:nvSpPr>
          <p:cNvPr id="3" name="Content Placeholder 2">
            <a:extLst>
              <a:ext uri="{FF2B5EF4-FFF2-40B4-BE49-F238E27FC236}">
                <a16:creationId xmlns:a16="http://schemas.microsoft.com/office/drawing/2014/main" id="{4CC2DF19-BD91-71A0-C949-00A67737404F}"/>
              </a:ext>
            </a:extLst>
          </p:cNvPr>
          <p:cNvSpPr>
            <a:spLocks noGrp="1"/>
          </p:cNvSpPr>
          <p:nvPr>
            <p:ph sz="half" idx="1"/>
          </p:nvPr>
        </p:nvSpPr>
        <p:spPr/>
        <p:txBody>
          <a:bodyPr>
            <a:normAutofit/>
          </a:bodyPr>
          <a:lstStyle/>
          <a:p>
            <a:r>
              <a:rPr lang="en-US" sz="2400" dirty="0"/>
              <a:t>Assume we have </a:t>
            </a:r>
            <a:r>
              <a:rPr lang="en-US" sz="2400" b="1" dirty="0"/>
              <a:t>6 data points</a:t>
            </a:r>
            <a:r>
              <a:rPr lang="en-US" sz="2400" dirty="0"/>
              <a:t> representing students based on two features: </a:t>
            </a:r>
            <a:r>
              <a:rPr lang="en-US" sz="2400" b="1" dirty="0"/>
              <a:t>Study Hours (X)</a:t>
            </a:r>
            <a:r>
              <a:rPr lang="en-US" sz="2400" dirty="0"/>
              <a:t> and </a:t>
            </a:r>
            <a:r>
              <a:rPr lang="en-US" sz="2400" b="1" dirty="0"/>
              <a:t>Marks (Y)</a:t>
            </a:r>
            <a:r>
              <a:rPr lang="en-US" sz="2400" dirty="0"/>
              <a:t>.</a:t>
            </a:r>
            <a:endParaRPr lang="en-IN" sz="240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A9988D3-F1B3-2379-1543-A0155836DB32}"/>
                  </a:ext>
                </a:extLst>
              </p:cNvPr>
              <p:cNvSpPr>
                <a:spLocks noGrp="1"/>
              </p:cNvSpPr>
              <p:nvPr>
                <p:ph sz="half" idx="2"/>
              </p:nvPr>
            </p:nvSpPr>
            <p:spPr/>
            <p:txBody>
              <a:bodyPr/>
              <a:lstStyle/>
              <a:p>
                <a:pPr marL="514350" indent="-514350">
                  <a:buFont typeface="+mj-lt"/>
                  <a:buAutoNum type="arabicPeriod"/>
                </a:pPr>
                <a:r>
                  <a:rPr lang="en-IN" b="1" dirty="0"/>
                  <a:t>Choose K</a:t>
                </a:r>
                <a:r>
                  <a:rPr lang="en-IN" b="1" dirty="0">
                    <a:sym typeface="Wingdings" panose="05000000000000000000" pitchFamily="2" charset="2"/>
                  </a:rPr>
                  <a:t> </a:t>
                </a:r>
                <a:r>
                  <a:rPr lang="en-IN" dirty="0"/>
                  <a:t>Let </a:t>
                </a:r>
                <a:r>
                  <a:rPr lang="en-IN" b="1" dirty="0"/>
                  <a:t>K = 2</a:t>
                </a:r>
                <a:r>
                  <a:rPr lang="en-IN" dirty="0"/>
                  <a:t>.</a:t>
                </a:r>
              </a:p>
              <a:p>
                <a:pPr marL="514350" indent="-514350">
                  <a:buFont typeface="+mj-lt"/>
                  <a:buAutoNum type="arabicPeriod"/>
                </a:pPr>
                <a:r>
                  <a:rPr lang="en-IN" b="1" dirty="0"/>
                  <a:t>Initialize Centroids</a:t>
                </a:r>
              </a:p>
              <a:p>
                <a:pPr lvl="1"/>
                <a:r>
                  <a:rPr lang="en-IN" dirty="0"/>
                  <a:t>Choose two initial centroids randomly: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1</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2</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5</m:t>
                        </m:r>
                      </m:e>
                      <m:e>
                        <m:r>
                          <a:rPr lang="ar-AE">
                            <a:latin typeface="Cambria Math" panose="02040503050406030204" pitchFamily="18" charset="0"/>
                          </a:rPr>
                          <m:t>4</m:t>
                        </m:r>
                      </m:e>
                    </m:d>
                  </m:oMath>
                </a14:m>
                <a:endParaRPr lang="ar-AE" dirty="0"/>
              </a:p>
              <a:p>
                <a:pPr marL="514350" indent="-514350">
                  <a:buFont typeface="+mj-lt"/>
                  <a:buAutoNum type="arabicPeriod"/>
                </a:pPr>
                <a:r>
                  <a:rPr lang="en-US" b="1" dirty="0"/>
                  <a:t>Assign Points to Nearest Centroid</a:t>
                </a:r>
              </a:p>
              <a:p>
                <a:pPr lvl="1"/>
                <a:r>
                  <a:rPr lang="en-US" dirty="0"/>
                  <a:t>Using Euclidean distance:</a:t>
                </a:r>
              </a:p>
              <a:p>
                <a:pPr marL="514350" indent="-514350">
                  <a:buFont typeface="+mj-lt"/>
                  <a:buAutoNum type="arabicPeriod"/>
                </a:pPr>
                <a:endParaRPr lang="en-IN" dirty="0"/>
              </a:p>
              <a:p>
                <a:endParaRPr lang="en-IN" dirty="0"/>
              </a:p>
            </p:txBody>
          </p:sp>
        </mc:Choice>
        <mc:Fallback xmlns="">
          <p:sp>
            <p:nvSpPr>
              <p:cNvPr id="5" name="Content Placeholder 4">
                <a:extLst>
                  <a:ext uri="{FF2B5EF4-FFF2-40B4-BE49-F238E27FC236}">
                    <a16:creationId xmlns:a16="http://schemas.microsoft.com/office/drawing/2014/main" id="{FA9988D3-F1B3-2379-1543-A0155836DB32}"/>
                  </a:ext>
                </a:extLst>
              </p:cNvPr>
              <p:cNvSpPr>
                <a:spLocks noGrp="1" noRot="1" noChangeAspect="1" noMove="1" noResize="1" noEditPoints="1" noAdjustHandles="1" noChangeArrowheads="1" noChangeShapeType="1" noTextEdit="1"/>
              </p:cNvSpPr>
              <p:nvPr>
                <p:ph sz="half" idx="2"/>
              </p:nvPr>
            </p:nvSpPr>
            <p:spPr>
              <a:blipFill>
                <a:blip r:embed="rId2"/>
                <a:stretch>
                  <a:fillRect l="-2471" t="-266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3311C640-0D1E-8840-2C2E-D633A8D57B71}"/>
              </a:ext>
            </a:extLst>
          </p:cNvPr>
          <p:cNvGraphicFramePr>
            <a:graphicFrameLocks noGrp="1"/>
          </p:cNvGraphicFramePr>
          <p:nvPr/>
        </p:nvGraphicFramePr>
        <p:xfrm>
          <a:off x="1205947" y="3538220"/>
          <a:ext cx="3515139" cy="2773680"/>
        </p:xfrm>
        <a:graphic>
          <a:graphicData uri="http://schemas.openxmlformats.org/drawingml/2006/table">
            <a:tbl>
              <a:tblPr/>
              <a:tblGrid>
                <a:gridCol w="1171713">
                  <a:extLst>
                    <a:ext uri="{9D8B030D-6E8A-4147-A177-3AD203B41FA5}">
                      <a16:colId xmlns:a16="http://schemas.microsoft.com/office/drawing/2014/main" val="3229688118"/>
                    </a:ext>
                  </a:extLst>
                </a:gridCol>
                <a:gridCol w="1171713">
                  <a:extLst>
                    <a:ext uri="{9D8B030D-6E8A-4147-A177-3AD203B41FA5}">
                      <a16:colId xmlns:a16="http://schemas.microsoft.com/office/drawing/2014/main" val="954662938"/>
                    </a:ext>
                  </a:extLst>
                </a:gridCol>
                <a:gridCol w="1171713">
                  <a:extLst>
                    <a:ext uri="{9D8B030D-6E8A-4147-A177-3AD203B41FA5}">
                      <a16:colId xmlns:a16="http://schemas.microsoft.com/office/drawing/2014/main" val="581273158"/>
                    </a:ext>
                  </a:extLst>
                </a:gridCol>
              </a:tblGrid>
              <a:tr h="0">
                <a:tc>
                  <a:txBody>
                    <a:bodyPr/>
                    <a:lstStyle/>
                    <a:p>
                      <a:pPr>
                        <a:buNone/>
                      </a:pPr>
                      <a:r>
                        <a:rPr lang="en-IN" sz="200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Y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012076"/>
                  </a:ext>
                </a:extLst>
              </a:tr>
              <a:tr h="0">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236506"/>
                  </a:ext>
                </a:extLst>
              </a:tr>
              <a:tr h="0">
                <a:tc>
                  <a:txBody>
                    <a:bodyPr/>
                    <a:lstStyle/>
                    <a:p>
                      <a:pPr>
                        <a:buNone/>
                      </a:pPr>
                      <a:r>
                        <a:rPr lang="en-IN" sz="200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07701"/>
                  </a:ext>
                </a:extLst>
              </a:tr>
              <a:tr h="0">
                <a:tc>
                  <a:txBody>
                    <a:bodyPr/>
                    <a:lstStyle/>
                    <a:p>
                      <a:pPr>
                        <a:buNone/>
                      </a:pPr>
                      <a:r>
                        <a:rPr lang="en-IN" sz="200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446860"/>
                  </a:ext>
                </a:extLst>
              </a:tr>
              <a:tr h="0">
                <a:tc>
                  <a:txBody>
                    <a:bodyPr/>
                    <a:lstStyle/>
                    <a:p>
                      <a:pPr>
                        <a:buNone/>
                      </a:pPr>
                      <a:r>
                        <a:rPr lang="en-IN" sz="200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06287"/>
                  </a:ext>
                </a:extLst>
              </a:tr>
              <a:tr h="0">
                <a:tc>
                  <a:txBody>
                    <a:bodyPr/>
                    <a:lstStyle/>
                    <a:p>
                      <a:pPr>
                        <a:buNone/>
                      </a:pPr>
                      <a:r>
                        <a:rPr lang="en-IN" sz="200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02673"/>
                  </a:ext>
                </a:extLst>
              </a:tr>
              <a:tr h="0">
                <a:tc>
                  <a:txBody>
                    <a:bodyPr/>
                    <a:lstStyle/>
                    <a:p>
                      <a:pPr>
                        <a:buNone/>
                      </a:pPr>
                      <a:r>
                        <a:rPr lang="en-IN" sz="200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872298"/>
                  </a:ext>
                </a:extLst>
              </a:tr>
            </a:tbl>
          </a:graphicData>
        </a:graphic>
      </p:graphicFrame>
    </p:spTree>
    <p:extLst>
      <p:ext uri="{BB962C8B-B14F-4D97-AF65-F5344CB8AC3E}">
        <p14:creationId xmlns:p14="http://schemas.microsoft.com/office/powerpoint/2010/main" val="4138382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9260-16F3-B47E-CAE6-AA2478B31E4A}"/>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73E79FAF-7107-FEB7-6B48-8ED30D692E8D}"/>
              </a:ext>
            </a:extLst>
          </p:cNvPr>
          <p:cNvGraphicFramePr>
            <a:graphicFrameLocks noGrp="1"/>
          </p:cNvGraphicFramePr>
          <p:nvPr>
            <p:ph sz="half" idx="1"/>
          </p:nvPr>
        </p:nvGraphicFramePr>
        <p:xfrm>
          <a:off x="802171" y="3301237"/>
          <a:ext cx="5181600" cy="2875726"/>
        </p:xfrm>
        <a:graphic>
          <a:graphicData uri="http://schemas.openxmlformats.org/drawingml/2006/table">
            <a:tbl>
              <a:tblPr/>
              <a:tblGrid>
                <a:gridCol w="1295400">
                  <a:extLst>
                    <a:ext uri="{9D8B030D-6E8A-4147-A177-3AD203B41FA5}">
                      <a16:colId xmlns:a16="http://schemas.microsoft.com/office/drawing/2014/main" val="544349980"/>
                    </a:ext>
                  </a:extLst>
                </a:gridCol>
                <a:gridCol w="1295400">
                  <a:extLst>
                    <a:ext uri="{9D8B030D-6E8A-4147-A177-3AD203B41FA5}">
                      <a16:colId xmlns:a16="http://schemas.microsoft.com/office/drawing/2014/main" val="4271097763"/>
                    </a:ext>
                  </a:extLst>
                </a:gridCol>
                <a:gridCol w="1295400">
                  <a:extLst>
                    <a:ext uri="{9D8B030D-6E8A-4147-A177-3AD203B41FA5}">
                      <a16:colId xmlns:a16="http://schemas.microsoft.com/office/drawing/2014/main" val="3274030309"/>
                    </a:ext>
                  </a:extLst>
                </a:gridCol>
                <a:gridCol w="1295400">
                  <a:extLst>
                    <a:ext uri="{9D8B030D-6E8A-4147-A177-3AD203B41FA5}">
                      <a16:colId xmlns:a16="http://schemas.microsoft.com/office/drawing/2014/main" val="1991217654"/>
                    </a:ext>
                  </a:extLst>
                </a:gridCol>
              </a:tblGrid>
              <a:tr h="180230">
                <a:tc>
                  <a:txBody>
                    <a:bodyPr/>
                    <a:lstStyle/>
                    <a:p>
                      <a:pPr>
                        <a:buNone/>
                      </a:pPr>
                      <a:r>
                        <a:rPr lang="en-IN" sz="24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err="1"/>
                        <a:t>Dist</a:t>
                      </a:r>
                      <a:r>
                        <a:rPr lang="en-IN" sz="2400" dirty="0"/>
                        <a:t>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Dist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4265872"/>
                  </a:ext>
                </a:extLst>
              </a:tr>
              <a:tr h="180230">
                <a:tc>
                  <a:txBody>
                    <a:bodyPr/>
                    <a:lstStyle/>
                    <a:p>
                      <a:pPr>
                        <a:buNone/>
                      </a:pPr>
                      <a:r>
                        <a:rPr lang="en-IN" sz="2400" dirty="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5321753"/>
                  </a:ext>
                </a:extLst>
              </a:tr>
              <a:tr h="180230">
                <a:tc>
                  <a:txBody>
                    <a:bodyPr/>
                    <a:lstStyle/>
                    <a:p>
                      <a:pPr>
                        <a:buNone/>
                      </a:pPr>
                      <a:r>
                        <a:rPr lang="en-IN" sz="24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880142"/>
                  </a:ext>
                </a:extLst>
              </a:tr>
              <a:tr h="180230">
                <a:tc>
                  <a:txBody>
                    <a:bodyPr/>
                    <a:lstStyle/>
                    <a:p>
                      <a:pPr>
                        <a:buNone/>
                      </a:pPr>
                      <a:r>
                        <a:rPr lang="en-IN" sz="24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8406676"/>
                  </a:ext>
                </a:extLst>
              </a:tr>
              <a:tr h="180230">
                <a:tc>
                  <a:txBody>
                    <a:bodyPr/>
                    <a:lstStyle/>
                    <a:p>
                      <a:pPr>
                        <a:buNone/>
                      </a:pPr>
                      <a:r>
                        <a:rPr lang="en-IN" sz="24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162751"/>
                  </a:ext>
                </a:extLst>
              </a:tr>
              <a:tr h="180230">
                <a:tc>
                  <a:txBody>
                    <a:bodyPr/>
                    <a:lstStyle/>
                    <a:p>
                      <a:pPr>
                        <a:buNone/>
                      </a:pPr>
                      <a:r>
                        <a:rPr lang="en-IN" sz="24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5.66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666497"/>
                  </a:ext>
                </a:extLst>
              </a:tr>
              <a:tr h="180230">
                <a:tc>
                  <a:txBody>
                    <a:bodyPr/>
                    <a:lstStyle/>
                    <a:p>
                      <a:pPr>
                        <a:buNone/>
                      </a:pPr>
                      <a:r>
                        <a:rPr lang="en-IN" sz="24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014566"/>
                  </a:ext>
                </a:extLst>
              </a:tr>
            </a:tbl>
          </a:graphicData>
        </a:graphic>
      </p:graphicFrame>
      <p:sp>
        <p:nvSpPr>
          <p:cNvPr id="4" name="Content Placeholder 3">
            <a:extLst>
              <a:ext uri="{FF2B5EF4-FFF2-40B4-BE49-F238E27FC236}">
                <a16:creationId xmlns:a16="http://schemas.microsoft.com/office/drawing/2014/main" id="{B132DBBE-FF61-FF99-F2F7-B31EC0DDF8A0}"/>
              </a:ext>
            </a:extLst>
          </p:cNvPr>
          <p:cNvSpPr>
            <a:spLocks noGrp="1"/>
          </p:cNvSpPr>
          <p:nvPr>
            <p:ph sz="half" idx="2"/>
          </p:nvPr>
        </p:nvSpPr>
        <p:spPr/>
        <p:txBody>
          <a:bodyPr>
            <a:normAutofit/>
          </a:bodyPr>
          <a:lstStyle/>
          <a:p>
            <a:pPr marL="457200" indent="-457200">
              <a:buFont typeface="+mj-lt"/>
              <a:buAutoNum type="arabicPeriod" startAt="4"/>
            </a:pPr>
            <a:r>
              <a:rPr lang="en-IN" sz="2400" b="1" dirty="0"/>
              <a:t>Update Centroids</a:t>
            </a:r>
          </a:p>
        </p:txBody>
      </p:sp>
      <p:sp>
        <p:nvSpPr>
          <p:cNvPr id="7" name="TextBox 6">
            <a:extLst>
              <a:ext uri="{FF2B5EF4-FFF2-40B4-BE49-F238E27FC236}">
                <a16:creationId xmlns:a16="http://schemas.microsoft.com/office/drawing/2014/main" id="{7529FB12-CCF6-77E9-C170-398F5FCC2F49}"/>
              </a:ext>
            </a:extLst>
          </p:cNvPr>
          <p:cNvSpPr txBox="1"/>
          <p:nvPr/>
        </p:nvSpPr>
        <p:spPr>
          <a:xfrm>
            <a:off x="613741" y="1747929"/>
            <a:ext cx="5181600"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1734B5-88DE-306D-807D-EB0DF703E0DA}"/>
                  </a:ext>
                </a:extLst>
              </p:cNvPr>
              <p:cNvSpPr txBox="1"/>
              <p:nvPr/>
            </p:nvSpPr>
            <p:spPr>
              <a:xfrm>
                <a:off x="361950" y="2703881"/>
                <a:ext cx="284259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e>
                        <m:e>
                          <m:r>
                            <a:rPr lang="ar-AE" sz="2000">
                              <a:latin typeface="Cambria Math" panose="02040503050406030204" pitchFamily="18" charset="0"/>
                            </a:rPr>
                            <m:t>4</m:t>
                          </m:r>
                        </m:e>
                      </m:d>
                    </m:oMath>
                  </m:oMathPara>
                </a14:m>
                <a:endParaRPr lang="en-IN" sz="2000" dirty="0"/>
              </a:p>
            </p:txBody>
          </p:sp>
        </mc:Choice>
        <mc:Fallback xmlns="">
          <p:sp>
            <p:nvSpPr>
              <p:cNvPr id="9" name="TextBox 8">
                <a:extLst>
                  <a:ext uri="{FF2B5EF4-FFF2-40B4-BE49-F238E27FC236}">
                    <a16:creationId xmlns:a16="http://schemas.microsoft.com/office/drawing/2014/main" id="{7C1734B5-88DE-306D-807D-EB0DF703E0DA}"/>
                  </a:ext>
                </a:extLst>
              </p:cNvPr>
              <p:cNvSpPr txBox="1">
                <a:spLocks noRot="1" noChangeAspect="1" noMove="1" noResize="1" noEditPoints="1" noAdjustHandles="1" noChangeArrowheads="1" noChangeShapeType="1" noTextEdit="1"/>
              </p:cNvSpPr>
              <p:nvPr/>
            </p:nvSpPr>
            <p:spPr>
              <a:xfrm>
                <a:off x="361950" y="2703881"/>
                <a:ext cx="2842591" cy="400110"/>
              </a:xfrm>
              <a:prstGeom prst="rect">
                <a:avLst/>
              </a:prstGeom>
              <a:blipFill>
                <a:blip r:embed="rId2"/>
                <a:stretch>
                  <a:fillRect b="-1538"/>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67CCE427-356B-50A6-E5FB-3DDE03A0090A}"/>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p:pic>
        <p:nvPicPr>
          <p:cNvPr id="13" name="Picture 12">
            <a:extLst>
              <a:ext uri="{FF2B5EF4-FFF2-40B4-BE49-F238E27FC236}">
                <a16:creationId xmlns:a16="http://schemas.microsoft.com/office/drawing/2014/main" id="{1430A632-0C1B-079B-A1E5-D03A66F73626}"/>
              </a:ext>
            </a:extLst>
          </p:cNvPr>
          <p:cNvPicPr>
            <a:picLocks noChangeAspect="1"/>
          </p:cNvPicPr>
          <p:nvPr/>
        </p:nvPicPr>
        <p:blipFill>
          <a:blip r:embed="rId3"/>
          <a:stretch>
            <a:fillRect/>
          </a:stretch>
        </p:blipFill>
        <p:spPr>
          <a:xfrm>
            <a:off x="3204541" y="2636166"/>
            <a:ext cx="2857899" cy="488582"/>
          </a:xfrm>
          <a:prstGeom prst="rect">
            <a:avLst/>
          </a:prstGeom>
        </p:spPr>
      </p:pic>
      <p:pic>
        <p:nvPicPr>
          <p:cNvPr id="15" name="Picture 14">
            <a:extLst>
              <a:ext uri="{FF2B5EF4-FFF2-40B4-BE49-F238E27FC236}">
                <a16:creationId xmlns:a16="http://schemas.microsoft.com/office/drawing/2014/main" id="{576D9BEA-00E6-DCD0-D13E-7A88E251C639}"/>
              </a:ext>
            </a:extLst>
          </p:cNvPr>
          <p:cNvPicPr>
            <a:picLocks noChangeAspect="1"/>
          </p:cNvPicPr>
          <p:nvPr/>
        </p:nvPicPr>
        <p:blipFill>
          <a:blip r:embed="rId4"/>
          <a:stretch>
            <a:fillRect/>
          </a:stretch>
        </p:blipFill>
        <p:spPr>
          <a:xfrm>
            <a:off x="6360630" y="2281077"/>
            <a:ext cx="5217629" cy="3155627"/>
          </a:xfrm>
          <a:prstGeom prst="rect">
            <a:avLst/>
          </a:prstGeom>
        </p:spPr>
      </p:pic>
    </p:spTree>
    <p:extLst>
      <p:ext uri="{BB962C8B-B14F-4D97-AF65-F5344CB8AC3E}">
        <p14:creationId xmlns:p14="http://schemas.microsoft.com/office/powerpoint/2010/main" val="100484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A5B-9D5D-1642-A71B-902022B56445}"/>
              </a:ext>
            </a:extLst>
          </p:cNvPr>
          <p:cNvSpPr>
            <a:spLocks noGrp="1"/>
          </p:cNvSpPr>
          <p:nvPr>
            <p:ph type="title"/>
          </p:nvPr>
        </p:nvSpPr>
        <p:spPr/>
        <p:txBody>
          <a:bodyPr/>
          <a:lstStyle/>
          <a:p>
            <a:r>
              <a:rPr lang="en-US" dirty="0"/>
              <a:t>Simple Example of K-Means Clustering</a:t>
            </a:r>
            <a:endParaRPr lang="en-IN" dirty="0"/>
          </a:p>
        </p:txBody>
      </p:sp>
      <p:pic>
        <p:nvPicPr>
          <p:cNvPr id="1026" name="Picture 2">
            <a:extLst>
              <a:ext uri="{FF2B5EF4-FFF2-40B4-BE49-F238E27FC236}">
                <a16:creationId xmlns:a16="http://schemas.microsoft.com/office/drawing/2014/main" id="{C35BF7E7-56E3-16D2-0CA3-92C26D541C5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3257B5C-ADE0-C56B-347E-732FDD95D2E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324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FE37-03A4-D78D-3FCB-AE735B225167}"/>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6F81B0E3-B52F-2B9C-6E47-3BF68F63C598}"/>
              </a:ext>
            </a:extLst>
          </p:cNvPr>
          <p:cNvGraphicFramePr>
            <a:graphicFrameLocks noGrp="1"/>
          </p:cNvGraphicFramePr>
          <p:nvPr>
            <p:ph sz="half" idx="1"/>
          </p:nvPr>
        </p:nvGraphicFramePr>
        <p:xfrm>
          <a:off x="796787" y="3353236"/>
          <a:ext cx="5181600" cy="2753806"/>
        </p:xfrm>
        <a:graphic>
          <a:graphicData uri="http://schemas.openxmlformats.org/drawingml/2006/table">
            <a:tbl>
              <a:tblPr/>
              <a:tblGrid>
                <a:gridCol w="1295400">
                  <a:extLst>
                    <a:ext uri="{9D8B030D-6E8A-4147-A177-3AD203B41FA5}">
                      <a16:colId xmlns:a16="http://schemas.microsoft.com/office/drawing/2014/main" val="879158091"/>
                    </a:ext>
                  </a:extLst>
                </a:gridCol>
                <a:gridCol w="1295400">
                  <a:extLst>
                    <a:ext uri="{9D8B030D-6E8A-4147-A177-3AD203B41FA5}">
                      <a16:colId xmlns:a16="http://schemas.microsoft.com/office/drawing/2014/main" val="2465564020"/>
                    </a:ext>
                  </a:extLst>
                </a:gridCol>
                <a:gridCol w="1295400">
                  <a:extLst>
                    <a:ext uri="{9D8B030D-6E8A-4147-A177-3AD203B41FA5}">
                      <a16:colId xmlns:a16="http://schemas.microsoft.com/office/drawing/2014/main" val="3255851435"/>
                    </a:ext>
                  </a:extLst>
                </a:gridCol>
                <a:gridCol w="1295400">
                  <a:extLst>
                    <a:ext uri="{9D8B030D-6E8A-4147-A177-3AD203B41FA5}">
                      <a16:colId xmlns:a16="http://schemas.microsoft.com/office/drawing/2014/main" val="262458252"/>
                    </a:ext>
                  </a:extLst>
                </a:gridCol>
              </a:tblGrid>
              <a:tr h="180230">
                <a:tc>
                  <a:txBody>
                    <a:bodyPr/>
                    <a:lstStyle/>
                    <a:p>
                      <a:pPr>
                        <a:buNone/>
                      </a:pPr>
                      <a:r>
                        <a:rPr lang="en-IN" sz="20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Assigned 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3306384"/>
                  </a:ext>
                </a:extLst>
              </a:tr>
              <a:tr h="180230">
                <a:tc>
                  <a:txBody>
                    <a:bodyPr/>
                    <a:lstStyle/>
                    <a:p>
                      <a:pPr>
                        <a:buNone/>
                      </a:pPr>
                      <a:r>
                        <a:rPr lang="en-IN" sz="2000" dirty="0"/>
                        <a:t>A</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279711"/>
                  </a:ext>
                </a:extLst>
              </a:tr>
              <a:tr h="180230">
                <a:tc>
                  <a:txBody>
                    <a:bodyPr/>
                    <a:lstStyle/>
                    <a:p>
                      <a:pPr>
                        <a:buNone/>
                      </a:pPr>
                      <a:r>
                        <a:rPr lang="en-IN" sz="2000"/>
                        <a:t>B</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5.32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3248567"/>
                  </a:ext>
                </a:extLst>
              </a:tr>
              <a:tr h="180230">
                <a:tc>
                  <a:txBody>
                    <a:bodyPr/>
                    <a:lstStyle/>
                    <a:p>
                      <a:pPr>
                        <a:buNone/>
                      </a:pPr>
                      <a:r>
                        <a:rPr lang="en-IN" sz="2000"/>
                        <a:t>C</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5899279"/>
                  </a:ext>
                </a:extLst>
              </a:tr>
              <a:tr h="180230">
                <a:tc>
                  <a:txBody>
                    <a:bodyPr/>
                    <a:lstStyle/>
                    <a:p>
                      <a:pPr>
                        <a:buNone/>
                      </a:pPr>
                      <a:r>
                        <a:rPr lang="en-IN" sz="2000"/>
                        <a:t>D</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845780"/>
                  </a:ext>
                </a:extLst>
              </a:tr>
              <a:tr h="180230">
                <a:tc>
                  <a:txBody>
                    <a:bodyPr/>
                    <a:lstStyle/>
                    <a:p>
                      <a:pPr>
                        <a:buNone/>
                      </a:pPr>
                      <a:r>
                        <a:rPr lang="en-IN" sz="2000"/>
                        <a:t>E</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5.70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1648211"/>
                  </a:ext>
                </a:extLst>
              </a:tr>
              <a:tr h="180230">
                <a:tc>
                  <a:txBody>
                    <a:bodyPr/>
                    <a:lstStyle/>
                    <a:p>
                      <a:pPr>
                        <a:buNone/>
                      </a:pPr>
                      <a:r>
                        <a:rPr lang="en-IN" sz="2000"/>
                        <a:t>F</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7.11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1.80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5112493"/>
                  </a:ext>
                </a:extLst>
              </a:tr>
            </a:tbl>
          </a:graphicData>
        </a:graphic>
      </p:graphicFrame>
      <p:sp>
        <p:nvSpPr>
          <p:cNvPr id="7" name="TextBox 6">
            <a:extLst>
              <a:ext uri="{FF2B5EF4-FFF2-40B4-BE49-F238E27FC236}">
                <a16:creationId xmlns:a16="http://schemas.microsoft.com/office/drawing/2014/main" id="{B5382443-DB80-7DB2-B84B-E44D4BE4D01D}"/>
              </a:ext>
            </a:extLst>
          </p:cNvPr>
          <p:cNvSpPr txBox="1"/>
          <p:nvPr/>
        </p:nvSpPr>
        <p:spPr>
          <a:xfrm>
            <a:off x="838200" y="1825625"/>
            <a:ext cx="4946374"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p:sp>
        <p:nvSpPr>
          <p:cNvPr id="8" name="TextBox 7">
            <a:extLst>
              <a:ext uri="{FF2B5EF4-FFF2-40B4-BE49-F238E27FC236}">
                <a16:creationId xmlns:a16="http://schemas.microsoft.com/office/drawing/2014/main" id="{E411F9E9-3B09-C5CA-18FD-2591B173B0DD}"/>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AD75A3-9212-FAFA-2BE3-6D90402D411F}"/>
                  </a:ext>
                </a:extLst>
              </p:cNvPr>
              <p:cNvSpPr txBox="1"/>
              <p:nvPr/>
            </p:nvSpPr>
            <p:spPr>
              <a:xfrm>
                <a:off x="934278" y="2737494"/>
                <a:ext cx="485029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r>
                            <a:rPr lang="en-IN" sz="2000" b="0" i="0" smtClean="0">
                              <a:latin typeface="Cambria Math" panose="02040503050406030204" pitchFamily="18" charset="0"/>
                            </a:rPr>
                            <m:t>.</m:t>
                          </m:r>
                          <m:r>
                            <a:rPr lang="en-IN" sz="2000" b="0" i="0" smtClean="0">
                              <a:latin typeface="Cambria Math" panose="02040503050406030204" pitchFamily="18" charset="0"/>
                            </a:rPr>
                            <m:t>5</m:t>
                          </m:r>
                        </m:e>
                        <m:e>
                          <m:r>
                            <a:rPr lang="en-IN" sz="2000" b="0" i="1" smtClean="0">
                              <a:latin typeface="Cambria Math" panose="02040503050406030204" pitchFamily="18" charset="0"/>
                            </a:rPr>
                            <m:t>1</m:t>
                          </m:r>
                          <m:r>
                            <a:rPr lang="en-IN" sz="2000" b="0" i="1" smtClean="0">
                              <a:latin typeface="Cambria Math" panose="02040503050406030204" pitchFamily="18" charset="0"/>
                            </a:rPr>
                            <m:t>.</m:t>
                          </m:r>
                          <m:r>
                            <a:rPr lang="en-IN" sz="2000" b="0" i="1" smtClean="0">
                              <a:latin typeface="Cambria Math" panose="02040503050406030204" pitchFamily="18" charset="0"/>
                            </a:rPr>
                            <m:t>5</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r>
                            <a:rPr lang="en-IN" sz="2000" b="0" i="1" smtClean="0">
                              <a:latin typeface="Cambria Math" panose="02040503050406030204" pitchFamily="18" charset="0"/>
                            </a:rPr>
                            <m:t>.</m:t>
                          </m:r>
                          <m:r>
                            <a:rPr lang="en-IN" sz="2000" b="0" i="1" smtClean="0">
                              <a:latin typeface="Cambria Math" panose="02040503050406030204" pitchFamily="18" charset="0"/>
                            </a:rPr>
                            <m:t>5</m:t>
                          </m:r>
                        </m:e>
                        <m:e>
                          <m:r>
                            <a:rPr lang="en-IN" sz="2000" b="0" i="1" smtClean="0">
                              <a:latin typeface="Cambria Math" panose="02040503050406030204" pitchFamily="18" charset="0"/>
                            </a:rPr>
                            <m:t>5</m:t>
                          </m:r>
                        </m:e>
                      </m:d>
                    </m:oMath>
                  </m:oMathPara>
                </a14:m>
                <a:endParaRPr lang="en-IN" sz="2000" dirty="0"/>
              </a:p>
            </p:txBody>
          </p:sp>
        </mc:Choice>
        <mc:Fallback xmlns="">
          <p:sp>
            <p:nvSpPr>
              <p:cNvPr id="10" name="TextBox 9">
                <a:extLst>
                  <a:ext uri="{FF2B5EF4-FFF2-40B4-BE49-F238E27FC236}">
                    <a16:creationId xmlns:a16="http://schemas.microsoft.com/office/drawing/2014/main" id="{5AAD75A3-9212-FAFA-2BE3-6D90402D411F}"/>
                  </a:ext>
                </a:extLst>
              </p:cNvPr>
              <p:cNvSpPr txBox="1">
                <a:spLocks noRot="1" noChangeAspect="1" noMove="1" noResize="1" noEditPoints="1" noAdjustHandles="1" noChangeArrowheads="1" noChangeShapeType="1" noTextEdit="1"/>
              </p:cNvSpPr>
              <p:nvPr/>
            </p:nvSpPr>
            <p:spPr>
              <a:xfrm>
                <a:off x="934278" y="2737494"/>
                <a:ext cx="4850296" cy="400110"/>
              </a:xfrm>
              <a:prstGeom prst="rect">
                <a:avLst/>
              </a:prstGeom>
              <a:blipFill>
                <a:blip r:embed="rId2"/>
                <a:stretch>
                  <a:fillRect/>
                </a:stretch>
              </a:blipFill>
            </p:spPr>
            <p:txBody>
              <a:bodyPr/>
              <a:lstStyle/>
              <a:p>
                <a:r>
                  <a:rPr lang="en-IN">
                    <a:noFill/>
                  </a:rPr>
                  <a:t> </a:t>
                </a:r>
              </a:p>
            </p:txBody>
          </p:sp>
        </mc:Fallback>
      </mc:AlternateContent>
      <p:pic>
        <p:nvPicPr>
          <p:cNvPr id="11" name="Content Placeholder 10">
            <a:extLst>
              <a:ext uri="{FF2B5EF4-FFF2-40B4-BE49-F238E27FC236}">
                <a16:creationId xmlns:a16="http://schemas.microsoft.com/office/drawing/2014/main" id="{6B72C889-E226-59DB-E636-BE105F172CEB}"/>
              </a:ext>
            </a:extLst>
          </p:cNvPr>
          <p:cNvPicPr>
            <a:picLocks noGrp="1" noChangeAspect="1"/>
          </p:cNvPicPr>
          <p:nvPr>
            <p:ph sz="half" idx="2"/>
          </p:nvPr>
        </p:nvPicPr>
        <p:blipFill>
          <a:blip r:embed="rId3"/>
          <a:stretch>
            <a:fillRect/>
          </a:stretch>
        </p:blipFill>
        <p:spPr>
          <a:xfrm>
            <a:off x="6172200" y="3055260"/>
            <a:ext cx="5181600" cy="1892068"/>
          </a:xfrm>
          <a:prstGeom prst="rect">
            <a:avLst/>
          </a:prstGeom>
        </p:spPr>
      </p:pic>
      <p:sp>
        <p:nvSpPr>
          <p:cNvPr id="13" name="TextBox 12">
            <a:extLst>
              <a:ext uri="{FF2B5EF4-FFF2-40B4-BE49-F238E27FC236}">
                <a16:creationId xmlns:a16="http://schemas.microsoft.com/office/drawing/2014/main" id="{1CBBB201-992A-0DF5-D4A4-08D980BB8FBE}"/>
              </a:ext>
            </a:extLst>
          </p:cNvPr>
          <p:cNvSpPr txBox="1"/>
          <p:nvPr/>
        </p:nvSpPr>
        <p:spPr>
          <a:xfrm>
            <a:off x="7317683" y="1921797"/>
            <a:ext cx="3943352" cy="400110"/>
          </a:xfrm>
          <a:prstGeom prst="rect">
            <a:avLst/>
          </a:prstGeom>
          <a:noFill/>
        </p:spPr>
        <p:txBody>
          <a:bodyPr wrap="square">
            <a:spAutoFit/>
          </a:bodyPr>
          <a:lstStyle/>
          <a:p>
            <a:pPr marL="457200" indent="-457200">
              <a:buFont typeface="+mj-lt"/>
              <a:buAutoNum type="arabicPeriod" startAt="4"/>
            </a:pPr>
            <a:r>
              <a:rPr lang="en-IN" sz="2000" b="1" dirty="0"/>
              <a:t>Update Centroids</a:t>
            </a:r>
          </a:p>
        </p:txBody>
      </p:sp>
      <p:sp>
        <p:nvSpPr>
          <p:cNvPr id="14" name="TextBox 13">
            <a:extLst>
              <a:ext uri="{FF2B5EF4-FFF2-40B4-BE49-F238E27FC236}">
                <a16:creationId xmlns:a16="http://schemas.microsoft.com/office/drawing/2014/main" id="{8C8C685B-6506-6BB2-383F-2EC2C2DB51F8}"/>
              </a:ext>
            </a:extLst>
          </p:cNvPr>
          <p:cNvSpPr txBox="1"/>
          <p:nvPr/>
        </p:nvSpPr>
        <p:spPr>
          <a:xfrm>
            <a:off x="3756991" y="1371450"/>
            <a:ext cx="7178535" cy="461665"/>
          </a:xfrm>
          <a:prstGeom prst="rect">
            <a:avLst/>
          </a:prstGeom>
          <a:noFill/>
        </p:spPr>
        <p:txBody>
          <a:bodyPr wrap="square" rtlCol="0">
            <a:spAutoFit/>
          </a:bodyPr>
          <a:lstStyle/>
          <a:p>
            <a:r>
              <a:rPr lang="en-IN" sz="2400" b="1" dirty="0"/>
              <a:t>Repeat Step 3, 4</a:t>
            </a:r>
          </a:p>
        </p:txBody>
      </p:sp>
    </p:spTree>
    <p:extLst>
      <p:ext uri="{BB962C8B-B14F-4D97-AF65-F5344CB8AC3E}">
        <p14:creationId xmlns:p14="http://schemas.microsoft.com/office/powerpoint/2010/main" val="2832980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7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endParaRPr/>
          </a:p>
        </p:txBody>
      </p:sp>
      <p:sp>
        <p:nvSpPr>
          <p:cNvPr id="627" name="Google Shape;627;p7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628" name="Google Shape;628;p77"/>
          <p:cNvPicPr preferRelativeResize="0"/>
          <p:nvPr/>
        </p:nvPicPr>
        <p:blipFill rotWithShape="1">
          <a:blip r:embed="rId3">
            <a:alphaModFix/>
          </a:blip>
          <a:srcRect/>
          <a:stretch/>
        </p:blipFill>
        <p:spPr>
          <a:xfrm>
            <a:off x="358325" y="1495425"/>
            <a:ext cx="10735925" cy="4895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endParaRPr/>
          </a:p>
        </p:txBody>
      </p:sp>
      <p:sp>
        <p:nvSpPr>
          <p:cNvPr id="634" name="Google Shape;634;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635" name="Google Shape;635;p78"/>
          <p:cNvPicPr preferRelativeResize="0"/>
          <p:nvPr/>
        </p:nvPicPr>
        <p:blipFill rotWithShape="1">
          <a:blip r:embed="rId3">
            <a:alphaModFix/>
          </a:blip>
          <a:srcRect/>
          <a:stretch/>
        </p:blipFill>
        <p:spPr>
          <a:xfrm>
            <a:off x="788150" y="459075"/>
            <a:ext cx="10076874" cy="5003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7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endParaRPr/>
          </a:p>
        </p:txBody>
      </p:sp>
      <p:sp>
        <p:nvSpPr>
          <p:cNvPr id="641" name="Google Shape;641;p7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642" name="Google Shape;642;p79"/>
          <p:cNvPicPr preferRelativeResize="0"/>
          <p:nvPr/>
        </p:nvPicPr>
        <p:blipFill rotWithShape="1">
          <a:blip r:embed="rId3">
            <a:alphaModFix/>
          </a:blip>
          <a:srcRect/>
          <a:stretch/>
        </p:blipFill>
        <p:spPr>
          <a:xfrm>
            <a:off x="778600" y="365125"/>
            <a:ext cx="10575199" cy="591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8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endParaRPr/>
          </a:p>
        </p:txBody>
      </p:sp>
      <p:sp>
        <p:nvSpPr>
          <p:cNvPr id="648" name="Google Shape;648;p8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649" name="Google Shape;649;p80"/>
          <p:cNvPicPr preferRelativeResize="0"/>
          <p:nvPr/>
        </p:nvPicPr>
        <p:blipFill rotWithShape="1">
          <a:blip r:embed="rId3">
            <a:alphaModFix/>
          </a:blip>
          <a:srcRect/>
          <a:stretch/>
        </p:blipFill>
        <p:spPr>
          <a:xfrm>
            <a:off x="778600" y="432940"/>
            <a:ext cx="10575200" cy="555646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8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655" name="Google Shape;655;p81"/>
          <p:cNvPicPr preferRelativeResize="0">
            <a:picLocks noGrp="1"/>
          </p:cNvPicPr>
          <p:nvPr>
            <p:ph type="body" idx="1"/>
          </p:nvPr>
        </p:nvPicPr>
        <p:blipFill rotWithShape="1">
          <a:blip r:embed="rId3">
            <a:alphaModFix/>
          </a:blip>
          <a:srcRect/>
          <a:stretch/>
        </p:blipFill>
        <p:spPr>
          <a:xfrm>
            <a:off x="345995" y="196645"/>
            <a:ext cx="11167500" cy="6381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73272D-B404-26DC-40A5-E21C4CBE94B0}"/>
              </a:ext>
            </a:extLst>
          </p:cNvPr>
          <p:cNvSpPr>
            <a:spLocks noGrp="1"/>
          </p:cNvSpPr>
          <p:nvPr>
            <p:ph type="title"/>
          </p:nvPr>
        </p:nvSpPr>
        <p:spPr/>
        <p:txBody>
          <a:bodyPr/>
          <a:lstStyle/>
          <a:p>
            <a:r>
              <a:rPr lang="en-IN" dirty="0"/>
              <a:t>Limitations of k means clustering</a:t>
            </a:r>
          </a:p>
        </p:txBody>
      </p:sp>
      <p:sp>
        <p:nvSpPr>
          <p:cNvPr id="6" name="Content Placeholder 5">
            <a:extLst>
              <a:ext uri="{FF2B5EF4-FFF2-40B4-BE49-F238E27FC236}">
                <a16:creationId xmlns:a16="http://schemas.microsoft.com/office/drawing/2014/main" id="{4EE02956-DBDB-B9D8-3B6A-7383F4AEAD12}"/>
              </a:ext>
            </a:extLst>
          </p:cNvPr>
          <p:cNvSpPr>
            <a:spLocks noGrp="1"/>
          </p:cNvSpPr>
          <p:nvPr>
            <p:ph idx="1"/>
          </p:nvPr>
        </p:nvSpPr>
        <p:spPr/>
        <p:txBody>
          <a:bodyPr/>
          <a:lstStyle/>
          <a:p>
            <a:r>
              <a:rPr lang="en-US" dirty="0"/>
              <a:t>K-means clustering needs the number of clusters to be specified. </a:t>
            </a:r>
          </a:p>
          <a:p>
            <a:r>
              <a:rPr lang="en-US" dirty="0"/>
              <a:t>K-means has problems when clusters are of differing sized, densities, and nonglobular shapes. </a:t>
            </a:r>
          </a:p>
          <a:p>
            <a:r>
              <a:rPr lang="en-US" dirty="0"/>
              <a:t>Presence of outlier can skew the results.</a:t>
            </a:r>
            <a:endParaRPr lang="en-IN" dirty="0"/>
          </a:p>
        </p:txBody>
      </p:sp>
    </p:spTree>
    <p:extLst>
      <p:ext uri="{BB962C8B-B14F-4D97-AF65-F5344CB8AC3E}">
        <p14:creationId xmlns:p14="http://schemas.microsoft.com/office/powerpoint/2010/main" val="322092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1FC6-0984-833A-2F00-8682DA494D31}"/>
              </a:ext>
            </a:extLst>
          </p:cNvPr>
          <p:cNvSpPr>
            <a:spLocks noGrp="1"/>
          </p:cNvSpPr>
          <p:nvPr>
            <p:ph type="title"/>
          </p:nvPr>
        </p:nvSpPr>
        <p:spPr/>
        <p:txBody>
          <a:bodyPr/>
          <a:lstStyle/>
          <a:p>
            <a:r>
              <a:rPr lang="en-IN" dirty="0"/>
              <a:t>Failure cases of k-means</a:t>
            </a:r>
          </a:p>
        </p:txBody>
      </p:sp>
      <p:pic>
        <p:nvPicPr>
          <p:cNvPr id="5" name="Content Placeholder 4">
            <a:extLst>
              <a:ext uri="{FF2B5EF4-FFF2-40B4-BE49-F238E27FC236}">
                <a16:creationId xmlns:a16="http://schemas.microsoft.com/office/drawing/2014/main" id="{42DC6BF9-CE4A-8929-AA30-935482CB0892}"/>
              </a:ext>
            </a:extLst>
          </p:cNvPr>
          <p:cNvPicPr>
            <a:picLocks noGrp="1" noChangeAspect="1"/>
          </p:cNvPicPr>
          <p:nvPr>
            <p:ph idx="1"/>
          </p:nvPr>
        </p:nvPicPr>
        <p:blipFill>
          <a:blip r:embed="rId2"/>
          <a:stretch>
            <a:fillRect/>
          </a:stretch>
        </p:blipFill>
        <p:spPr>
          <a:xfrm>
            <a:off x="212880" y="1437998"/>
            <a:ext cx="5333156" cy="3695375"/>
          </a:xfrm>
          <a:prstGeom prst="rect">
            <a:avLst/>
          </a:prstGeom>
        </p:spPr>
      </p:pic>
      <p:sp>
        <p:nvSpPr>
          <p:cNvPr id="7" name="TextBox 6">
            <a:extLst>
              <a:ext uri="{FF2B5EF4-FFF2-40B4-BE49-F238E27FC236}">
                <a16:creationId xmlns:a16="http://schemas.microsoft.com/office/drawing/2014/main" id="{61F5424A-62B0-265C-1355-DA2A6270D14D}"/>
              </a:ext>
            </a:extLst>
          </p:cNvPr>
          <p:cNvSpPr txBox="1"/>
          <p:nvPr/>
        </p:nvSpPr>
        <p:spPr>
          <a:xfrm>
            <a:off x="536713" y="5133373"/>
            <a:ext cx="5009323" cy="400110"/>
          </a:xfrm>
          <a:prstGeom prst="rect">
            <a:avLst/>
          </a:prstGeom>
          <a:noFill/>
        </p:spPr>
        <p:txBody>
          <a:bodyPr wrap="square">
            <a:spAutoFit/>
          </a:bodyPr>
          <a:lstStyle/>
          <a:p>
            <a:r>
              <a:rPr lang="en-US" sz="2000" b="1" u="none" strike="noStrike" baseline="0" dirty="0"/>
              <a:t>k-means fails to identify nonspherical clusters</a:t>
            </a:r>
            <a:endParaRPr lang="en-IN" sz="2000" b="1" dirty="0"/>
          </a:p>
        </p:txBody>
      </p:sp>
      <p:pic>
        <p:nvPicPr>
          <p:cNvPr id="9" name="Picture 8">
            <a:extLst>
              <a:ext uri="{FF2B5EF4-FFF2-40B4-BE49-F238E27FC236}">
                <a16:creationId xmlns:a16="http://schemas.microsoft.com/office/drawing/2014/main" id="{D28E6E12-0A88-60D5-449C-63054148E683}"/>
              </a:ext>
            </a:extLst>
          </p:cNvPr>
          <p:cNvPicPr>
            <a:picLocks noChangeAspect="1"/>
          </p:cNvPicPr>
          <p:nvPr/>
        </p:nvPicPr>
        <p:blipFill>
          <a:blip r:embed="rId3"/>
          <a:stretch>
            <a:fillRect/>
          </a:stretch>
        </p:blipFill>
        <p:spPr>
          <a:xfrm>
            <a:off x="6171356" y="1294351"/>
            <a:ext cx="5688732" cy="3839022"/>
          </a:xfrm>
          <a:prstGeom prst="rect">
            <a:avLst/>
          </a:prstGeom>
        </p:spPr>
      </p:pic>
      <p:sp>
        <p:nvSpPr>
          <p:cNvPr id="11" name="TextBox 10">
            <a:extLst>
              <a:ext uri="{FF2B5EF4-FFF2-40B4-BE49-F238E27FC236}">
                <a16:creationId xmlns:a16="http://schemas.microsoft.com/office/drawing/2014/main" id="{30A51620-AF00-2E81-AEAC-9ABEAA0782A3}"/>
              </a:ext>
            </a:extLst>
          </p:cNvPr>
          <p:cNvSpPr txBox="1"/>
          <p:nvPr/>
        </p:nvSpPr>
        <p:spPr>
          <a:xfrm>
            <a:off x="6096000" y="5163539"/>
            <a:ext cx="5923722" cy="400110"/>
          </a:xfrm>
          <a:prstGeom prst="rect">
            <a:avLst/>
          </a:prstGeom>
          <a:noFill/>
        </p:spPr>
        <p:txBody>
          <a:bodyPr wrap="square">
            <a:spAutoFit/>
          </a:bodyPr>
          <a:lstStyle/>
          <a:p>
            <a:r>
              <a:rPr lang="en-US" sz="2000" b="1" u="none" strike="noStrike" baseline="0" dirty="0"/>
              <a:t>k-means fails to identify clusters with complex shapes</a:t>
            </a:r>
            <a:endParaRPr lang="en-IN" sz="2000" b="1" dirty="0"/>
          </a:p>
        </p:txBody>
      </p:sp>
    </p:spTree>
    <p:extLst>
      <p:ext uri="{BB962C8B-B14F-4D97-AF65-F5344CB8AC3E}">
        <p14:creationId xmlns:p14="http://schemas.microsoft.com/office/powerpoint/2010/main" val="3832428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86F3-A3E0-FCD4-1028-D7612AF4B806}"/>
              </a:ext>
            </a:extLst>
          </p:cNvPr>
          <p:cNvSpPr>
            <a:spLocks noGrp="1"/>
          </p:cNvSpPr>
          <p:nvPr>
            <p:ph type="title"/>
          </p:nvPr>
        </p:nvSpPr>
        <p:spPr/>
        <p:txBody>
          <a:bodyPr/>
          <a:lstStyle/>
          <a:p>
            <a:r>
              <a:rPr lang="en-IN"/>
              <a:t>Use cases</a:t>
            </a:r>
          </a:p>
        </p:txBody>
      </p:sp>
      <p:sp>
        <p:nvSpPr>
          <p:cNvPr id="3" name="Content Placeholder 2">
            <a:extLst>
              <a:ext uri="{FF2B5EF4-FFF2-40B4-BE49-F238E27FC236}">
                <a16:creationId xmlns:a16="http://schemas.microsoft.com/office/drawing/2014/main" id="{F7ADEE58-48A9-0A48-D3E7-EAD5E45513D1}"/>
              </a:ext>
            </a:extLst>
          </p:cNvPr>
          <p:cNvSpPr>
            <a:spLocks noGrp="1"/>
          </p:cNvSpPr>
          <p:nvPr>
            <p:ph idx="1"/>
          </p:nvPr>
        </p:nvSpPr>
        <p:spPr/>
        <p:txBody>
          <a:bodyPr/>
          <a:lstStyle/>
          <a:p>
            <a:r>
              <a:rPr lang="en-US" dirty="0"/>
              <a:t>K-Means is widely used for many applications. </a:t>
            </a:r>
          </a:p>
          <a:p>
            <a:pPr lvl="1"/>
            <a:r>
              <a:rPr lang="en-US" dirty="0"/>
              <a:t>Image Segmentation </a:t>
            </a:r>
          </a:p>
          <a:p>
            <a:pPr lvl="1"/>
            <a:r>
              <a:rPr lang="en-US" dirty="0"/>
              <a:t>Clustering Gene Segmentation Data </a:t>
            </a:r>
          </a:p>
          <a:p>
            <a:pPr lvl="1"/>
            <a:r>
              <a:rPr lang="en-US" dirty="0"/>
              <a:t>News Article Clustering </a:t>
            </a:r>
          </a:p>
          <a:p>
            <a:pPr lvl="1"/>
            <a:r>
              <a:rPr lang="en-US" dirty="0"/>
              <a:t>Clustering Languages </a:t>
            </a:r>
          </a:p>
          <a:p>
            <a:pPr lvl="1"/>
            <a:r>
              <a:rPr lang="en-US" dirty="0"/>
              <a:t>Species Clustering</a:t>
            </a:r>
          </a:p>
          <a:p>
            <a:pPr lvl="1"/>
            <a:r>
              <a:rPr lang="en-US" dirty="0"/>
              <a:t>Anomaly Detection</a:t>
            </a:r>
            <a:endParaRPr lang="en-IN" dirty="0"/>
          </a:p>
        </p:txBody>
      </p:sp>
    </p:spTree>
    <p:extLst>
      <p:ext uri="{BB962C8B-B14F-4D97-AF65-F5344CB8AC3E}">
        <p14:creationId xmlns:p14="http://schemas.microsoft.com/office/powerpoint/2010/main" val="139859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20B6-3FC9-69DA-ECA5-BC4B4FBAC651}"/>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1BFD141F-D4E1-3DAB-8808-DA8A5EDF7089}"/>
              </a:ext>
            </a:extLst>
          </p:cNvPr>
          <p:cNvSpPr>
            <a:spLocks noGrp="1"/>
          </p:cNvSpPr>
          <p:nvPr>
            <p:ph idx="1"/>
          </p:nvPr>
        </p:nvSpPr>
        <p:spPr/>
        <p:txBody>
          <a:bodyPr>
            <a:normAutofit/>
          </a:bodyPr>
          <a:lstStyle/>
          <a:p>
            <a:r>
              <a:rPr lang="en-US" sz="2400" dirty="0"/>
              <a:t>An important improvement to the K-Means algorithm, </a:t>
            </a:r>
            <a:r>
              <a:rPr lang="en-US" sz="2400" i="1" dirty="0"/>
              <a:t>K-Means++</a:t>
            </a:r>
            <a:r>
              <a:rPr lang="en-US" sz="2400" dirty="0"/>
              <a:t>, was proposed in a 2006 paper by David Arthur and Sergei </a:t>
            </a:r>
            <a:r>
              <a:rPr lang="en-US" sz="2400" dirty="0" err="1"/>
              <a:t>Vassilvitskii</a:t>
            </a:r>
            <a:r>
              <a:rPr lang="en-US" sz="2400" dirty="0"/>
              <a:t>. </a:t>
            </a:r>
          </a:p>
          <a:p>
            <a:r>
              <a:rPr lang="en-US" sz="2400" dirty="0"/>
              <a:t>They introduced a smarter initialization step that tends to select centroids that are distant from one another, and this improvement makes the K-Means algorithm much less likely to converge to a suboptimal solution. </a:t>
            </a:r>
          </a:p>
          <a:p>
            <a:r>
              <a:rPr lang="en-US" sz="2400" dirty="0"/>
              <a:t>They showed that the additional computation required for the smarter initialization step is well worth it because it makes it possible to drastically reduce the number of times the algorithm needs to be run to find the optimal solution.</a:t>
            </a:r>
            <a:endParaRPr lang="en-IN" sz="2400" dirty="0"/>
          </a:p>
        </p:txBody>
      </p:sp>
    </p:spTree>
    <p:extLst>
      <p:ext uri="{BB962C8B-B14F-4D97-AF65-F5344CB8AC3E}">
        <p14:creationId xmlns:p14="http://schemas.microsoft.com/office/powerpoint/2010/main" val="2696321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35EF-A723-CBF2-C9FC-E374C92D8907}"/>
              </a:ext>
            </a:extLst>
          </p:cNvPr>
          <p:cNvSpPr>
            <a:spLocks noGrp="1"/>
          </p:cNvSpPr>
          <p:nvPr>
            <p:ph type="title"/>
          </p:nvPr>
        </p:nvSpPr>
        <p:spPr/>
        <p:txBody>
          <a:bodyPr/>
          <a:lstStyle/>
          <a:p>
            <a:r>
              <a:rPr lang="en-IN" dirty="0"/>
              <a:t>K-Means++ initialization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30388B-936B-6FE3-015C-BE69DB05C97F}"/>
                  </a:ext>
                </a:extLst>
              </p:cNvPr>
              <p:cNvSpPr>
                <a:spLocks noGrp="1"/>
              </p:cNvSpPr>
              <p:nvPr>
                <p:ph idx="1"/>
              </p:nvPr>
            </p:nvSpPr>
            <p:spPr/>
            <p:txBody>
              <a:bodyPr>
                <a:normAutofit/>
              </a:bodyPr>
              <a:lstStyle/>
              <a:p>
                <a:pPr marL="457200" indent="-457200">
                  <a:buFont typeface="+mj-lt"/>
                  <a:buAutoNum type="arabicPeriod"/>
                </a:pPr>
                <a:r>
                  <a:rPr lang="en-US" sz="2400" dirty="0"/>
                  <a:t>Take one centroid </a:t>
                </a:r>
                <a:r>
                  <a:rPr lang="en-US" sz="2400" b="1" dirty="0"/>
                  <a:t>c</a:t>
                </a:r>
                <a:r>
                  <a:rPr lang="en-US" sz="2400" dirty="0"/>
                  <a:t>, chosen uniformly at random from the dataset.</a:t>
                </a:r>
              </a:p>
              <a:p>
                <a:pPr marL="457200" indent="-457200">
                  <a:buFont typeface="+mj-lt"/>
                  <a:buAutoNum type="arabicPeriod"/>
                </a:pPr>
                <a:r>
                  <a:rPr lang="en-US" sz="2400" dirty="0"/>
                  <a:t>Take a new centroid </a:t>
                </a:r>
                <a:r>
                  <a:rPr lang="en-US" sz="2400" b="1" dirty="0"/>
                  <a:t>c</a:t>
                </a:r>
                <a:r>
                  <a:rPr lang="en-US" sz="2400" baseline="30000" dirty="0"/>
                  <a:t>(</a:t>
                </a:r>
                <a:r>
                  <a:rPr lang="en-US" sz="2400" i="1" baseline="30000" dirty="0" err="1"/>
                  <a:t>i</a:t>
                </a:r>
                <a:r>
                  <a:rPr lang="en-US" sz="2400" baseline="30000" dirty="0"/>
                  <a:t>)</a:t>
                </a:r>
                <a:r>
                  <a:rPr lang="en-US" sz="2400" dirty="0"/>
                  <a:t>, choosing an instance </a:t>
                </a:r>
                <a:r>
                  <a:rPr lang="en-US" sz="2400" b="1" dirty="0"/>
                  <a:t>x</a:t>
                </a:r>
                <a:r>
                  <a:rPr lang="en-US" sz="2400" baseline="30000" dirty="0"/>
                  <a:t>(</a:t>
                </a:r>
                <a:r>
                  <a:rPr lang="en-US" sz="2400" i="1" baseline="30000" dirty="0" err="1"/>
                  <a:t>i</a:t>
                </a:r>
                <a:r>
                  <a:rPr lang="en-US" sz="2400" baseline="30000" dirty="0"/>
                  <a:t>)</a:t>
                </a:r>
                <a:r>
                  <a:rPr lang="en-US" sz="2400" dirty="0"/>
                  <a:t> with probability </a:t>
                </a:r>
                <a:r>
                  <a:rPr lang="en-US" sz="2400" i="1" dirty="0"/>
                  <a:t>D(</a:t>
                </a:r>
                <a:r>
                  <a:rPr lang="en-US" sz="2400" b="1" dirty="0"/>
                  <a:t>x</a:t>
                </a:r>
                <a:r>
                  <a:rPr lang="en-US" sz="2400" baseline="30000" dirty="0"/>
                  <a:t>(</a:t>
                </a:r>
                <a:r>
                  <a:rPr lang="en-US" sz="2400" i="1" baseline="30000" dirty="0" err="1"/>
                  <a:t>i</a:t>
                </a:r>
                <a:r>
                  <a:rPr lang="en-US" sz="2400" baseline="30000" dirty="0"/>
                  <a:t>)</a:t>
                </a:r>
                <a:r>
                  <a:rPr lang="en-US" sz="2400" i="1" dirty="0"/>
                  <a:t>)</a:t>
                </a:r>
                <a:r>
                  <a:rPr lang="en-US" sz="2400" baseline="30000" dirty="0"/>
                  <a:t>2</a:t>
                </a:r>
                <a:r>
                  <a:rPr lang="en-US" sz="2400" dirty="0"/>
                  <a:t>/</a:t>
                </a:r>
                <a14:m>
                  <m:oMath xmlns:m="http://schemas.openxmlformats.org/officeDocument/2006/math">
                    <m:nary>
                      <m:naryPr>
                        <m:chr m:val="∑"/>
                        <m:ctrlPr>
                          <a:rPr lang="pt-BR" sz="2400" i="1" smtClean="0">
                            <a:latin typeface="Cambria Math" panose="02040503050406030204" pitchFamily="18" charset="0"/>
                          </a:rPr>
                        </m:ctrlPr>
                      </m:naryPr>
                      <m:sub>
                        <m:r>
                          <m:rPr>
                            <m:brk m:alnAt="23"/>
                          </m:rPr>
                          <a:rPr lang="en-IN" sz="2400" b="0" i="1" smtClean="0">
                            <a:latin typeface="Cambria Math" panose="02040503050406030204" pitchFamily="18" charset="0"/>
                          </a:rPr>
                          <m:t>𝑗</m:t>
                        </m:r>
                        <m:r>
                          <a:rPr lang="en-IN" sz="2400" b="0" i="1" smtClean="0">
                            <a:latin typeface="Cambria Math" panose="02040503050406030204" pitchFamily="18" charset="0"/>
                          </a:rPr>
                          <m:t>=1</m:t>
                        </m:r>
                      </m:sub>
                      <m:sup>
                        <m:r>
                          <a:rPr lang="en-IN" sz="2400" b="0" i="1" smtClean="0">
                            <a:latin typeface="Cambria Math" panose="02040503050406030204" pitchFamily="18" charset="0"/>
                          </a:rPr>
                          <m:t>𝑚</m:t>
                        </m:r>
                      </m:sup>
                      <m:e>
                        <m:r>
                          <m:rPr>
                            <m:nor/>
                          </m:rPr>
                          <a:rPr lang="en-US" sz="2400" i="1" dirty="0"/>
                          <m:t>D</m:t>
                        </m:r>
                        <m:r>
                          <m:rPr>
                            <m:nor/>
                          </m:rPr>
                          <a:rPr lang="en-US" sz="2400" i="1" dirty="0"/>
                          <m:t>(</m:t>
                        </m:r>
                        <m:r>
                          <m:rPr>
                            <m:nor/>
                          </m:rPr>
                          <a:rPr lang="en-US" sz="2400" b="1" dirty="0"/>
                          <m:t>x</m:t>
                        </m:r>
                        <m:r>
                          <m:rPr>
                            <m:nor/>
                          </m:rPr>
                          <a:rPr lang="en-US" sz="2400" baseline="30000" dirty="0"/>
                          <m:t>(</m:t>
                        </m:r>
                        <m:r>
                          <m:rPr>
                            <m:nor/>
                          </m:rPr>
                          <a:rPr lang="en-IN" sz="2400" b="0" i="1" baseline="30000" dirty="0" smtClean="0"/>
                          <m:t>j</m:t>
                        </m:r>
                        <m:r>
                          <m:rPr>
                            <m:nor/>
                          </m:rPr>
                          <a:rPr lang="en-US" sz="2400" baseline="30000" dirty="0"/>
                          <m:t>)</m:t>
                        </m:r>
                        <m:r>
                          <m:rPr>
                            <m:nor/>
                          </m:rPr>
                          <a:rPr lang="en-US" sz="2400" i="1" dirty="0"/>
                          <m:t>)</m:t>
                        </m:r>
                        <m:r>
                          <m:rPr>
                            <m:nor/>
                          </m:rPr>
                          <a:rPr lang="en-US" sz="2400" baseline="30000" dirty="0"/>
                          <m:t>2</m:t>
                        </m:r>
                      </m:e>
                    </m:nary>
                  </m:oMath>
                </a14:m>
                <a:r>
                  <a:rPr lang="en-US" sz="2400" dirty="0"/>
                  <a:t>, where </a:t>
                </a:r>
                <a:r>
                  <a:rPr lang="en-US" sz="2400" i="1" dirty="0"/>
                  <a:t>D(</a:t>
                </a:r>
                <a:r>
                  <a:rPr lang="en-US" sz="2400" b="1" dirty="0"/>
                  <a:t>x</a:t>
                </a:r>
                <a:r>
                  <a:rPr lang="en-US" sz="2400" baseline="30000" dirty="0"/>
                  <a:t>(</a:t>
                </a:r>
                <a:r>
                  <a:rPr lang="en-US" sz="2400" i="1" baseline="30000" dirty="0" err="1"/>
                  <a:t>i</a:t>
                </a:r>
                <a:r>
                  <a:rPr lang="en-US" sz="2400" baseline="30000" dirty="0"/>
                  <a:t>)</a:t>
                </a:r>
                <a:r>
                  <a:rPr lang="en-US" sz="2400" i="1" dirty="0"/>
                  <a:t>)</a:t>
                </a:r>
                <a:r>
                  <a:rPr lang="en-US" sz="2400" dirty="0"/>
                  <a:t> is the distance between the instance </a:t>
                </a:r>
                <a:r>
                  <a:rPr lang="en-US" sz="2400" b="1" dirty="0"/>
                  <a:t>x</a:t>
                </a:r>
                <a:r>
                  <a:rPr lang="en-US" sz="2400" dirty="0"/>
                  <a:t>(</a:t>
                </a:r>
                <a:r>
                  <a:rPr lang="en-US" sz="2400" i="1" dirty="0" err="1"/>
                  <a:t>i</a:t>
                </a:r>
                <a:r>
                  <a:rPr lang="en-US" sz="2400" dirty="0"/>
                  <a:t>) and the closest centroid that was already chosen. </a:t>
                </a:r>
              </a:p>
              <a:p>
                <a:pPr lvl="1"/>
                <a:r>
                  <a:rPr lang="en-US" sz="2000" dirty="0"/>
                  <a:t>This probability distribution ensures that instances farther away from already chosen centroids are much more likely be </a:t>
                </a:r>
                <a:r>
                  <a:rPr lang="en-IN" sz="2000" dirty="0"/>
                  <a:t>selected as centroids. </a:t>
                </a:r>
              </a:p>
              <a:p>
                <a:pPr marL="457200" indent="-457200">
                  <a:buFont typeface="+mj-lt"/>
                  <a:buAutoNum type="arabicPeriod"/>
                </a:pPr>
                <a:r>
                  <a:rPr lang="en-US" sz="2400" dirty="0"/>
                  <a:t>Repeat the previous step until all </a:t>
                </a:r>
                <a:r>
                  <a:rPr lang="en-US" sz="2400" i="1" dirty="0"/>
                  <a:t>k </a:t>
                </a:r>
                <a:r>
                  <a:rPr lang="en-US" sz="2400" dirty="0"/>
                  <a:t>centroids have been chosen.</a:t>
                </a:r>
                <a:endParaRPr lang="en-IN" sz="2400" dirty="0"/>
              </a:p>
            </p:txBody>
          </p:sp>
        </mc:Choice>
        <mc:Fallback xmlns="">
          <p:sp>
            <p:nvSpPr>
              <p:cNvPr id="3" name="Content Placeholder 2">
                <a:extLst>
                  <a:ext uri="{FF2B5EF4-FFF2-40B4-BE49-F238E27FC236}">
                    <a16:creationId xmlns:a16="http://schemas.microsoft.com/office/drawing/2014/main" id="{8730388B-936B-6FE3-015C-BE69DB05C97F}"/>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IN">
                    <a:noFill/>
                  </a:rPr>
                  <a:t> </a:t>
                </a:r>
              </a:p>
            </p:txBody>
          </p:sp>
        </mc:Fallback>
      </mc:AlternateContent>
    </p:spTree>
    <p:extLst>
      <p:ext uri="{BB962C8B-B14F-4D97-AF65-F5344CB8AC3E}">
        <p14:creationId xmlns:p14="http://schemas.microsoft.com/office/powerpoint/2010/main" val="1658477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0C2B-6E7F-CD8B-BE56-60C66ABE6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F7CDD-DCFA-9232-E4DD-C1DC82E190DE}"/>
              </a:ext>
            </a:extLst>
          </p:cNvPr>
          <p:cNvSpPr>
            <a:spLocks noGrp="1"/>
          </p:cNvSpPr>
          <p:nvPr>
            <p:ph type="title"/>
          </p:nvPr>
        </p:nvSpPr>
        <p:spPr/>
        <p:txBody>
          <a:bodyPr/>
          <a:lstStyle/>
          <a:p>
            <a:r>
              <a:rPr lang="en-US" dirty="0"/>
              <a:t>Simple Example of K-Means++ Clustering</a:t>
            </a:r>
            <a:endParaRPr lang="en-IN" dirty="0"/>
          </a:p>
        </p:txBody>
      </p:sp>
      <p:sp>
        <p:nvSpPr>
          <p:cNvPr id="3" name="Content Placeholder 2">
            <a:extLst>
              <a:ext uri="{FF2B5EF4-FFF2-40B4-BE49-F238E27FC236}">
                <a16:creationId xmlns:a16="http://schemas.microsoft.com/office/drawing/2014/main" id="{86D8C8BC-DC38-1713-7425-F701DF228567}"/>
              </a:ext>
            </a:extLst>
          </p:cNvPr>
          <p:cNvSpPr>
            <a:spLocks noGrp="1"/>
          </p:cNvSpPr>
          <p:nvPr>
            <p:ph sz="half" idx="1"/>
          </p:nvPr>
        </p:nvSpPr>
        <p:spPr/>
        <p:txBody>
          <a:bodyPr>
            <a:normAutofit/>
          </a:bodyPr>
          <a:lstStyle/>
          <a:p>
            <a:r>
              <a:rPr lang="en-US" sz="2400" dirty="0"/>
              <a:t>Assume we have </a:t>
            </a:r>
            <a:r>
              <a:rPr lang="en-US" sz="2400" b="1" dirty="0"/>
              <a:t>6 data points</a:t>
            </a:r>
            <a:r>
              <a:rPr lang="en-US" sz="2400" dirty="0"/>
              <a:t> representing students based on two features: </a:t>
            </a:r>
            <a:r>
              <a:rPr lang="en-US" sz="2400" b="1" dirty="0"/>
              <a:t>Study Hours (X)</a:t>
            </a:r>
            <a:r>
              <a:rPr lang="en-US" sz="2400" dirty="0"/>
              <a:t> and </a:t>
            </a:r>
            <a:r>
              <a:rPr lang="en-US" sz="2400" b="1" dirty="0"/>
              <a:t>Marks (Y)</a:t>
            </a:r>
            <a:r>
              <a:rPr lang="en-US" sz="2400" dirty="0"/>
              <a:t>.</a:t>
            </a:r>
            <a:endParaRPr lang="en-IN" sz="240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73AE767-53CA-0623-9907-538ACDEEF627}"/>
                  </a:ext>
                </a:extLst>
              </p:cNvPr>
              <p:cNvSpPr>
                <a:spLocks noGrp="1"/>
              </p:cNvSpPr>
              <p:nvPr>
                <p:ph sz="half" idx="2"/>
              </p:nvPr>
            </p:nvSpPr>
            <p:spPr>
              <a:xfrm>
                <a:off x="5724939" y="1825625"/>
                <a:ext cx="6361043" cy="4351338"/>
              </a:xfrm>
            </p:spPr>
            <p:txBody>
              <a:bodyPr>
                <a:normAutofit/>
              </a:bodyPr>
              <a:lstStyle/>
              <a:p>
                <a:pPr marL="514350" indent="-514350">
                  <a:buFont typeface="+mj-lt"/>
                  <a:buAutoNum type="arabicPeriod"/>
                </a:pPr>
                <a:r>
                  <a:rPr lang="en-IN" sz="2400" b="1" dirty="0"/>
                  <a:t>Choose K</a:t>
                </a:r>
                <a:r>
                  <a:rPr lang="en-IN" sz="2400" b="1" dirty="0">
                    <a:sym typeface="Wingdings" panose="05000000000000000000" pitchFamily="2" charset="2"/>
                  </a:rPr>
                  <a:t> </a:t>
                </a:r>
                <a:r>
                  <a:rPr lang="en-IN" sz="2400" dirty="0"/>
                  <a:t>Let </a:t>
                </a:r>
                <a:r>
                  <a:rPr lang="en-IN" sz="2400" b="1" dirty="0"/>
                  <a:t>K = 2</a:t>
                </a:r>
                <a:r>
                  <a:rPr lang="en-IN" sz="2400" dirty="0"/>
                  <a:t>.</a:t>
                </a:r>
              </a:p>
              <a:p>
                <a:pPr marL="514350" indent="-514350">
                  <a:buFont typeface="+mj-lt"/>
                  <a:buAutoNum type="arabicPeriod"/>
                </a:pPr>
                <a:r>
                  <a:rPr lang="en-IN" sz="2400" b="1" dirty="0"/>
                  <a:t>Choose First Centroid Randomly: </a:t>
                </a:r>
                <a14:m>
                  <m:oMath xmlns:m="http://schemas.openxmlformats.org/officeDocument/2006/math">
                    <m:sSub>
                      <m:sSubPr>
                        <m:ctrlPr>
                          <a:rPr lang="ar-AE" sz="2400" i="1" smtClean="0">
                            <a:latin typeface="Cambria Math" panose="02040503050406030204" pitchFamily="18" charset="0"/>
                          </a:rPr>
                        </m:ctrlPr>
                      </m:sSubPr>
                      <m:e>
                        <m:r>
                          <a:rPr lang="ar-AE" sz="2400" i="1">
                            <a:latin typeface="Cambria Math" panose="02040503050406030204" pitchFamily="18" charset="0"/>
                          </a:rPr>
                          <m:t>𝐶</m:t>
                        </m:r>
                      </m:e>
                      <m:sub>
                        <m:r>
                          <a:rPr lang="ar-AE" sz="2400">
                            <a:latin typeface="Cambria Math" panose="02040503050406030204" pitchFamily="18" charset="0"/>
                          </a:rPr>
                          <m:t>1</m:t>
                        </m:r>
                      </m:sub>
                    </m:sSub>
                    <m:r>
                      <a:rPr lang="ar-AE" sz="2400">
                        <a:latin typeface="Cambria Math" panose="02040503050406030204" pitchFamily="18" charset="0"/>
                      </a:rPr>
                      <m:t>=</m:t>
                    </m:r>
                    <m:d>
                      <m:dPr>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a:latin typeface="Cambria Math" panose="02040503050406030204" pitchFamily="18" charset="0"/>
                          </a:rPr>
                          <m:t>2</m:t>
                        </m:r>
                      </m:e>
                    </m:d>
                  </m:oMath>
                </a14:m>
                <a:endParaRPr lang="en-IN" sz="2400" dirty="0"/>
              </a:p>
              <a:p>
                <a:pPr marL="514350" indent="-514350">
                  <a:buFont typeface="+mj-lt"/>
                  <a:buAutoNum type="arabicPeriod"/>
                </a:pPr>
                <a:r>
                  <a:rPr lang="en-IN" sz="2400" b="1" dirty="0"/>
                  <a:t>Compute Distance² from </a:t>
                </a:r>
                <a14:m>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𝑪</m:t>
                        </m:r>
                      </m:e>
                      <m:sub>
                        <m:r>
                          <a:rPr lang="ar-AE" sz="2400" b="1" i="1">
                            <a:latin typeface="Cambria Math" panose="02040503050406030204" pitchFamily="18" charset="0"/>
                          </a:rPr>
                          <m:t>𝟏</m:t>
                        </m:r>
                      </m:sub>
                    </m:sSub>
                  </m:oMath>
                </a14:m>
                <a:endParaRPr lang="ar-AE" sz="2400" b="1" dirty="0"/>
              </a:p>
              <a:p>
                <a:endParaRPr lang="en-IN" sz="2400" dirty="0"/>
              </a:p>
            </p:txBody>
          </p:sp>
        </mc:Choice>
        <mc:Fallback xmlns="">
          <p:sp>
            <p:nvSpPr>
              <p:cNvPr id="5" name="Content Placeholder 4">
                <a:extLst>
                  <a:ext uri="{FF2B5EF4-FFF2-40B4-BE49-F238E27FC236}">
                    <a16:creationId xmlns:a16="http://schemas.microsoft.com/office/drawing/2014/main" id="{873AE767-53CA-0623-9907-538ACDEEF627}"/>
                  </a:ext>
                </a:extLst>
              </p:cNvPr>
              <p:cNvSpPr>
                <a:spLocks noGrp="1" noRot="1" noChangeAspect="1" noMove="1" noResize="1" noEditPoints="1" noAdjustHandles="1" noChangeArrowheads="1" noChangeShapeType="1" noTextEdit="1"/>
              </p:cNvSpPr>
              <p:nvPr>
                <p:ph sz="half" idx="2"/>
              </p:nvPr>
            </p:nvSpPr>
            <p:spPr>
              <a:xfrm>
                <a:off x="5724939" y="1825625"/>
                <a:ext cx="6361043" cy="4351338"/>
              </a:xfrm>
              <a:blipFill>
                <a:blip r:embed="rId2"/>
                <a:stretch>
                  <a:fillRect l="-1533" t="-210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5B74CB1B-9B06-7EAA-E118-38021A2E8600}"/>
              </a:ext>
            </a:extLst>
          </p:cNvPr>
          <p:cNvGraphicFramePr>
            <a:graphicFrameLocks noGrp="1"/>
          </p:cNvGraphicFramePr>
          <p:nvPr/>
        </p:nvGraphicFramePr>
        <p:xfrm>
          <a:off x="1205947" y="3538220"/>
          <a:ext cx="3515139" cy="2773680"/>
        </p:xfrm>
        <a:graphic>
          <a:graphicData uri="http://schemas.openxmlformats.org/drawingml/2006/table">
            <a:tbl>
              <a:tblPr/>
              <a:tblGrid>
                <a:gridCol w="1171713">
                  <a:extLst>
                    <a:ext uri="{9D8B030D-6E8A-4147-A177-3AD203B41FA5}">
                      <a16:colId xmlns:a16="http://schemas.microsoft.com/office/drawing/2014/main" val="3229688118"/>
                    </a:ext>
                  </a:extLst>
                </a:gridCol>
                <a:gridCol w="1171713">
                  <a:extLst>
                    <a:ext uri="{9D8B030D-6E8A-4147-A177-3AD203B41FA5}">
                      <a16:colId xmlns:a16="http://schemas.microsoft.com/office/drawing/2014/main" val="954662938"/>
                    </a:ext>
                  </a:extLst>
                </a:gridCol>
                <a:gridCol w="1171713">
                  <a:extLst>
                    <a:ext uri="{9D8B030D-6E8A-4147-A177-3AD203B41FA5}">
                      <a16:colId xmlns:a16="http://schemas.microsoft.com/office/drawing/2014/main" val="581273158"/>
                    </a:ext>
                  </a:extLst>
                </a:gridCol>
              </a:tblGrid>
              <a:tr h="0">
                <a:tc>
                  <a:txBody>
                    <a:bodyPr/>
                    <a:lstStyle/>
                    <a:p>
                      <a:pPr>
                        <a:buNone/>
                      </a:pPr>
                      <a:r>
                        <a:rPr lang="en-IN" sz="200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Y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012076"/>
                  </a:ext>
                </a:extLst>
              </a:tr>
              <a:tr h="0">
                <a:tc>
                  <a:txBody>
                    <a:bodyPr/>
                    <a:lstStyle/>
                    <a:p>
                      <a:pPr>
                        <a:buNone/>
                      </a:pPr>
                      <a:r>
                        <a:rPr lang="en-IN" sz="200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236506"/>
                  </a:ext>
                </a:extLst>
              </a:tr>
              <a:tr h="0">
                <a:tc>
                  <a:txBody>
                    <a:bodyPr/>
                    <a:lstStyle/>
                    <a:p>
                      <a:pPr>
                        <a:buNone/>
                      </a:pPr>
                      <a:r>
                        <a:rPr lang="en-IN" sz="200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07701"/>
                  </a:ext>
                </a:extLst>
              </a:tr>
              <a:tr h="0">
                <a:tc>
                  <a:txBody>
                    <a:bodyPr/>
                    <a:lstStyle/>
                    <a:p>
                      <a:pPr>
                        <a:buNone/>
                      </a:pPr>
                      <a:r>
                        <a:rPr lang="en-IN" sz="200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446860"/>
                  </a:ext>
                </a:extLst>
              </a:tr>
              <a:tr h="0">
                <a:tc>
                  <a:txBody>
                    <a:bodyPr/>
                    <a:lstStyle/>
                    <a:p>
                      <a:pPr>
                        <a:buNone/>
                      </a:pPr>
                      <a:r>
                        <a:rPr lang="en-IN" sz="200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06287"/>
                  </a:ext>
                </a:extLst>
              </a:tr>
              <a:tr h="0">
                <a:tc>
                  <a:txBody>
                    <a:bodyPr/>
                    <a:lstStyle/>
                    <a:p>
                      <a:pPr>
                        <a:buNone/>
                      </a:pPr>
                      <a:r>
                        <a:rPr lang="en-IN" sz="200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02673"/>
                  </a:ext>
                </a:extLst>
              </a:tr>
              <a:tr h="0">
                <a:tc>
                  <a:txBody>
                    <a:bodyPr/>
                    <a:lstStyle/>
                    <a:p>
                      <a:pPr>
                        <a:buNone/>
                      </a:pPr>
                      <a:r>
                        <a:rPr lang="en-IN" sz="200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872298"/>
                  </a:ext>
                </a:extLst>
              </a:tr>
            </a:tbl>
          </a:graphicData>
        </a:graphic>
      </p:graphicFrame>
      <p:graphicFrame>
        <p:nvGraphicFramePr>
          <p:cNvPr id="6" name="Table 5">
            <a:extLst>
              <a:ext uri="{FF2B5EF4-FFF2-40B4-BE49-F238E27FC236}">
                <a16:creationId xmlns:a16="http://schemas.microsoft.com/office/drawing/2014/main" id="{D0255CAD-8C61-22A4-C2E1-C2807748ED94}"/>
              </a:ext>
            </a:extLst>
          </p:cNvPr>
          <p:cNvGraphicFramePr>
            <a:graphicFrameLocks noGrp="1"/>
          </p:cNvGraphicFramePr>
          <p:nvPr/>
        </p:nvGraphicFramePr>
        <p:xfrm>
          <a:off x="6056242" y="3232992"/>
          <a:ext cx="5698435" cy="2773680"/>
        </p:xfrm>
        <a:graphic>
          <a:graphicData uri="http://schemas.openxmlformats.org/drawingml/2006/table">
            <a:tbl>
              <a:tblPr/>
              <a:tblGrid>
                <a:gridCol w="1056862">
                  <a:extLst>
                    <a:ext uri="{9D8B030D-6E8A-4147-A177-3AD203B41FA5}">
                      <a16:colId xmlns:a16="http://schemas.microsoft.com/office/drawing/2014/main" val="4200923493"/>
                    </a:ext>
                  </a:extLst>
                </a:gridCol>
                <a:gridCol w="2623930">
                  <a:extLst>
                    <a:ext uri="{9D8B030D-6E8A-4147-A177-3AD203B41FA5}">
                      <a16:colId xmlns:a16="http://schemas.microsoft.com/office/drawing/2014/main" val="1302660139"/>
                    </a:ext>
                  </a:extLst>
                </a:gridCol>
                <a:gridCol w="2017643">
                  <a:extLst>
                    <a:ext uri="{9D8B030D-6E8A-4147-A177-3AD203B41FA5}">
                      <a16:colId xmlns:a16="http://schemas.microsoft.com/office/drawing/2014/main" val="302887310"/>
                    </a:ext>
                  </a:extLst>
                </a:gridCol>
              </a:tblGrid>
              <a:tr h="0">
                <a:tc>
                  <a:txBody>
                    <a:bodyPr/>
                    <a:lstStyle/>
                    <a:p>
                      <a:pPr algn="ctr">
                        <a:buNone/>
                      </a:pPr>
                      <a:r>
                        <a:rPr lang="en-IN" sz="2000" dirty="0"/>
                        <a:t>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Distance from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Distance²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1927264"/>
                  </a:ext>
                </a:extLst>
              </a:tr>
              <a:tr h="0">
                <a:tc>
                  <a:txBody>
                    <a:bodyPr/>
                    <a:lstStyle/>
                    <a:p>
                      <a:pPr algn="ctr">
                        <a:buNone/>
                      </a:pPr>
                      <a:r>
                        <a:rPr lang="en-IN" sz="2000" dirty="0"/>
                        <a:t>A(1,2)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841099"/>
                  </a:ext>
                </a:extLst>
              </a:tr>
              <a:tr h="0">
                <a:tc>
                  <a:txBody>
                    <a:bodyPr/>
                    <a:lstStyle/>
                    <a:p>
                      <a:pPr algn="ctr">
                        <a:buNone/>
                      </a:pPr>
                      <a:r>
                        <a:rPr lang="en-IN" sz="2000" dirty="0"/>
                        <a:t>B(2,1)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 ≈ 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789236"/>
                  </a:ext>
                </a:extLst>
              </a:tr>
              <a:tr h="0">
                <a:tc>
                  <a:txBody>
                    <a:bodyPr/>
                    <a:lstStyle/>
                    <a:p>
                      <a:pPr algn="ctr">
                        <a:buNone/>
                      </a:pPr>
                      <a:r>
                        <a:rPr lang="en-IN" sz="2000"/>
                        <a:t>C(4,5)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√18 ≈ 4.24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484"/>
                  </a:ext>
                </a:extLst>
              </a:tr>
              <a:tr h="0">
                <a:tc>
                  <a:txBody>
                    <a:bodyPr/>
                    <a:lstStyle/>
                    <a:p>
                      <a:pPr algn="ctr">
                        <a:buNone/>
                      </a:pPr>
                      <a:r>
                        <a:rPr lang="en-IN" sz="2000"/>
                        <a:t>D(5,4)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√20 ≈ 4.47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599359"/>
                  </a:ext>
                </a:extLst>
              </a:tr>
              <a:tr h="0">
                <a:tc>
                  <a:txBody>
                    <a:bodyPr/>
                    <a:lstStyle/>
                    <a:p>
                      <a:pPr algn="ctr">
                        <a:buNone/>
                      </a:pPr>
                      <a:r>
                        <a:rPr lang="en-IN" sz="2000"/>
                        <a:t>E(6,5)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√34 ≈ 5.83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720736"/>
                  </a:ext>
                </a:extLst>
              </a:tr>
              <a:tr h="0">
                <a:tc>
                  <a:txBody>
                    <a:bodyPr/>
                    <a:lstStyle/>
                    <a:p>
                      <a:pPr algn="ctr">
                        <a:buNone/>
                      </a:pPr>
                      <a:r>
                        <a:rPr lang="en-IN" sz="2000"/>
                        <a:t>F(7,6)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√52 ≈ 7.21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7534821"/>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E1C65F-1F7F-7470-2080-555237A2729F}"/>
                  </a:ext>
                </a:extLst>
              </p:cNvPr>
              <p:cNvSpPr txBox="1"/>
              <p:nvPr/>
            </p:nvSpPr>
            <p:spPr>
              <a:xfrm>
                <a:off x="5256143" y="6176963"/>
                <a:ext cx="6601239" cy="369332"/>
              </a:xfrm>
              <a:prstGeom prst="rect">
                <a:avLst/>
              </a:prstGeom>
              <a:noFill/>
            </p:spPr>
            <p:txBody>
              <a:bodyPr wrap="square">
                <a:spAutoFit/>
              </a:bodyPr>
              <a:lstStyle/>
              <a:p>
                <a:pPr>
                  <a:buNone/>
                </a:pPr>
                <a:r>
                  <a:rPr lang="en-IN" dirty="0"/>
                  <a:t>The largest value is for </a:t>
                </a:r>
                <a:r>
                  <a:rPr lang="en-IN" b="1" dirty="0"/>
                  <a:t>F(7,6)</a:t>
                </a:r>
                <a:r>
                  <a:rPr lang="en-IN" dirty="0"/>
                  <a:t>. So choose: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d>
                      <m:dPr>
                        <m:sepChr m:val=","/>
                        <m:ctrlPr>
                          <a:rPr lang="ar-AE" i="1">
                            <a:latin typeface="Cambria Math" panose="02040503050406030204" pitchFamily="18" charset="0"/>
                          </a:rPr>
                        </m:ctrlPr>
                      </m:dPr>
                      <m:e>
                        <m:r>
                          <a:rPr lang="ar-AE" i="0">
                            <a:latin typeface="Cambria Math" panose="02040503050406030204" pitchFamily="18" charset="0"/>
                          </a:rPr>
                          <m:t>7</m:t>
                        </m:r>
                      </m:e>
                      <m:e>
                        <m:r>
                          <a:rPr lang="ar-AE" i="0">
                            <a:latin typeface="Cambria Math" panose="02040503050406030204" pitchFamily="18" charset="0"/>
                          </a:rPr>
                          <m:t>6</m:t>
                        </m:r>
                      </m:e>
                    </m:d>
                  </m:oMath>
                </a14:m>
                <a:endParaRPr lang="ar-AE" dirty="0"/>
              </a:p>
            </p:txBody>
          </p:sp>
        </mc:Choice>
        <mc:Fallback xmlns="">
          <p:sp>
            <p:nvSpPr>
              <p:cNvPr id="8" name="TextBox 7">
                <a:extLst>
                  <a:ext uri="{FF2B5EF4-FFF2-40B4-BE49-F238E27FC236}">
                    <a16:creationId xmlns:a16="http://schemas.microsoft.com/office/drawing/2014/main" id="{DFE1C65F-1F7F-7470-2080-555237A2729F}"/>
                  </a:ext>
                </a:extLst>
              </p:cNvPr>
              <p:cNvSpPr txBox="1">
                <a:spLocks noRot="1" noChangeAspect="1" noMove="1" noResize="1" noEditPoints="1" noAdjustHandles="1" noChangeArrowheads="1" noChangeShapeType="1" noTextEdit="1"/>
              </p:cNvSpPr>
              <p:nvPr/>
            </p:nvSpPr>
            <p:spPr>
              <a:xfrm>
                <a:off x="5256143" y="6176963"/>
                <a:ext cx="6601239" cy="369332"/>
              </a:xfrm>
              <a:prstGeom prst="rect">
                <a:avLst/>
              </a:prstGeom>
              <a:blipFill>
                <a:blip r:embed="rId3"/>
                <a:stretch>
                  <a:fillRect l="-739"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2396150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50C5-95D7-4412-9DBC-B8179FD79F1D}"/>
              </a:ext>
            </a:extLst>
          </p:cNvPr>
          <p:cNvSpPr>
            <a:spLocks noGrp="1"/>
          </p:cNvSpPr>
          <p:nvPr>
            <p:ph type="title"/>
          </p:nvPr>
        </p:nvSpPr>
        <p:spPr/>
        <p:txBody>
          <a:bodyPr/>
          <a:lstStyle/>
          <a:p>
            <a:r>
              <a:rPr lang="en-US"/>
              <a:t>Simple Example of K-Means++ Clustering</a:t>
            </a:r>
            <a:endParaRPr lang="en-IN"/>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C46933E-8190-9B2D-D532-54B942BF27F6}"/>
                  </a:ext>
                </a:extLst>
              </p:cNvPr>
              <p:cNvSpPr>
                <a:spLocks noGrp="1"/>
              </p:cNvSpPr>
              <p:nvPr>
                <p:ph sz="half" idx="1"/>
              </p:nvPr>
            </p:nvSpPr>
            <p:spPr/>
            <p:txBody>
              <a:bodyPr>
                <a:normAutofit/>
              </a:bodyPr>
              <a:lstStyle/>
              <a:p>
                <a:pPr marL="514350" indent="-514350">
                  <a:buFont typeface="+mj-lt"/>
                  <a:buAutoNum type="arabicPeriod" startAt="3"/>
                </a:pPr>
                <a:r>
                  <a:rPr lang="en-US" sz="2400" b="1" dirty="0"/>
                  <a:t>Assign Points to Nearest Centroid</a:t>
                </a:r>
              </a:p>
              <a:p>
                <a:pPr marL="457200" lvl="1" indent="0">
                  <a:buNone/>
                </a:pPr>
                <a:r>
                  <a:rPr lang="en-IN" sz="2000" dirty="0"/>
                  <a:t>Compute distance to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oMath>
                </a14:m>
                <a:r>
                  <a:rPr lang="en-IN" sz="2000" dirty="0"/>
                  <a:t>and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d>
                      <m:dPr>
                        <m:sepChr m:val=","/>
                        <m:ctrlPr>
                          <a:rPr lang="ar-AE" sz="2000" i="1">
                            <a:latin typeface="Cambria Math" panose="02040503050406030204" pitchFamily="18" charset="0"/>
                          </a:rPr>
                        </m:ctrlPr>
                      </m:dPr>
                      <m:e>
                        <m:r>
                          <a:rPr lang="ar-AE" sz="2000">
                            <a:latin typeface="Cambria Math" panose="02040503050406030204" pitchFamily="18" charset="0"/>
                          </a:rPr>
                          <m:t>7</m:t>
                        </m:r>
                      </m:e>
                      <m:e>
                        <m:r>
                          <a:rPr lang="ar-AE" sz="2000">
                            <a:latin typeface="Cambria Math" panose="02040503050406030204" pitchFamily="18" charset="0"/>
                          </a:rPr>
                          <m:t>6</m:t>
                        </m:r>
                      </m:e>
                    </m:d>
                  </m:oMath>
                </a14:m>
                <a:endParaRPr lang="en-IN" sz="2000" b="1" dirty="0"/>
              </a:p>
            </p:txBody>
          </p:sp>
        </mc:Choice>
        <mc:Fallback xmlns="">
          <p:sp>
            <p:nvSpPr>
              <p:cNvPr id="4" name="Content Placeholder 3">
                <a:extLst>
                  <a:ext uri="{FF2B5EF4-FFF2-40B4-BE49-F238E27FC236}">
                    <a16:creationId xmlns:a16="http://schemas.microsoft.com/office/drawing/2014/main" id="{9C46933E-8190-9B2D-D532-54B942BF27F6}"/>
                  </a:ext>
                </a:extLst>
              </p:cNvPr>
              <p:cNvSpPr>
                <a:spLocks noGrp="1" noRot="1" noChangeAspect="1" noMove="1" noResize="1" noEditPoints="1" noAdjustHandles="1" noChangeArrowheads="1" noChangeShapeType="1" noTextEdit="1"/>
              </p:cNvSpPr>
              <p:nvPr>
                <p:ph sz="half" idx="1"/>
              </p:nvPr>
            </p:nvSpPr>
            <p:spPr>
              <a:blipFill>
                <a:blip r:embed="rId2"/>
                <a:stretch>
                  <a:fillRect l="-1882" t="-2101"/>
                </a:stretch>
              </a:blipFill>
            </p:spPr>
            <p:txBody>
              <a:bodyPr/>
              <a:lstStyle/>
              <a:p>
                <a:r>
                  <a:rPr lang="en-IN">
                    <a:noFill/>
                  </a:rPr>
                  <a:t> </a:t>
                </a:r>
              </a:p>
            </p:txBody>
          </p:sp>
        </mc:Fallback>
      </mc:AlternateContent>
      <p:graphicFrame>
        <p:nvGraphicFramePr>
          <p:cNvPr id="11" name="Content Placeholder 10">
            <a:extLst>
              <a:ext uri="{FF2B5EF4-FFF2-40B4-BE49-F238E27FC236}">
                <a16:creationId xmlns:a16="http://schemas.microsoft.com/office/drawing/2014/main" id="{7A043AA3-81B1-08CB-8419-73C405B2D73F}"/>
              </a:ext>
            </a:extLst>
          </p:cNvPr>
          <p:cNvGraphicFramePr>
            <a:graphicFrameLocks noGrp="1"/>
          </p:cNvGraphicFramePr>
          <p:nvPr>
            <p:ph sz="half" idx="2"/>
          </p:nvPr>
        </p:nvGraphicFramePr>
        <p:xfrm>
          <a:off x="838200" y="2876514"/>
          <a:ext cx="5181600" cy="2449006"/>
        </p:xfrm>
        <a:graphic>
          <a:graphicData uri="http://schemas.openxmlformats.org/drawingml/2006/table">
            <a:tbl>
              <a:tblPr/>
              <a:tblGrid>
                <a:gridCol w="1295400">
                  <a:extLst>
                    <a:ext uri="{9D8B030D-6E8A-4147-A177-3AD203B41FA5}">
                      <a16:colId xmlns:a16="http://schemas.microsoft.com/office/drawing/2014/main" val="4016735742"/>
                    </a:ext>
                  </a:extLst>
                </a:gridCol>
                <a:gridCol w="1295400">
                  <a:extLst>
                    <a:ext uri="{9D8B030D-6E8A-4147-A177-3AD203B41FA5}">
                      <a16:colId xmlns:a16="http://schemas.microsoft.com/office/drawing/2014/main" val="2178745789"/>
                    </a:ext>
                  </a:extLst>
                </a:gridCol>
                <a:gridCol w="1295400">
                  <a:extLst>
                    <a:ext uri="{9D8B030D-6E8A-4147-A177-3AD203B41FA5}">
                      <a16:colId xmlns:a16="http://schemas.microsoft.com/office/drawing/2014/main" val="2364861244"/>
                    </a:ext>
                  </a:extLst>
                </a:gridCol>
                <a:gridCol w="1295400">
                  <a:extLst>
                    <a:ext uri="{9D8B030D-6E8A-4147-A177-3AD203B41FA5}">
                      <a16:colId xmlns:a16="http://schemas.microsoft.com/office/drawing/2014/main" val="517212056"/>
                    </a:ext>
                  </a:extLst>
                </a:gridCol>
              </a:tblGrid>
              <a:tr h="180230">
                <a:tc>
                  <a:txBody>
                    <a:bodyPr/>
                    <a:lstStyle/>
                    <a:p>
                      <a:pPr>
                        <a:buNone/>
                      </a:pPr>
                      <a:r>
                        <a:rPr lang="en-IN" sz="2000" dirty="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6806428"/>
                  </a:ext>
                </a:extLst>
              </a:tr>
              <a:tr h="180230">
                <a:tc>
                  <a:txBody>
                    <a:bodyPr/>
                    <a:lstStyle/>
                    <a:p>
                      <a:pPr>
                        <a:buNone/>
                      </a:pPr>
                      <a:r>
                        <a:rPr lang="en-IN" sz="200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477848"/>
                  </a:ext>
                </a:extLst>
              </a:tr>
              <a:tr h="180230">
                <a:tc>
                  <a:txBody>
                    <a:bodyPr/>
                    <a:lstStyle/>
                    <a:p>
                      <a:pPr>
                        <a:buNone/>
                      </a:pPr>
                      <a:r>
                        <a:rPr lang="en-IN" sz="20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7.07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6581786"/>
                  </a:ext>
                </a:extLst>
              </a:tr>
              <a:tr h="180230">
                <a:tc>
                  <a:txBody>
                    <a:bodyPr/>
                    <a:lstStyle/>
                    <a:p>
                      <a:pPr>
                        <a:buNone/>
                      </a:pPr>
                      <a:r>
                        <a:rPr lang="en-IN" sz="20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3.61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2371376"/>
                  </a:ext>
                </a:extLst>
              </a:tr>
              <a:tr h="180230">
                <a:tc>
                  <a:txBody>
                    <a:bodyPr/>
                    <a:lstStyle/>
                    <a:p>
                      <a:pPr>
                        <a:buNone/>
                      </a:pPr>
                      <a:r>
                        <a:rPr lang="en-IN" sz="20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530216"/>
                  </a:ext>
                </a:extLst>
              </a:tr>
              <a:tr h="180230">
                <a:tc>
                  <a:txBody>
                    <a:bodyPr/>
                    <a:lstStyle/>
                    <a:p>
                      <a:pPr>
                        <a:buNone/>
                      </a:pPr>
                      <a:r>
                        <a:rPr lang="en-IN" sz="20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161103"/>
                  </a:ext>
                </a:extLst>
              </a:tr>
              <a:tr h="180230">
                <a:tc>
                  <a:txBody>
                    <a:bodyPr/>
                    <a:lstStyle/>
                    <a:p>
                      <a:pPr>
                        <a:buNone/>
                      </a:pPr>
                      <a:r>
                        <a:rPr lang="en-IN" sz="20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1824590"/>
                  </a:ext>
                </a:extLst>
              </a:tr>
            </a:tbl>
          </a:graphicData>
        </a:graphic>
      </p:graphicFrame>
      <p:sp>
        <p:nvSpPr>
          <p:cNvPr id="13" name="TextBox 12">
            <a:extLst>
              <a:ext uri="{FF2B5EF4-FFF2-40B4-BE49-F238E27FC236}">
                <a16:creationId xmlns:a16="http://schemas.microsoft.com/office/drawing/2014/main" id="{E258C58B-047B-27DE-4AAA-303C7705B977}"/>
              </a:ext>
            </a:extLst>
          </p:cNvPr>
          <p:cNvSpPr txBox="1"/>
          <p:nvPr/>
        </p:nvSpPr>
        <p:spPr>
          <a:xfrm>
            <a:off x="838200" y="5569545"/>
            <a:ext cx="4131365" cy="1015663"/>
          </a:xfrm>
          <a:prstGeom prst="rect">
            <a:avLst/>
          </a:prstGeom>
          <a:noFill/>
        </p:spPr>
        <p:txBody>
          <a:bodyPr wrap="square">
            <a:spAutoFit/>
          </a:bodyPr>
          <a:lstStyle/>
          <a:p>
            <a:pPr>
              <a:buNone/>
            </a:pPr>
            <a:r>
              <a:rPr lang="en-IN" sz="2000"/>
              <a:t>So:</a:t>
            </a:r>
          </a:p>
          <a:p>
            <a:pPr>
              <a:buFont typeface="Arial" panose="020B0604020202020204" pitchFamily="34" charset="0"/>
              <a:buChar char="•"/>
            </a:pPr>
            <a:r>
              <a:rPr lang="en-IN" sz="2000" b="1"/>
              <a:t>Cluster 1:</a:t>
            </a:r>
            <a:r>
              <a:rPr lang="en-IN" sz="2000"/>
              <a:t> A, B</a:t>
            </a:r>
          </a:p>
          <a:p>
            <a:pPr>
              <a:buFont typeface="Arial" panose="020B0604020202020204" pitchFamily="34" charset="0"/>
              <a:buChar char="•"/>
            </a:pPr>
            <a:r>
              <a:rPr lang="en-IN" sz="2000" b="1"/>
              <a:t>Cluster 2:</a:t>
            </a:r>
            <a:r>
              <a:rPr lang="en-IN" sz="2000"/>
              <a:t> C, D, E, F</a:t>
            </a:r>
            <a:endParaRPr lang="en-IN" sz="2000" dirty="0"/>
          </a:p>
        </p:txBody>
      </p:sp>
      <p:sp>
        <p:nvSpPr>
          <p:cNvPr id="15" name="TextBox 14">
            <a:extLst>
              <a:ext uri="{FF2B5EF4-FFF2-40B4-BE49-F238E27FC236}">
                <a16:creationId xmlns:a16="http://schemas.microsoft.com/office/drawing/2014/main" id="{ACFA5A94-A6B7-85C0-D139-46DBB641D78C}"/>
              </a:ext>
            </a:extLst>
          </p:cNvPr>
          <p:cNvSpPr txBox="1"/>
          <p:nvPr/>
        </p:nvSpPr>
        <p:spPr>
          <a:xfrm>
            <a:off x="6607036" y="1825625"/>
            <a:ext cx="4902477" cy="461665"/>
          </a:xfrm>
          <a:prstGeom prst="rect">
            <a:avLst/>
          </a:prstGeom>
          <a:noFill/>
        </p:spPr>
        <p:txBody>
          <a:bodyPr wrap="square">
            <a:spAutoFit/>
          </a:bodyPr>
          <a:lstStyle/>
          <a:p>
            <a:pPr marL="457200" indent="-457200">
              <a:buFont typeface="+mj-lt"/>
              <a:buAutoNum type="arabicPeriod" startAt="4"/>
            </a:pPr>
            <a:r>
              <a:rPr lang="en-IN" sz="2400" b="1" dirty="0"/>
              <a:t>Update Centroids</a:t>
            </a:r>
          </a:p>
        </p:txBody>
      </p:sp>
      <p:pic>
        <p:nvPicPr>
          <p:cNvPr id="17" name="Picture 16">
            <a:extLst>
              <a:ext uri="{FF2B5EF4-FFF2-40B4-BE49-F238E27FC236}">
                <a16:creationId xmlns:a16="http://schemas.microsoft.com/office/drawing/2014/main" id="{C0DC3E93-8890-37D7-CE8E-99D7C79EEF86}"/>
              </a:ext>
            </a:extLst>
          </p:cNvPr>
          <p:cNvPicPr>
            <a:picLocks noChangeAspect="1"/>
          </p:cNvPicPr>
          <p:nvPr/>
        </p:nvPicPr>
        <p:blipFill>
          <a:blip r:embed="rId3"/>
          <a:stretch>
            <a:fillRect/>
          </a:stretch>
        </p:blipFill>
        <p:spPr>
          <a:xfrm>
            <a:off x="6788426" y="2544417"/>
            <a:ext cx="5403574" cy="2932044"/>
          </a:xfrm>
          <a:prstGeom prst="rect">
            <a:avLst/>
          </a:prstGeom>
        </p:spPr>
      </p:pic>
    </p:spTree>
    <p:extLst>
      <p:ext uri="{BB962C8B-B14F-4D97-AF65-F5344CB8AC3E}">
        <p14:creationId xmlns:p14="http://schemas.microsoft.com/office/powerpoint/2010/main" val="1256951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1AF4-4195-214A-CF53-C2CC9AC06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DE45D-38D5-AF6C-297B-BE3D035493C0}"/>
              </a:ext>
            </a:extLst>
          </p:cNvPr>
          <p:cNvSpPr>
            <a:spLocks noGrp="1"/>
          </p:cNvSpPr>
          <p:nvPr>
            <p:ph type="title"/>
          </p:nvPr>
        </p:nvSpPr>
        <p:spPr/>
        <p:txBody>
          <a:bodyPr/>
          <a:lstStyle/>
          <a:p>
            <a:r>
              <a:rPr lang="en-US" dirty="0"/>
              <a:t>Simple Example of K-Means++ Clustering- Repeat step 3,4</a:t>
            </a:r>
            <a:endParaRPr lang="en-IN"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7A3C7B5-7F07-47B6-0201-5A4F4354981C}"/>
                  </a:ext>
                </a:extLst>
              </p:cNvPr>
              <p:cNvSpPr>
                <a:spLocks noGrp="1"/>
              </p:cNvSpPr>
              <p:nvPr>
                <p:ph sz="half" idx="1"/>
              </p:nvPr>
            </p:nvSpPr>
            <p:spPr/>
            <p:txBody>
              <a:bodyPr>
                <a:normAutofit/>
              </a:bodyPr>
              <a:lstStyle/>
              <a:p>
                <a:pPr marL="514350" indent="-514350">
                  <a:buFont typeface="+mj-lt"/>
                  <a:buAutoNum type="arabicPeriod" startAt="3"/>
                </a:pPr>
                <a:r>
                  <a:rPr lang="en-US" sz="2400" b="1" dirty="0"/>
                  <a:t>Assign Points to Nearest Centroid</a:t>
                </a:r>
              </a:p>
              <a:p>
                <a:pPr marL="457200" lvl="1" indent="0">
                  <a:buNone/>
                </a:pPr>
                <a:r>
                  <a:rPr lang="en-IN" sz="2000" dirty="0"/>
                  <a:t>Compute distance to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oMath>
                </a14:m>
                <a:r>
                  <a:rPr lang="en-IN" sz="2000" dirty="0"/>
                  <a:t>and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d>
                      <m:dPr>
                        <m:sepChr m:val=","/>
                        <m:ctrlPr>
                          <a:rPr lang="ar-AE" sz="2000" i="1">
                            <a:latin typeface="Cambria Math" panose="02040503050406030204" pitchFamily="18" charset="0"/>
                          </a:rPr>
                        </m:ctrlPr>
                      </m:dPr>
                      <m:e>
                        <m:r>
                          <a:rPr lang="ar-AE" sz="2000">
                            <a:latin typeface="Cambria Math" panose="02040503050406030204" pitchFamily="18" charset="0"/>
                          </a:rPr>
                          <m:t>7</m:t>
                        </m:r>
                      </m:e>
                      <m:e>
                        <m:r>
                          <a:rPr lang="ar-AE" sz="2000">
                            <a:latin typeface="Cambria Math" panose="02040503050406030204" pitchFamily="18" charset="0"/>
                          </a:rPr>
                          <m:t>6</m:t>
                        </m:r>
                      </m:e>
                    </m:d>
                  </m:oMath>
                </a14:m>
                <a:endParaRPr lang="en-IN" sz="2000" b="1" dirty="0"/>
              </a:p>
            </p:txBody>
          </p:sp>
        </mc:Choice>
        <mc:Fallback xmlns="">
          <p:sp>
            <p:nvSpPr>
              <p:cNvPr id="4" name="Content Placeholder 3">
                <a:extLst>
                  <a:ext uri="{FF2B5EF4-FFF2-40B4-BE49-F238E27FC236}">
                    <a16:creationId xmlns:a16="http://schemas.microsoft.com/office/drawing/2014/main" id="{9C46933E-8190-9B2D-D532-54B942BF27F6}"/>
                  </a:ext>
                </a:extLst>
              </p:cNvPr>
              <p:cNvSpPr>
                <a:spLocks noGrp="1" noRot="1" noChangeAspect="1" noMove="1" noResize="1" noEditPoints="1" noAdjustHandles="1" noChangeArrowheads="1" noChangeShapeType="1" noTextEdit="1"/>
              </p:cNvSpPr>
              <p:nvPr>
                <p:ph sz="half" idx="1"/>
              </p:nvPr>
            </p:nvSpPr>
            <p:spPr>
              <a:blipFill>
                <a:blip r:embed="rId2"/>
                <a:stretch>
                  <a:fillRect l="-1882" t="-2101"/>
                </a:stretch>
              </a:blipFill>
            </p:spPr>
            <p:txBody>
              <a:bodyPr/>
              <a:lstStyle/>
              <a:p>
                <a:r>
                  <a:rPr lang="en-IN">
                    <a:noFill/>
                  </a:rPr>
                  <a:t> </a:t>
                </a:r>
              </a:p>
            </p:txBody>
          </p:sp>
        </mc:Fallback>
      </mc:AlternateContent>
      <p:graphicFrame>
        <p:nvGraphicFramePr>
          <p:cNvPr id="11" name="Content Placeholder 10">
            <a:extLst>
              <a:ext uri="{FF2B5EF4-FFF2-40B4-BE49-F238E27FC236}">
                <a16:creationId xmlns:a16="http://schemas.microsoft.com/office/drawing/2014/main" id="{A7F8D575-6CD0-15B8-8DD8-42F594D00522}"/>
              </a:ext>
            </a:extLst>
          </p:cNvPr>
          <p:cNvGraphicFramePr>
            <a:graphicFrameLocks noGrp="1"/>
          </p:cNvGraphicFramePr>
          <p:nvPr>
            <p:ph sz="half" idx="2"/>
          </p:nvPr>
        </p:nvGraphicFramePr>
        <p:xfrm>
          <a:off x="838200" y="2876514"/>
          <a:ext cx="5181600" cy="2449006"/>
        </p:xfrm>
        <a:graphic>
          <a:graphicData uri="http://schemas.openxmlformats.org/drawingml/2006/table">
            <a:tbl>
              <a:tblPr/>
              <a:tblGrid>
                <a:gridCol w="1295400">
                  <a:extLst>
                    <a:ext uri="{9D8B030D-6E8A-4147-A177-3AD203B41FA5}">
                      <a16:colId xmlns:a16="http://schemas.microsoft.com/office/drawing/2014/main" val="4016735742"/>
                    </a:ext>
                  </a:extLst>
                </a:gridCol>
                <a:gridCol w="1295400">
                  <a:extLst>
                    <a:ext uri="{9D8B030D-6E8A-4147-A177-3AD203B41FA5}">
                      <a16:colId xmlns:a16="http://schemas.microsoft.com/office/drawing/2014/main" val="2178745789"/>
                    </a:ext>
                  </a:extLst>
                </a:gridCol>
                <a:gridCol w="1295400">
                  <a:extLst>
                    <a:ext uri="{9D8B030D-6E8A-4147-A177-3AD203B41FA5}">
                      <a16:colId xmlns:a16="http://schemas.microsoft.com/office/drawing/2014/main" val="2364861244"/>
                    </a:ext>
                  </a:extLst>
                </a:gridCol>
                <a:gridCol w="1295400">
                  <a:extLst>
                    <a:ext uri="{9D8B030D-6E8A-4147-A177-3AD203B41FA5}">
                      <a16:colId xmlns:a16="http://schemas.microsoft.com/office/drawing/2014/main" val="517212056"/>
                    </a:ext>
                  </a:extLst>
                </a:gridCol>
              </a:tblGrid>
              <a:tr h="180230">
                <a:tc>
                  <a:txBody>
                    <a:bodyPr/>
                    <a:lstStyle/>
                    <a:p>
                      <a:pPr>
                        <a:buNone/>
                      </a:pPr>
                      <a:r>
                        <a:rPr lang="en-IN" sz="2000" dirty="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6806428"/>
                  </a:ext>
                </a:extLst>
              </a:tr>
              <a:tr h="180230">
                <a:tc>
                  <a:txBody>
                    <a:bodyPr/>
                    <a:lstStyle/>
                    <a:p>
                      <a:pPr>
                        <a:buNone/>
                      </a:pPr>
                      <a:r>
                        <a:rPr lang="en-IN" sz="200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477848"/>
                  </a:ext>
                </a:extLst>
              </a:tr>
              <a:tr h="180230">
                <a:tc>
                  <a:txBody>
                    <a:bodyPr/>
                    <a:lstStyle/>
                    <a:p>
                      <a:pPr>
                        <a:buNone/>
                      </a:pPr>
                      <a:r>
                        <a:rPr lang="en-IN" sz="20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5.32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6581786"/>
                  </a:ext>
                </a:extLst>
              </a:tr>
              <a:tr h="180230">
                <a:tc>
                  <a:txBody>
                    <a:bodyPr/>
                    <a:lstStyle/>
                    <a:p>
                      <a:pPr>
                        <a:buNone/>
                      </a:pPr>
                      <a:r>
                        <a:rPr lang="en-IN" sz="20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2371376"/>
                  </a:ext>
                </a:extLst>
              </a:tr>
              <a:tr h="180230">
                <a:tc>
                  <a:txBody>
                    <a:bodyPr/>
                    <a:lstStyle/>
                    <a:p>
                      <a:pPr>
                        <a:buNone/>
                      </a:pPr>
                      <a:r>
                        <a:rPr lang="en-IN" sz="20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530216"/>
                  </a:ext>
                </a:extLst>
              </a:tr>
              <a:tr h="180230">
                <a:tc>
                  <a:txBody>
                    <a:bodyPr/>
                    <a:lstStyle/>
                    <a:p>
                      <a:pPr>
                        <a:buNone/>
                      </a:pPr>
                      <a:r>
                        <a:rPr lang="en-IN" sz="20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161103"/>
                  </a:ext>
                </a:extLst>
              </a:tr>
              <a:tr h="180230">
                <a:tc>
                  <a:txBody>
                    <a:bodyPr/>
                    <a:lstStyle/>
                    <a:p>
                      <a:pPr>
                        <a:buNone/>
                      </a:pPr>
                      <a:r>
                        <a:rPr lang="en-IN" sz="20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7.11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1.8</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1824590"/>
                  </a:ext>
                </a:extLst>
              </a:tr>
            </a:tbl>
          </a:graphicData>
        </a:graphic>
      </p:graphicFrame>
      <p:sp>
        <p:nvSpPr>
          <p:cNvPr id="13" name="TextBox 12">
            <a:extLst>
              <a:ext uri="{FF2B5EF4-FFF2-40B4-BE49-F238E27FC236}">
                <a16:creationId xmlns:a16="http://schemas.microsoft.com/office/drawing/2014/main" id="{DF99AF6E-4BD9-2B00-E6BB-30BBAE0910B8}"/>
              </a:ext>
            </a:extLst>
          </p:cNvPr>
          <p:cNvSpPr txBox="1"/>
          <p:nvPr/>
        </p:nvSpPr>
        <p:spPr>
          <a:xfrm>
            <a:off x="838200" y="5569545"/>
            <a:ext cx="5512904" cy="1015663"/>
          </a:xfrm>
          <a:prstGeom prst="rect">
            <a:avLst/>
          </a:prstGeom>
          <a:noFill/>
        </p:spPr>
        <p:txBody>
          <a:bodyPr wrap="square">
            <a:spAutoFit/>
          </a:bodyPr>
          <a:lstStyle/>
          <a:p>
            <a:pPr>
              <a:buNone/>
            </a:pPr>
            <a:r>
              <a:rPr lang="en-IN" sz="2000" dirty="0"/>
              <a:t>So no change in the cluster points and its centroids</a:t>
            </a:r>
          </a:p>
          <a:p>
            <a:pPr>
              <a:buFont typeface="Arial" panose="020B0604020202020204" pitchFamily="34" charset="0"/>
              <a:buChar char="•"/>
            </a:pPr>
            <a:r>
              <a:rPr lang="en-IN" sz="2000" b="1" dirty="0"/>
              <a:t>Cluster 1:</a:t>
            </a:r>
            <a:r>
              <a:rPr lang="en-IN" sz="2000" dirty="0"/>
              <a:t> A, B</a:t>
            </a:r>
          </a:p>
          <a:p>
            <a:pPr>
              <a:buFont typeface="Arial" panose="020B0604020202020204" pitchFamily="34" charset="0"/>
              <a:buChar char="•"/>
            </a:pPr>
            <a:r>
              <a:rPr lang="en-IN" sz="2000" b="1" dirty="0"/>
              <a:t>Cluster 2:</a:t>
            </a:r>
            <a:r>
              <a:rPr lang="en-IN" sz="2000" dirty="0"/>
              <a:t> C, D, E, F</a:t>
            </a:r>
          </a:p>
        </p:txBody>
      </p:sp>
      <p:sp>
        <p:nvSpPr>
          <p:cNvPr id="15" name="TextBox 14">
            <a:extLst>
              <a:ext uri="{FF2B5EF4-FFF2-40B4-BE49-F238E27FC236}">
                <a16:creationId xmlns:a16="http://schemas.microsoft.com/office/drawing/2014/main" id="{81B6E08D-DB77-0704-9B08-D5C2FA3AF003}"/>
              </a:ext>
            </a:extLst>
          </p:cNvPr>
          <p:cNvSpPr txBox="1"/>
          <p:nvPr/>
        </p:nvSpPr>
        <p:spPr>
          <a:xfrm>
            <a:off x="6607036" y="1825625"/>
            <a:ext cx="4902477" cy="461665"/>
          </a:xfrm>
          <a:prstGeom prst="rect">
            <a:avLst/>
          </a:prstGeom>
          <a:noFill/>
        </p:spPr>
        <p:txBody>
          <a:bodyPr wrap="square">
            <a:spAutoFit/>
          </a:bodyPr>
          <a:lstStyle/>
          <a:p>
            <a:pPr marL="457200" indent="-457200">
              <a:buFont typeface="+mj-lt"/>
              <a:buAutoNum type="arabicPeriod" startAt="4"/>
            </a:pPr>
            <a:r>
              <a:rPr lang="en-IN" sz="2400" b="1" dirty="0"/>
              <a:t>Update Centroids</a:t>
            </a:r>
          </a:p>
        </p:txBody>
      </p:sp>
      <p:pic>
        <p:nvPicPr>
          <p:cNvPr id="17" name="Picture 16">
            <a:extLst>
              <a:ext uri="{FF2B5EF4-FFF2-40B4-BE49-F238E27FC236}">
                <a16:creationId xmlns:a16="http://schemas.microsoft.com/office/drawing/2014/main" id="{6E7610C9-51D3-47C6-B810-8E758211ABE9}"/>
              </a:ext>
            </a:extLst>
          </p:cNvPr>
          <p:cNvPicPr>
            <a:picLocks noChangeAspect="1"/>
          </p:cNvPicPr>
          <p:nvPr/>
        </p:nvPicPr>
        <p:blipFill>
          <a:blip r:embed="rId3"/>
          <a:stretch>
            <a:fillRect/>
          </a:stretch>
        </p:blipFill>
        <p:spPr>
          <a:xfrm>
            <a:off x="6788426" y="2544417"/>
            <a:ext cx="5403574" cy="2932044"/>
          </a:xfrm>
          <a:prstGeom prst="rect">
            <a:avLst/>
          </a:prstGeom>
        </p:spPr>
      </p:pic>
    </p:spTree>
    <p:extLst>
      <p:ext uri="{BB962C8B-B14F-4D97-AF65-F5344CB8AC3E}">
        <p14:creationId xmlns:p14="http://schemas.microsoft.com/office/powerpoint/2010/main" val="1579373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561283-BC02-8068-6ABC-FEB41FB3A21A}"/>
              </a:ext>
            </a:extLst>
          </p:cNvPr>
          <p:cNvSpPr>
            <a:spLocks noGrp="1"/>
          </p:cNvSpPr>
          <p:nvPr>
            <p:ph type="title"/>
          </p:nvPr>
        </p:nvSpPr>
        <p:spPr/>
        <p:txBody>
          <a:bodyPr/>
          <a:lstStyle/>
          <a:p>
            <a:r>
              <a:rPr lang="en-IN" dirty="0"/>
              <a:t>Mini-Batch K-Means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C0B52B6B-C870-D529-8A5C-C7F955675A8E}"/>
                  </a:ext>
                </a:extLst>
              </p:cNvPr>
              <p:cNvSpPr>
                <a:spLocks noGrp="1"/>
              </p:cNvSpPr>
              <p:nvPr>
                <p:ph idx="1"/>
              </p:nvPr>
            </p:nvSpPr>
            <p:spPr/>
            <p:txBody>
              <a:bodyPr>
                <a:normAutofit/>
              </a:bodyPr>
              <a:lstStyle/>
              <a:p>
                <a:r>
                  <a:rPr lang="en-US" dirty="0"/>
                  <a:t>Mini-Batch K-Means is a clustering algorithm that improves computational efficiency by updating centroids using randomly selected small batches of samples instead of the full dataset at every iteration.</a:t>
                </a:r>
              </a:p>
              <a:p>
                <a:r>
                  <a:rPr lang="en-IN" b="1" dirty="0"/>
                  <a:t>Working Steps</a:t>
                </a:r>
              </a:p>
              <a:p>
                <a:pPr lvl="1"/>
                <a:r>
                  <a:rPr lang="en-IN" b="1" dirty="0"/>
                  <a:t>Initialize K centroids</a:t>
                </a:r>
                <a:r>
                  <a:rPr lang="en-IN" dirty="0"/>
                  <a:t> (usually with K-Means++).</a:t>
                </a:r>
              </a:p>
              <a:p>
                <a:pPr lvl="1"/>
                <a:r>
                  <a:rPr lang="en-IN" b="1" dirty="0"/>
                  <a:t>Randomly sample a mini-batch</a:t>
                </a:r>
                <a:r>
                  <a:rPr lang="en-IN" dirty="0"/>
                  <a:t> of size </a:t>
                </a:r>
                <a14:m>
                  <m:oMath xmlns:m="http://schemas.openxmlformats.org/officeDocument/2006/math">
                    <m:r>
                      <a:rPr lang="en-IN" i="1">
                        <a:latin typeface="Cambria Math" panose="02040503050406030204" pitchFamily="18" charset="0"/>
                      </a:rPr>
                      <m:t>𝑏</m:t>
                    </m:r>
                  </m:oMath>
                </a14:m>
                <a:r>
                  <a:rPr lang="en-IN" dirty="0"/>
                  <a:t>.</a:t>
                </a:r>
              </a:p>
              <a:p>
                <a:pPr lvl="1"/>
                <a:r>
                  <a:rPr lang="en-IN" b="1" dirty="0"/>
                  <a:t>Assign each point in the batch to nearest centroid</a:t>
                </a:r>
                <a:r>
                  <a:rPr lang="en-IN" dirty="0"/>
                  <a:t>.</a:t>
                </a:r>
              </a:p>
              <a:p>
                <a:pPr lvl="1"/>
                <a:r>
                  <a:rPr lang="en-IN" b="1" dirty="0"/>
                  <a:t>Update centroids using the batch only</a:t>
                </a:r>
                <a:r>
                  <a:rPr lang="en-IN" dirty="0"/>
                  <a:t>: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r>
                      <a:rPr lang="ar-AE">
                        <a:latin typeface="Cambria Math" panose="02040503050406030204" pitchFamily="18" charset="0"/>
                      </a:rPr>
                      <m:t>+</m:t>
                    </m:r>
                    <m:r>
                      <a:rPr lang="ar-AE" i="1">
                        <a:latin typeface="Cambria Math" panose="02040503050406030204" pitchFamily="18" charset="0"/>
                      </a:rPr>
                      <m:t>𝜂</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e>
                    </m:d>
                  </m:oMath>
                </a14:m>
                <a:endParaRPr lang="ar-AE" dirty="0"/>
              </a:p>
              <a:p>
                <a:pPr lvl="1"/>
                <a:r>
                  <a:rPr lang="en-IN" b="1" dirty="0"/>
                  <a:t>Repeat until convergence</a:t>
                </a:r>
                <a:r>
                  <a:rPr lang="en-IN" dirty="0"/>
                  <a:t>.</a:t>
                </a:r>
              </a:p>
            </p:txBody>
          </p:sp>
        </mc:Choice>
        <mc:Fallback xmlns="">
          <p:sp>
            <p:nvSpPr>
              <p:cNvPr id="6" name="Content Placeholder 5">
                <a:extLst>
                  <a:ext uri="{FF2B5EF4-FFF2-40B4-BE49-F238E27FC236}">
                    <a16:creationId xmlns:a16="http://schemas.microsoft.com/office/drawing/2014/main" id="{C0B52B6B-C870-D529-8A5C-C7F955675A8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957920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3177CB7-05F8-9EAF-9EE3-B49ACAAB00EB}"/>
              </a:ext>
            </a:extLst>
          </p:cNvPr>
          <p:cNvGraphicFramePr>
            <a:graphicFrameLocks noGrp="1"/>
          </p:cNvGraphicFramePr>
          <p:nvPr>
            <p:ph idx="1"/>
          </p:nvPr>
        </p:nvGraphicFramePr>
        <p:xfrm>
          <a:off x="357809" y="344695"/>
          <a:ext cx="11022495" cy="6443686"/>
        </p:xfrm>
        <a:graphic>
          <a:graphicData uri="http://schemas.openxmlformats.org/drawingml/2006/table">
            <a:tbl>
              <a:tblPr/>
              <a:tblGrid>
                <a:gridCol w="2238446">
                  <a:extLst>
                    <a:ext uri="{9D8B030D-6E8A-4147-A177-3AD203B41FA5}">
                      <a16:colId xmlns:a16="http://schemas.microsoft.com/office/drawing/2014/main" val="3292348722"/>
                    </a:ext>
                  </a:extLst>
                </a:gridCol>
                <a:gridCol w="2832240">
                  <a:extLst>
                    <a:ext uri="{9D8B030D-6E8A-4147-A177-3AD203B41FA5}">
                      <a16:colId xmlns:a16="http://schemas.microsoft.com/office/drawing/2014/main" val="3419448918"/>
                    </a:ext>
                  </a:extLst>
                </a:gridCol>
                <a:gridCol w="3196185">
                  <a:extLst>
                    <a:ext uri="{9D8B030D-6E8A-4147-A177-3AD203B41FA5}">
                      <a16:colId xmlns:a16="http://schemas.microsoft.com/office/drawing/2014/main" val="3344891246"/>
                    </a:ext>
                  </a:extLst>
                </a:gridCol>
                <a:gridCol w="2755624">
                  <a:extLst>
                    <a:ext uri="{9D8B030D-6E8A-4147-A177-3AD203B41FA5}">
                      <a16:colId xmlns:a16="http://schemas.microsoft.com/office/drawing/2014/main" val="2205136206"/>
                    </a:ext>
                  </a:extLst>
                </a:gridCol>
              </a:tblGrid>
              <a:tr h="348107">
                <a:tc>
                  <a:txBody>
                    <a:bodyPr/>
                    <a:lstStyle/>
                    <a:p>
                      <a:pPr>
                        <a:buNone/>
                      </a:pPr>
                      <a:r>
                        <a:rPr lang="en-IN" sz="2400" dirty="0"/>
                        <a:t>Feature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K-Means</a:t>
                      </a:r>
                      <a:endParaRPr lang="en-IN" sz="24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K-Means++</a:t>
                      </a:r>
                      <a:endParaRPr lang="en-IN" sz="24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Mini-Batch K-Means</a:t>
                      </a:r>
                      <a:endParaRPr lang="en-IN" sz="24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0464342"/>
                  </a:ext>
                </a:extLst>
              </a:tr>
              <a:tr h="609187">
                <a:tc>
                  <a:txBody>
                    <a:bodyPr/>
                    <a:lstStyle/>
                    <a:p>
                      <a:pPr>
                        <a:buNone/>
                      </a:pPr>
                      <a:r>
                        <a:rPr lang="en-IN" sz="2400"/>
                        <a:t>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Random centroids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Smart (distance-based) 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Uses K-Means++ usually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329989"/>
                  </a:ext>
                </a:extLst>
              </a:tr>
              <a:tr h="348107">
                <a:tc>
                  <a:txBody>
                    <a:bodyPr/>
                    <a:lstStyle/>
                    <a:p>
                      <a:pPr>
                        <a:buNone/>
                      </a:pPr>
                      <a:r>
                        <a:rPr lang="en-IN" sz="2400"/>
                        <a:t>Dataset size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Small–medium</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Medium–large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large datasets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564546"/>
                  </a:ext>
                </a:extLst>
              </a:tr>
              <a:tr h="348107">
                <a:tc>
                  <a:txBody>
                    <a:bodyPr/>
                    <a:lstStyle/>
                    <a:p>
                      <a:pPr>
                        <a:buNone/>
                      </a:pPr>
                      <a:r>
                        <a:rPr lang="en-IN" sz="2400"/>
                        <a:t>Speed</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Moderate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Faster than K-Means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fast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038009"/>
                  </a:ext>
                </a:extLst>
              </a:tr>
              <a:tr h="348107">
                <a:tc>
                  <a:txBody>
                    <a:bodyPr/>
                    <a:lstStyle/>
                    <a:p>
                      <a:pPr>
                        <a:buNone/>
                      </a:pPr>
                      <a:r>
                        <a:rPr lang="en-IN" sz="2400"/>
                        <a:t>Memory use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Higher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Same as K-Means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Low</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898397"/>
                  </a:ext>
                </a:extLst>
              </a:tr>
              <a:tr h="348107">
                <a:tc>
                  <a:txBody>
                    <a:bodyPr/>
                    <a:lstStyle/>
                    <a:p>
                      <a:pPr>
                        <a:buNone/>
                      </a:pPr>
                      <a:r>
                        <a:rPr lang="en-IN" sz="2400"/>
                        <a:t>Convergence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Slower, unstable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Faster, stable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 approximate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0083188"/>
                  </a:ext>
                </a:extLst>
              </a:tr>
              <a:tr h="609187">
                <a:tc>
                  <a:txBody>
                    <a:bodyPr/>
                    <a:lstStyle/>
                    <a:p>
                      <a:pPr>
                        <a:buNone/>
                      </a:pPr>
                      <a:r>
                        <a:rPr lang="en-IN" sz="2400"/>
                        <a:t>Cluster quality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Can be poor due to random start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Better, more consistent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Slightly less accurate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2879795"/>
                  </a:ext>
                </a:extLst>
              </a:tr>
              <a:tr h="348107">
                <a:tc>
                  <a:txBody>
                    <a:bodyPr/>
                    <a:lstStyle/>
                    <a:p>
                      <a:pPr>
                        <a:buNone/>
                      </a:pPr>
                      <a:r>
                        <a:rPr lang="en-IN" sz="2400"/>
                        <a:t>Iterations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More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Fewer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few</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9579534"/>
                  </a:ext>
                </a:extLst>
              </a:tr>
              <a:tr h="348107">
                <a:tc>
                  <a:txBody>
                    <a:bodyPr/>
                    <a:lstStyle/>
                    <a:p>
                      <a:pPr>
                        <a:buNone/>
                      </a:pPr>
                      <a:r>
                        <a:rPr lang="en-IN" sz="2400"/>
                        <a:t>Sensitivity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Sensitive to 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Less sensitive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Less sensitive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398563"/>
                  </a:ext>
                </a:extLst>
              </a:tr>
              <a:tr h="348107">
                <a:tc>
                  <a:txBody>
                    <a:bodyPr/>
                    <a:lstStyle/>
                    <a:p>
                      <a:pPr>
                        <a:buNone/>
                      </a:pPr>
                      <a:r>
                        <a:rPr lang="en-IN" sz="2400"/>
                        <a:t>Scalability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Limited</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Better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Highly scalable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470678"/>
                  </a:ext>
                </a:extLst>
              </a:tr>
              <a:tr h="348107">
                <a:tc>
                  <a:txBody>
                    <a:bodyPr/>
                    <a:lstStyle/>
                    <a:p>
                      <a:pPr>
                        <a:buNone/>
                      </a:pPr>
                      <a:r>
                        <a:rPr lang="en-IN" sz="2400"/>
                        <a:t>Use case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Simple problems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Production clustering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Big data / streaming data</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169605"/>
                  </a:ext>
                </a:extLst>
              </a:tr>
            </a:tbl>
          </a:graphicData>
        </a:graphic>
      </p:graphicFrame>
    </p:spTree>
    <p:extLst>
      <p:ext uri="{BB962C8B-B14F-4D97-AF65-F5344CB8AC3E}">
        <p14:creationId xmlns:p14="http://schemas.microsoft.com/office/powerpoint/2010/main" val="513545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E9CE7-0748-3030-3A7C-9CDA9962F6BD}"/>
              </a:ext>
            </a:extLst>
          </p:cNvPr>
          <p:cNvSpPr>
            <a:spLocks noGrp="1"/>
          </p:cNvSpPr>
          <p:nvPr>
            <p:ph type="title"/>
          </p:nvPr>
        </p:nvSpPr>
        <p:spPr/>
        <p:txBody>
          <a:bodyPr/>
          <a:lstStyle/>
          <a:p>
            <a:r>
              <a:rPr lang="en-US" dirty="0"/>
              <a:t>Finding the optimal number of clusters</a:t>
            </a:r>
            <a:endParaRPr lang="en-IN" dirty="0"/>
          </a:p>
        </p:txBody>
      </p:sp>
      <p:sp>
        <p:nvSpPr>
          <p:cNvPr id="3" name="Content Placeholder 2">
            <a:extLst>
              <a:ext uri="{FF2B5EF4-FFF2-40B4-BE49-F238E27FC236}">
                <a16:creationId xmlns:a16="http://schemas.microsoft.com/office/drawing/2014/main" id="{E6394C57-5A00-FD62-9E9C-7269C1436B21}"/>
              </a:ext>
            </a:extLst>
          </p:cNvPr>
          <p:cNvSpPr>
            <a:spLocks noGrp="1"/>
          </p:cNvSpPr>
          <p:nvPr>
            <p:ph idx="1"/>
          </p:nvPr>
        </p:nvSpPr>
        <p:spPr/>
        <p:txBody>
          <a:bodyPr/>
          <a:lstStyle/>
          <a:p>
            <a:r>
              <a:rPr lang="en-US" dirty="0"/>
              <a:t>There are two commonly used methods to determine the ideal number of clusters possible in K-means </a:t>
            </a:r>
          </a:p>
          <a:p>
            <a:pPr lvl="1"/>
            <a:r>
              <a:rPr lang="en-US" dirty="0"/>
              <a:t>Elbow Method </a:t>
            </a:r>
          </a:p>
          <a:p>
            <a:pPr lvl="1"/>
            <a:r>
              <a:rPr lang="en-US" dirty="0"/>
              <a:t>Silhouette Method</a:t>
            </a:r>
            <a:endParaRPr lang="en-IN" dirty="0"/>
          </a:p>
        </p:txBody>
      </p:sp>
    </p:spTree>
    <p:extLst>
      <p:ext uri="{BB962C8B-B14F-4D97-AF65-F5344CB8AC3E}">
        <p14:creationId xmlns:p14="http://schemas.microsoft.com/office/powerpoint/2010/main" val="2458725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6E7EA-7E4E-DD7B-B1DA-8B8453FC1A2C}"/>
              </a:ext>
            </a:extLst>
          </p:cNvPr>
          <p:cNvSpPr>
            <a:spLocks noGrp="1"/>
          </p:cNvSpPr>
          <p:nvPr>
            <p:ph type="title"/>
          </p:nvPr>
        </p:nvSpPr>
        <p:spPr/>
        <p:txBody>
          <a:bodyPr/>
          <a:lstStyle/>
          <a:p>
            <a:r>
              <a:rPr lang="en-US" dirty="0"/>
              <a:t>Elbow Method</a:t>
            </a:r>
            <a:endParaRPr lang="en-IN" dirty="0"/>
          </a:p>
        </p:txBody>
      </p:sp>
      <p:sp>
        <p:nvSpPr>
          <p:cNvPr id="3" name="Content Placeholder 2">
            <a:extLst>
              <a:ext uri="{FF2B5EF4-FFF2-40B4-BE49-F238E27FC236}">
                <a16:creationId xmlns:a16="http://schemas.microsoft.com/office/drawing/2014/main" id="{97FF5BE6-0921-AAD0-FDA6-09428E139878}"/>
              </a:ext>
            </a:extLst>
          </p:cNvPr>
          <p:cNvSpPr>
            <a:spLocks noGrp="1"/>
          </p:cNvSpPr>
          <p:nvPr>
            <p:ph idx="1"/>
          </p:nvPr>
        </p:nvSpPr>
        <p:spPr/>
        <p:txBody>
          <a:bodyPr>
            <a:normAutofit/>
          </a:bodyPr>
          <a:lstStyle/>
          <a:p>
            <a:pPr marL="457200" indent="-457200">
              <a:buFont typeface="+mj-lt"/>
              <a:buAutoNum type="arabicPeriod"/>
            </a:pPr>
            <a:r>
              <a:rPr lang="en-US" sz="2400" dirty="0"/>
              <a:t>First of all, compute the sum of squared error (SSE) for some values of k. The SSE is defined as the sum of the squared distance between each member of the cluster and its centroid. Mathematically: </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r>
              <a:rPr lang="en-US" sz="2400" dirty="0"/>
              <a:t>If you plot k against the SSE, you will see that the error decreases as k gets larger; this is because when the number of clusters increases, they should be smaller, so distortion is also smaller. The idea of the elbow method is to choose the k at which the SSE decreases abruptly. This produces an "elbow effect" in the graph</a:t>
            </a:r>
            <a:endParaRPr lang="en-IN" sz="2400" dirty="0"/>
          </a:p>
        </p:txBody>
      </p:sp>
      <p:pic>
        <p:nvPicPr>
          <p:cNvPr id="5" name="Picture 4">
            <a:extLst>
              <a:ext uri="{FF2B5EF4-FFF2-40B4-BE49-F238E27FC236}">
                <a16:creationId xmlns:a16="http://schemas.microsoft.com/office/drawing/2014/main" id="{6F92087F-06D1-17E3-748F-C4987DAACCCF}"/>
              </a:ext>
            </a:extLst>
          </p:cNvPr>
          <p:cNvPicPr>
            <a:picLocks noChangeAspect="1"/>
          </p:cNvPicPr>
          <p:nvPr/>
        </p:nvPicPr>
        <p:blipFill>
          <a:blip r:embed="rId2"/>
          <a:stretch>
            <a:fillRect/>
          </a:stretch>
        </p:blipFill>
        <p:spPr>
          <a:xfrm>
            <a:off x="3956958" y="3090815"/>
            <a:ext cx="5084246" cy="904715"/>
          </a:xfrm>
          <a:prstGeom prst="rect">
            <a:avLst/>
          </a:prstGeom>
        </p:spPr>
      </p:pic>
    </p:spTree>
    <p:extLst>
      <p:ext uri="{BB962C8B-B14F-4D97-AF65-F5344CB8AC3E}">
        <p14:creationId xmlns:p14="http://schemas.microsoft.com/office/powerpoint/2010/main" val="2462627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B50E9-74C2-55CB-4CF9-929FCCD1C239}"/>
              </a:ext>
            </a:extLst>
          </p:cNvPr>
          <p:cNvSpPr>
            <a:spLocks noGrp="1"/>
          </p:cNvSpPr>
          <p:nvPr>
            <p:ph type="title"/>
          </p:nvPr>
        </p:nvSpPr>
        <p:spPr/>
        <p:txBody>
          <a:bodyPr/>
          <a:lstStyle/>
          <a:p>
            <a:r>
              <a:rPr lang="en-US" dirty="0"/>
              <a:t>Elbow Method</a:t>
            </a:r>
            <a:endParaRPr lang="en-IN" dirty="0"/>
          </a:p>
        </p:txBody>
      </p:sp>
      <p:pic>
        <p:nvPicPr>
          <p:cNvPr id="5" name="Content Placeholder 4">
            <a:extLst>
              <a:ext uri="{FF2B5EF4-FFF2-40B4-BE49-F238E27FC236}">
                <a16:creationId xmlns:a16="http://schemas.microsoft.com/office/drawing/2014/main" id="{878B9FF3-31F2-D1DC-6F84-A522AD62D6C0}"/>
              </a:ext>
            </a:extLst>
          </p:cNvPr>
          <p:cNvPicPr>
            <a:picLocks noGrp="1" noChangeAspect="1"/>
          </p:cNvPicPr>
          <p:nvPr>
            <p:ph idx="1"/>
          </p:nvPr>
        </p:nvPicPr>
        <p:blipFill>
          <a:blip r:embed="rId2"/>
          <a:stretch>
            <a:fillRect/>
          </a:stretch>
        </p:blipFill>
        <p:spPr>
          <a:xfrm>
            <a:off x="1146313" y="1621114"/>
            <a:ext cx="10515600" cy="3925601"/>
          </a:xfrm>
          <a:prstGeom prst="rect">
            <a:avLst/>
          </a:prstGeom>
        </p:spPr>
      </p:pic>
    </p:spTree>
    <p:extLst>
      <p:ext uri="{BB962C8B-B14F-4D97-AF65-F5344CB8AC3E}">
        <p14:creationId xmlns:p14="http://schemas.microsoft.com/office/powerpoint/2010/main" val="1456303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6EF41-54EB-D930-DD01-B7B887B9F15D}"/>
              </a:ext>
            </a:extLst>
          </p:cNvPr>
          <p:cNvSpPr>
            <a:spLocks noGrp="1"/>
          </p:cNvSpPr>
          <p:nvPr>
            <p:ph type="title"/>
          </p:nvPr>
        </p:nvSpPr>
        <p:spPr/>
        <p:txBody>
          <a:bodyPr/>
          <a:lstStyle/>
          <a:p>
            <a:r>
              <a:rPr lang="en-IN" dirty="0"/>
              <a:t>Silhouette Method</a:t>
            </a:r>
          </a:p>
        </p:txBody>
      </p:sp>
      <p:sp>
        <p:nvSpPr>
          <p:cNvPr id="3" name="Content Placeholder 2">
            <a:extLst>
              <a:ext uri="{FF2B5EF4-FFF2-40B4-BE49-F238E27FC236}">
                <a16:creationId xmlns:a16="http://schemas.microsoft.com/office/drawing/2014/main" id="{6F8C8036-9B4D-D45E-9557-92C005C0089B}"/>
              </a:ext>
            </a:extLst>
          </p:cNvPr>
          <p:cNvSpPr>
            <a:spLocks noGrp="1"/>
          </p:cNvSpPr>
          <p:nvPr>
            <p:ph idx="1"/>
          </p:nvPr>
        </p:nvSpPr>
        <p:spPr/>
        <p:txBody>
          <a:bodyPr>
            <a:normAutofit/>
          </a:bodyPr>
          <a:lstStyle/>
          <a:p>
            <a:r>
              <a:rPr lang="en-US" sz="2400" dirty="0"/>
              <a:t>Silhouette analysis is a way to measure how close each point in a cluster is to the points in its neighboring clusters. </a:t>
            </a:r>
          </a:p>
          <a:p>
            <a:pPr lvl="1"/>
            <a:r>
              <a:rPr lang="en-US" sz="2000" dirty="0"/>
              <a:t>Its a way to find out the optimum value for k during k-means clustering. </a:t>
            </a:r>
          </a:p>
          <a:p>
            <a:r>
              <a:rPr lang="en-US" sz="2400" dirty="0"/>
              <a:t>Silhouette values lies in the range of [-1, 1]. </a:t>
            </a:r>
          </a:p>
          <a:p>
            <a:pPr lvl="1"/>
            <a:r>
              <a:rPr lang="en-US" sz="2000" dirty="0"/>
              <a:t>A value of +1 indicates that the sample is far away from its neighboring cluster and very close to the cluster its assigned. </a:t>
            </a:r>
          </a:p>
          <a:p>
            <a:pPr lvl="1"/>
            <a:r>
              <a:rPr lang="en-US" sz="2000" dirty="0"/>
              <a:t>Similarly, value of -1 indicates that the point is close to its neighboring cluster than to the cluster its assigned. </a:t>
            </a:r>
          </a:p>
          <a:p>
            <a:pPr lvl="1"/>
            <a:r>
              <a:rPr lang="en-US" sz="2000" dirty="0"/>
              <a:t>A value of 0 means its at the boundary of the distance between the two cluster. Value of +1 is idea and -1 is least preferred. Hence, higher the value better is the cluster configuration.</a:t>
            </a:r>
            <a:endParaRPr lang="en-IN" sz="2000" dirty="0"/>
          </a:p>
        </p:txBody>
      </p:sp>
    </p:spTree>
    <p:extLst>
      <p:ext uri="{BB962C8B-B14F-4D97-AF65-F5344CB8AC3E}">
        <p14:creationId xmlns:p14="http://schemas.microsoft.com/office/powerpoint/2010/main" val="2418009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BEFB3-1277-72C8-7C18-22FD46965D83}"/>
              </a:ext>
            </a:extLst>
          </p:cNvPr>
          <p:cNvSpPr>
            <a:spLocks noGrp="1"/>
          </p:cNvSpPr>
          <p:nvPr>
            <p:ph type="title"/>
          </p:nvPr>
        </p:nvSpPr>
        <p:spPr/>
        <p:txBody>
          <a:bodyPr/>
          <a:lstStyle/>
          <a:p>
            <a:r>
              <a:rPr lang="en-IN" dirty="0"/>
              <a:t>Silhouette Method</a:t>
            </a:r>
          </a:p>
        </p:txBody>
      </p:sp>
      <p:sp>
        <p:nvSpPr>
          <p:cNvPr id="3" name="Content Placeholder 2">
            <a:extLst>
              <a:ext uri="{FF2B5EF4-FFF2-40B4-BE49-F238E27FC236}">
                <a16:creationId xmlns:a16="http://schemas.microsoft.com/office/drawing/2014/main" id="{716FA2E7-3C70-7609-D795-9A72D5AC8967}"/>
              </a:ext>
            </a:extLst>
          </p:cNvPr>
          <p:cNvSpPr>
            <a:spLocks noGrp="1"/>
          </p:cNvSpPr>
          <p:nvPr>
            <p:ph idx="1"/>
          </p:nvPr>
        </p:nvSpPr>
        <p:spPr/>
        <p:txBody>
          <a:bodyPr>
            <a:normAutofit/>
          </a:bodyPr>
          <a:lstStyle/>
          <a:p>
            <a:r>
              <a:rPr lang="en-US" sz="2400" dirty="0"/>
              <a:t>In the data, lets define a(</a:t>
            </a:r>
            <a:r>
              <a:rPr lang="en-US" sz="2400" dirty="0" err="1"/>
              <a:t>i</a:t>
            </a:r>
            <a:r>
              <a:rPr lang="en-US" sz="2400" dirty="0"/>
              <a:t>) to be the mean distance of point (</a:t>
            </a:r>
            <a:r>
              <a:rPr lang="en-US" sz="2400" dirty="0" err="1"/>
              <a:t>i</a:t>
            </a:r>
            <a:r>
              <a:rPr lang="en-US" sz="2400" dirty="0"/>
              <a:t>) w.r.t to all the other points in the cluster its assigned (A). </a:t>
            </a:r>
          </a:p>
          <a:p>
            <a:pPr lvl="1"/>
            <a:r>
              <a:rPr lang="en-US" sz="2000" dirty="0"/>
              <a:t>We can interpret a(</a:t>
            </a:r>
            <a:r>
              <a:rPr lang="en-US" sz="2000" dirty="0" err="1"/>
              <a:t>i</a:t>
            </a:r>
            <a:r>
              <a:rPr lang="en-US" sz="2000" dirty="0"/>
              <a:t>) as how well the point is assigned to the cluster. Smaller the value better the assignment. </a:t>
            </a:r>
          </a:p>
          <a:p>
            <a:r>
              <a:rPr lang="en-US" sz="2400" dirty="0"/>
              <a:t>Similarly, lets define b(</a:t>
            </a:r>
            <a:r>
              <a:rPr lang="en-US" sz="2400" dirty="0" err="1"/>
              <a:t>i</a:t>
            </a:r>
            <a:r>
              <a:rPr lang="en-US" sz="2400" dirty="0"/>
              <a:t>) to be the mean distance of point(</a:t>
            </a:r>
            <a:r>
              <a:rPr lang="en-US" sz="2400" dirty="0" err="1"/>
              <a:t>i</a:t>
            </a:r>
            <a:r>
              <a:rPr lang="en-US" sz="2400" dirty="0"/>
              <a:t>) </a:t>
            </a:r>
            <a:r>
              <a:rPr lang="en-US" sz="2400" dirty="0" err="1"/>
              <a:t>w.r.t.</a:t>
            </a:r>
            <a:r>
              <a:rPr lang="en-US" sz="2400" dirty="0"/>
              <a:t> to other points to its closet neighboring cluster (B). The cluster (B) is the cluster to which point (</a:t>
            </a:r>
            <a:r>
              <a:rPr lang="en-US" sz="2400" dirty="0" err="1"/>
              <a:t>i</a:t>
            </a:r>
            <a:r>
              <a:rPr lang="en-US" sz="2400" dirty="0"/>
              <a:t>) is not assigned to but its distance is closest amongst all other cluster. </a:t>
            </a:r>
          </a:p>
          <a:p>
            <a:r>
              <a:rPr lang="en-US" sz="2400" dirty="0"/>
              <a:t>Thus, the silhouette s(</a:t>
            </a:r>
            <a:r>
              <a:rPr lang="en-US" sz="2400" dirty="0" err="1"/>
              <a:t>i</a:t>
            </a:r>
            <a:r>
              <a:rPr lang="en-US" sz="2400" dirty="0"/>
              <a:t>) can be calculated as:</a:t>
            </a:r>
            <a:endParaRPr lang="en-IN" sz="2400" dirty="0"/>
          </a:p>
        </p:txBody>
      </p:sp>
      <p:pic>
        <p:nvPicPr>
          <p:cNvPr id="5" name="Picture 4">
            <a:extLst>
              <a:ext uri="{FF2B5EF4-FFF2-40B4-BE49-F238E27FC236}">
                <a16:creationId xmlns:a16="http://schemas.microsoft.com/office/drawing/2014/main" id="{93928EDD-BEBD-AFEC-9154-CD0D7598C902}"/>
              </a:ext>
            </a:extLst>
          </p:cNvPr>
          <p:cNvPicPr>
            <a:picLocks noChangeAspect="1"/>
          </p:cNvPicPr>
          <p:nvPr/>
        </p:nvPicPr>
        <p:blipFill>
          <a:blip r:embed="rId2"/>
          <a:stretch>
            <a:fillRect/>
          </a:stretch>
        </p:blipFill>
        <p:spPr>
          <a:xfrm>
            <a:off x="2980129" y="4817675"/>
            <a:ext cx="4583549" cy="1578567"/>
          </a:xfrm>
          <a:prstGeom prst="rect">
            <a:avLst/>
          </a:prstGeom>
        </p:spPr>
      </p:pic>
    </p:spTree>
    <p:extLst>
      <p:ext uri="{BB962C8B-B14F-4D97-AF65-F5344CB8AC3E}">
        <p14:creationId xmlns:p14="http://schemas.microsoft.com/office/powerpoint/2010/main" val="2774580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F0C7-89F6-1909-2985-ACE490860600}"/>
              </a:ext>
            </a:extLst>
          </p:cNvPr>
          <p:cNvSpPr>
            <a:spLocks noGrp="1"/>
          </p:cNvSpPr>
          <p:nvPr>
            <p:ph type="title"/>
          </p:nvPr>
        </p:nvSpPr>
        <p:spPr/>
        <p:txBody>
          <a:bodyPr/>
          <a:lstStyle/>
          <a:p>
            <a:r>
              <a:rPr lang="en-IN" dirty="0"/>
              <a:t>Silhouette Method</a:t>
            </a:r>
          </a:p>
        </p:txBody>
      </p:sp>
      <p:pic>
        <p:nvPicPr>
          <p:cNvPr id="5" name="Content Placeholder 4">
            <a:extLst>
              <a:ext uri="{FF2B5EF4-FFF2-40B4-BE49-F238E27FC236}">
                <a16:creationId xmlns:a16="http://schemas.microsoft.com/office/drawing/2014/main" id="{9F0B914A-D390-1805-0E2F-C90A8D17178D}"/>
              </a:ext>
            </a:extLst>
          </p:cNvPr>
          <p:cNvPicPr>
            <a:picLocks noGrp="1" noChangeAspect="1"/>
          </p:cNvPicPr>
          <p:nvPr>
            <p:ph idx="1"/>
          </p:nvPr>
        </p:nvPicPr>
        <p:blipFill>
          <a:blip r:embed="rId2"/>
          <a:stretch>
            <a:fillRect/>
          </a:stretch>
        </p:blipFill>
        <p:spPr>
          <a:xfrm>
            <a:off x="838200" y="2268905"/>
            <a:ext cx="10515600" cy="3464777"/>
          </a:xfrm>
          <a:prstGeom prst="rect">
            <a:avLst/>
          </a:prstGeom>
        </p:spPr>
      </p:pic>
    </p:spTree>
    <p:extLst>
      <p:ext uri="{BB962C8B-B14F-4D97-AF65-F5344CB8AC3E}">
        <p14:creationId xmlns:p14="http://schemas.microsoft.com/office/powerpoint/2010/main" val="922618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2557</Words>
  <Application>Microsoft Office PowerPoint</Application>
  <PresentationFormat>Widescreen</PresentationFormat>
  <Paragraphs>389</Paragraphs>
  <Slides>36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Cambria Math</vt:lpstr>
      <vt:lpstr>Wingdings</vt:lpstr>
      <vt:lpstr>Office Theme</vt:lpstr>
      <vt:lpstr>Clustering</vt:lpstr>
      <vt:lpstr>Application of Clustering </vt:lpstr>
      <vt:lpstr>Clustering</vt:lpstr>
      <vt:lpstr>Clustering</vt:lpstr>
      <vt:lpstr>K-Means Clustering</vt:lpstr>
      <vt:lpstr>K-Means Clustering</vt:lpstr>
      <vt:lpstr>K-means clustering</vt:lpstr>
      <vt:lpstr>PowerPoint Presentation</vt:lpstr>
      <vt:lpstr>Steps in K-means clustering algorithm</vt:lpstr>
      <vt:lpstr>Steps in K-means clustering algorithm</vt:lpstr>
      <vt:lpstr>Steps in K-means clustering algorithm</vt:lpstr>
      <vt:lpstr>Simple Example of K-Means Clustering</vt:lpstr>
      <vt:lpstr>Simple Example of K-Means Clustering</vt:lpstr>
      <vt:lpstr>Simple Example of K-Means Clustering</vt:lpstr>
      <vt:lpstr>Simple Example of K-Means Clustering</vt:lpstr>
      <vt:lpstr>PowerPoint Presentation</vt:lpstr>
      <vt:lpstr>PowerPoint Presentation</vt:lpstr>
      <vt:lpstr>PowerPoint Presentation</vt:lpstr>
      <vt:lpstr>PowerPoint Presentation</vt:lpstr>
      <vt:lpstr>PowerPoint Presentation</vt:lpstr>
      <vt:lpstr>Limitations of k means clustering</vt:lpstr>
      <vt:lpstr>Failure cases of k-means</vt:lpstr>
      <vt:lpstr>Use cases</vt:lpstr>
      <vt:lpstr>K-Means++ Clustering</vt:lpstr>
      <vt:lpstr>K-Means++ initialization algorithm:</vt:lpstr>
      <vt:lpstr>Simple Example of K-Means++ Clustering</vt:lpstr>
      <vt:lpstr>Simple Example of K-Means++ Clustering</vt:lpstr>
      <vt:lpstr>Simple Example of K-Means++ Clustering- Repeat step 3,4</vt:lpstr>
      <vt:lpstr>Mini-Batch K-Means</vt:lpstr>
      <vt:lpstr>PowerPoint Presentation</vt:lpstr>
      <vt:lpstr>Finding the optimal number of clusters</vt:lpstr>
      <vt:lpstr>Elbow Method</vt:lpstr>
      <vt:lpstr>Elbow Method</vt:lpstr>
      <vt:lpstr>Silhouette Method</vt:lpstr>
      <vt:lpstr>Silhouette Method</vt:lpstr>
      <vt:lpstr>Silhouette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2026-03-12T05:38:13Z</dcterms:created>
  <dcterms:modified xsi:type="dcterms:W3CDTF">2026-03-12T05:39:37Z</dcterms:modified>
</cp:coreProperties>
</file>