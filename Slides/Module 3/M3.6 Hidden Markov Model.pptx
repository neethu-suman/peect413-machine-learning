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434" r:id="rId3"/>
    <p:sldId id="438" r:id="rId4"/>
    <p:sldId id="436" r:id="rId5"/>
    <p:sldId id="435" r:id="rId6"/>
    <p:sldId id="437" r:id="rId7"/>
    <p:sldId id="474" r:id="rId8"/>
    <p:sldId id="475" r:id="rId9"/>
    <p:sldId id="476" r:id="rId10"/>
    <p:sldId id="477" r:id="rId11"/>
    <p:sldId id="478" r:id="rId12"/>
    <p:sldId id="441" r:id="rId13"/>
    <p:sldId id="440" r:id="rId14"/>
    <p:sldId id="442" r:id="rId15"/>
    <p:sldId id="443" r:id="rId16"/>
    <p:sldId id="444" r:id="rId17"/>
    <p:sldId id="445" r:id="rId18"/>
    <p:sldId id="439" r:id="rId19"/>
    <p:sldId id="401" r:id="rId20"/>
    <p:sldId id="469" r:id="rId21"/>
    <p:sldId id="470" r:id="rId22"/>
    <p:sldId id="471" r:id="rId23"/>
    <p:sldId id="472" r:id="rId24"/>
    <p:sldId id="473" r:id="rId25"/>
    <p:sldId id="449" r:id="rId26"/>
    <p:sldId id="450" r:id="rId27"/>
    <p:sldId id="453" r:id="rId28"/>
    <p:sldId id="454" r:id="rId29"/>
    <p:sldId id="455" r:id="rId30"/>
    <p:sldId id="451" r:id="rId31"/>
    <p:sldId id="452" r:id="rId32"/>
    <p:sldId id="456" r:id="rId33"/>
    <p:sldId id="457" r:id="rId34"/>
    <p:sldId id="458" r:id="rId35"/>
    <p:sldId id="459" r:id="rId36"/>
    <p:sldId id="461" r:id="rId37"/>
    <p:sldId id="462" r:id="rId38"/>
    <p:sldId id="463" r:id="rId39"/>
    <p:sldId id="464" r:id="rId40"/>
    <p:sldId id="467" r:id="rId41"/>
    <p:sldId id="46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7CDA8-309E-A2A7-63F5-A0AE510046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B3F3DE9-0C01-51FC-DA68-59B00DCAE0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A3B1DEA-FA3A-90BB-E64F-8A9C5213440F}"/>
              </a:ext>
            </a:extLst>
          </p:cNvPr>
          <p:cNvSpPr>
            <a:spLocks noGrp="1"/>
          </p:cNvSpPr>
          <p:nvPr>
            <p:ph type="dt" sz="half" idx="10"/>
          </p:nvPr>
        </p:nvSpPr>
        <p:spPr/>
        <p:txBody>
          <a:bodyPr/>
          <a:lstStyle/>
          <a:p>
            <a:fld id="{3E09DC59-03D2-45BE-9F20-6E683BFEA269}" type="datetimeFigureOut">
              <a:rPr lang="en-IN" smtClean="0"/>
              <a:t>12-03-2026</a:t>
            </a:fld>
            <a:endParaRPr lang="en-IN"/>
          </a:p>
        </p:txBody>
      </p:sp>
      <p:sp>
        <p:nvSpPr>
          <p:cNvPr id="5" name="Footer Placeholder 4">
            <a:extLst>
              <a:ext uri="{FF2B5EF4-FFF2-40B4-BE49-F238E27FC236}">
                <a16:creationId xmlns:a16="http://schemas.microsoft.com/office/drawing/2014/main" id="{02D51289-A155-DC5D-0F72-0001D8D179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F54CD5-3EAD-6441-D88C-CCC50C7E57B8}"/>
              </a:ext>
            </a:extLst>
          </p:cNvPr>
          <p:cNvSpPr>
            <a:spLocks noGrp="1"/>
          </p:cNvSpPr>
          <p:nvPr>
            <p:ph type="sldNum" sz="quarter" idx="12"/>
          </p:nvPr>
        </p:nvSpPr>
        <p:spPr/>
        <p:txBody>
          <a:bodyPr/>
          <a:lstStyle/>
          <a:p>
            <a:fld id="{EB89599A-7CED-4DCC-8CEE-2AEBAC2AAEA5}" type="slidenum">
              <a:rPr lang="en-IN" smtClean="0"/>
              <a:t>‹#›</a:t>
            </a:fld>
            <a:endParaRPr lang="en-IN"/>
          </a:p>
        </p:txBody>
      </p:sp>
    </p:spTree>
    <p:extLst>
      <p:ext uri="{BB962C8B-B14F-4D97-AF65-F5344CB8AC3E}">
        <p14:creationId xmlns:p14="http://schemas.microsoft.com/office/powerpoint/2010/main" val="2443558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FAED8-3E12-85CD-BE26-550CFF4B74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507D00-2874-9773-1A72-3D3AD637B6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7EFB4F-62E7-2B17-82F4-5AC264359339}"/>
              </a:ext>
            </a:extLst>
          </p:cNvPr>
          <p:cNvSpPr>
            <a:spLocks noGrp="1"/>
          </p:cNvSpPr>
          <p:nvPr>
            <p:ph type="dt" sz="half" idx="10"/>
          </p:nvPr>
        </p:nvSpPr>
        <p:spPr/>
        <p:txBody>
          <a:bodyPr/>
          <a:lstStyle/>
          <a:p>
            <a:fld id="{3E09DC59-03D2-45BE-9F20-6E683BFEA269}" type="datetimeFigureOut">
              <a:rPr lang="en-IN" smtClean="0"/>
              <a:t>12-03-2026</a:t>
            </a:fld>
            <a:endParaRPr lang="en-IN"/>
          </a:p>
        </p:txBody>
      </p:sp>
      <p:sp>
        <p:nvSpPr>
          <p:cNvPr id="5" name="Footer Placeholder 4">
            <a:extLst>
              <a:ext uri="{FF2B5EF4-FFF2-40B4-BE49-F238E27FC236}">
                <a16:creationId xmlns:a16="http://schemas.microsoft.com/office/drawing/2014/main" id="{6D0FC0CA-E511-160B-75D1-488BB2BFE9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24FE54-E510-F288-53A2-927041CF5EFA}"/>
              </a:ext>
            </a:extLst>
          </p:cNvPr>
          <p:cNvSpPr>
            <a:spLocks noGrp="1"/>
          </p:cNvSpPr>
          <p:nvPr>
            <p:ph type="sldNum" sz="quarter" idx="12"/>
          </p:nvPr>
        </p:nvSpPr>
        <p:spPr/>
        <p:txBody>
          <a:bodyPr/>
          <a:lstStyle/>
          <a:p>
            <a:fld id="{EB89599A-7CED-4DCC-8CEE-2AEBAC2AAEA5}" type="slidenum">
              <a:rPr lang="en-IN" smtClean="0"/>
              <a:t>‹#›</a:t>
            </a:fld>
            <a:endParaRPr lang="en-IN"/>
          </a:p>
        </p:txBody>
      </p:sp>
    </p:spTree>
    <p:extLst>
      <p:ext uri="{BB962C8B-B14F-4D97-AF65-F5344CB8AC3E}">
        <p14:creationId xmlns:p14="http://schemas.microsoft.com/office/powerpoint/2010/main" val="543096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B497B-F369-6714-A9F2-F42D70705D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B875F35-5168-ECA2-C1C9-C1DAF518A3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9A147B-671B-C3D5-1CCB-F2AACEA53551}"/>
              </a:ext>
            </a:extLst>
          </p:cNvPr>
          <p:cNvSpPr>
            <a:spLocks noGrp="1"/>
          </p:cNvSpPr>
          <p:nvPr>
            <p:ph type="dt" sz="half" idx="10"/>
          </p:nvPr>
        </p:nvSpPr>
        <p:spPr/>
        <p:txBody>
          <a:bodyPr/>
          <a:lstStyle/>
          <a:p>
            <a:fld id="{3E09DC59-03D2-45BE-9F20-6E683BFEA269}" type="datetimeFigureOut">
              <a:rPr lang="en-IN" smtClean="0"/>
              <a:t>12-03-2026</a:t>
            </a:fld>
            <a:endParaRPr lang="en-IN"/>
          </a:p>
        </p:txBody>
      </p:sp>
      <p:sp>
        <p:nvSpPr>
          <p:cNvPr id="5" name="Footer Placeholder 4">
            <a:extLst>
              <a:ext uri="{FF2B5EF4-FFF2-40B4-BE49-F238E27FC236}">
                <a16:creationId xmlns:a16="http://schemas.microsoft.com/office/drawing/2014/main" id="{4691AA7B-EB94-74C4-994C-2C6C9E6773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4D5EFF-ABDD-49E4-49C0-E9AF805AA729}"/>
              </a:ext>
            </a:extLst>
          </p:cNvPr>
          <p:cNvSpPr>
            <a:spLocks noGrp="1"/>
          </p:cNvSpPr>
          <p:nvPr>
            <p:ph type="sldNum" sz="quarter" idx="12"/>
          </p:nvPr>
        </p:nvSpPr>
        <p:spPr/>
        <p:txBody>
          <a:bodyPr/>
          <a:lstStyle/>
          <a:p>
            <a:fld id="{EB89599A-7CED-4DCC-8CEE-2AEBAC2AAEA5}" type="slidenum">
              <a:rPr lang="en-IN" smtClean="0"/>
              <a:t>‹#›</a:t>
            </a:fld>
            <a:endParaRPr lang="en-IN"/>
          </a:p>
        </p:txBody>
      </p:sp>
    </p:spTree>
    <p:extLst>
      <p:ext uri="{BB962C8B-B14F-4D97-AF65-F5344CB8AC3E}">
        <p14:creationId xmlns:p14="http://schemas.microsoft.com/office/powerpoint/2010/main" val="271030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09161-2552-3E7A-DA28-91FABA0A8D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8D08A8-EBF9-5588-3EA1-CA9AB2535C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38101B9-6479-6A0D-61B7-0614C902B0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3BC0759-EBC1-2DA6-72AC-5912B39E0EC3}"/>
              </a:ext>
            </a:extLst>
          </p:cNvPr>
          <p:cNvSpPr>
            <a:spLocks noGrp="1"/>
          </p:cNvSpPr>
          <p:nvPr>
            <p:ph type="dt" sz="half" idx="10"/>
          </p:nvPr>
        </p:nvSpPr>
        <p:spPr/>
        <p:txBody>
          <a:bodyPr/>
          <a:lstStyle/>
          <a:p>
            <a:fld id="{3E09DC59-03D2-45BE-9F20-6E683BFEA269}" type="datetimeFigureOut">
              <a:rPr lang="en-IN" smtClean="0"/>
              <a:t>12-03-2026</a:t>
            </a:fld>
            <a:endParaRPr lang="en-IN"/>
          </a:p>
        </p:txBody>
      </p:sp>
      <p:sp>
        <p:nvSpPr>
          <p:cNvPr id="6" name="Footer Placeholder 5">
            <a:extLst>
              <a:ext uri="{FF2B5EF4-FFF2-40B4-BE49-F238E27FC236}">
                <a16:creationId xmlns:a16="http://schemas.microsoft.com/office/drawing/2014/main" id="{270EEB06-4B69-919F-22E7-0547C55CCB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CAB896-35FF-B634-978B-CB80B155B591}"/>
              </a:ext>
            </a:extLst>
          </p:cNvPr>
          <p:cNvSpPr>
            <a:spLocks noGrp="1"/>
          </p:cNvSpPr>
          <p:nvPr>
            <p:ph type="sldNum" sz="quarter" idx="12"/>
          </p:nvPr>
        </p:nvSpPr>
        <p:spPr/>
        <p:txBody>
          <a:bodyPr/>
          <a:lstStyle/>
          <a:p>
            <a:fld id="{EB89599A-7CED-4DCC-8CEE-2AEBAC2AAEA5}" type="slidenum">
              <a:rPr lang="en-IN" smtClean="0"/>
              <a:t>‹#›</a:t>
            </a:fld>
            <a:endParaRPr lang="en-IN"/>
          </a:p>
        </p:txBody>
      </p:sp>
    </p:spTree>
    <p:extLst>
      <p:ext uri="{BB962C8B-B14F-4D97-AF65-F5344CB8AC3E}">
        <p14:creationId xmlns:p14="http://schemas.microsoft.com/office/powerpoint/2010/main" val="305812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36349-C39A-8976-59EC-CFC09BB0B6E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80ABE9-1CCA-15F7-FE65-561CB6AA9E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6374EE-EFBC-27B8-9CBE-CC9428D5C4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0A9FA09-063B-9BD9-E872-003FE96826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048B3F-5AD8-91B5-A25D-A2D7C2A66F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EAB8098-25B0-A115-0EDD-DE6434AE9EA1}"/>
              </a:ext>
            </a:extLst>
          </p:cNvPr>
          <p:cNvSpPr>
            <a:spLocks noGrp="1"/>
          </p:cNvSpPr>
          <p:nvPr>
            <p:ph type="dt" sz="half" idx="10"/>
          </p:nvPr>
        </p:nvSpPr>
        <p:spPr/>
        <p:txBody>
          <a:bodyPr/>
          <a:lstStyle/>
          <a:p>
            <a:fld id="{3E09DC59-03D2-45BE-9F20-6E683BFEA269}" type="datetimeFigureOut">
              <a:rPr lang="en-IN" smtClean="0"/>
              <a:t>12-03-2026</a:t>
            </a:fld>
            <a:endParaRPr lang="en-IN"/>
          </a:p>
        </p:txBody>
      </p:sp>
      <p:sp>
        <p:nvSpPr>
          <p:cNvPr id="8" name="Footer Placeholder 7">
            <a:extLst>
              <a:ext uri="{FF2B5EF4-FFF2-40B4-BE49-F238E27FC236}">
                <a16:creationId xmlns:a16="http://schemas.microsoft.com/office/drawing/2014/main" id="{BDAC999A-8CD3-F5F3-73B3-921C62E49CA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682B62E-AB7F-62DD-7902-58CC54F25F1C}"/>
              </a:ext>
            </a:extLst>
          </p:cNvPr>
          <p:cNvSpPr>
            <a:spLocks noGrp="1"/>
          </p:cNvSpPr>
          <p:nvPr>
            <p:ph type="sldNum" sz="quarter" idx="12"/>
          </p:nvPr>
        </p:nvSpPr>
        <p:spPr/>
        <p:txBody>
          <a:bodyPr/>
          <a:lstStyle/>
          <a:p>
            <a:fld id="{EB89599A-7CED-4DCC-8CEE-2AEBAC2AAEA5}" type="slidenum">
              <a:rPr lang="en-IN" smtClean="0"/>
              <a:t>‹#›</a:t>
            </a:fld>
            <a:endParaRPr lang="en-IN"/>
          </a:p>
        </p:txBody>
      </p:sp>
    </p:spTree>
    <p:extLst>
      <p:ext uri="{BB962C8B-B14F-4D97-AF65-F5344CB8AC3E}">
        <p14:creationId xmlns:p14="http://schemas.microsoft.com/office/powerpoint/2010/main" val="1433557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77B10-7895-9678-76D7-1877730CAB4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B43CC1E-6F9C-1825-C710-EAA888F2799D}"/>
              </a:ext>
            </a:extLst>
          </p:cNvPr>
          <p:cNvSpPr>
            <a:spLocks noGrp="1"/>
          </p:cNvSpPr>
          <p:nvPr>
            <p:ph type="dt" sz="half" idx="10"/>
          </p:nvPr>
        </p:nvSpPr>
        <p:spPr/>
        <p:txBody>
          <a:bodyPr/>
          <a:lstStyle/>
          <a:p>
            <a:fld id="{3E09DC59-03D2-45BE-9F20-6E683BFEA269}" type="datetimeFigureOut">
              <a:rPr lang="en-IN" smtClean="0"/>
              <a:t>12-03-2026</a:t>
            </a:fld>
            <a:endParaRPr lang="en-IN"/>
          </a:p>
        </p:txBody>
      </p:sp>
      <p:sp>
        <p:nvSpPr>
          <p:cNvPr id="4" name="Footer Placeholder 3">
            <a:extLst>
              <a:ext uri="{FF2B5EF4-FFF2-40B4-BE49-F238E27FC236}">
                <a16:creationId xmlns:a16="http://schemas.microsoft.com/office/drawing/2014/main" id="{CD2BEBEB-3F6D-CB16-EA91-C5AEC968B69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A18D5CA-844D-EE50-BF15-CDB745A2B3FC}"/>
              </a:ext>
            </a:extLst>
          </p:cNvPr>
          <p:cNvSpPr>
            <a:spLocks noGrp="1"/>
          </p:cNvSpPr>
          <p:nvPr>
            <p:ph type="sldNum" sz="quarter" idx="12"/>
          </p:nvPr>
        </p:nvSpPr>
        <p:spPr/>
        <p:txBody>
          <a:bodyPr/>
          <a:lstStyle/>
          <a:p>
            <a:fld id="{EB89599A-7CED-4DCC-8CEE-2AEBAC2AAEA5}" type="slidenum">
              <a:rPr lang="en-IN" smtClean="0"/>
              <a:t>‹#›</a:t>
            </a:fld>
            <a:endParaRPr lang="en-IN"/>
          </a:p>
        </p:txBody>
      </p:sp>
    </p:spTree>
    <p:extLst>
      <p:ext uri="{BB962C8B-B14F-4D97-AF65-F5344CB8AC3E}">
        <p14:creationId xmlns:p14="http://schemas.microsoft.com/office/powerpoint/2010/main" val="1344069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F30D36-54EC-6FB0-9165-A162F538C97E}"/>
              </a:ext>
            </a:extLst>
          </p:cNvPr>
          <p:cNvSpPr>
            <a:spLocks noGrp="1"/>
          </p:cNvSpPr>
          <p:nvPr>
            <p:ph type="dt" sz="half" idx="10"/>
          </p:nvPr>
        </p:nvSpPr>
        <p:spPr/>
        <p:txBody>
          <a:bodyPr/>
          <a:lstStyle/>
          <a:p>
            <a:fld id="{3E09DC59-03D2-45BE-9F20-6E683BFEA269}" type="datetimeFigureOut">
              <a:rPr lang="en-IN" smtClean="0"/>
              <a:t>12-03-2026</a:t>
            </a:fld>
            <a:endParaRPr lang="en-IN"/>
          </a:p>
        </p:txBody>
      </p:sp>
      <p:sp>
        <p:nvSpPr>
          <p:cNvPr id="3" name="Footer Placeholder 2">
            <a:extLst>
              <a:ext uri="{FF2B5EF4-FFF2-40B4-BE49-F238E27FC236}">
                <a16:creationId xmlns:a16="http://schemas.microsoft.com/office/drawing/2014/main" id="{A9D5B705-F0DB-8FF4-61E9-B8895F259ED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0728BF2-10A6-FC50-AB10-E8707A0EB98E}"/>
              </a:ext>
            </a:extLst>
          </p:cNvPr>
          <p:cNvSpPr>
            <a:spLocks noGrp="1"/>
          </p:cNvSpPr>
          <p:nvPr>
            <p:ph type="sldNum" sz="quarter" idx="12"/>
          </p:nvPr>
        </p:nvSpPr>
        <p:spPr/>
        <p:txBody>
          <a:bodyPr/>
          <a:lstStyle/>
          <a:p>
            <a:fld id="{EB89599A-7CED-4DCC-8CEE-2AEBAC2AAEA5}" type="slidenum">
              <a:rPr lang="en-IN" smtClean="0"/>
              <a:t>‹#›</a:t>
            </a:fld>
            <a:endParaRPr lang="en-IN"/>
          </a:p>
        </p:txBody>
      </p:sp>
    </p:spTree>
    <p:extLst>
      <p:ext uri="{BB962C8B-B14F-4D97-AF65-F5344CB8AC3E}">
        <p14:creationId xmlns:p14="http://schemas.microsoft.com/office/powerpoint/2010/main" val="863839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DE268-D51A-CBB2-EE29-D46CCBAE48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D9EB606-C2BF-D1F5-4BCB-83E6D67D17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70086A2-7706-B8CB-49D5-A31A75459E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095FA0-ECFE-BE04-BB0D-FCC95FA40613}"/>
              </a:ext>
            </a:extLst>
          </p:cNvPr>
          <p:cNvSpPr>
            <a:spLocks noGrp="1"/>
          </p:cNvSpPr>
          <p:nvPr>
            <p:ph type="dt" sz="half" idx="10"/>
          </p:nvPr>
        </p:nvSpPr>
        <p:spPr/>
        <p:txBody>
          <a:bodyPr/>
          <a:lstStyle/>
          <a:p>
            <a:fld id="{3E09DC59-03D2-45BE-9F20-6E683BFEA269}" type="datetimeFigureOut">
              <a:rPr lang="en-IN" smtClean="0"/>
              <a:t>12-03-2026</a:t>
            </a:fld>
            <a:endParaRPr lang="en-IN"/>
          </a:p>
        </p:txBody>
      </p:sp>
      <p:sp>
        <p:nvSpPr>
          <p:cNvPr id="6" name="Footer Placeholder 5">
            <a:extLst>
              <a:ext uri="{FF2B5EF4-FFF2-40B4-BE49-F238E27FC236}">
                <a16:creationId xmlns:a16="http://schemas.microsoft.com/office/drawing/2014/main" id="{09DF45A9-7199-6BFE-3F6D-42EDE64603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E27FBD-AFD4-39E6-1327-07E30355677C}"/>
              </a:ext>
            </a:extLst>
          </p:cNvPr>
          <p:cNvSpPr>
            <a:spLocks noGrp="1"/>
          </p:cNvSpPr>
          <p:nvPr>
            <p:ph type="sldNum" sz="quarter" idx="12"/>
          </p:nvPr>
        </p:nvSpPr>
        <p:spPr/>
        <p:txBody>
          <a:bodyPr/>
          <a:lstStyle/>
          <a:p>
            <a:fld id="{EB89599A-7CED-4DCC-8CEE-2AEBAC2AAEA5}" type="slidenum">
              <a:rPr lang="en-IN" smtClean="0"/>
              <a:t>‹#›</a:t>
            </a:fld>
            <a:endParaRPr lang="en-IN"/>
          </a:p>
        </p:txBody>
      </p:sp>
    </p:spTree>
    <p:extLst>
      <p:ext uri="{BB962C8B-B14F-4D97-AF65-F5344CB8AC3E}">
        <p14:creationId xmlns:p14="http://schemas.microsoft.com/office/powerpoint/2010/main" val="4182998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F9435-A9D9-7572-921C-360322B553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363F47B-FA53-2DBD-5CB1-699DD65880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B7C1C7C-C676-0CE2-60AF-3A37A14E6E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53FB46-27D6-41B6-F7F9-3EEB250AAEA8}"/>
              </a:ext>
            </a:extLst>
          </p:cNvPr>
          <p:cNvSpPr>
            <a:spLocks noGrp="1"/>
          </p:cNvSpPr>
          <p:nvPr>
            <p:ph type="dt" sz="half" idx="10"/>
          </p:nvPr>
        </p:nvSpPr>
        <p:spPr/>
        <p:txBody>
          <a:bodyPr/>
          <a:lstStyle/>
          <a:p>
            <a:fld id="{3E09DC59-03D2-45BE-9F20-6E683BFEA269}" type="datetimeFigureOut">
              <a:rPr lang="en-IN" smtClean="0"/>
              <a:t>12-03-2026</a:t>
            </a:fld>
            <a:endParaRPr lang="en-IN"/>
          </a:p>
        </p:txBody>
      </p:sp>
      <p:sp>
        <p:nvSpPr>
          <p:cNvPr id="6" name="Footer Placeholder 5">
            <a:extLst>
              <a:ext uri="{FF2B5EF4-FFF2-40B4-BE49-F238E27FC236}">
                <a16:creationId xmlns:a16="http://schemas.microsoft.com/office/drawing/2014/main" id="{DDA1F44B-6FE0-18A2-6CBD-0B83FEFA45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7D9C8F-F2B6-51D7-8161-729F5C6CD577}"/>
              </a:ext>
            </a:extLst>
          </p:cNvPr>
          <p:cNvSpPr>
            <a:spLocks noGrp="1"/>
          </p:cNvSpPr>
          <p:nvPr>
            <p:ph type="sldNum" sz="quarter" idx="12"/>
          </p:nvPr>
        </p:nvSpPr>
        <p:spPr/>
        <p:txBody>
          <a:bodyPr/>
          <a:lstStyle/>
          <a:p>
            <a:fld id="{EB89599A-7CED-4DCC-8CEE-2AEBAC2AAEA5}" type="slidenum">
              <a:rPr lang="en-IN" smtClean="0"/>
              <a:t>‹#›</a:t>
            </a:fld>
            <a:endParaRPr lang="en-IN"/>
          </a:p>
        </p:txBody>
      </p:sp>
    </p:spTree>
    <p:extLst>
      <p:ext uri="{BB962C8B-B14F-4D97-AF65-F5344CB8AC3E}">
        <p14:creationId xmlns:p14="http://schemas.microsoft.com/office/powerpoint/2010/main" val="3342372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CD682-7263-162F-DC49-58756C9FFE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E9F029-3BCB-B38C-5375-9C12DDCDF0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92B048-753F-AAC6-2670-0F035991D964}"/>
              </a:ext>
            </a:extLst>
          </p:cNvPr>
          <p:cNvSpPr>
            <a:spLocks noGrp="1"/>
          </p:cNvSpPr>
          <p:nvPr>
            <p:ph type="dt" sz="half" idx="10"/>
          </p:nvPr>
        </p:nvSpPr>
        <p:spPr/>
        <p:txBody>
          <a:bodyPr/>
          <a:lstStyle/>
          <a:p>
            <a:fld id="{3E09DC59-03D2-45BE-9F20-6E683BFEA269}" type="datetimeFigureOut">
              <a:rPr lang="en-IN" smtClean="0"/>
              <a:t>12-03-2026</a:t>
            </a:fld>
            <a:endParaRPr lang="en-IN"/>
          </a:p>
        </p:txBody>
      </p:sp>
      <p:sp>
        <p:nvSpPr>
          <p:cNvPr id="5" name="Footer Placeholder 4">
            <a:extLst>
              <a:ext uri="{FF2B5EF4-FFF2-40B4-BE49-F238E27FC236}">
                <a16:creationId xmlns:a16="http://schemas.microsoft.com/office/drawing/2014/main" id="{60746818-7EE6-EEDA-B5D2-C8ACF00FD7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00115B-ECAC-BBEC-E4E0-809C74B1D4CC}"/>
              </a:ext>
            </a:extLst>
          </p:cNvPr>
          <p:cNvSpPr>
            <a:spLocks noGrp="1"/>
          </p:cNvSpPr>
          <p:nvPr>
            <p:ph type="sldNum" sz="quarter" idx="12"/>
          </p:nvPr>
        </p:nvSpPr>
        <p:spPr/>
        <p:txBody>
          <a:bodyPr/>
          <a:lstStyle/>
          <a:p>
            <a:fld id="{EB89599A-7CED-4DCC-8CEE-2AEBAC2AAEA5}" type="slidenum">
              <a:rPr lang="en-IN" smtClean="0"/>
              <a:t>‹#›</a:t>
            </a:fld>
            <a:endParaRPr lang="en-IN"/>
          </a:p>
        </p:txBody>
      </p:sp>
    </p:spTree>
    <p:extLst>
      <p:ext uri="{BB962C8B-B14F-4D97-AF65-F5344CB8AC3E}">
        <p14:creationId xmlns:p14="http://schemas.microsoft.com/office/powerpoint/2010/main" val="3522178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5EB68B-3B75-E020-24C0-E8EE313835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4E9231-A6C4-1821-5944-FA03BD9BB8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0EB80A-9222-8DE2-801F-758E9E79F021}"/>
              </a:ext>
            </a:extLst>
          </p:cNvPr>
          <p:cNvSpPr>
            <a:spLocks noGrp="1"/>
          </p:cNvSpPr>
          <p:nvPr>
            <p:ph type="dt" sz="half" idx="10"/>
          </p:nvPr>
        </p:nvSpPr>
        <p:spPr/>
        <p:txBody>
          <a:bodyPr/>
          <a:lstStyle/>
          <a:p>
            <a:fld id="{3E09DC59-03D2-45BE-9F20-6E683BFEA269}" type="datetimeFigureOut">
              <a:rPr lang="en-IN" smtClean="0"/>
              <a:t>12-03-2026</a:t>
            </a:fld>
            <a:endParaRPr lang="en-IN"/>
          </a:p>
        </p:txBody>
      </p:sp>
      <p:sp>
        <p:nvSpPr>
          <p:cNvPr id="5" name="Footer Placeholder 4">
            <a:extLst>
              <a:ext uri="{FF2B5EF4-FFF2-40B4-BE49-F238E27FC236}">
                <a16:creationId xmlns:a16="http://schemas.microsoft.com/office/drawing/2014/main" id="{14CED52D-ADAA-53F1-743A-BDD65F7FC7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8DBDB2-893B-7B07-767B-5C4D3A772A03}"/>
              </a:ext>
            </a:extLst>
          </p:cNvPr>
          <p:cNvSpPr>
            <a:spLocks noGrp="1"/>
          </p:cNvSpPr>
          <p:nvPr>
            <p:ph type="sldNum" sz="quarter" idx="12"/>
          </p:nvPr>
        </p:nvSpPr>
        <p:spPr/>
        <p:txBody>
          <a:bodyPr/>
          <a:lstStyle/>
          <a:p>
            <a:fld id="{EB89599A-7CED-4DCC-8CEE-2AEBAC2AAEA5}" type="slidenum">
              <a:rPr lang="en-IN" smtClean="0"/>
              <a:t>‹#›</a:t>
            </a:fld>
            <a:endParaRPr lang="en-IN"/>
          </a:p>
        </p:txBody>
      </p:sp>
    </p:spTree>
    <p:extLst>
      <p:ext uri="{BB962C8B-B14F-4D97-AF65-F5344CB8AC3E}">
        <p14:creationId xmlns:p14="http://schemas.microsoft.com/office/powerpoint/2010/main" val="832423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318A1E-11C3-5D33-1D6D-2700CD6F3E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886DFA-4091-A791-81CD-99C43200EB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B09B76-D5B7-B93F-E1C1-9449C9F1C5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09DC59-03D2-45BE-9F20-6E683BFEA269}" type="datetimeFigureOut">
              <a:rPr lang="en-IN" smtClean="0"/>
              <a:t>12-03-2026</a:t>
            </a:fld>
            <a:endParaRPr lang="en-IN"/>
          </a:p>
        </p:txBody>
      </p:sp>
      <p:sp>
        <p:nvSpPr>
          <p:cNvPr id="5" name="Footer Placeholder 4">
            <a:extLst>
              <a:ext uri="{FF2B5EF4-FFF2-40B4-BE49-F238E27FC236}">
                <a16:creationId xmlns:a16="http://schemas.microsoft.com/office/drawing/2014/main" id="{086DE60E-AD72-BC91-C112-8E9301F22B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85219A4-5C21-B9B1-58A3-C8B2714ABC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89599A-7CED-4DCC-8CEE-2AEBAC2AAEA5}" type="slidenum">
              <a:rPr lang="en-IN" smtClean="0"/>
              <a:t>‹#›</a:t>
            </a:fld>
            <a:endParaRPr lang="en-IN"/>
          </a:p>
        </p:txBody>
      </p:sp>
    </p:spTree>
    <p:extLst>
      <p:ext uri="{BB962C8B-B14F-4D97-AF65-F5344CB8AC3E}">
        <p14:creationId xmlns:p14="http://schemas.microsoft.com/office/powerpoint/2010/main" val="336082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70.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55736-A016-FAC3-D82A-13E19D3965C8}"/>
              </a:ext>
            </a:extLst>
          </p:cNvPr>
          <p:cNvSpPr>
            <a:spLocks noGrp="1"/>
          </p:cNvSpPr>
          <p:nvPr>
            <p:ph type="title"/>
          </p:nvPr>
        </p:nvSpPr>
        <p:spPr/>
        <p:txBody>
          <a:bodyPr/>
          <a:lstStyle/>
          <a:p>
            <a:r>
              <a:rPr lang="en-IN" dirty="0"/>
              <a:t>Introduction to HMM (Hidden Markov Model)models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F08481-4A1F-AA96-64D1-E412E1CF6D26}"/>
                  </a:ext>
                </a:extLst>
              </p:cNvPr>
              <p:cNvSpPr>
                <a:spLocks noGrp="1"/>
              </p:cNvSpPr>
              <p:nvPr>
                <p:ph idx="1"/>
              </p:nvPr>
            </p:nvSpPr>
            <p:spPr/>
            <p:txBody>
              <a:bodyPr>
                <a:normAutofit/>
              </a:bodyPr>
              <a:lstStyle/>
              <a:p>
                <a:r>
                  <a:rPr lang="en-US" sz="2400" dirty="0"/>
                  <a:t>A </a:t>
                </a:r>
                <a:r>
                  <a:rPr lang="en-US" sz="2400" b="1" dirty="0"/>
                  <a:t>Hidden Markov Model (HMM)</a:t>
                </a:r>
                <a:r>
                  <a:rPr lang="en-US" sz="2400" dirty="0"/>
                  <a:t> is a statistical model used to analyze sequences of observations where the underlying states generating those observations are "hidden" or unobservable. </a:t>
                </a:r>
              </a:p>
              <a:p>
                <a:r>
                  <a:rPr lang="en-US" sz="2400" dirty="0"/>
                  <a:t>It provides a probabilistic framework to infer the hidden structure from the visible data, making it a powerful tool for sequential data analysis in fields like speech recognition, bioinformatics, and natural language processing. </a:t>
                </a:r>
              </a:p>
              <a:p>
                <a:r>
                  <a:rPr lang="en-US" sz="2400" b="1" dirty="0"/>
                  <a:t>Hidden: </a:t>
                </a:r>
                <a:r>
                  <a:rPr lang="en-US" sz="2400" dirty="0"/>
                  <a:t>The true state of the system is not directly visible.</a:t>
                </a:r>
              </a:p>
              <a:p>
                <a:r>
                  <a:rPr lang="en-IN" sz="2400" b="1" dirty="0"/>
                  <a:t>Markov Property</a:t>
                </a:r>
              </a:p>
              <a:p>
                <a:pPr lvl="1"/>
                <a:r>
                  <a:rPr lang="en-IN" sz="2000" dirty="0"/>
                  <a:t>The next state depends </a:t>
                </a:r>
                <a:r>
                  <a:rPr lang="en-IN" sz="2000" b="1" dirty="0"/>
                  <a:t>only on the current state</a:t>
                </a:r>
                <a:r>
                  <a:rPr lang="en-IN" sz="2000" dirty="0"/>
                  <a:t>, not on past states.</a:t>
                </a:r>
              </a:p>
              <a:p>
                <a:pPr lvl="1"/>
                <a14:m>
                  <m:oMath xmlns:m="http://schemas.openxmlformats.org/officeDocument/2006/math">
                    <m:r>
                      <a:rPr lang="en-IN" i="1">
                        <a:latin typeface="Cambria Math" panose="02040503050406030204" pitchFamily="18" charset="0"/>
                      </a:rPr>
                      <m:t>𝑃</m:t>
                    </m:r>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e>
                      <m:e>
                        <m:r>
                          <a:rPr lang="ar-AE">
                            <a:latin typeface="Cambria Math" panose="02040503050406030204" pitchFamily="18" charset="0"/>
                          </a:rPr>
                          <m:t>∣</m:t>
                        </m:r>
                      </m:e>
                      <m:e>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𝑡</m:t>
                            </m:r>
                          </m:sub>
                        </m:sSub>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e>
                    </m:d>
                    <m:r>
                      <a:rPr lang="ar-AE">
                        <a:latin typeface="Cambria Math" panose="02040503050406030204" pitchFamily="18" charset="0"/>
                      </a:rPr>
                      <m:t>=</m:t>
                    </m:r>
                    <m:r>
                      <a:rPr lang="ar-AE" i="1">
                        <a:latin typeface="Cambria Math" panose="02040503050406030204" pitchFamily="18" charset="0"/>
                      </a:rPr>
                      <m:t>𝑃</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𝑡</m:t>
                            </m:r>
                          </m:sub>
                        </m:sSub>
                      </m:e>
                    </m:d>
                  </m:oMath>
                </a14:m>
                <a:endParaRPr lang="ar-AE" sz="2000" dirty="0"/>
              </a:p>
              <a:p>
                <a:pPr lvl="1"/>
                <a:r>
                  <a:rPr lang="en-IN" sz="2000" dirty="0"/>
                  <a:t>This is called the </a:t>
                </a:r>
                <a:r>
                  <a:rPr lang="en-IN" sz="2000" b="1" dirty="0"/>
                  <a:t>First-Order Markov Property</a:t>
                </a:r>
                <a:r>
                  <a:rPr lang="en-IN" sz="2000" dirty="0"/>
                  <a:t>.</a:t>
                </a:r>
              </a:p>
              <a:p>
                <a:endParaRPr lang="en-US" sz="2400" dirty="0"/>
              </a:p>
            </p:txBody>
          </p:sp>
        </mc:Choice>
        <mc:Fallback xmlns="">
          <p:sp>
            <p:nvSpPr>
              <p:cNvPr id="3" name="Content Placeholder 2">
                <a:extLst>
                  <a:ext uri="{FF2B5EF4-FFF2-40B4-BE49-F238E27FC236}">
                    <a16:creationId xmlns:a16="http://schemas.microsoft.com/office/drawing/2014/main" id="{98F08481-4A1F-AA96-64D1-E412E1CF6D26}"/>
                  </a:ext>
                </a:extLst>
              </p:cNvPr>
              <p:cNvSpPr>
                <a:spLocks noGrp="1" noRot="1" noChangeAspect="1" noMove="1" noResize="1" noEditPoints="1" noAdjustHandles="1" noChangeArrowheads="1" noChangeShapeType="1" noTextEdit="1"/>
              </p:cNvSpPr>
              <p:nvPr>
                <p:ph idx="1"/>
              </p:nvPr>
            </p:nvSpPr>
            <p:spPr>
              <a:blipFill>
                <a:blip r:embed="rId2"/>
                <a:stretch>
                  <a:fillRect l="-812" t="-1961" r="-1507"/>
                </a:stretch>
              </a:blipFill>
            </p:spPr>
            <p:txBody>
              <a:bodyPr/>
              <a:lstStyle/>
              <a:p>
                <a:r>
                  <a:rPr lang="en-IN">
                    <a:noFill/>
                  </a:rPr>
                  <a:t> </a:t>
                </a:r>
              </a:p>
            </p:txBody>
          </p:sp>
        </mc:Fallback>
      </mc:AlternateContent>
    </p:spTree>
    <p:extLst>
      <p:ext uri="{BB962C8B-B14F-4D97-AF65-F5344CB8AC3E}">
        <p14:creationId xmlns:p14="http://schemas.microsoft.com/office/powerpoint/2010/main" val="2952172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AA2DC-13E7-902A-EA84-DBF42D4FB40B}"/>
              </a:ext>
            </a:extLst>
          </p:cNvPr>
          <p:cNvSpPr>
            <a:spLocks noGrp="1"/>
          </p:cNvSpPr>
          <p:nvPr>
            <p:ph type="title"/>
          </p:nvPr>
        </p:nvSpPr>
        <p:spPr/>
        <p:txBody>
          <a:bodyPr>
            <a:normAutofit/>
          </a:bodyPr>
          <a:lstStyle/>
          <a:p>
            <a:r>
              <a:rPr lang="en-IN" b="1" dirty="0"/>
              <a:t>Components of a Hidden Markov Model (HMM)</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5985AAB-6BA8-E092-6316-B0B379E350DE}"/>
                  </a:ext>
                </a:extLst>
              </p:cNvPr>
              <p:cNvSpPr>
                <a:spLocks noGrp="1"/>
              </p:cNvSpPr>
              <p:nvPr>
                <p:ph idx="1"/>
              </p:nvPr>
            </p:nvSpPr>
            <p:spPr>
              <a:xfrm>
                <a:off x="838199" y="1825625"/>
                <a:ext cx="10810461" cy="4351338"/>
              </a:xfrm>
            </p:spPr>
            <p:txBody>
              <a:bodyPr>
                <a:noAutofit/>
              </a:bodyPr>
              <a:lstStyle/>
              <a:p>
                <a:pPr fontAlgn="base"/>
                <a:r>
                  <a:rPr lang="en-IN" sz="2400" dirty="0"/>
                  <a:t>A Hidden Markov Model is defined by		</a:t>
                </a:r>
                <a14:m>
                  <m:oMath xmlns:m="http://schemas.openxmlformats.org/officeDocument/2006/math">
                    <m:r>
                      <a:rPr lang="en-IN" sz="2400" i="1">
                        <a:latin typeface="Cambria Math" panose="02040503050406030204" pitchFamily="18" charset="0"/>
                      </a:rPr>
                      <m:t>𝜆</m:t>
                    </m:r>
                    <m:r>
                      <a:rPr lang="en-IN" sz="2400">
                        <a:latin typeface="Cambria Math" panose="02040503050406030204" pitchFamily="18" charset="0"/>
                      </a:rPr>
                      <m:t>=</m:t>
                    </m:r>
                    <m:d>
                      <m:dPr>
                        <m:sepChr m:val=","/>
                        <m:ctrlPr>
                          <a:rPr lang="ar-AE" sz="2400" i="1">
                            <a:latin typeface="Cambria Math" panose="02040503050406030204" pitchFamily="18" charset="0"/>
                          </a:rPr>
                        </m:ctrlPr>
                      </m:dPr>
                      <m:e>
                        <m:r>
                          <a:rPr lang="ar-AE" sz="2400" i="1">
                            <a:latin typeface="Cambria Math" panose="02040503050406030204" pitchFamily="18" charset="0"/>
                          </a:rPr>
                          <m:t>𝐴</m:t>
                        </m:r>
                      </m:e>
                      <m:e>
                        <m:r>
                          <a:rPr lang="ar-AE" sz="2400" i="1">
                            <a:latin typeface="Cambria Math" panose="02040503050406030204" pitchFamily="18" charset="0"/>
                          </a:rPr>
                          <m:t>𝐵</m:t>
                        </m:r>
                      </m:e>
                      <m:e>
                        <m:r>
                          <a:rPr lang="ar-AE" sz="2400" i="1">
                            <a:latin typeface="Cambria Math" panose="02040503050406030204" pitchFamily="18" charset="0"/>
                          </a:rPr>
                          <m:t>𝜋</m:t>
                        </m:r>
                      </m:e>
                    </m:d>
                  </m:oMath>
                </a14:m>
                <a:endParaRPr lang="en-IN" sz="2400" i="1" dirty="0"/>
              </a:p>
              <a:p>
                <a:pPr lvl="1" fontAlgn="base"/>
                <a14:m>
                  <m:oMath xmlns:m="http://schemas.openxmlformats.org/officeDocument/2006/math">
                    <m:r>
                      <a:rPr lang="en-US" b="1" i="1">
                        <a:latin typeface="Cambria Math" panose="02040503050406030204" pitchFamily="18" charset="0"/>
                      </a:rPr>
                      <m:t>𝑨</m:t>
                    </m:r>
                  </m:oMath>
                </a14:m>
                <a:r>
                  <a:rPr lang="en-US" b="1" dirty="0"/>
                  <a:t> (Transition Matrix):</a:t>
                </a:r>
                <a:r>
                  <a:rPr lang="en-US" dirty="0"/>
                  <a:t> Probability of moving from one hidden state to another.</a:t>
                </a:r>
              </a:p>
              <a:p>
                <a:pPr lvl="1" fontAlgn="base"/>
                <a14:m>
                  <m:oMath xmlns:m="http://schemas.openxmlformats.org/officeDocument/2006/math">
                    <m:r>
                      <a:rPr lang="en-US" b="1" i="1">
                        <a:latin typeface="Cambria Math" panose="02040503050406030204" pitchFamily="18" charset="0"/>
                      </a:rPr>
                      <m:t>𝑩</m:t>
                    </m:r>
                  </m:oMath>
                </a14:m>
                <a:r>
                  <a:rPr lang="en-US" b="1" dirty="0"/>
                  <a:t> (Emission Matrix):</a:t>
                </a:r>
                <a:r>
                  <a:rPr lang="en-US" dirty="0"/>
                  <a:t> Probability of observing a symbol given a hidden state.</a:t>
                </a:r>
              </a:p>
              <a:p>
                <a:pPr lvl="1" fontAlgn="base"/>
                <a14:m>
                  <m:oMath xmlns:m="http://schemas.openxmlformats.org/officeDocument/2006/math">
                    <m:r>
                      <a:rPr lang="en-US" b="1" i="1">
                        <a:latin typeface="Cambria Math" panose="02040503050406030204" pitchFamily="18" charset="0"/>
                      </a:rPr>
                      <m:t>𝝅</m:t>
                    </m:r>
                  </m:oMath>
                </a14:m>
                <a:r>
                  <a:rPr lang="en-US" b="1" dirty="0"/>
                  <a:t> (Initial State Distribution): </a:t>
                </a:r>
                <a:r>
                  <a:rPr lang="en-US" dirty="0"/>
                  <a:t>Probability of starting in each hidden state.</a:t>
                </a:r>
              </a:p>
              <a:p>
                <a:pPr lvl="1" fontAlgn="base"/>
                <a:r>
                  <a:rPr lang="en-US" b="1" dirty="0"/>
                  <a:t>Hidden States (N): </a:t>
                </a:r>
                <a:r>
                  <a:rPr lang="en-US" dirty="0"/>
                  <a:t>These are the internal states of the system, which are not directly observable.</a:t>
                </a:r>
              </a:p>
              <a:p>
                <a:pPr lvl="1" fontAlgn="base"/>
                <a:r>
                  <a:rPr lang="en-US" b="1" dirty="0"/>
                  <a:t>Observations (M): </a:t>
                </a:r>
                <a:r>
                  <a:rPr lang="en-US" dirty="0"/>
                  <a:t>These are the visible outputs generated by the hidden states.</a:t>
                </a:r>
              </a:p>
            </p:txBody>
          </p:sp>
        </mc:Choice>
        <mc:Fallback xmlns="">
          <p:sp>
            <p:nvSpPr>
              <p:cNvPr id="3" name="Content Placeholder 2">
                <a:extLst>
                  <a:ext uri="{FF2B5EF4-FFF2-40B4-BE49-F238E27FC236}">
                    <a16:creationId xmlns:a16="http://schemas.microsoft.com/office/drawing/2014/main" id="{B5985AAB-6BA8-E092-6316-B0B379E350DE}"/>
                  </a:ext>
                </a:extLst>
              </p:cNvPr>
              <p:cNvSpPr>
                <a:spLocks noGrp="1" noRot="1" noChangeAspect="1" noMove="1" noResize="1" noEditPoints="1" noAdjustHandles="1" noChangeArrowheads="1" noChangeShapeType="1" noTextEdit="1"/>
              </p:cNvSpPr>
              <p:nvPr>
                <p:ph idx="1"/>
              </p:nvPr>
            </p:nvSpPr>
            <p:spPr>
              <a:xfrm>
                <a:off x="838199" y="1825625"/>
                <a:ext cx="10810461" cy="4351338"/>
              </a:xfrm>
              <a:blipFill>
                <a:blip r:embed="rId2"/>
                <a:stretch>
                  <a:fillRect l="-733" t="-1961" r="-507"/>
                </a:stretch>
              </a:blipFill>
            </p:spPr>
            <p:txBody>
              <a:bodyPr/>
              <a:lstStyle/>
              <a:p>
                <a:r>
                  <a:rPr lang="en-IN">
                    <a:noFill/>
                  </a:rPr>
                  <a:t> </a:t>
                </a:r>
              </a:p>
            </p:txBody>
          </p:sp>
        </mc:Fallback>
      </mc:AlternateContent>
    </p:spTree>
    <p:extLst>
      <p:ext uri="{BB962C8B-B14F-4D97-AF65-F5344CB8AC3E}">
        <p14:creationId xmlns:p14="http://schemas.microsoft.com/office/powerpoint/2010/main" val="3109336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C9B30-1BE6-8CC9-F72B-63E4EC132722}"/>
              </a:ext>
            </a:extLst>
          </p:cNvPr>
          <p:cNvSpPr>
            <a:spLocks noGrp="1"/>
          </p:cNvSpPr>
          <p:nvPr>
            <p:ph type="title"/>
          </p:nvPr>
        </p:nvSpPr>
        <p:spPr>
          <a:xfrm>
            <a:off x="838200" y="365125"/>
            <a:ext cx="10515600" cy="598971"/>
          </a:xfrm>
        </p:spPr>
        <p:txBody>
          <a:bodyPr>
            <a:normAutofit fontScale="90000"/>
          </a:bodyPr>
          <a:lstStyle/>
          <a:p>
            <a:r>
              <a:rPr lang="en-IN" b="1" dirty="0"/>
              <a:t>HMM Algorithm</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2C3A525-813A-7F47-FD9C-2A27CD5D9F14}"/>
                  </a:ext>
                </a:extLst>
              </p:cNvPr>
              <p:cNvSpPr>
                <a:spLocks noGrp="1"/>
              </p:cNvSpPr>
              <p:nvPr>
                <p:ph idx="1"/>
              </p:nvPr>
            </p:nvSpPr>
            <p:spPr>
              <a:xfrm>
                <a:off x="838200" y="1202635"/>
                <a:ext cx="10515600" cy="5377069"/>
              </a:xfrm>
            </p:spPr>
            <p:txBody>
              <a:bodyPr>
                <a:normAutofit/>
              </a:bodyPr>
              <a:lstStyle/>
              <a:p>
                <a:pPr fontAlgn="base"/>
                <a:r>
                  <a:rPr lang="en-IN" sz="2000" b="1" dirty="0"/>
                  <a:t>Step 1 Define State and Observation Space</a:t>
                </a:r>
                <a:endParaRPr lang="en-IN" sz="2000" dirty="0"/>
              </a:p>
              <a:p>
                <a:pPr lvl="1" fontAlgn="base"/>
                <a:r>
                  <a:rPr lang="en-IN" sz="2000" b="1" dirty="0"/>
                  <a:t>Hidden States: </a:t>
                </a:r>
                <a:r>
                  <a:rPr lang="en-IN" sz="2000" dirty="0"/>
                  <a:t>Possible internal states the system can be in.</a:t>
                </a:r>
              </a:p>
              <a:p>
                <a:pPr lvl="1" fontAlgn="base"/>
                <a:r>
                  <a:rPr lang="en-IN" sz="2000" b="1" dirty="0"/>
                  <a:t>Observations:</a:t>
                </a:r>
                <a:r>
                  <a:rPr lang="en-IN" sz="2000" dirty="0"/>
                  <a:t> Visible outputs generated by hidden states.</a:t>
                </a:r>
              </a:p>
              <a:p>
                <a:pPr fontAlgn="base"/>
                <a:r>
                  <a:rPr lang="en-IN" sz="2000" b="1" dirty="0"/>
                  <a:t>Step 2 Define Initial State Distribution (</a:t>
                </a:r>
                <a14:m>
                  <m:oMath xmlns:m="http://schemas.openxmlformats.org/officeDocument/2006/math">
                    <m:r>
                      <a:rPr lang="en-IN" sz="2000" i="1">
                        <a:latin typeface="Cambria Math" panose="02040503050406030204" pitchFamily="18" charset="0"/>
                      </a:rPr>
                      <m:t>𝜋</m:t>
                    </m:r>
                  </m:oMath>
                </a14:m>
                <a:r>
                  <a:rPr lang="en-IN" sz="2000" b="1" dirty="0"/>
                  <a:t>):</a:t>
                </a:r>
                <a:r>
                  <a:rPr lang="en-IN" sz="2000" dirty="0"/>
                  <a:t> Set probabilities of starting in each hidden state.</a:t>
                </a:r>
              </a:p>
              <a:p>
                <a:pPr fontAlgn="base"/>
                <a:r>
                  <a:rPr lang="en-IN" sz="2000" b="1" dirty="0"/>
                  <a:t>Step 3 Define Transition Matrix (A)</a:t>
                </a:r>
                <a:r>
                  <a:rPr lang="en-IN" sz="2000" dirty="0"/>
                  <a:t>: Set probabilities for moving from one hidden state to another.</a:t>
                </a:r>
              </a:p>
              <a:p>
                <a:pPr fontAlgn="base"/>
                <a:r>
                  <a:rPr lang="en-IN" sz="2000" b="1" dirty="0"/>
                  <a:t>Step 4 Define Emission Matrix (B)</a:t>
                </a:r>
                <a:r>
                  <a:rPr lang="en-IN" sz="2000" dirty="0"/>
                  <a:t>: Set probabilities for each observation being emitted by a hidden state.</a:t>
                </a:r>
              </a:p>
              <a:p>
                <a:pPr fontAlgn="base"/>
                <a:r>
                  <a:rPr lang="en-IN" sz="2000" b="1" dirty="0"/>
                  <a:t>Step 5 Train Model: </a:t>
                </a:r>
                <a:r>
                  <a:rPr lang="en-IN" sz="2000" dirty="0"/>
                  <a:t>Estimate model parameters using:</a:t>
                </a:r>
              </a:p>
              <a:p>
                <a:pPr lvl="1" fontAlgn="base"/>
                <a:r>
                  <a:rPr lang="en-IN" sz="2000" b="1" dirty="0"/>
                  <a:t>Baum Welch Algorithm: </a:t>
                </a:r>
                <a:r>
                  <a:rPr lang="en-IN" sz="2000" dirty="0"/>
                  <a:t>Trains HMM by estimating A, B,</a:t>
                </a:r>
                <a14:m>
                  <m:oMath xmlns:m="http://schemas.openxmlformats.org/officeDocument/2006/math">
                    <m:r>
                      <a:rPr lang="en-IN" sz="2000" i="1">
                        <a:latin typeface="Cambria Math" panose="02040503050406030204" pitchFamily="18" charset="0"/>
                      </a:rPr>
                      <m:t>𝜋</m:t>
                    </m:r>
                  </m:oMath>
                </a14:m>
                <a:r>
                  <a:rPr lang="en-IN" sz="2000" dirty="0"/>
                  <a:t>.</a:t>
                </a:r>
              </a:p>
              <a:p>
                <a:pPr lvl="1" fontAlgn="base"/>
                <a:r>
                  <a:rPr lang="en-IN" sz="2000" b="1" dirty="0"/>
                  <a:t>Forward Backward Algorithm:</a:t>
                </a:r>
                <a:r>
                  <a:rPr lang="en-IN" sz="2000" dirty="0"/>
                  <a:t> Computes hidden state probabilities efficiently.</a:t>
                </a:r>
              </a:p>
              <a:p>
                <a:pPr fontAlgn="base"/>
                <a:r>
                  <a:rPr lang="en-IN" sz="2000" b="1" dirty="0"/>
                  <a:t>Step 6 Decode Hidden States: </a:t>
                </a:r>
                <a:r>
                  <a:rPr lang="en-IN" sz="2000" dirty="0"/>
                  <a:t>Determine the most likely hidden state sequence using the Viterbi algorithm.</a:t>
                </a:r>
              </a:p>
              <a:p>
                <a:pPr fontAlgn="base"/>
                <a:r>
                  <a:rPr lang="en-IN" sz="2000" b="1" dirty="0"/>
                  <a:t>Step 7 Evaluate Model Performance</a:t>
                </a:r>
                <a:r>
                  <a:rPr lang="en-IN" sz="2000" dirty="0"/>
                  <a:t>: Measure model accuracy using metrics like Accuracy, Precision and Recall.</a:t>
                </a:r>
              </a:p>
            </p:txBody>
          </p:sp>
        </mc:Choice>
        <mc:Fallback xmlns="">
          <p:sp>
            <p:nvSpPr>
              <p:cNvPr id="3" name="Content Placeholder 2">
                <a:extLst>
                  <a:ext uri="{FF2B5EF4-FFF2-40B4-BE49-F238E27FC236}">
                    <a16:creationId xmlns:a16="http://schemas.microsoft.com/office/drawing/2014/main" id="{72C3A525-813A-7F47-FD9C-2A27CD5D9F14}"/>
                  </a:ext>
                </a:extLst>
              </p:cNvPr>
              <p:cNvSpPr>
                <a:spLocks noGrp="1" noRot="1" noChangeAspect="1" noMove="1" noResize="1" noEditPoints="1" noAdjustHandles="1" noChangeArrowheads="1" noChangeShapeType="1" noTextEdit="1"/>
              </p:cNvSpPr>
              <p:nvPr>
                <p:ph idx="1"/>
              </p:nvPr>
            </p:nvSpPr>
            <p:spPr>
              <a:xfrm>
                <a:off x="838200" y="1202635"/>
                <a:ext cx="10515600" cy="5377069"/>
              </a:xfrm>
              <a:blipFill>
                <a:blip r:embed="rId2"/>
                <a:stretch>
                  <a:fillRect l="-522" t="-1134"/>
                </a:stretch>
              </a:blipFill>
            </p:spPr>
            <p:txBody>
              <a:bodyPr/>
              <a:lstStyle/>
              <a:p>
                <a:r>
                  <a:rPr lang="en-IN">
                    <a:noFill/>
                  </a:rPr>
                  <a:t> </a:t>
                </a:r>
              </a:p>
            </p:txBody>
          </p:sp>
        </mc:Fallback>
      </mc:AlternateContent>
    </p:spTree>
    <p:extLst>
      <p:ext uri="{BB962C8B-B14F-4D97-AF65-F5344CB8AC3E}">
        <p14:creationId xmlns:p14="http://schemas.microsoft.com/office/powerpoint/2010/main" val="1674866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B260E-DFE7-A6BA-A312-C8F8ADCD6140}"/>
              </a:ext>
            </a:extLst>
          </p:cNvPr>
          <p:cNvSpPr>
            <a:spLocks noGrp="1"/>
          </p:cNvSpPr>
          <p:nvPr>
            <p:ph type="title"/>
          </p:nvPr>
        </p:nvSpPr>
        <p:spPr/>
        <p:txBody>
          <a:bodyPr/>
          <a:lstStyle/>
          <a:p>
            <a:r>
              <a:rPr lang="en-US" b="1" dirty="0"/>
              <a:t>Three Fundamental Problems in Hidden Markov Models (HMMs)</a:t>
            </a:r>
            <a:endParaRPr lang="en-IN" dirty="0"/>
          </a:p>
        </p:txBody>
      </p:sp>
      <p:sp>
        <p:nvSpPr>
          <p:cNvPr id="3" name="Content Placeholder 2">
            <a:extLst>
              <a:ext uri="{FF2B5EF4-FFF2-40B4-BE49-F238E27FC236}">
                <a16:creationId xmlns:a16="http://schemas.microsoft.com/office/drawing/2014/main" id="{164FB668-B925-BD0F-C439-1905CCDDF50E}"/>
              </a:ext>
            </a:extLst>
          </p:cNvPr>
          <p:cNvSpPr>
            <a:spLocks noGrp="1"/>
          </p:cNvSpPr>
          <p:nvPr>
            <p:ph idx="1"/>
          </p:nvPr>
        </p:nvSpPr>
        <p:spPr/>
        <p:txBody>
          <a:bodyPr/>
          <a:lstStyle/>
          <a:p>
            <a:pPr marL="0" indent="0" fontAlgn="base">
              <a:buNone/>
            </a:pPr>
            <a:r>
              <a:rPr lang="en-IN" b="1" dirty="0"/>
              <a:t>1. Decoding Problem (Viterbi Algorithm)</a:t>
            </a:r>
          </a:p>
          <a:p>
            <a:pPr fontAlgn="base"/>
            <a:r>
              <a:rPr lang="en-IN" b="1" dirty="0"/>
              <a:t>Problem: </a:t>
            </a:r>
            <a:r>
              <a:rPr lang="en-IN" dirty="0"/>
              <a:t>How to find the most likely hidden state sequence that explains the observations?</a:t>
            </a:r>
          </a:p>
          <a:p>
            <a:pPr fontAlgn="base"/>
            <a:r>
              <a:rPr lang="en-IN" dirty="0"/>
              <a:t>Mathematically, it finds:</a:t>
            </a:r>
          </a:p>
          <a:p>
            <a:pPr fontAlgn="base"/>
            <a:endParaRPr lang="en-IN" dirty="0"/>
          </a:p>
          <a:p>
            <a:pPr fontAlgn="base"/>
            <a:r>
              <a:rPr lang="en-IN" dirty="0"/>
              <a:t>The Viterbi Algorithm efficiently computes this using dynamic programming by keeping track of the maximum probability path to each state at each time step.</a:t>
            </a:r>
          </a:p>
          <a:p>
            <a:endParaRPr lang="en-IN" dirty="0"/>
          </a:p>
        </p:txBody>
      </p:sp>
      <p:pic>
        <p:nvPicPr>
          <p:cNvPr id="5" name="Picture 4">
            <a:extLst>
              <a:ext uri="{FF2B5EF4-FFF2-40B4-BE49-F238E27FC236}">
                <a16:creationId xmlns:a16="http://schemas.microsoft.com/office/drawing/2014/main" id="{46143611-2C5E-D606-9A2A-3295835A9BDD}"/>
              </a:ext>
            </a:extLst>
          </p:cNvPr>
          <p:cNvPicPr>
            <a:picLocks noChangeAspect="1"/>
          </p:cNvPicPr>
          <p:nvPr/>
        </p:nvPicPr>
        <p:blipFill>
          <a:blip r:embed="rId2"/>
          <a:stretch>
            <a:fillRect/>
          </a:stretch>
        </p:blipFill>
        <p:spPr>
          <a:xfrm>
            <a:off x="5222371" y="3335579"/>
            <a:ext cx="4386832" cy="679830"/>
          </a:xfrm>
          <a:prstGeom prst="rect">
            <a:avLst/>
          </a:prstGeom>
        </p:spPr>
      </p:pic>
    </p:spTree>
    <p:extLst>
      <p:ext uri="{BB962C8B-B14F-4D97-AF65-F5344CB8AC3E}">
        <p14:creationId xmlns:p14="http://schemas.microsoft.com/office/powerpoint/2010/main" val="2608108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2CF76-ECA6-C839-7A00-559712BF5A88}"/>
              </a:ext>
            </a:extLst>
          </p:cNvPr>
          <p:cNvSpPr>
            <a:spLocks noGrp="1"/>
          </p:cNvSpPr>
          <p:nvPr>
            <p:ph type="title"/>
          </p:nvPr>
        </p:nvSpPr>
        <p:spPr/>
        <p:txBody>
          <a:bodyPr>
            <a:normAutofit/>
          </a:bodyPr>
          <a:lstStyle/>
          <a:p>
            <a:r>
              <a:rPr lang="en-US" b="1" dirty="0"/>
              <a:t>Three Fundamental Problems in Hidden Markov Models (HMMs)</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67226A-5DBD-6651-54FE-9528DDADD5D9}"/>
                  </a:ext>
                </a:extLst>
              </p:cNvPr>
              <p:cNvSpPr>
                <a:spLocks noGrp="1"/>
              </p:cNvSpPr>
              <p:nvPr>
                <p:ph idx="1"/>
              </p:nvPr>
            </p:nvSpPr>
            <p:spPr/>
            <p:txBody>
              <a:bodyPr>
                <a:normAutofit/>
              </a:bodyPr>
              <a:lstStyle/>
              <a:p>
                <a:pPr marL="0" indent="0" fontAlgn="base">
                  <a:buNone/>
                </a:pPr>
                <a:r>
                  <a:rPr lang="en-IN" b="1" dirty="0"/>
                  <a:t>2. Evaluation Problem (Forward Algorithm)</a:t>
                </a:r>
              </a:p>
              <a:p>
                <a:pPr fontAlgn="base"/>
                <a:r>
                  <a:rPr lang="en-IN" sz="2000" b="1" dirty="0"/>
                  <a:t>Problem: </a:t>
                </a:r>
                <a:r>
                  <a:rPr lang="en-IN" sz="2000" dirty="0"/>
                  <a:t>How to compute the probability of an observation sequence?</a:t>
                </a:r>
              </a:p>
              <a:p>
                <a:pPr fontAlgn="base"/>
                <a:r>
                  <a:rPr lang="en-IN" sz="2000" dirty="0"/>
                  <a:t>Mathematically, given an observation sequence: </a:t>
                </a:r>
                <a14:m>
                  <m:oMath xmlns:m="http://schemas.openxmlformats.org/officeDocument/2006/math">
                    <m:r>
                      <a:rPr lang="en-IN" sz="2000" i="1">
                        <a:latin typeface="Cambria Math" panose="02040503050406030204" pitchFamily="18" charset="0"/>
                      </a:rPr>
                      <m:t>𝑂</m:t>
                    </m:r>
                    <m:r>
                      <a:rPr lang="en-IN" sz="2000">
                        <a:latin typeface="Cambria Math" panose="02040503050406030204" pitchFamily="18" charset="0"/>
                      </a:rPr>
                      <m:t>=</m:t>
                    </m:r>
                    <m:d>
                      <m:dPr>
                        <m:begChr m:val="{"/>
                        <m:endChr m:val="}"/>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𝑜</m:t>
                            </m:r>
                          </m:e>
                          <m:sub>
                            <m:r>
                              <a:rPr lang="ar-AE" sz="2000">
                                <a:latin typeface="Cambria Math" panose="02040503050406030204" pitchFamily="18" charset="0"/>
                              </a:rPr>
                              <m:t>1</m:t>
                            </m:r>
                          </m:sub>
                        </m:sSub>
                      </m:e>
                      <m:e>
                        <m:sSub>
                          <m:sSubPr>
                            <m:ctrlPr>
                              <a:rPr lang="ar-AE" sz="2000" i="1">
                                <a:latin typeface="Cambria Math" panose="02040503050406030204" pitchFamily="18" charset="0"/>
                              </a:rPr>
                            </m:ctrlPr>
                          </m:sSubPr>
                          <m:e>
                            <m:r>
                              <a:rPr lang="ar-AE" sz="2000" i="1">
                                <a:latin typeface="Cambria Math" panose="02040503050406030204" pitchFamily="18" charset="0"/>
                              </a:rPr>
                              <m:t>𝑜</m:t>
                            </m:r>
                          </m:e>
                          <m:sub>
                            <m:r>
                              <a:rPr lang="ar-AE" sz="2000">
                                <a:latin typeface="Cambria Math" panose="02040503050406030204" pitchFamily="18" charset="0"/>
                              </a:rPr>
                              <m:t>2</m:t>
                            </m:r>
                          </m:sub>
                        </m:sSub>
                      </m:e>
                      <m:e>
                        <m:r>
                          <a:rPr lang="ar-AE" sz="2000">
                            <a:latin typeface="Cambria Math" panose="02040503050406030204" pitchFamily="18" charset="0"/>
                          </a:rPr>
                          <m:t>…</m:t>
                        </m:r>
                      </m:e>
                      <m:e>
                        <m:sSub>
                          <m:sSubPr>
                            <m:ctrlPr>
                              <a:rPr lang="ar-AE" sz="2000" i="1">
                                <a:latin typeface="Cambria Math" panose="02040503050406030204" pitchFamily="18" charset="0"/>
                              </a:rPr>
                            </m:ctrlPr>
                          </m:sSubPr>
                          <m:e>
                            <m:r>
                              <a:rPr lang="ar-AE" sz="2000" i="1">
                                <a:latin typeface="Cambria Math" panose="02040503050406030204" pitchFamily="18" charset="0"/>
                              </a:rPr>
                              <m:t>𝑜</m:t>
                            </m:r>
                          </m:e>
                          <m:sub>
                            <m:r>
                              <a:rPr lang="ar-AE" sz="2000" i="1">
                                <a:latin typeface="Cambria Math" panose="02040503050406030204" pitchFamily="18" charset="0"/>
                              </a:rPr>
                              <m:t>𝑇</m:t>
                            </m:r>
                          </m:sub>
                        </m:sSub>
                      </m:e>
                    </m:d>
                  </m:oMath>
                </a14:m>
                <a:r>
                  <a:rPr lang="en-IN" sz="2000" i="1" dirty="0"/>
                  <a:t> </a:t>
                </a:r>
                <a:r>
                  <a:rPr lang="en-IN" sz="2000" dirty="0"/>
                  <a:t>and a model: </a:t>
                </a:r>
                <a14:m>
                  <m:oMath xmlns:m="http://schemas.openxmlformats.org/officeDocument/2006/math">
                    <m:r>
                      <a:rPr lang="en-IN" sz="2000" i="1">
                        <a:latin typeface="Cambria Math" panose="02040503050406030204" pitchFamily="18" charset="0"/>
                      </a:rPr>
                      <m:t>𝜆</m:t>
                    </m:r>
                    <m:r>
                      <a:rPr lang="en-IN" sz="2000">
                        <a:latin typeface="Cambria Math" panose="02040503050406030204" pitchFamily="18" charset="0"/>
                      </a:rPr>
                      <m:t>=</m:t>
                    </m:r>
                    <m:d>
                      <m:dPr>
                        <m:sepChr m:val=","/>
                        <m:ctrlPr>
                          <a:rPr lang="ar-AE" sz="2000" i="1">
                            <a:latin typeface="Cambria Math" panose="02040503050406030204" pitchFamily="18" charset="0"/>
                          </a:rPr>
                        </m:ctrlPr>
                      </m:dPr>
                      <m:e>
                        <m:r>
                          <a:rPr lang="ar-AE" sz="2000" i="1">
                            <a:latin typeface="Cambria Math" panose="02040503050406030204" pitchFamily="18" charset="0"/>
                          </a:rPr>
                          <m:t>𝐴</m:t>
                        </m:r>
                      </m:e>
                      <m:e>
                        <m:r>
                          <a:rPr lang="ar-AE" sz="2000" i="1">
                            <a:latin typeface="Cambria Math" panose="02040503050406030204" pitchFamily="18" charset="0"/>
                          </a:rPr>
                          <m:t>𝐵</m:t>
                        </m:r>
                      </m:e>
                      <m:e>
                        <m:r>
                          <a:rPr lang="ar-AE" sz="2000" i="1">
                            <a:latin typeface="Cambria Math" panose="02040503050406030204" pitchFamily="18" charset="0"/>
                          </a:rPr>
                          <m:t>𝜋</m:t>
                        </m:r>
                      </m:e>
                    </m:d>
                  </m:oMath>
                </a14:m>
                <a:endParaRPr lang="ar-AE" sz="2000" i="1" dirty="0"/>
              </a:p>
              <a:p>
                <a:pPr fontAlgn="base"/>
                <a:r>
                  <a:rPr lang="en-IN" sz="2000" dirty="0"/>
                  <a:t>we compute: </a:t>
                </a:r>
                <a14:m>
                  <m:oMath xmlns:m="http://schemas.openxmlformats.org/officeDocument/2006/math">
                    <m:r>
                      <a:rPr lang="en-IN" sz="2000" b="1">
                        <a:latin typeface="Cambria Math" panose="02040503050406030204" pitchFamily="18" charset="0"/>
                      </a:rPr>
                      <m:t>𝐏</m:t>
                    </m:r>
                    <m:d>
                      <m:dPr>
                        <m:ctrlPr>
                          <a:rPr lang="ar-AE" sz="2000" b="1" i="1">
                            <a:latin typeface="Cambria Math" panose="02040503050406030204" pitchFamily="18" charset="0"/>
                          </a:rPr>
                        </m:ctrlPr>
                      </m:dPr>
                      <m:e>
                        <m:r>
                          <a:rPr lang="ar-AE" sz="2000" i="1">
                            <a:latin typeface="Cambria Math" panose="02040503050406030204" pitchFamily="18" charset="0"/>
                          </a:rPr>
                          <m:t>𝑂</m:t>
                        </m:r>
                        <m:r>
                          <a:rPr lang="ar-AE" sz="2000">
                            <a:latin typeface="Cambria Math" panose="02040503050406030204" pitchFamily="18" charset="0"/>
                          </a:rPr>
                          <m:t>∣</m:t>
                        </m:r>
                        <m:r>
                          <a:rPr lang="ar-AE" sz="2000" i="1">
                            <a:latin typeface="Cambria Math" panose="02040503050406030204" pitchFamily="18" charset="0"/>
                          </a:rPr>
                          <m:t>𝜆</m:t>
                        </m:r>
                      </m:e>
                    </m:d>
                    <m:r>
                      <a:rPr lang="ar-AE" sz="2000">
                        <a:latin typeface="Cambria Math" panose="02040503050406030204" pitchFamily="18" charset="0"/>
                      </a:rPr>
                      <m:t>=</m:t>
                    </m:r>
                    <m:nary>
                      <m:naryPr>
                        <m:chr m:val="∑"/>
                        <m:limLoc m:val="subSup"/>
                        <m:grow m:val="on"/>
                        <m:supHide m:val="on"/>
                        <m:ctrlPr>
                          <a:rPr lang="ar-AE" sz="2000" i="1">
                            <a:latin typeface="Cambria Math" panose="02040503050406030204" pitchFamily="18" charset="0"/>
                          </a:rPr>
                        </m:ctrlPr>
                      </m:naryPr>
                      <m:sub>
                        <m:r>
                          <m:rPr>
                            <m:nor/>
                          </m:rPr>
                          <a:rPr lang="en-IN" sz="2000" i="1"/>
                          <m:t>all</m:t>
                        </m:r>
                        <m:r>
                          <m:rPr>
                            <m:nor/>
                          </m:rPr>
                          <a:rPr lang="en-IN" sz="2000" i="1"/>
                          <m:t> </m:t>
                        </m:r>
                        <m:r>
                          <m:rPr>
                            <m:nor/>
                          </m:rPr>
                          <a:rPr lang="en-IN" sz="2000" i="1"/>
                          <m:t>state</m:t>
                        </m:r>
                        <m:r>
                          <m:rPr>
                            <m:nor/>
                          </m:rPr>
                          <a:rPr lang="en-IN" sz="2000" i="1"/>
                          <m:t> </m:t>
                        </m:r>
                        <m:r>
                          <m:rPr>
                            <m:nor/>
                          </m:rPr>
                          <a:rPr lang="en-IN" sz="2000" i="1"/>
                          <m:t>sequences</m:t>
                        </m:r>
                        <m:r>
                          <m:rPr>
                            <m:nor/>
                          </m:rPr>
                          <a:rPr lang="en-IN" sz="2000" i="1"/>
                          <m:t> </m:t>
                        </m:r>
                        <m:r>
                          <a:rPr lang="en-IN" sz="2000" i="1">
                            <a:latin typeface="Cambria Math" panose="02040503050406030204" pitchFamily="18" charset="0"/>
                          </a:rPr>
                          <m:t>𝑄</m:t>
                        </m:r>
                      </m:sub>
                      <m:sup/>
                      <m:e>
                        <m:r>
                          <a:rPr lang="ar-AE" sz="2000" b="1">
                            <a:latin typeface="Cambria Math" panose="02040503050406030204" pitchFamily="18" charset="0"/>
                          </a:rPr>
                          <m:t>𝐏</m:t>
                        </m:r>
                      </m:e>
                    </m:nary>
                    <m:d>
                      <m:dPr>
                        <m:sepChr m:val=","/>
                        <m:ctrlPr>
                          <a:rPr lang="ar-AE" sz="2000" i="1">
                            <a:latin typeface="Cambria Math" panose="02040503050406030204" pitchFamily="18" charset="0"/>
                          </a:rPr>
                        </m:ctrlPr>
                      </m:dPr>
                      <m:e>
                        <m:r>
                          <a:rPr lang="ar-AE" sz="2000" i="1">
                            <a:latin typeface="Cambria Math" panose="02040503050406030204" pitchFamily="18" charset="0"/>
                          </a:rPr>
                          <m:t>𝑂</m:t>
                        </m:r>
                      </m:e>
                      <m:e>
                        <m:r>
                          <a:rPr lang="ar-AE" sz="2000" i="1">
                            <a:latin typeface="Cambria Math" panose="02040503050406030204" pitchFamily="18" charset="0"/>
                          </a:rPr>
                          <m:t>𝑄</m:t>
                        </m:r>
                        <m:r>
                          <a:rPr lang="ar-AE" sz="2000">
                            <a:latin typeface="Cambria Math" panose="02040503050406030204" pitchFamily="18" charset="0"/>
                          </a:rPr>
                          <m:t>∣</m:t>
                        </m:r>
                        <m:r>
                          <a:rPr lang="ar-AE" sz="2000" i="1">
                            <a:latin typeface="Cambria Math" panose="02040503050406030204" pitchFamily="18" charset="0"/>
                          </a:rPr>
                          <m:t>𝜆</m:t>
                        </m:r>
                      </m:e>
                    </m:d>
                  </m:oMath>
                </a14:m>
                <a:endParaRPr lang="en-IN" sz="2000" i="1" dirty="0"/>
              </a:p>
              <a:p>
                <a:pPr fontAlgn="base"/>
                <a:r>
                  <a:rPr lang="en-IN" sz="2000" dirty="0"/>
                  <a:t>Because summing over all possible state sequences is computationally expensive, the Forward Algorithm efficiently computes this probability using dynamic programming with the forward variable: 	</a:t>
                </a:r>
              </a:p>
              <a:p>
                <a:pPr marL="0" indent="0" fontAlgn="base">
                  <a:buNone/>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𝛼</m:t>
                          </m:r>
                        </m:e>
                        <m:sub>
                          <m:r>
                            <a:rPr lang="ar-AE" sz="2000" i="1">
                              <a:latin typeface="Cambria Math" panose="02040503050406030204" pitchFamily="18" charset="0"/>
                            </a:rPr>
                            <m:t>𝑡</m:t>
                          </m:r>
                        </m:sub>
                      </m:sSub>
                      <m:d>
                        <m:dPr>
                          <m:ctrlPr>
                            <a:rPr lang="ar-AE" sz="2000" i="1">
                              <a:latin typeface="Cambria Math" panose="02040503050406030204" pitchFamily="18" charset="0"/>
                            </a:rPr>
                          </m:ctrlPr>
                        </m:dPr>
                        <m:e>
                          <m:r>
                            <a:rPr lang="ar-AE" sz="2000" i="1">
                              <a:latin typeface="Cambria Math" panose="02040503050406030204" pitchFamily="18" charset="0"/>
                            </a:rPr>
                            <m:t>𝑗</m:t>
                          </m:r>
                        </m:e>
                      </m:d>
                      <m:r>
                        <a:rPr lang="ar-AE" sz="2000">
                          <a:latin typeface="Cambria Math" panose="02040503050406030204" pitchFamily="18" charset="0"/>
                        </a:rPr>
                        <m:t>=</m:t>
                      </m:r>
                      <m:r>
                        <a:rPr lang="ar-AE" sz="2000" b="1">
                          <a:latin typeface="Cambria Math" panose="02040503050406030204" pitchFamily="18" charset="0"/>
                        </a:rPr>
                        <m:t>𝐏</m:t>
                      </m:r>
                      <m:d>
                        <m:dPr>
                          <m:sepChr m:val=","/>
                          <m:ctrlPr>
                            <a:rPr lang="ar-AE" sz="2000" b="1" i="1">
                              <a:latin typeface="Cambria Math" panose="02040503050406030204" pitchFamily="18" charset="0"/>
                            </a:rPr>
                          </m:ctrlPr>
                        </m:dPr>
                        <m:e>
                          <m:sSub>
                            <m:sSubPr>
                              <m:ctrlPr>
                                <a:rPr lang="ar-AE" sz="2000" b="1" i="1">
                                  <a:latin typeface="Cambria Math" panose="02040503050406030204" pitchFamily="18" charset="0"/>
                                </a:rPr>
                              </m:ctrlPr>
                            </m:sSubPr>
                            <m:e>
                              <m:r>
                                <a:rPr lang="ar-AE" sz="2000" i="1">
                                  <a:latin typeface="Cambria Math" panose="02040503050406030204" pitchFamily="18" charset="0"/>
                                </a:rPr>
                                <m:t>𝑜</m:t>
                              </m:r>
                            </m:e>
                            <m:sub>
                              <m:r>
                                <a:rPr lang="ar-AE" sz="2000">
                                  <a:latin typeface="Cambria Math" panose="02040503050406030204" pitchFamily="18" charset="0"/>
                                </a:rPr>
                                <m:t>1</m:t>
                              </m:r>
                            </m:sub>
                          </m:sSub>
                        </m:e>
                        <m:e>
                          <m:sSub>
                            <m:sSubPr>
                              <m:ctrlPr>
                                <a:rPr lang="ar-AE" sz="2000" b="1" i="1">
                                  <a:latin typeface="Cambria Math" panose="02040503050406030204" pitchFamily="18" charset="0"/>
                                </a:rPr>
                              </m:ctrlPr>
                            </m:sSubPr>
                            <m:e>
                              <m:r>
                                <a:rPr lang="ar-AE" sz="2000" i="1">
                                  <a:latin typeface="Cambria Math" panose="02040503050406030204" pitchFamily="18" charset="0"/>
                                </a:rPr>
                                <m:t>𝑜</m:t>
                              </m:r>
                            </m:e>
                            <m:sub>
                              <m:r>
                                <a:rPr lang="ar-AE" sz="2000">
                                  <a:latin typeface="Cambria Math" panose="02040503050406030204" pitchFamily="18" charset="0"/>
                                </a:rPr>
                                <m:t>2</m:t>
                              </m:r>
                            </m:sub>
                          </m:sSub>
                        </m:e>
                        <m:e>
                          <m:r>
                            <a:rPr lang="ar-AE" sz="2000">
                              <a:latin typeface="Cambria Math" panose="02040503050406030204" pitchFamily="18" charset="0"/>
                            </a:rPr>
                            <m:t>…</m:t>
                          </m:r>
                        </m:e>
                        <m:e>
                          <m:sSub>
                            <m:sSubPr>
                              <m:ctrlPr>
                                <a:rPr lang="ar-AE" sz="2000" i="1">
                                  <a:latin typeface="Cambria Math" panose="02040503050406030204" pitchFamily="18" charset="0"/>
                                </a:rPr>
                              </m:ctrlPr>
                            </m:sSubPr>
                            <m:e>
                              <m:r>
                                <a:rPr lang="ar-AE" sz="2000" i="1">
                                  <a:latin typeface="Cambria Math" panose="02040503050406030204" pitchFamily="18" charset="0"/>
                                </a:rPr>
                                <m:t>𝑜</m:t>
                              </m:r>
                            </m:e>
                            <m:sub>
                              <m:r>
                                <a:rPr lang="ar-AE" sz="2000" i="1">
                                  <a:latin typeface="Cambria Math" panose="02040503050406030204" pitchFamily="18" charset="0"/>
                                </a:rPr>
                                <m:t>𝑡</m:t>
                              </m:r>
                            </m:sub>
                          </m:sSub>
                        </m:e>
                        <m:e>
                          <m:sSub>
                            <m:sSubPr>
                              <m:ctrlPr>
                                <a:rPr lang="ar-AE" sz="2000" i="1">
                                  <a:latin typeface="Cambria Math" panose="02040503050406030204" pitchFamily="18" charset="0"/>
                                </a:rPr>
                              </m:ctrlPr>
                            </m:sSubPr>
                            <m:e>
                              <m:r>
                                <a:rPr lang="ar-AE" sz="2000" i="1">
                                  <a:latin typeface="Cambria Math" panose="02040503050406030204" pitchFamily="18" charset="0"/>
                                </a:rPr>
                                <m:t>𝑞</m:t>
                              </m:r>
                            </m:e>
                            <m:sub>
                              <m:r>
                                <a:rPr lang="ar-AE" sz="2000" i="1">
                                  <a:latin typeface="Cambria Math" panose="02040503050406030204" pitchFamily="18" charset="0"/>
                                </a:rPr>
                                <m:t>𝑡</m:t>
                              </m:r>
                            </m:sub>
                          </m:sSub>
                          <m:r>
                            <a:rPr lang="ar-AE" sz="2000">
                              <a:latin typeface="Cambria Math" panose="02040503050406030204" pitchFamily="18" charset="0"/>
                            </a:rPr>
                            <m:t>=</m:t>
                          </m:r>
                          <m:r>
                            <a:rPr lang="ar-AE" sz="2000" i="1">
                              <a:latin typeface="Cambria Math" panose="02040503050406030204" pitchFamily="18" charset="0"/>
                            </a:rPr>
                            <m:t>𝑗</m:t>
                          </m:r>
                          <m:r>
                            <a:rPr lang="ar-AE" sz="2000">
                              <a:latin typeface="Cambria Math" panose="02040503050406030204" pitchFamily="18" charset="0"/>
                            </a:rPr>
                            <m:t>∣</m:t>
                          </m:r>
                          <m:r>
                            <a:rPr lang="ar-AE" sz="2000" i="1">
                              <a:latin typeface="Cambria Math" panose="02040503050406030204" pitchFamily="18" charset="0"/>
                            </a:rPr>
                            <m:t>𝜆</m:t>
                          </m:r>
                        </m:e>
                      </m:d>
                    </m:oMath>
                  </m:oMathPara>
                </a14:m>
                <a:endParaRPr lang="en-IN" sz="2000" dirty="0"/>
              </a:p>
            </p:txBody>
          </p:sp>
        </mc:Choice>
        <mc:Fallback xmlns="">
          <p:sp>
            <p:nvSpPr>
              <p:cNvPr id="3" name="Content Placeholder 2">
                <a:extLst>
                  <a:ext uri="{FF2B5EF4-FFF2-40B4-BE49-F238E27FC236}">
                    <a16:creationId xmlns:a16="http://schemas.microsoft.com/office/drawing/2014/main" id="{C767226A-5DBD-6651-54FE-9528DDADD5D9}"/>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3883324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3CB3B-B3BD-4DF7-C8FA-A8DF4FBE4A6B}"/>
              </a:ext>
            </a:extLst>
          </p:cNvPr>
          <p:cNvSpPr>
            <a:spLocks noGrp="1"/>
          </p:cNvSpPr>
          <p:nvPr>
            <p:ph type="title"/>
          </p:nvPr>
        </p:nvSpPr>
        <p:spPr/>
        <p:txBody>
          <a:bodyPr/>
          <a:lstStyle/>
          <a:p>
            <a:r>
              <a:rPr lang="en-US" b="1" dirty="0"/>
              <a:t>Three Fundamental Problems in Hidden Markov Models (HMMs)</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C9AC6B-86A6-A38B-639B-76E8C177F655}"/>
                  </a:ext>
                </a:extLst>
              </p:cNvPr>
              <p:cNvSpPr>
                <a:spLocks noGrp="1"/>
              </p:cNvSpPr>
              <p:nvPr>
                <p:ph idx="1"/>
              </p:nvPr>
            </p:nvSpPr>
            <p:spPr/>
            <p:txBody>
              <a:bodyPr>
                <a:normAutofit/>
              </a:bodyPr>
              <a:lstStyle/>
              <a:p>
                <a:pPr marL="0" indent="0" fontAlgn="base">
                  <a:buNone/>
                </a:pPr>
                <a:r>
                  <a:rPr lang="en-IN" sz="2400" b="1" dirty="0"/>
                  <a:t>3. Learning Problem (Baum–Welch Algorithm / EM)</a:t>
                </a:r>
              </a:p>
              <a:p>
                <a:pPr fontAlgn="base"/>
                <a:r>
                  <a:rPr lang="en-IN" sz="2400" b="1" dirty="0"/>
                  <a:t>Problem:</a:t>
                </a:r>
                <a:r>
                  <a:rPr lang="en-IN" sz="2400" dirty="0"/>
                  <a:t> How to train the HMM to fit the observed data?</a:t>
                </a:r>
              </a:p>
              <a:p>
                <a:pPr fontAlgn="base"/>
                <a:r>
                  <a:rPr lang="en-IN" sz="2400" dirty="0"/>
                  <a:t>Here, the goal is to estimate the model parameters that maximize the likelihood of the observation sequence:</a:t>
                </a:r>
              </a:p>
              <a:p>
                <a:pPr fontAlgn="base"/>
                <a:endParaRPr lang="en-IN" sz="2400" i="1" dirty="0"/>
              </a:p>
              <a:p>
                <a:pPr fontAlgn="base"/>
                <a:endParaRPr lang="ar-AE" sz="2400" i="1" dirty="0"/>
              </a:p>
              <a:p>
                <a:pPr fontAlgn="base"/>
                <a:r>
                  <a:rPr lang="en-IN" sz="2400" dirty="0"/>
                  <a:t>The Baum Welch Algorithm (a type of Expectation-Maximization) iteratively updates estimates of </a:t>
                </a:r>
                <a14:m>
                  <m:oMath xmlns:m="http://schemas.openxmlformats.org/officeDocument/2006/math">
                    <m:r>
                      <a:rPr lang="en-IN" sz="2400" i="1">
                        <a:latin typeface="Cambria Math" panose="02040503050406030204" pitchFamily="18" charset="0"/>
                      </a:rPr>
                      <m:t>𝐴</m:t>
                    </m:r>
                  </m:oMath>
                </a14:m>
                <a:r>
                  <a:rPr lang="en-IN" sz="2400" dirty="0"/>
                  <a:t>, </a:t>
                </a:r>
                <a14:m>
                  <m:oMath xmlns:m="http://schemas.openxmlformats.org/officeDocument/2006/math">
                    <m:r>
                      <a:rPr lang="en-IN" sz="2400" i="1">
                        <a:latin typeface="Cambria Math" panose="02040503050406030204" pitchFamily="18" charset="0"/>
                      </a:rPr>
                      <m:t>𝐵</m:t>
                    </m:r>
                  </m:oMath>
                </a14:m>
                <a:r>
                  <a:rPr lang="en-IN" sz="2400" dirty="0"/>
                  <a:t> and </a:t>
                </a:r>
                <a14:m>
                  <m:oMath xmlns:m="http://schemas.openxmlformats.org/officeDocument/2006/math">
                    <m:r>
                      <a:rPr lang="en-IN" sz="2400" i="1">
                        <a:latin typeface="Cambria Math" panose="02040503050406030204" pitchFamily="18" charset="0"/>
                      </a:rPr>
                      <m:t>𝜋</m:t>
                    </m:r>
                  </m:oMath>
                </a14:m>
                <a:r>
                  <a:rPr lang="en-IN" sz="2400" dirty="0"/>
                  <a:t> using the state occupancy probabilities and transition probabilities computed from the observation sequence.</a:t>
                </a:r>
              </a:p>
              <a:p>
                <a:endParaRPr lang="en-IN" sz="2400" dirty="0"/>
              </a:p>
            </p:txBody>
          </p:sp>
        </mc:Choice>
        <mc:Fallback xmlns="">
          <p:sp>
            <p:nvSpPr>
              <p:cNvPr id="3" name="Content Placeholder 2">
                <a:extLst>
                  <a:ext uri="{FF2B5EF4-FFF2-40B4-BE49-F238E27FC236}">
                    <a16:creationId xmlns:a16="http://schemas.microsoft.com/office/drawing/2014/main" id="{58C9AC6B-86A6-A38B-639B-76E8C177F655}"/>
                  </a:ext>
                </a:extLst>
              </p:cNvPr>
              <p:cNvSpPr>
                <a:spLocks noGrp="1" noRot="1" noChangeAspect="1" noMove="1" noResize="1" noEditPoints="1" noAdjustHandles="1" noChangeArrowheads="1" noChangeShapeType="1" noTextEdit="1"/>
              </p:cNvSpPr>
              <p:nvPr>
                <p:ph idx="1"/>
              </p:nvPr>
            </p:nvSpPr>
            <p:spPr>
              <a:blipFill>
                <a:blip r:embed="rId2"/>
                <a:stretch>
                  <a:fillRect l="-928" t="-196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CD5AA6FF-2E65-E77B-B743-E20B8525A188}"/>
              </a:ext>
            </a:extLst>
          </p:cNvPr>
          <p:cNvPicPr>
            <a:picLocks noChangeAspect="1"/>
          </p:cNvPicPr>
          <p:nvPr/>
        </p:nvPicPr>
        <p:blipFill>
          <a:blip r:embed="rId3"/>
          <a:stretch>
            <a:fillRect/>
          </a:stretch>
        </p:blipFill>
        <p:spPr>
          <a:xfrm>
            <a:off x="4258276" y="3649280"/>
            <a:ext cx="3510688" cy="574849"/>
          </a:xfrm>
          <a:prstGeom prst="rect">
            <a:avLst/>
          </a:prstGeom>
        </p:spPr>
      </p:pic>
    </p:spTree>
    <p:extLst>
      <p:ext uri="{BB962C8B-B14F-4D97-AF65-F5344CB8AC3E}">
        <p14:creationId xmlns:p14="http://schemas.microsoft.com/office/powerpoint/2010/main" val="1483969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693D467-BFFC-E6EA-A107-6D0D8BE8A0CE}"/>
              </a:ext>
            </a:extLst>
          </p:cNvPr>
          <p:cNvPicPr>
            <a:picLocks noGrp="1" noChangeAspect="1"/>
          </p:cNvPicPr>
          <p:nvPr>
            <p:ph idx="1"/>
          </p:nvPr>
        </p:nvPicPr>
        <p:blipFill>
          <a:blip r:embed="rId2"/>
          <a:stretch>
            <a:fillRect/>
          </a:stretch>
        </p:blipFill>
        <p:spPr>
          <a:xfrm>
            <a:off x="605755" y="1690688"/>
            <a:ext cx="9412888" cy="4930000"/>
          </a:xfrm>
          <a:prstGeom prst="rect">
            <a:avLst/>
          </a:prstGeom>
        </p:spPr>
      </p:pic>
      <p:sp>
        <p:nvSpPr>
          <p:cNvPr id="4" name="Title 1">
            <a:extLst>
              <a:ext uri="{FF2B5EF4-FFF2-40B4-BE49-F238E27FC236}">
                <a16:creationId xmlns:a16="http://schemas.microsoft.com/office/drawing/2014/main" id="{F0B94C97-590C-2D81-E821-77371F314D4E}"/>
              </a:ext>
            </a:extLst>
          </p:cNvPr>
          <p:cNvSpPr>
            <a:spLocks noGrp="1"/>
          </p:cNvSpPr>
          <p:nvPr>
            <p:ph type="title"/>
          </p:nvPr>
        </p:nvSpPr>
        <p:spPr>
          <a:xfrm>
            <a:off x="344574" y="365125"/>
            <a:ext cx="11476124" cy="1325563"/>
          </a:xfrm>
        </p:spPr>
        <p:txBody>
          <a:bodyPr>
            <a:normAutofit fontScale="90000"/>
          </a:bodyPr>
          <a:lstStyle/>
          <a:p>
            <a:pPr fontAlgn="base"/>
            <a:r>
              <a:rPr lang="en-IN" b="1" dirty="0"/>
              <a:t>Decoding Problem (Viterbi Algorithm) - Find the most likely hidden state sequence for the given observations</a:t>
            </a:r>
          </a:p>
        </p:txBody>
      </p:sp>
    </p:spTree>
    <p:extLst>
      <p:ext uri="{BB962C8B-B14F-4D97-AF65-F5344CB8AC3E}">
        <p14:creationId xmlns:p14="http://schemas.microsoft.com/office/powerpoint/2010/main" val="1495477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AD6DD-B99B-3160-B8CD-FF512B051860}"/>
              </a:ext>
            </a:extLst>
          </p:cNvPr>
          <p:cNvSpPr>
            <a:spLocks noGrp="1"/>
          </p:cNvSpPr>
          <p:nvPr>
            <p:ph type="title"/>
          </p:nvPr>
        </p:nvSpPr>
        <p:spPr/>
        <p:txBody>
          <a:bodyPr>
            <a:noAutofit/>
          </a:bodyPr>
          <a:lstStyle/>
          <a:p>
            <a:r>
              <a:rPr lang="en-IN" sz="3600" b="1" dirty="0"/>
              <a:t>Decoding Problem (Viterbi Algorithm) - Find the most likely hidden state sequence for the given observations</a:t>
            </a:r>
            <a:endParaRPr lang="en-IN" sz="3600" dirty="0"/>
          </a:p>
        </p:txBody>
      </p:sp>
      <p:pic>
        <p:nvPicPr>
          <p:cNvPr id="5" name="Content Placeholder 4">
            <a:extLst>
              <a:ext uri="{FF2B5EF4-FFF2-40B4-BE49-F238E27FC236}">
                <a16:creationId xmlns:a16="http://schemas.microsoft.com/office/drawing/2014/main" id="{30420C08-5FD5-323C-BCE2-1F3BF691A9EF}"/>
              </a:ext>
            </a:extLst>
          </p:cNvPr>
          <p:cNvPicPr>
            <a:picLocks noGrp="1" noChangeAspect="1"/>
          </p:cNvPicPr>
          <p:nvPr>
            <p:ph idx="1"/>
          </p:nvPr>
        </p:nvPicPr>
        <p:blipFill>
          <a:blip r:embed="rId2"/>
          <a:stretch>
            <a:fillRect/>
          </a:stretch>
        </p:blipFill>
        <p:spPr>
          <a:xfrm>
            <a:off x="1025486" y="1690688"/>
            <a:ext cx="10654345" cy="5036108"/>
          </a:xfrm>
          <a:prstGeom prst="rect">
            <a:avLst/>
          </a:prstGeom>
        </p:spPr>
      </p:pic>
    </p:spTree>
    <p:extLst>
      <p:ext uri="{BB962C8B-B14F-4D97-AF65-F5344CB8AC3E}">
        <p14:creationId xmlns:p14="http://schemas.microsoft.com/office/powerpoint/2010/main" val="439682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298B5-7267-220D-07CB-B8B046E44095}"/>
              </a:ext>
            </a:extLst>
          </p:cNvPr>
          <p:cNvSpPr>
            <a:spLocks noGrp="1"/>
          </p:cNvSpPr>
          <p:nvPr>
            <p:ph type="title"/>
          </p:nvPr>
        </p:nvSpPr>
        <p:spPr/>
        <p:txBody>
          <a:bodyPr>
            <a:noAutofit/>
          </a:bodyPr>
          <a:lstStyle/>
          <a:p>
            <a:r>
              <a:rPr lang="en-IN" sz="3600" b="1" dirty="0"/>
              <a:t>Decoding Problem (Viterbi Algorithm) - Find the most likely hidden state sequence for the given observations</a:t>
            </a:r>
            <a:endParaRPr lang="en-IN" sz="3600" dirty="0"/>
          </a:p>
        </p:txBody>
      </p:sp>
      <p:pic>
        <p:nvPicPr>
          <p:cNvPr id="5" name="Content Placeholder 4">
            <a:extLst>
              <a:ext uri="{FF2B5EF4-FFF2-40B4-BE49-F238E27FC236}">
                <a16:creationId xmlns:a16="http://schemas.microsoft.com/office/drawing/2014/main" id="{77B831C9-B801-078D-8003-8B0F11A3DF89}"/>
              </a:ext>
            </a:extLst>
          </p:cNvPr>
          <p:cNvPicPr>
            <a:picLocks noGrp="1" noChangeAspect="1"/>
          </p:cNvPicPr>
          <p:nvPr>
            <p:ph idx="1"/>
          </p:nvPr>
        </p:nvPicPr>
        <p:blipFill>
          <a:blip r:embed="rId2"/>
          <a:stretch>
            <a:fillRect/>
          </a:stretch>
        </p:blipFill>
        <p:spPr>
          <a:xfrm>
            <a:off x="904461" y="1597025"/>
            <a:ext cx="10383078" cy="4764018"/>
          </a:xfrm>
          <a:prstGeom prst="rect">
            <a:avLst/>
          </a:prstGeom>
        </p:spPr>
      </p:pic>
    </p:spTree>
    <p:extLst>
      <p:ext uri="{BB962C8B-B14F-4D97-AF65-F5344CB8AC3E}">
        <p14:creationId xmlns:p14="http://schemas.microsoft.com/office/powerpoint/2010/main" val="1157637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5BB02-1B29-2457-8DC1-42F17386D8A5}"/>
              </a:ext>
            </a:extLst>
          </p:cNvPr>
          <p:cNvSpPr>
            <a:spLocks noGrp="1"/>
          </p:cNvSpPr>
          <p:nvPr>
            <p:ph type="title"/>
          </p:nvPr>
        </p:nvSpPr>
        <p:spPr/>
        <p:txBody>
          <a:bodyPr>
            <a:noAutofit/>
          </a:bodyPr>
          <a:lstStyle/>
          <a:p>
            <a:r>
              <a:rPr lang="en-IN" sz="3600" b="1" dirty="0"/>
              <a:t>Decoding Problem (Viterbi Algorithm) - Find the most likely hidden state sequence for the given observations</a:t>
            </a:r>
            <a:endParaRPr lang="en-IN" sz="3600" dirty="0"/>
          </a:p>
        </p:txBody>
      </p:sp>
      <p:pic>
        <p:nvPicPr>
          <p:cNvPr id="5" name="Content Placeholder 4">
            <a:extLst>
              <a:ext uri="{FF2B5EF4-FFF2-40B4-BE49-F238E27FC236}">
                <a16:creationId xmlns:a16="http://schemas.microsoft.com/office/drawing/2014/main" id="{2B52740D-2EEE-911A-3123-4E598B5DC79E}"/>
              </a:ext>
            </a:extLst>
          </p:cNvPr>
          <p:cNvPicPr>
            <a:picLocks noGrp="1" noChangeAspect="1"/>
          </p:cNvPicPr>
          <p:nvPr>
            <p:ph idx="1"/>
          </p:nvPr>
        </p:nvPicPr>
        <p:blipFill>
          <a:blip r:embed="rId2"/>
          <a:stretch>
            <a:fillRect/>
          </a:stretch>
        </p:blipFill>
        <p:spPr>
          <a:xfrm>
            <a:off x="838200" y="1557076"/>
            <a:ext cx="10174357" cy="4833785"/>
          </a:xfrm>
          <a:prstGeom prst="rect">
            <a:avLst/>
          </a:prstGeom>
        </p:spPr>
      </p:pic>
    </p:spTree>
    <p:extLst>
      <p:ext uri="{BB962C8B-B14F-4D97-AF65-F5344CB8AC3E}">
        <p14:creationId xmlns:p14="http://schemas.microsoft.com/office/powerpoint/2010/main" val="1359498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7F766-245D-F4D3-C702-BDF6AD201E1E}"/>
              </a:ext>
            </a:extLst>
          </p:cNvPr>
          <p:cNvSpPr>
            <a:spLocks noGrp="1"/>
          </p:cNvSpPr>
          <p:nvPr>
            <p:ph type="title"/>
          </p:nvPr>
        </p:nvSpPr>
        <p:spPr/>
        <p:txBody>
          <a:bodyPr>
            <a:noAutofit/>
          </a:bodyPr>
          <a:lstStyle/>
          <a:p>
            <a:r>
              <a:rPr lang="en-IN" sz="3600" b="1" dirty="0"/>
              <a:t>Decoding Problem (Viterbi Algorithm) - Find the most likely hidden state sequence for the given observations</a:t>
            </a:r>
            <a:endParaRPr lang="en-IN" sz="3600" dirty="0"/>
          </a:p>
        </p:txBody>
      </p:sp>
      <p:pic>
        <p:nvPicPr>
          <p:cNvPr id="9" name="Content Placeholder 8">
            <a:extLst>
              <a:ext uri="{FF2B5EF4-FFF2-40B4-BE49-F238E27FC236}">
                <a16:creationId xmlns:a16="http://schemas.microsoft.com/office/drawing/2014/main" id="{60E97672-31ED-9461-3A27-FC77E7E712B5}"/>
              </a:ext>
            </a:extLst>
          </p:cNvPr>
          <p:cNvPicPr>
            <a:picLocks noGrp="1" noChangeAspect="1"/>
          </p:cNvPicPr>
          <p:nvPr>
            <p:ph idx="1"/>
          </p:nvPr>
        </p:nvPicPr>
        <p:blipFill>
          <a:blip r:embed="rId2"/>
          <a:stretch>
            <a:fillRect/>
          </a:stretch>
        </p:blipFill>
        <p:spPr>
          <a:xfrm>
            <a:off x="1044093" y="1787153"/>
            <a:ext cx="10826485" cy="3917908"/>
          </a:xfrm>
          <a:prstGeom prst="rect">
            <a:avLst/>
          </a:prstGeom>
        </p:spPr>
      </p:pic>
    </p:spTree>
    <p:extLst>
      <p:ext uri="{BB962C8B-B14F-4D97-AF65-F5344CB8AC3E}">
        <p14:creationId xmlns:p14="http://schemas.microsoft.com/office/powerpoint/2010/main" val="570254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023B1-40D9-4FDE-F8CC-78F7B16D9678}"/>
              </a:ext>
            </a:extLst>
          </p:cNvPr>
          <p:cNvSpPr>
            <a:spLocks noGrp="1"/>
          </p:cNvSpPr>
          <p:nvPr>
            <p:ph type="title"/>
          </p:nvPr>
        </p:nvSpPr>
        <p:spPr>
          <a:xfrm>
            <a:off x="344574" y="365125"/>
            <a:ext cx="11476124" cy="1325563"/>
          </a:xfrm>
        </p:spPr>
        <p:txBody>
          <a:bodyPr>
            <a:normAutofit fontScale="90000"/>
          </a:bodyPr>
          <a:lstStyle/>
          <a:p>
            <a:pPr fontAlgn="base"/>
            <a:r>
              <a:rPr lang="en-IN" b="1" dirty="0"/>
              <a:t>Decoding Problem (Viterbi Algorithm) - Find the most likely hidden state sequence for the given observations</a:t>
            </a:r>
          </a:p>
        </p:txBody>
      </p:sp>
      <p:pic>
        <p:nvPicPr>
          <p:cNvPr id="8" name="Content Placeholder 7">
            <a:extLst>
              <a:ext uri="{FF2B5EF4-FFF2-40B4-BE49-F238E27FC236}">
                <a16:creationId xmlns:a16="http://schemas.microsoft.com/office/drawing/2014/main" id="{66B02083-64FD-3AB4-54D0-1C680EF58B9A}"/>
              </a:ext>
            </a:extLst>
          </p:cNvPr>
          <p:cNvPicPr>
            <a:picLocks noGrp="1" noChangeAspect="1"/>
          </p:cNvPicPr>
          <p:nvPr>
            <p:ph idx="1"/>
          </p:nvPr>
        </p:nvPicPr>
        <p:blipFill>
          <a:blip r:embed="rId2"/>
          <a:stretch>
            <a:fillRect/>
          </a:stretch>
        </p:blipFill>
        <p:spPr>
          <a:xfrm>
            <a:off x="344574" y="1696724"/>
            <a:ext cx="5751426" cy="5031061"/>
          </a:xfrm>
          <a:prstGeom prst="rect">
            <a:avLst/>
          </a:prstGeom>
        </p:spPr>
      </p:pic>
      <p:pic>
        <p:nvPicPr>
          <p:cNvPr id="11" name="Picture 10">
            <a:extLst>
              <a:ext uri="{FF2B5EF4-FFF2-40B4-BE49-F238E27FC236}">
                <a16:creationId xmlns:a16="http://schemas.microsoft.com/office/drawing/2014/main" id="{ADE5C343-961D-FCD6-3FEB-98726E557845}"/>
              </a:ext>
            </a:extLst>
          </p:cNvPr>
          <p:cNvPicPr>
            <a:picLocks noChangeAspect="1"/>
          </p:cNvPicPr>
          <p:nvPr/>
        </p:nvPicPr>
        <p:blipFill>
          <a:blip r:embed="rId3"/>
          <a:stretch>
            <a:fillRect/>
          </a:stretch>
        </p:blipFill>
        <p:spPr>
          <a:xfrm>
            <a:off x="6440574" y="2166190"/>
            <a:ext cx="5751426" cy="4092130"/>
          </a:xfrm>
          <a:prstGeom prst="rect">
            <a:avLst/>
          </a:prstGeom>
        </p:spPr>
      </p:pic>
    </p:spTree>
    <p:extLst>
      <p:ext uri="{BB962C8B-B14F-4D97-AF65-F5344CB8AC3E}">
        <p14:creationId xmlns:p14="http://schemas.microsoft.com/office/powerpoint/2010/main" val="2394361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CA261-3C44-B611-D0EE-ECBC55BE0863}"/>
              </a:ext>
            </a:extLst>
          </p:cNvPr>
          <p:cNvSpPr>
            <a:spLocks noGrp="1"/>
          </p:cNvSpPr>
          <p:nvPr>
            <p:ph type="title"/>
          </p:nvPr>
        </p:nvSpPr>
        <p:spPr>
          <a:xfrm>
            <a:off x="415636" y="365125"/>
            <a:ext cx="11604568" cy="1325563"/>
          </a:xfrm>
        </p:spPr>
        <p:txBody>
          <a:bodyPr>
            <a:normAutofit fontScale="90000"/>
          </a:bodyPr>
          <a:lstStyle/>
          <a:p>
            <a:r>
              <a:rPr lang="en-IN" b="1" dirty="0"/>
              <a:t>Decoding Problem (Viterbi Algorithm) - Find the most likely hidden state sequence for the given observations</a:t>
            </a:r>
            <a:endParaRPr lang="en-IN" dirty="0"/>
          </a:p>
        </p:txBody>
      </p:sp>
      <p:pic>
        <p:nvPicPr>
          <p:cNvPr id="15" name="Content Placeholder 14">
            <a:extLst>
              <a:ext uri="{FF2B5EF4-FFF2-40B4-BE49-F238E27FC236}">
                <a16:creationId xmlns:a16="http://schemas.microsoft.com/office/drawing/2014/main" id="{D2F31EE7-9912-5EDC-88D0-6D88CB8E6D8C}"/>
              </a:ext>
            </a:extLst>
          </p:cNvPr>
          <p:cNvPicPr>
            <a:picLocks noGrp="1" noChangeAspect="1"/>
          </p:cNvPicPr>
          <p:nvPr>
            <p:ph idx="1"/>
          </p:nvPr>
        </p:nvPicPr>
        <p:blipFill>
          <a:blip r:embed="rId2"/>
          <a:stretch>
            <a:fillRect/>
          </a:stretch>
        </p:blipFill>
        <p:spPr>
          <a:xfrm>
            <a:off x="1016309" y="1543152"/>
            <a:ext cx="7113900" cy="5180506"/>
          </a:xfrm>
          <a:prstGeom prst="rect">
            <a:avLst/>
          </a:prstGeom>
        </p:spPr>
      </p:pic>
    </p:spTree>
    <p:extLst>
      <p:ext uri="{BB962C8B-B14F-4D97-AF65-F5344CB8AC3E}">
        <p14:creationId xmlns:p14="http://schemas.microsoft.com/office/powerpoint/2010/main" val="3786341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4D5DA46-7658-E72E-6B8F-C35B26CC3F3A}"/>
              </a:ext>
            </a:extLst>
          </p:cNvPr>
          <p:cNvPicPr>
            <a:picLocks noGrp="1" noChangeAspect="1"/>
          </p:cNvPicPr>
          <p:nvPr>
            <p:ph idx="1"/>
          </p:nvPr>
        </p:nvPicPr>
        <p:blipFill>
          <a:blip r:embed="rId2"/>
          <a:stretch>
            <a:fillRect/>
          </a:stretch>
        </p:blipFill>
        <p:spPr>
          <a:xfrm>
            <a:off x="944669" y="1414164"/>
            <a:ext cx="10365437" cy="4668583"/>
          </a:xfrm>
          <a:prstGeom prst="rect">
            <a:avLst/>
          </a:prstGeom>
        </p:spPr>
      </p:pic>
      <p:sp>
        <p:nvSpPr>
          <p:cNvPr id="7" name="Title 1">
            <a:extLst>
              <a:ext uri="{FF2B5EF4-FFF2-40B4-BE49-F238E27FC236}">
                <a16:creationId xmlns:a16="http://schemas.microsoft.com/office/drawing/2014/main" id="{40826899-49D8-5D61-B1C1-861A2239827E}"/>
              </a:ext>
            </a:extLst>
          </p:cNvPr>
          <p:cNvSpPr>
            <a:spLocks noGrp="1"/>
          </p:cNvSpPr>
          <p:nvPr>
            <p:ph type="title"/>
          </p:nvPr>
        </p:nvSpPr>
        <p:spPr>
          <a:xfrm>
            <a:off x="415636" y="365125"/>
            <a:ext cx="11604568" cy="1325563"/>
          </a:xfrm>
        </p:spPr>
        <p:txBody>
          <a:bodyPr>
            <a:normAutofit fontScale="90000"/>
          </a:bodyPr>
          <a:lstStyle/>
          <a:p>
            <a:r>
              <a:rPr lang="en-IN" b="1" dirty="0"/>
              <a:t>Decoding Problem (Viterbi Algorithm) - Find the most likely hidden state sequence for the given observations</a:t>
            </a:r>
          </a:p>
        </p:txBody>
      </p:sp>
    </p:spTree>
    <p:extLst>
      <p:ext uri="{BB962C8B-B14F-4D97-AF65-F5344CB8AC3E}">
        <p14:creationId xmlns:p14="http://schemas.microsoft.com/office/powerpoint/2010/main" val="1662386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62CBDBE-0144-6414-AB71-FEF7A1043633}"/>
              </a:ext>
            </a:extLst>
          </p:cNvPr>
          <p:cNvPicPr>
            <a:picLocks noGrp="1" noChangeAspect="1"/>
          </p:cNvPicPr>
          <p:nvPr>
            <p:ph idx="1"/>
          </p:nvPr>
        </p:nvPicPr>
        <p:blipFill>
          <a:blip r:embed="rId2"/>
          <a:stretch>
            <a:fillRect/>
          </a:stretch>
        </p:blipFill>
        <p:spPr>
          <a:xfrm>
            <a:off x="838200" y="268358"/>
            <a:ext cx="10860157" cy="6520068"/>
          </a:xfrm>
          <a:prstGeom prst="rect">
            <a:avLst/>
          </a:prstGeom>
        </p:spPr>
      </p:pic>
      <p:sp>
        <p:nvSpPr>
          <p:cNvPr id="3" name="TextBox 2">
            <a:extLst>
              <a:ext uri="{FF2B5EF4-FFF2-40B4-BE49-F238E27FC236}">
                <a16:creationId xmlns:a16="http://schemas.microsoft.com/office/drawing/2014/main" id="{0BE82EAF-CF96-2224-E8D3-91D6FEB50CA7}"/>
              </a:ext>
            </a:extLst>
          </p:cNvPr>
          <p:cNvSpPr txBox="1"/>
          <p:nvPr/>
        </p:nvSpPr>
        <p:spPr>
          <a:xfrm>
            <a:off x="7841974" y="1153550"/>
            <a:ext cx="3670852" cy="1143070"/>
          </a:xfrm>
          <a:prstGeom prst="rect">
            <a:avLst/>
          </a:prstGeom>
          <a:noFill/>
        </p:spPr>
        <p:txBody>
          <a:bodyPr wrap="square" rtlCol="0">
            <a:spAutoFit/>
          </a:bodyPr>
          <a:lstStyle/>
          <a:p>
            <a:pPr>
              <a:lnSpc>
                <a:spcPct val="150000"/>
              </a:lnSpc>
            </a:pPr>
            <a:r>
              <a:rPr lang="en-IN" sz="2400" dirty="0"/>
              <a:t>[ V1(Hot) x A(</a:t>
            </a:r>
            <a:r>
              <a:rPr lang="en-IN" sz="2400" dirty="0" err="1"/>
              <a:t>Hot,Hot</a:t>
            </a:r>
            <a:r>
              <a:rPr lang="en-IN" sz="2400" dirty="0"/>
              <a:t>)]</a:t>
            </a:r>
          </a:p>
          <a:p>
            <a:pPr>
              <a:lnSpc>
                <a:spcPct val="150000"/>
              </a:lnSpc>
            </a:pPr>
            <a:r>
              <a:rPr lang="en-IN" sz="2400" dirty="0"/>
              <a:t>[V1(Cold) x A(</a:t>
            </a:r>
            <a:r>
              <a:rPr lang="en-IN" sz="2400" dirty="0" err="1"/>
              <a:t>Cold,Hot</a:t>
            </a:r>
            <a:r>
              <a:rPr lang="en-IN" sz="2400" dirty="0"/>
              <a:t>)]</a:t>
            </a:r>
          </a:p>
        </p:txBody>
      </p:sp>
      <p:sp>
        <p:nvSpPr>
          <p:cNvPr id="4" name="TextBox 3">
            <a:extLst>
              <a:ext uri="{FF2B5EF4-FFF2-40B4-BE49-F238E27FC236}">
                <a16:creationId xmlns:a16="http://schemas.microsoft.com/office/drawing/2014/main" id="{F19D675A-3CDE-5777-4DD4-597FAC729AE9}"/>
              </a:ext>
            </a:extLst>
          </p:cNvPr>
          <p:cNvSpPr txBox="1"/>
          <p:nvPr/>
        </p:nvSpPr>
        <p:spPr>
          <a:xfrm>
            <a:off x="6602896" y="4287079"/>
            <a:ext cx="3670852" cy="1143070"/>
          </a:xfrm>
          <a:prstGeom prst="rect">
            <a:avLst/>
          </a:prstGeom>
          <a:noFill/>
        </p:spPr>
        <p:txBody>
          <a:bodyPr wrap="square" rtlCol="0">
            <a:spAutoFit/>
          </a:bodyPr>
          <a:lstStyle/>
          <a:p>
            <a:pPr>
              <a:lnSpc>
                <a:spcPct val="150000"/>
              </a:lnSpc>
            </a:pPr>
            <a:r>
              <a:rPr lang="en-IN" sz="2400" dirty="0"/>
              <a:t>[ V1(Hot) x A(</a:t>
            </a:r>
            <a:r>
              <a:rPr lang="en-IN" sz="2400" dirty="0" err="1"/>
              <a:t>Hot,Cold</a:t>
            </a:r>
            <a:r>
              <a:rPr lang="en-IN" sz="2400" dirty="0"/>
              <a:t>)]</a:t>
            </a:r>
          </a:p>
          <a:p>
            <a:pPr>
              <a:lnSpc>
                <a:spcPct val="150000"/>
              </a:lnSpc>
            </a:pPr>
            <a:r>
              <a:rPr lang="en-IN" sz="2400" dirty="0"/>
              <a:t>[V1(Cold) x A(</a:t>
            </a:r>
            <a:r>
              <a:rPr lang="en-IN" sz="2400" dirty="0" err="1"/>
              <a:t>Cold,Cold</a:t>
            </a:r>
            <a:r>
              <a:rPr lang="en-IN" sz="2400" dirty="0"/>
              <a:t>]</a:t>
            </a:r>
          </a:p>
        </p:txBody>
      </p:sp>
      <p:sp>
        <p:nvSpPr>
          <p:cNvPr id="6" name="TextBox 5">
            <a:extLst>
              <a:ext uri="{FF2B5EF4-FFF2-40B4-BE49-F238E27FC236}">
                <a16:creationId xmlns:a16="http://schemas.microsoft.com/office/drawing/2014/main" id="{812C780D-00B7-CB7C-03D3-6BDA8838279D}"/>
              </a:ext>
            </a:extLst>
          </p:cNvPr>
          <p:cNvSpPr txBox="1"/>
          <p:nvPr/>
        </p:nvSpPr>
        <p:spPr>
          <a:xfrm>
            <a:off x="3472068" y="3590765"/>
            <a:ext cx="8375375" cy="830997"/>
          </a:xfrm>
          <a:prstGeom prst="rect">
            <a:avLst/>
          </a:prstGeom>
          <a:noFill/>
        </p:spPr>
        <p:txBody>
          <a:bodyPr wrap="square" rtlCol="0">
            <a:spAutoFit/>
          </a:bodyPr>
          <a:lstStyle/>
          <a:p>
            <a:r>
              <a:rPr lang="en-IN" sz="2400" dirty="0"/>
              <a:t>Max{[ V1(Hot) x A(</a:t>
            </a:r>
            <a:r>
              <a:rPr lang="en-IN" sz="2400" dirty="0" err="1"/>
              <a:t>Hot,Hot</a:t>
            </a:r>
            <a:r>
              <a:rPr lang="en-IN" sz="2400" dirty="0"/>
              <a:t>)], [V1(Cold) x A(</a:t>
            </a:r>
            <a:r>
              <a:rPr lang="en-IN" sz="2400" dirty="0" err="1"/>
              <a:t>Cold,Hot</a:t>
            </a:r>
            <a:r>
              <a:rPr lang="en-IN" sz="2400" dirty="0"/>
              <a:t>)]} x B(Hot, </a:t>
            </a:r>
            <a:r>
              <a:rPr lang="en-IN" sz="2400" dirty="0" err="1"/>
              <a:t>Icrcream</a:t>
            </a:r>
            <a:r>
              <a:rPr lang="en-IN" sz="2400" dirty="0"/>
              <a:t>)</a:t>
            </a:r>
          </a:p>
        </p:txBody>
      </p:sp>
    </p:spTree>
    <p:extLst>
      <p:ext uri="{BB962C8B-B14F-4D97-AF65-F5344CB8AC3E}">
        <p14:creationId xmlns:p14="http://schemas.microsoft.com/office/powerpoint/2010/main" val="984200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FFE6361-E3FD-0541-6409-585ABC9D9429}"/>
              </a:ext>
            </a:extLst>
          </p:cNvPr>
          <p:cNvPicPr>
            <a:picLocks noGrp="1" noChangeAspect="1"/>
          </p:cNvPicPr>
          <p:nvPr>
            <p:ph idx="1"/>
          </p:nvPr>
        </p:nvPicPr>
        <p:blipFill>
          <a:blip r:embed="rId2"/>
          <a:stretch>
            <a:fillRect/>
          </a:stretch>
        </p:blipFill>
        <p:spPr>
          <a:xfrm>
            <a:off x="674544" y="493781"/>
            <a:ext cx="10099473" cy="5370305"/>
          </a:xfrm>
          <a:prstGeom prst="rect">
            <a:avLst/>
          </a:prstGeom>
        </p:spPr>
      </p:pic>
    </p:spTree>
    <p:extLst>
      <p:ext uri="{BB962C8B-B14F-4D97-AF65-F5344CB8AC3E}">
        <p14:creationId xmlns:p14="http://schemas.microsoft.com/office/powerpoint/2010/main" val="1799494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93F727C-9E82-9269-C111-F6852C180215}"/>
              </a:ext>
            </a:extLst>
          </p:cNvPr>
          <p:cNvPicPr>
            <a:picLocks noGrp="1" noChangeAspect="1"/>
          </p:cNvPicPr>
          <p:nvPr>
            <p:ph idx="1"/>
          </p:nvPr>
        </p:nvPicPr>
        <p:blipFill>
          <a:blip r:embed="rId2"/>
          <a:stretch>
            <a:fillRect/>
          </a:stretch>
        </p:blipFill>
        <p:spPr>
          <a:xfrm>
            <a:off x="965406" y="1690687"/>
            <a:ext cx="10641284" cy="4242973"/>
          </a:xfrm>
          <a:prstGeom prst="rect">
            <a:avLst/>
          </a:prstGeom>
        </p:spPr>
      </p:pic>
      <p:sp>
        <p:nvSpPr>
          <p:cNvPr id="6" name="Title 1">
            <a:extLst>
              <a:ext uri="{FF2B5EF4-FFF2-40B4-BE49-F238E27FC236}">
                <a16:creationId xmlns:a16="http://schemas.microsoft.com/office/drawing/2014/main" id="{6283AD37-0E5D-00C7-04CE-5BD98A5E1BAF}"/>
              </a:ext>
            </a:extLst>
          </p:cNvPr>
          <p:cNvSpPr>
            <a:spLocks noGrp="1"/>
          </p:cNvSpPr>
          <p:nvPr>
            <p:ph type="title"/>
          </p:nvPr>
        </p:nvSpPr>
        <p:spPr>
          <a:xfrm>
            <a:off x="415636" y="365125"/>
            <a:ext cx="11604568" cy="1325563"/>
          </a:xfrm>
        </p:spPr>
        <p:txBody>
          <a:bodyPr>
            <a:normAutofit fontScale="90000"/>
          </a:bodyPr>
          <a:lstStyle/>
          <a:p>
            <a:r>
              <a:rPr lang="en-IN" b="1" dirty="0"/>
              <a:t>Decoding Problem (Viterbi Algorithm) - Find the most likely hidden state sequence for the given observations</a:t>
            </a:r>
          </a:p>
        </p:txBody>
      </p:sp>
    </p:spTree>
    <p:extLst>
      <p:ext uri="{BB962C8B-B14F-4D97-AF65-F5344CB8AC3E}">
        <p14:creationId xmlns:p14="http://schemas.microsoft.com/office/powerpoint/2010/main" val="4195298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786ACA-35D4-45C4-F781-E663FC261188}"/>
              </a:ext>
            </a:extLst>
          </p:cNvPr>
          <p:cNvSpPr>
            <a:spLocks noGrp="1"/>
          </p:cNvSpPr>
          <p:nvPr>
            <p:ph type="title"/>
          </p:nvPr>
        </p:nvSpPr>
        <p:spPr>
          <a:xfrm>
            <a:off x="838200" y="365125"/>
            <a:ext cx="6225986" cy="6135428"/>
          </a:xfrm>
        </p:spPr>
        <p:txBody>
          <a:bodyPr>
            <a:normAutofit/>
          </a:bodyPr>
          <a:lstStyle/>
          <a:p>
            <a:r>
              <a:rPr lang="en-IN" sz="2800" dirty="0"/>
              <a:t>Find the most likely hidden state sequence that explains the observations : </a:t>
            </a:r>
            <a:br>
              <a:rPr lang="en-IN" sz="2800" dirty="0"/>
            </a:br>
            <a:r>
              <a:rPr lang="en-IN" sz="2800" dirty="0"/>
              <a:t>a. Normal, Raincoat, Umbrella</a:t>
            </a:r>
            <a:br>
              <a:rPr lang="en-IN" sz="2800" dirty="0"/>
            </a:br>
            <a:r>
              <a:rPr lang="en-IN" sz="2800" dirty="0"/>
              <a:t>b. Umbrella, Umbrella, Normal</a:t>
            </a:r>
            <a:br>
              <a:rPr lang="en-IN" sz="2800" dirty="0"/>
            </a:br>
            <a:endParaRPr lang="en-IN" sz="2800" dirty="0"/>
          </a:p>
        </p:txBody>
      </p:sp>
      <p:pic>
        <p:nvPicPr>
          <p:cNvPr id="5" name="Content Placeholder 4">
            <a:extLst>
              <a:ext uri="{FF2B5EF4-FFF2-40B4-BE49-F238E27FC236}">
                <a16:creationId xmlns:a16="http://schemas.microsoft.com/office/drawing/2014/main" id="{943D1253-E1D8-F667-134D-E00684869C8B}"/>
              </a:ext>
            </a:extLst>
          </p:cNvPr>
          <p:cNvPicPr>
            <a:picLocks noGrp="1" noChangeAspect="1"/>
          </p:cNvPicPr>
          <p:nvPr>
            <p:ph idx="1"/>
          </p:nvPr>
        </p:nvPicPr>
        <p:blipFill>
          <a:blip r:embed="rId2"/>
          <a:stretch>
            <a:fillRect/>
          </a:stretch>
        </p:blipFill>
        <p:spPr>
          <a:xfrm>
            <a:off x="7064186" y="229581"/>
            <a:ext cx="4850848" cy="6270972"/>
          </a:xfrm>
          <a:prstGeom prst="rect">
            <a:avLst/>
          </a:prstGeom>
        </p:spPr>
      </p:pic>
    </p:spTree>
    <p:extLst>
      <p:ext uri="{BB962C8B-B14F-4D97-AF65-F5344CB8AC3E}">
        <p14:creationId xmlns:p14="http://schemas.microsoft.com/office/powerpoint/2010/main" val="1902058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B43B3-9404-8680-FDD4-FF166A1DAE73}"/>
              </a:ext>
            </a:extLst>
          </p:cNvPr>
          <p:cNvSpPr>
            <a:spLocks noGrp="1"/>
          </p:cNvSpPr>
          <p:nvPr>
            <p:ph type="title"/>
          </p:nvPr>
        </p:nvSpPr>
        <p:spPr>
          <a:xfrm>
            <a:off x="838199" y="365125"/>
            <a:ext cx="10832869" cy="1325563"/>
          </a:xfrm>
        </p:spPr>
        <p:txBody>
          <a:bodyPr>
            <a:noAutofit/>
          </a:bodyPr>
          <a:lstStyle/>
          <a:p>
            <a:r>
              <a:rPr lang="en-IN" sz="2800" dirty="0"/>
              <a:t>Find the most likely hidden state sequence that explains the observations : S = [Rainy, Cloudy, Sunny] with prob [0.4,0.3,0.3]O =[Happy, Sad]</a:t>
            </a:r>
            <a:br>
              <a:rPr lang="en-IN" sz="2800" dirty="0"/>
            </a:br>
            <a:r>
              <a:rPr lang="en-IN" sz="2800" dirty="0"/>
              <a:t>a. Happy, Sad, Sad			b. Happy, Happy, Sad</a:t>
            </a:r>
          </a:p>
        </p:txBody>
      </p:sp>
      <p:pic>
        <p:nvPicPr>
          <p:cNvPr id="5" name="Content Placeholder 4">
            <a:extLst>
              <a:ext uri="{FF2B5EF4-FFF2-40B4-BE49-F238E27FC236}">
                <a16:creationId xmlns:a16="http://schemas.microsoft.com/office/drawing/2014/main" id="{587A6BBF-0667-0E46-9834-25FB03747F71}"/>
              </a:ext>
            </a:extLst>
          </p:cNvPr>
          <p:cNvPicPr>
            <a:picLocks noGrp="1" noChangeAspect="1"/>
          </p:cNvPicPr>
          <p:nvPr>
            <p:ph idx="1"/>
          </p:nvPr>
        </p:nvPicPr>
        <p:blipFill>
          <a:blip r:embed="rId2"/>
          <a:stretch>
            <a:fillRect/>
          </a:stretch>
        </p:blipFill>
        <p:spPr>
          <a:xfrm>
            <a:off x="1735671" y="1825625"/>
            <a:ext cx="8720658" cy="4351338"/>
          </a:xfrm>
          <a:prstGeom prst="rect">
            <a:avLst/>
          </a:prstGeom>
        </p:spPr>
      </p:pic>
    </p:spTree>
    <p:extLst>
      <p:ext uri="{BB962C8B-B14F-4D97-AF65-F5344CB8AC3E}">
        <p14:creationId xmlns:p14="http://schemas.microsoft.com/office/powerpoint/2010/main" val="973641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38201-1126-6D35-DB01-2264B19A9F8A}"/>
              </a:ext>
            </a:extLst>
          </p:cNvPr>
          <p:cNvSpPr>
            <a:spLocks noGrp="1"/>
          </p:cNvSpPr>
          <p:nvPr>
            <p:ph type="title"/>
          </p:nvPr>
        </p:nvSpPr>
        <p:spPr/>
        <p:txBody>
          <a:bodyPr/>
          <a:lstStyle/>
          <a:p>
            <a:r>
              <a:rPr lang="en-IN" b="1" dirty="0"/>
              <a:t>Forward Algorithm for calculation of the probability of an observation sequence</a:t>
            </a:r>
            <a:endParaRPr lang="en-IN" dirty="0"/>
          </a:p>
        </p:txBody>
      </p:sp>
      <p:pic>
        <p:nvPicPr>
          <p:cNvPr id="5" name="Content Placeholder 4">
            <a:extLst>
              <a:ext uri="{FF2B5EF4-FFF2-40B4-BE49-F238E27FC236}">
                <a16:creationId xmlns:a16="http://schemas.microsoft.com/office/drawing/2014/main" id="{15FCE26F-2C9E-0875-D508-397FEC1086AE}"/>
              </a:ext>
            </a:extLst>
          </p:cNvPr>
          <p:cNvPicPr>
            <a:picLocks noGrp="1" noChangeAspect="1"/>
          </p:cNvPicPr>
          <p:nvPr>
            <p:ph idx="1"/>
          </p:nvPr>
        </p:nvPicPr>
        <p:blipFill>
          <a:blip r:embed="rId2"/>
          <a:stretch>
            <a:fillRect/>
          </a:stretch>
        </p:blipFill>
        <p:spPr>
          <a:xfrm>
            <a:off x="838200" y="2037759"/>
            <a:ext cx="11342921" cy="3061016"/>
          </a:xfrm>
          <a:prstGeom prst="rect">
            <a:avLst/>
          </a:prstGeom>
        </p:spPr>
      </p:pic>
    </p:spTree>
    <p:extLst>
      <p:ext uri="{BB962C8B-B14F-4D97-AF65-F5344CB8AC3E}">
        <p14:creationId xmlns:p14="http://schemas.microsoft.com/office/powerpoint/2010/main" val="1621063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0A358-5E15-56A5-18B8-41754C134C39}"/>
              </a:ext>
            </a:extLst>
          </p:cNvPr>
          <p:cNvSpPr>
            <a:spLocks noGrp="1"/>
          </p:cNvSpPr>
          <p:nvPr>
            <p:ph type="title"/>
          </p:nvPr>
        </p:nvSpPr>
        <p:spPr/>
        <p:txBody>
          <a:bodyPr/>
          <a:lstStyle/>
          <a:p>
            <a:r>
              <a:rPr lang="en-IN" b="1" dirty="0"/>
              <a:t>Forward Algorithm for calculation of the probability of an observation sequence</a:t>
            </a:r>
            <a:endParaRPr lang="en-IN" dirty="0"/>
          </a:p>
        </p:txBody>
      </p:sp>
      <p:pic>
        <p:nvPicPr>
          <p:cNvPr id="5" name="Content Placeholder 4">
            <a:extLst>
              <a:ext uri="{FF2B5EF4-FFF2-40B4-BE49-F238E27FC236}">
                <a16:creationId xmlns:a16="http://schemas.microsoft.com/office/drawing/2014/main" id="{FD50D1D1-F0F1-6172-70F2-B3360DDE619A}"/>
              </a:ext>
            </a:extLst>
          </p:cNvPr>
          <p:cNvPicPr>
            <a:picLocks noGrp="1" noChangeAspect="1"/>
          </p:cNvPicPr>
          <p:nvPr>
            <p:ph idx="1"/>
          </p:nvPr>
        </p:nvPicPr>
        <p:blipFill>
          <a:blip r:embed="rId2"/>
          <a:stretch>
            <a:fillRect/>
          </a:stretch>
        </p:blipFill>
        <p:spPr>
          <a:xfrm>
            <a:off x="1012846" y="2147708"/>
            <a:ext cx="11172221" cy="3766075"/>
          </a:xfrm>
          <a:prstGeom prst="rect">
            <a:avLst/>
          </a:prstGeom>
        </p:spPr>
      </p:pic>
    </p:spTree>
    <p:extLst>
      <p:ext uri="{BB962C8B-B14F-4D97-AF65-F5344CB8AC3E}">
        <p14:creationId xmlns:p14="http://schemas.microsoft.com/office/powerpoint/2010/main" val="4210096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3F29D-F570-E276-4356-C75ED7021A0F}"/>
              </a:ext>
            </a:extLst>
          </p:cNvPr>
          <p:cNvSpPr>
            <a:spLocks noGrp="1"/>
          </p:cNvSpPr>
          <p:nvPr>
            <p:ph type="title"/>
          </p:nvPr>
        </p:nvSpPr>
        <p:spPr/>
        <p:txBody>
          <a:bodyPr/>
          <a:lstStyle/>
          <a:p>
            <a:r>
              <a:rPr lang="en-IN" b="1" dirty="0"/>
              <a:t>Forward Algorithm for calculation of the probability of an observation sequence</a:t>
            </a:r>
            <a:endParaRPr lang="en-IN" dirty="0"/>
          </a:p>
        </p:txBody>
      </p:sp>
      <p:pic>
        <p:nvPicPr>
          <p:cNvPr id="5" name="Content Placeholder 4">
            <a:extLst>
              <a:ext uri="{FF2B5EF4-FFF2-40B4-BE49-F238E27FC236}">
                <a16:creationId xmlns:a16="http://schemas.microsoft.com/office/drawing/2014/main" id="{D61D716F-0633-C6A2-7B59-D0656051E082}"/>
              </a:ext>
            </a:extLst>
          </p:cNvPr>
          <p:cNvPicPr>
            <a:picLocks noGrp="1" noChangeAspect="1"/>
          </p:cNvPicPr>
          <p:nvPr>
            <p:ph idx="1"/>
          </p:nvPr>
        </p:nvPicPr>
        <p:blipFill>
          <a:blip r:embed="rId2"/>
          <a:stretch>
            <a:fillRect/>
          </a:stretch>
        </p:blipFill>
        <p:spPr>
          <a:xfrm>
            <a:off x="838200" y="2044744"/>
            <a:ext cx="10525125" cy="3928673"/>
          </a:xfrm>
          <a:prstGeom prst="rect">
            <a:avLst/>
          </a:prstGeom>
        </p:spPr>
      </p:pic>
    </p:spTree>
    <p:extLst>
      <p:ext uri="{BB962C8B-B14F-4D97-AF65-F5344CB8AC3E}">
        <p14:creationId xmlns:p14="http://schemas.microsoft.com/office/powerpoint/2010/main" val="168756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F587EB3-5922-8F2A-A397-973AB3619D16}"/>
              </a:ext>
            </a:extLst>
          </p:cNvPr>
          <p:cNvPicPr>
            <a:picLocks noGrp="1" noChangeAspect="1"/>
          </p:cNvPicPr>
          <p:nvPr>
            <p:ph idx="1"/>
          </p:nvPr>
        </p:nvPicPr>
        <p:blipFill>
          <a:blip r:embed="rId2"/>
          <a:stretch>
            <a:fillRect/>
          </a:stretch>
        </p:blipFill>
        <p:spPr>
          <a:xfrm>
            <a:off x="461487" y="215485"/>
            <a:ext cx="11167295" cy="6642777"/>
          </a:xfrm>
          <a:prstGeom prst="rect">
            <a:avLst/>
          </a:prstGeom>
        </p:spPr>
      </p:pic>
    </p:spTree>
    <p:extLst>
      <p:ext uri="{BB962C8B-B14F-4D97-AF65-F5344CB8AC3E}">
        <p14:creationId xmlns:p14="http://schemas.microsoft.com/office/powerpoint/2010/main" val="3083997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4BB1C-EA8F-1A52-ED92-A8E180913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968DE8-79B3-FBF3-8D0F-8C1BF9FFF946}"/>
              </a:ext>
            </a:extLst>
          </p:cNvPr>
          <p:cNvSpPr>
            <a:spLocks noGrp="1"/>
          </p:cNvSpPr>
          <p:nvPr>
            <p:ph type="title"/>
          </p:nvPr>
        </p:nvSpPr>
        <p:spPr/>
        <p:txBody>
          <a:bodyPr/>
          <a:lstStyle/>
          <a:p>
            <a:r>
              <a:rPr lang="en-IN" b="1" dirty="0"/>
              <a:t>Forward Algorithm for calculation of the probability of an observation sequence</a:t>
            </a:r>
            <a:endParaRPr lang="en-IN" dirty="0"/>
          </a:p>
        </p:txBody>
      </p:sp>
      <p:pic>
        <p:nvPicPr>
          <p:cNvPr id="5" name="Content Placeholder 4">
            <a:extLst>
              <a:ext uri="{FF2B5EF4-FFF2-40B4-BE49-F238E27FC236}">
                <a16:creationId xmlns:a16="http://schemas.microsoft.com/office/drawing/2014/main" id="{6BDD8F22-A91E-076D-96C8-9C5F9628A626}"/>
              </a:ext>
            </a:extLst>
          </p:cNvPr>
          <p:cNvPicPr>
            <a:picLocks noGrp="1" noChangeAspect="1"/>
          </p:cNvPicPr>
          <p:nvPr>
            <p:ph idx="1"/>
          </p:nvPr>
        </p:nvPicPr>
        <p:blipFill>
          <a:blip r:embed="rId2"/>
          <a:stretch>
            <a:fillRect/>
          </a:stretch>
        </p:blipFill>
        <p:spPr>
          <a:xfrm>
            <a:off x="728326" y="1852392"/>
            <a:ext cx="10625474" cy="4310088"/>
          </a:xfrm>
          <a:prstGeom prst="rect">
            <a:avLst/>
          </a:prstGeom>
        </p:spPr>
      </p:pic>
    </p:spTree>
    <p:extLst>
      <p:ext uri="{BB962C8B-B14F-4D97-AF65-F5344CB8AC3E}">
        <p14:creationId xmlns:p14="http://schemas.microsoft.com/office/powerpoint/2010/main" val="34588261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DA19C-7F82-FAEA-3F59-2DFB1D994A3C}"/>
              </a:ext>
            </a:extLst>
          </p:cNvPr>
          <p:cNvSpPr>
            <a:spLocks noGrp="1"/>
          </p:cNvSpPr>
          <p:nvPr>
            <p:ph type="title"/>
          </p:nvPr>
        </p:nvSpPr>
        <p:spPr/>
        <p:txBody>
          <a:bodyPr>
            <a:normAutofit/>
          </a:bodyPr>
          <a:lstStyle/>
          <a:p>
            <a:r>
              <a:rPr lang="en-IN" b="1" dirty="0"/>
              <a:t>Forward Algorithm for calculation of the probability of an observation sequence</a:t>
            </a:r>
          </a:p>
        </p:txBody>
      </p:sp>
      <p:pic>
        <p:nvPicPr>
          <p:cNvPr id="5" name="Content Placeholder 4">
            <a:extLst>
              <a:ext uri="{FF2B5EF4-FFF2-40B4-BE49-F238E27FC236}">
                <a16:creationId xmlns:a16="http://schemas.microsoft.com/office/drawing/2014/main" id="{07719ED8-7C51-10A8-6D20-F7798A13942B}"/>
              </a:ext>
            </a:extLst>
          </p:cNvPr>
          <p:cNvPicPr>
            <a:picLocks noGrp="1" noChangeAspect="1"/>
          </p:cNvPicPr>
          <p:nvPr>
            <p:ph idx="1"/>
          </p:nvPr>
        </p:nvPicPr>
        <p:blipFill>
          <a:blip r:embed="rId2"/>
          <a:stretch>
            <a:fillRect/>
          </a:stretch>
        </p:blipFill>
        <p:spPr>
          <a:xfrm>
            <a:off x="838200" y="2114037"/>
            <a:ext cx="10919171" cy="1177803"/>
          </a:xfrm>
          <a:prstGeom prst="rect">
            <a:avLst/>
          </a:prstGeom>
        </p:spPr>
      </p:pic>
      <p:pic>
        <p:nvPicPr>
          <p:cNvPr id="7" name="Picture 6">
            <a:extLst>
              <a:ext uri="{FF2B5EF4-FFF2-40B4-BE49-F238E27FC236}">
                <a16:creationId xmlns:a16="http://schemas.microsoft.com/office/drawing/2014/main" id="{5222757C-96F7-58D3-2113-64FF9A28D5A8}"/>
              </a:ext>
            </a:extLst>
          </p:cNvPr>
          <p:cNvPicPr>
            <a:picLocks noChangeAspect="1"/>
          </p:cNvPicPr>
          <p:nvPr/>
        </p:nvPicPr>
        <p:blipFill>
          <a:blip r:embed="rId3"/>
          <a:stretch>
            <a:fillRect/>
          </a:stretch>
        </p:blipFill>
        <p:spPr>
          <a:xfrm>
            <a:off x="838200" y="3566161"/>
            <a:ext cx="10209157" cy="1458884"/>
          </a:xfrm>
          <a:prstGeom prst="rect">
            <a:avLst/>
          </a:prstGeom>
        </p:spPr>
      </p:pic>
    </p:spTree>
    <p:extLst>
      <p:ext uri="{BB962C8B-B14F-4D97-AF65-F5344CB8AC3E}">
        <p14:creationId xmlns:p14="http://schemas.microsoft.com/office/powerpoint/2010/main" val="3889967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D784-F40E-12CF-7988-88D150B4D572}"/>
              </a:ext>
            </a:extLst>
          </p:cNvPr>
          <p:cNvSpPr>
            <a:spLocks noGrp="1"/>
          </p:cNvSpPr>
          <p:nvPr>
            <p:ph type="title"/>
          </p:nvPr>
        </p:nvSpPr>
        <p:spPr/>
        <p:txBody>
          <a:bodyPr/>
          <a:lstStyle/>
          <a:p>
            <a:r>
              <a:rPr lang="en-IN" b="1" dirty="0"/>
              <a:t>Forward Algorithm for calculation of the probability of an observation sequence</a:t>
            </a:r>
            <a:endParaRPr lang="en-IN" dirty="0"/>
          </a:p>
        </p:txBody>
      </p:sp>
      <p:pic>
        <p:nvPicPr>
          <p:cNvPr id="5" name="Content Placeholder 4">
            <a:extLst>
              <a:ext uri="{FF2B5EF4-FFF2-40B4-BE49-F238E27FC236}">
                <a16:creationId xmlns:a16="http://schemas.microsoft.com/office/drawing/2014/main" id="{C311F8C3-D7A7-65A6-F079-EBBC16EB7782}"/>
              </a:ext>
            </a:extLst>
          </p:cNvPr>
          <p:cNvPicPr>
            <a:picLocks noGrp="1" noChangeAspect="1"/>
          </p:cNvPicPr>
          <p:nvPr>
            <p:ph idx="1"/>
          </p:nvPr>
        </p:nvPicPr>
        <p:blipFill>
          <a:blip r:embed="rId2"/>
          <a:stretch>
            <a:fillRect/>
          </a:stretch>
        </p:blipFill>
        <p:spPr>
          <a:xfrm>
            <a:off x="838199" y="1952419"/>
            <a:ext cx="10725773" cy="4232250"/>
          </a:xfrm>
          <a:prstGeom prst="rect">
            <a:avLst/>
          </a:prstGeom>
        </p:spPr>
      </p:pic>
    </p:spTree>
    <p:extLst>
      <p:ext uri="{BB962C8B-B14F-4D97-AF65-F5344CB8AC3E}">
        <p14:creationId xmlns:p14="http://schemas.microsoft.com/office/powerpoint/2010/main" val="32355052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BF2C4-CE37-D176-CA16-ACC6EA089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F703AA-3D5D-2C47-6240-2AB336E25820}"/>
              </a:ext>
            </a:extLst>
          </p:cNvPr>
          <p:cNvSpPr>
            <a:spLocks noGrp="1"/>
          </p:cNvSpPr>
          <p:nvPr>
            <p:ph type="title"/>
          </p:nvPr>
        </p:nvSpPr>
        <p:spPr/>
        <p:txBody>
          <a:bodyPr/>
          <a:lstStyle/>
          <a:p>
            <a:r>
              <a:rPr lang="en-IN" b="1" dirty="0"/>
              <a:t>Forward Algorithm for calculation of the probability of an observation sequence</a:t>
            </a:r>
            <a:endParaRPr lang="en-IN" dirty="0"/>
          </a:p>
        </p:txBody>
      </p:sp>
      <p:pic>
        <p:nvPicPr>
          <p:cNvPr id="5" name="Content Placeholder 4">
            <a:extLst>
              <a:ext uri="{FF2B5EF4-FFF2-40B4-BE49-F238E27FC236}">
                <a16:creationId xmlns:a16="http://schemas.microsoft.com/office/drawing/2014/main" id="{D0456094-8FB2-3BFE-33C2-5D72AC626BC7}"/>
              </a:ext>
            </a:extLst>
          </p:cNvPr>
          <p:cNvPicPr>
            <a:picLocks noGrp="1" noChangeAspect="1"/>
          </p:cNvPicPr>
          <p:nvPr>
            <p:ph idx="1"/>
          </p:nvPr>
        </p:nvPicPr>
        <p:blipFill>
          <a:blip r:embed="rId2"/>
          <a:stretch>
            <a:fillRect/>
          </a:stretch>
        </p:blipFill>
        <p:spPr>
          <a:xfrm>
            <a:off x="992427" y="2141537"/>
            <a:ext cx="10146628" cy="4351338"/>
          </a:xfrm>
          <a:prstGeom prst="rect">
            <a:avLst/>
          </a:prstGeom>
        </p:spPr>
      </p:pic>
    </p:spTree>
    <p:extLst>
      <p:ext uri="{BB962C8B-B14F-4D97-AF65-F5344CB8AC3E}">
        <p14:creationId xmlns:p14="http://schemas.microsoft.com/office/powerpoint/2010/main" val="39461346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C9C67-2738-4ABC-8B65-BC3152CDC2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856287-6CD8-3196-DFDB-C94BB3933456}"/>
              </a:ext>
            </a:extLst>
          </p:cNvPr>
          <p:cNvSpPr>
            <a:spLocks noGrp="1"/>
          </p:cNvSpPr>
          <p:nvPr>
            <p:ph type="title"/>
          </p:nvPr>
        </p:nvSpPr>
        <p:spPr/>
        <p:txBody>
          <a:bodyPr/>
          <a:lstStyle/>
          <a:p>
            <a:r>
              <a:rPr lang="en-IN" b="1" dirty="0"/>
              <a:t>Forward Algorithm for calculation of the probability of an observation sequence</a:t>
            </a:r>
            <a:endParaRPr lang="en-IN" dirty="0"/>
          </a:p>
        </p:txBody>
      </p:sp>
      <p:pic>
        <p:nvPicPr>
          <p:cNvPr id="5" name="Content Placeholder 4">
            <a:extLst>
              <a:ext uri="{FF2B5EF4-FFF2-40B4-BE49-F238E27FC236}">
                <a16:creationId xmlns:a16="http://schemas.microsoft.com/office/drawing/2014/main" id="{524C6D19-5E99-613F-E058-07310CB45D58}"/>
              </a:ext>
            </a:extLst>
          </p:cNvPr>
          <p:cNvPicPr>
            <a:picLocks noGrp="1" noChangeAspect="1"/>
          </p:cNvPicPr>
          <p:nvPr>
            <p:ph idx="1"/>
          </p:nvPr>
        </p:nvPicPr>
        <p:blipFill>
          <a:blip r:embed="rId2"/>
          <a:stretch>
            <a:fillRect/>
          </a:stretch>
        </p:blipFill>
        <p:spPr>
          <a:xfrm>
            <a:off x="838200" y="1924316"/>
            <a:ext cx="11027295" cy="4210477"/>
          </a:xfrm>
          <a:prstGeom prst="rect">
            <a:avLst/>
          </a:prstGeom>
        </p:spPr>
      </p:pic>
    </p:spTree>
    <p:extLst>
      <p:ext uri="{BB962C8B-B14F-4D97-AF65-F5344CB8AC3E}">
        <p14:creationId xmlns:p14="http://schemas.microsoft.com/office/powerpoint/2010/main" val="34356582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37331-FFB2-6A10-5BA9-8E6B915AE93F}"/>
              </a:ext>
            </a:extLst>
          </p:cNvPr>
          <p:cNvSpPr>
            <a:spLocks noGrp="1"/>
          </p:cNvSpPr>
          <p:nvPr>
            <p:ph type="title"/>
          </p:nvPr>
        </p:nvSpPr>
        <p:spPr/>
        <p:txBody>
          <a:bodyPr/>
          <a:lstStyle/>
          <a:p>
            <a:r>
              <a:rPr lang="en-IN" b="1" dirty="0"/>
              <a:t>Forward Algorithm for calculation of the probability of an observation sequence</a:t>
            </a:r>
            <a:endParaRPr lang="en-IN" dirty="0"/>
          </a:p>
        </p:txBody>
      </p:sp>
      <p:pic>
        <p:nvPicPr>
          <p:cNvPr id="5" name="Content Placeholder 4">
            <a:extLst>
              <a:ext uri="{FF2B5EF4-FFF2-40B4-BE49-F238E27FC236}">
                <a16:creationId xmlns:a16="http://schemas.microsoft.com/office/drawing/2014/main" id="{95030157-AD24-B31A-87D3-15D8522914B9}"/>
              </a:ext>
            </a:extLst>
          </p:cNvPr>
          <p:cNvPicPr>
            <a:picLocks noGrp="1" noChangeAspect="1"/>
          </p:cNvPicPr>
          <p:nvPr>
            <p:ph idx="1"/>
          </p:nvPr>
        </p:nvPicPr>
        <p:blipFill>
          <a:blip r:embed="rId2"/>
          <a:stretch>
            <a:fillRect/>
          </a:stretch>
        </p:blipFill>
        <p:spPr>
          <a:xfrm>
            <a:off x="838200" y="1860571"/>
            <a:ext cx="10683240" cy="4632304"/>
          </a:xfrm>
          <a:prstGeom prst="rect">
            <a:avLst/>
          </a:prstGeom>
        </p:spPr>
      </p:pic>
    </p:spTree>
    <p:extLst>
      <p:ext uri="{BB962C8B-B14F-4D97-AF65-F5344CB8AC3E}">
        <p14:creationId xmlns:p14="http://schemas.microsoft.com/office/powerpoint/2010/main" val="23094623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D5703-108B-EB65-C04D-719347C82FC6}"/>
              </a:ext>
            </a:extLst>
          </p:cNvPr>
          <p:cNvSpPr>
            <a:spLocks noGrp="1"/>
          </p:cNvSpPr>
          <p:nvPr>
            <p:ph type="title"/>
          </p:nvPr>
        </p:nvSpPr>
        <p:spPr/>
        <p:txBody>
          <a:bodyPr/>
          <a:lstStyle/>
          <a:p>
            <a:r>
              <a:rPr lang="en-IN" b="1" dirty="0"/>
              <a:t>Forward Algorithm for calculation of the probability of an observation sequence</a:t>
            </a:r>
            <a:endParaRPr lang="en-IN" dirty="0"/>
          </a:p>
        </p:txBody>
      </p:sp>
      <p:pic>
        <p:nvPicPr>
          <p:cNvPr id="5" name="Content Placeholder 4">
            <a:extLst>
              <a:ext uri="{FF2B5EF4-FFF2-40B4-BE49-F238E27FC236}">
                <a16:creationId xmlns:a16="http://schemas.microsoft.com/office/drawing/2014/main" id="{EF961FE0-3394-E99B-461B-B8063CBAC7E1}"/>
              </a:ext>
            </a:extLst>
          </p:cNvPr>
          <p:cNvPicPr>
            <a:picLocks noGrp="1" noChangeAspect="1"/>
          </p:cNvPicPr>
          <p:nvPr>
            <p:ph idx="1"/>
          </p:nvPr>
        </p:nvPicPr>
        <p:blipFill>
          <a:blip r:embed="rId2"/>
          <a:stretch>
            <a:fillRect/>
          </a:stretch>
        </p:blipFill>
        <p:spPr>
          <a:xfrm>
            <a:off x="838200" y="1880594"/>
            <a:ext cx="10769956" cy="4337326"/>
          </a:xfrm>
          <a:prstGeom prst="rect">
            <a:avLst/>
          </a:prstGeom>
        </p:spPr>
      </p:pic>
    </p:spTree>
    <p:extLst>
      <p:ext uri="{BB962C8B-B14F-4D97-AF65-F5344CB8AC3E}">
        <p14:creationId xmlns:p14="http://schemas.microsoft.com/office/powerpoint/2010/main" val="28405465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75C84-2BD5-F13F-8DCE-4739EDEE2670}"/>
              </a:ext>
            </a:extLst>
          </p:cNvPr>
          <p:cNvSpPr>
            <a:spLocks noGrp="1"/>
          </p:cNvSpPr>
          <p:nvPr>
            <p:ph type="title"/>
          </p:nvPr>
        </p:nvSpPr>
        <p:spPr/>
        <p:txBody>
          <a:bodyPr/>
          <a:lstStyle/>
          <a:p>
            <a:r>
              <a:rPr lang="en-IN" b="1" dirty="0"/>
              <a:t>Forward Algorithm for calculation of the probability of an observation sequence</a:t>
            </a:r>
            <a:endParaRPr lang="en-IN" dirty="0"/>
          </a:p>
        </p:txBody>
      </p:sp>
      <p:pic>
        <p:nvPicPr>
          <p:cNvPr id="5" name="Content Placeholder 4">
            <a:extLst>
              <a:ext uri="{FF2B5EF4-FFF2-40B4-BE49-F238E27FC236}">
                <a16:creationId xmlns:a16="http://schemas.microsoft.com/office/drawing/2014/main" id="{14927D7D-9EC6-D1EF-8372-1D750D5C1AE8}"/>
              </a:ext>
            </a:extLst>
          </p:cNvPr>
          <p:cNvPicPr>
            <a:picLocks noGrp="1" noChangeAspect="1"/>
          </p:cNvPicPr>
          <p:nvPr>
            <p:ph idx="1"/>
          </p:nvPr>
        </p:nvPicPr>
        <p:blipFill>
          <a:blip r:embed="rId2"/>
          <a:stretch>
            <a:fillRect/>
          </a:stretch>
        </p:blipFill>
        <p:spPr>
          <a:xfrm>
            <a:off x="838199" y="1947655"/>
            <a:ext cx="10515599" cy="4545219"/>
          </a:xfrm>
          <a:prstGeom prst="rect">
            <a:avLst/>
          </a:prstGeom>
        </p:spPr>
      </p:pic>
    </p:spTree>
    <p:extLst>
      <p:ext uri="{BB962C8B-B14F-4D97-AF65-F5344CB8AC3E}">
        <p14:creationId xmlns:p14="http://schemas.microsoft.com/office/powerpoint/2010/main" val="25697529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81A3B-9986-720E-6FAD-2BC06FC8A16B}"/>
              </a:ext>
            </a:extLst>
          </p:cNvPr>
          <p:cNvSpPr>
            <a:spLocks noGrp="1"/>
          </p:cNvSpPr>
          <p:nvPr>
            <p:ph type="title"/>
          </p:nvPr>
        </p:nvSpPr>
        <p:spPr/>
        <p:txBody>
          <a:bodyPr/>
          <a:lstStyle/>
          <a:p>
            <a:r>
              <a:rPr lang="en-IN" dirty="0"/>
              <a:t>Baum-Welch algorithm</a:t>
            </a:r>
          </a:p>
        </p:txBody>
      </p:sp>
      <p:sp>
        <p:nvSpPr>
          <p:cNvPr id="3" name="Content Placeholder 2">
            <a:extLst>
              <a:ext uri="{FF2B5EF4-FFF2-40B4-BE49-F238E27FC236}">
                <a16:creationId xmlns:a16="http://schemas.microsoft.com/office/drawing/2014/main" id="{C5F0410E-4E8B-0E47-BAAF-66F3E35A8063}"/>
              </a:ext>
            </a:extLst>
          </p:cNvPr>
          <p:cNvSpPr>
            <a:spLocks noGrp="1"/>
          </p:cNvSpPr>
          <p:nvPr>
            <p:ph idx="1"/>
          </p:nvPr>
        </p:nvSpPr>
        <p:spPr/>
        <p:txBody>
          <a:bodyPr/>
          <a:lstStyle/>
          <a:p>
            <a:r>
              <a:rPr lang="en-US" b="1" dirty="0"/>
              <a:t>Baum-Welch algorithm</a:t>
            </a:r>
            <a:r>
              <a:rPr lang="en-US" dirty="0"/>
              <a:t> is a specific application of the Expectation-Maximization (EM) algorithm designed to find the unknown parameters of a Hidden Markov Model (HMM).</a:t>
            </a:r>
          </a:p>
          <a:p>
            <a:r>
              <a:rPr lang="en-US" dirty="0"/>
              <a:t>Because we rarely know the true transition or emission probabilities in the real world, this algorithm iteratively guesses, measures the error, and updates its guesses until it finds the parameters that make the observed data most likely.</a:t>
            </a:r>
          </a:p>
        </p:txBody>
      </p:sp>
    </p:spTree>
    <p:extLst>
      <p:ext uri="{BB962C8B-B14F-4D97-AF65-F5344CB8AC3E}">
        <p14:creationId xmlns:p14="http://schemas.microsoft.com/office/powerpoint/2010/main" val="34043007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3575A-F3E1-35F4-F69B-E465797BD683}"/>
              </a:ext>
            </a:extLst>
          </p:cNvPr>
          <p:cNvSpPr>
            <a:spLocks noGrp="1"/>
          </p:cNvSpPr>
          <p:nvPr>
            <p:ph type="title"/>
          </p:nvPr>
        </p:nvSpPr>
        <p:spPr/>
        <p:txBody>
          <a:bodyPr/>
          <a:lstStyle/>
          <a:p>
            <a:r>
              <a:rPr lang="en-IN" dirty="0"/>
              <a:t>Baum-Welch algorithm</a:t>
            </a:r>
          </a:p>
        </p:txBody>
      </p:sp>
      <p:sp>
        <p:nvSpPr>
          <p:cNvPr id="3" name="Content Placeholder 2">
            <a:extLst>
              <a:ext uri="{FF2B5EF4-FFF2-40B4-BE49-F238E27FC236}">
                <a16:creationId xmlns:a16="http://schemas.microsoft.com/office/drawing/2014/main" id="{0C7933BF-F7A2-08DE-EDF0-B337B16865F4}"/>
              </a:ext>
            </a:extLst>
          </p:cNvPr>
          <p:cNvSpPr>
            <a:spLocks noGrp="1"/>
          </p:cNvSpPr>
          <p:nvPr>
            <p:ph idx="1"/>
          </p:nvPr>
        </p:nvSpPr>
        <p:spPr>
          <a:xfrm>
            <a:off x="838200" y="1690688"/>
            <a:ext cx="10515600" cy="4976119"/>
          </a:xfrm>
        </p:spPr>
        <p:txBody>
          <a:bodyPr>
            <a:normAutofit/>
          </a:bodyPr>
          <a:lstStyle/>
          <a:p>
            <a:pPr marL="0" indent="0">
              <a:buNone/>
            </a:pPr>
            <a:r>
              <a:rPr lang="en-US" b="1" dirty="0"/>
              <a:t>1. Initialization</a:t>
            </a:r>
          </a:p>
          <a:p>
            <a:r>
              <a:rPr lang="en-US" dirty="0"/>
              <a:t>Before the algorithm can start learning, it needs a starting point. We define the initial model parameters:</a:t>
            </a:r>
          </a:p>
          <a:p>
            <a:pPr lvl="1"/>
            <a:r>
              <a:rPr lang="en-US" altLang="en-US" b="1" dirty="0"/>
              <a:t>Initial State Probabilities (</a:t>
            </a:r>
            <a:r>
              <a:rPr lang="el-GR" altLang="en-US" b="1" dirty="0"/>
              <a:t>π</a:t>
            </a:r>
            <a:r>
              <a:rPr lang="en-US" altLang="en-US" b="1" dirty="0"/>
              <a:t>)</a:t>
            </a:r>
            <a:r>
              <a:rPr lang="en-US" altLang="en-US" dirty="0"/>
              <a:t>: The starting guess for the distribution of hidden states.</a:t>
            </a:r>
          </a:p>
          <a:p>
            <a:pPr lvl="1"/>
            <a:r>
              <a:rPr lang="en-US" altLang="en-US" b="1" dirty="0"/>
              <a:t>Transition Matrix (A)</a:t>
            </a:r>
            <a:r>
              <a:rPr lang="en-US" altLang="en-US" dirty="0"/>
              <a:t>: The starting guess for the probabilities of moving between hidden states.</a:t>
            </a:r>
          </a:p>
          <a:p>
            <a:pPr lvl="1"/>
            <a:r>
              <a:rPr lang="en-US" altLang="en-US" b="1" dirty="0"/>
              <a:t>Emission Matrix (B)</a:t>
            </a:r>
            <a:r>
              <a:rPr lang="en-US" altLang="en-US" dirty="0"/>
              <a:t>: The starting guess for the probabilities of a hidden state producing a specific observation.</a:t>
            </a:r>
          </a:p>
          <a:p>
            <a:pPr eaLnBrk="0" fontAlgn="base" hangingPunct="0">
              <a:lnSpc>
                <a:spcPct val="100000"/>
              </a:lnSpc>
              <a:spcBef>
                <a:spcPct val="0"/>
              </a:spcBef>
              <a:spcAft>
                <a:spcPct val="0"/>
              </a:spcAft>
            </a:pPr>
            <a:r>
              <a:rPr lang="en-US" altLang="en-US" dirty="0"/>
              <a:t>These starting values can be random guesses, uniform distributions, or based on prior domain knowledge.</a:t>
            </a:r>
            <a:endParaRPr lang="en-IN" dirty="0"/>
          </a:p>
        </p:txBody>
      </p:sp>
    </p:spTree>
    <p:extLst>
      <p:ext uri="{BB962C8B-B14F-4D97-AF65-F5344CB8AC3E}">
        <p14:creationId xmlns:p14="http://schemas.microsoft.com/office/powerpoint/2010/main" val="74565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53A7F-4E88-6D01-9A87-B1636A74FE3C}"/>
              </a:ext>
            </a:extLst>
          </p:cNvPr>
          <p:cNvSpPr>
            <a:spLocks noGrp="1"/>
          </p:cNvSpPr>
          <p:nvPr>
            <p:ph type="title"/>
          </p:nvPr>
        </p:nvSpPr>
        <p:spPr/>
        <p:txBody>
          <a:bodyPr/>
          <a:lstStyle/>
          <a:p>
            <a:r>
              <a:rPr lang="en-IN" dirty="0"/>
              <a:t>Baum-Welch algorithm</a:t>
            </a:r>
          </a:p>
        </p:txBody>
      </p:sp>
      <p:pic>
        <p:nvPicPr>
          <p:cNvPr id="6" name="Picture 5">
            <a:extLst>
              <a:ext uri="{FF2B5EF4-FFF2-40B4-BE49-F238E27FC236}">
                <a16:creationId xmlns:a16="http://schemas.microsoft.com/office/drawing/2014/main" id="{80EC13F5-6765-564D-A313-8C8AB45FE488}"/>
              </a:ext>
            </a:extLst>
          </p:cNvPr>
          <p:cNvPicPr>
            <a:picLocks noChangeAspect="1"/>
          </p:cNvPicPr>
          <p:nvPr/>
        </p:nvPicPr>
        <p:blipFill>
          <a:blip r:embed="rId2"/>
          <a:stretch>
            <a:fillRect/>
          </a:stretch>
        </p:blipFill>
        <p:spPr>
          <a:xfrm>
            <a:off x="999732" y="1479183"/>
            <a:ext cx="10083215" cy="5013692"/>
          </a:xfrm>
          <a:prstGeom prst="rect">
            <a:avLst/>
          </a:prstGeom>
        </p:spPr>
      </p:pic>
    </p:spTree>
    <p:extLst>
      <p:ext uri="{BB962C8B-B14F-4D97-AF65-F5344CB8AC3E}">
        <p14:creationId xmlns:p14="http://schemas.microsoft.com/office/powerpoint/2010/main" val="25936674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3C98D-CB0F-A1AB-F0FE-48B65ED72FCA}"/>
              </a:ext>
            </a:extLst>
          </p:cNvPr>
          <p:cNvSpPr>
            <a:spLocks noGrp="1"/>
          </p:cNvSpPr>
          <p:nvPr>
            <p:ph type="title"/>
          </p:nvPr>
        </p:nvSpPr>
        <p:spPr/>
        <p:txBody>
          <a:bodyPr/>
          <a:lstStyle/>
          <a:p>
            <a:r>
              <a:rPr lang="en-IN" dirty="0"/>
              <a:t>Baum-Welch algorithm</a:t>
            </a:r>
          </a:p>
        </p:txBody>
      </p:sp>
      <p:pic>
        <p:nvPicPr>
          <p:cNvPr id="5" name="Content Placeholder 4">
            <a:extLst>
              <a:ext uri="{FF2B5EF4-FFF2-40B4-BE49-F238E27FC236}">
                <a16:creationId xmlns:a16="http://schemas.microsoft.com/office/drawing/2014/main" id="{17C8D024-7107-744F-A6E4-AFFC0EE61F15}"/>
              </a:ext>
            </a:extLst>
          </p:cNvPr>
          <p:cNvPicPr>
            <a:picLocks noGrp="1" noChangeAspect="1"/>
          </p:cNvPicPr>
          <p:nvPr>
            <p:ph idx="1"/>
          </p:nvPr>
        </p:nvPicPr>
        <p:blipFill>
          <a:blip r:embed="rId2"/>
          <a:stretch>
            <a:fillRect/>
          </a:stretch>
        </p:blipFill>
        <p:spPr>
          <a:xfrm>
            <a:off x="1013344" y="1457876"/>
            <a:ext cx="10515599" cy="5044937"/>
          </a:xfrm>
          <a:prstGeom prst="rect">
            <a:avLst/>
          </a:prstGeom>
        </p:spPr>
      </p:pic>
    </p:spTree>
    <p:extLst>
      <p:ext uri="{BB962C8B-B14F-4D97-AF65-F5344CB8AC3E}">
        <p14:creationId xmlns:p14="http://schemas.microsoft.com/office/powerpoint/2010/main" val="41522534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457D9-5A01-248A-ED29-A1818A5B2D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F8E08-05C5-F1E4-4445-3265B4C20872}"/>
              </a:ext>
            </a:extLst>
          </p:cNvPr>
          <p:cNvSpPr>
            <a:spLocks noGrp="1"/>
          </p:cNvSpPr>
          <p:nvPr>
            <p:ph type="title"/>
          </p:nvPr>
        </p:nvSpPr>
        <p:spPr/>
        <p:txBody>
          <a:bodyPr/>
          <a:lstStyle/>
          <a:p>
            <a:r>
              <a:rPr lang="en-IN" dirty="0"/>
              <a:t>Baum-Welch algorithm</a:t>
            </a:r>
          </a:p>
        </p:txBody>
      </p:sp>
      <p:pic>
        <p:nvPicPr>
          <p:cNvPr id="5" name="Content Placeholder 4">
            <a:extLst>
              <a:ext uri="{FF2B5EF4-FFF2-40B4-BE49-F238E27FC236}">
                <a16:creationId xmlns:a16="http://schemas.microsoft.com/office/drawing/2014/main" id="{DDBA6E43-8098-B350-9127-0846672AAFBB}"/>
              </a:ext>
            </a:extLst>
          </p:cNvPr>
          <p:cNvPicPr>
            <a:picLocks noGrp="1" noChangeAspect="1"/>
          </p:cNvPicPr>
          <p:nvPr>
            <p:ph idx="1"/>
          </p:nvPr>
        </p:nvPicPr>
        <p:blipFill>
          <a:blip r:embed="rId2"/>
          <a:stretch>
            <a:fillRect/>
          </a:stretch>
        </p:blipFill>
        <p:spPr>
          <a:xfrm>
            <a:off x="838200" y="1480437"/>
            <a:ext cx="11234380" cy="4741459"/>
          </a:xfrm>
          <a:prstGeom prst="rect">
            <a:avLst/>
          </a:prstGeom>
        </p:spPr>
      </p:pic>
    </p:spTree>
    <p:extLst>
      <p:ext uri="{BB962C8B-B14F-4D97-AF65-F5344CB8AC3E}">
        <p14:creationId xmlns:p14="http://schemas.microsoft.com/office/powerpoint/2010/main" val="13143878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B4799-D79D-FB68-1992-3753727F0F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89DCC6-D078-67E2-8DFF-C61CACB0D075}"/>
              </a:ext>
            </a:extLst>
          </p:cNvPr>
          <p:cNvSpPr>
            <a:spLocks noGrp="1"/>
          </p:cNvSpPr>
          <p:nvPr>
            <p:ph type="title"/>
          </p:nvPr>
        </p:nvSpPr>
        <p:spPr/>
        <p:txBody>
          <a:bodyPr/>
          <a:lstStyle/>
          <a:p>
            <a:r>
              <a:rPr lang="en-IN" dirty="0"/>
              <a:t>Baum-Welch algorithm</a:t>
            </a:r>
          </a:p>
        </p:txBody>
      </p:sp>
      <p:pic>
        <p:nvPicPr>
          <p:cNvPr id="5" name="Content Placeholder 4">
            <a:extLst>
              <a:ext uri="{FF2B5EF4-FFF2-40B4-BE49-F238E27FC236}">
                <a16:creationId xmlns:a16="http://schemas.microsoft.com/office/drawing/2014/main" id="{CE33B3A4-DADF-83B8-5965-E8A232395831}"/>
              </a:ext>
            </a:extLst>
          </p:cNvPr>
          <p:cNvPicPr>
            <a:picLocks noGrp="1" noChangeAspect="1"/>
          </p:cNvPicPr>
          <p:nvPr>
            <p:ph idx="1"/>
          </p:nvPr>
        </p:nvPicPr>
        <p:blipFill>
          <a:blip r:embed="rId2"/>
          <a:stretch>
            <a:fillRect/>
          </a:stretch>
        </p:blipFill>
        <p:spPr>
          <a:xfrm>
            <a:off x="436758" y="1621114"/>
            <a:ext cx="11634960" cy="4143582"/>
          </a:xfrm>
          <a:prstGeom prst="rect">
            <a:avLst/>
          </a:prstGeom>
        </p:spPr>
      </p:pic>
    </p:spTree>
    <p:extLst>
      <p:ext uri="{BB962C8B-B14F-4D97-AF65-F5344CB8AC3E}">
        <p14:creationId xmlns:p14="http://schemas.microsoft.com/office/powerpoint/2010/main" val="5375773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7086C-3EF5-8D72-C020-B59DCF821FFD}"/>
            </a:ext>
          </a:extLst>
        </p:cNvPr>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93E498B5-4DCB-1C50-1093-7213DD714283}"/>
              </a:ext>
            </a:extLst>
          </p:cNvPr>
          <p:cNvPicPr>
            <a:picLocks noGrp="1" noChangeAspect="1"/>
          </p:cNvPicPr>
          <p:nvPr>
            <p:ph idx="4294967295"/>
          </p:nvPr>
        </p:nvPicPr>
        <p:blipFill>
          <a:blip r:embed="rId2"/>
          <a:stretch>
            <a:fillRect/>
          </a:stretch>
        </p:blipFill>
        <p:spPr>
          <a:xfrm>
            <a:off x="9938" y="0"/>
            <a:ext cx="12284765" cy="6569765"/>
          </a:xfrm>
          <a:prstGeom prst="rect">
            <a:avLst/>
          </a:prstGeom>
        </p:spPr>
      </p:pic>
    </p:spTree>
    <p:extLst>
      <p:ext uri="{BB962C8B-B14F-4D97-AF65-F5344CB8AC3E}">
        <p14:creationId xmlns:p14="http://schemas.microsoft.com/office/powerpoint/2010/main" val="2584305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5CECD-B09E-CD30-8DEB-187B1555770A}"/>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4172F46-E8AD-C8CE-A051-763AD3D6CA08}"/>
              </a:ext>
            </a:extLst>
          </p:cNvPr>
          <p:cNvPicPr>
            <a:picLocks noGrp="1" noChangeAspect="1"/>
          </p:cNvPicPr>
          <p:nvPr>
            <p:ph idx="4294967295"/>
          </p:nvPr>
        </p:nvPicPr>
        <p:blipFill>
          <a:blip r:embed="rId2"/>
          <a:stretch>
            <a:fillRect/>
          </a:stretch>
        </p:blipFill>
        <p:spPr>
          <a:xfrm>
            <a:off x="0" y="0"/>
            <a:ext cx="12324522" cy="6731966"/>
          </a:xfrm>
          <a:prstGeom prst="rect">
            <a:avLst/>
          </a:prstGeom>
        </p:spPr>
      </p:pic>
    </p:spTree>
    <p:extLst>
      <p:ext uri="{BB962C8B-B14F-4D97-AF65-F5344CB8AC3E}">
        <p14:creationId xmlns:p14="http://schemas.microsoft.com/office/powerpoint/2010/main" val="15839407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F7D5B4-A3CE-B4D5-4D79-C5A3C80B7AE9}"/>
              </a:ext>
            </a:extLst>
          </p:cNvPr>
          <p:cNvPicPr>
            <a:picLocks noChangeAspect="1"/>
          </p:cNvPicPr>
          <p:nvPr/>
        </p:nvPicPr>
        <p:blipFill>
          <a:blip r:embed="rId2"/>
          <a:stretch>
            <a:fillRect/>
          </a:stretch>
        </p:blipFill>
        <p:spPr>
          <a:xfrm>
            <a:off x="116928" y="0"/>
            <a:ext cx="10080620" cy="6713432"/>
          </a:xfrm>
          <a:prstGeom prst="rect">
            <a:avLst/>
          </a:prstGeom>
        </p:spPr>
      </p:pic>
    </p:spTree>
    <p:extLst>
      <p:ext uri="{BB962C8B-B14F-4D97-AF65-F5344CB8AC3E}">
        <p14:creationId xmlns:p14="http://schemas.microsoft.com/office/powerpoint/2010/main" val="4972611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6ACA5B-3A62-A07B-00C8-C083F2BDA83A}"/>
              </a:ext>
            </a:extLst>
          </p:cNvPr>
          <p:cNvPicPr>
            <a:picLocks noChangeAspect="1"/>
          </p:cNvPicPr>
          <p:nvPr/>
        </p:nvPicPr>
        <p:blipFill>
          <a:blip r:embed="rId2"/>
          <a:stretch>
            <a:fillRect/>
          </a:stretch>
        </p:blipFill>
        <p:spPr>
          <a:xfrm>
            <a:off x="399732" y="496923"/>
            <a:ext cx="11078762" cy="5068990"/>
          </a:xfrm>
          <a:prstGeom prst="rect">
            <a:avLst/>
          </a:prstGeom>
        </p:spPr>
      </p:pic>
    </p:spTree>
    <p:extLst>
      <p:ext uri="{BB962C8B-B14F-4D97-AF65-F5344CB8AC3E}">
        <p14:creationId xmlns:p14="http://schemas.microsoft.com/office/powerpoint/2010/main" val="3704068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1231</Words>
  <Application>Microsoft Office PowerPoint</Application>
  <PresentationFormat>Widescreen</PresentationFormat>
  <Paragraphs>88</Paragraphs>
  <Slides>41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Calibri Light</vt:lpstr>
      <vt:lpstr>Cambria Math</vt:lpstr>
      <vt:lpstr>Office Theme</vt:lpstr>
      <vt:lpstr>Introduction to HMM (Hidden Markov Model)models</vt:lpstr>
      <vt:lpstr>Components of a Hidden Markov Model (HMM)</vt:lpstr>
      <vt:lpstr>HMM Algorithm</vt:lpstr>
      <vt:lpstr>Three Fundamental Problems in Hidden Markov Models (HMMs)</vt:lpstr>
      <vt:lpstr>Three Fundamental Problems in Hidden Markov Models (HMMs)</vt:lpstr>
      <vt:lpstr>Three Fundamental Problems in Hidden Markov Models (HMMs)</vt:lpstr>
      <vt:lpstr>Decoding Problem (Viterbi Algorithm) - Find the most likely hidden state sequence for the given observations</vt:lpstr>
      <vt:lpstr>Decoding Problem (Viterbi Algorithm) - Find the most likely hidden state sequence for the given observations</vt:lpstr>
      <vt:lpstr>Decoding Problem (Viterbi Algorithm) - Find the most likely hidden state sequence for the given observations</vt:lpstr>
      <vt:lpstr>Decoding Problem (Viterbi Algorithm) - Find the most likely hidden state sequence for the given observations</vt:lpstr>
      <vt:lpstr>Decoding Problem (Viterbi Algorithm) - Find the most likely hidden state sequence for the given observations</vt:lpstr>
      <vt:lpstr>Decoding Problem (Viterbi Algorithm) - Find the most likely hidden state sequence for the given observations</vt:lpstr>
      <vt:lpstr>Decoding Problem (Viterbi Algorithm) - Find the most likely hidden state sequence for the given observations</vt:lpstr>
      <vt:lpstr>Decoding Problem (Viterbi Algorithm) - Find the most likely hidden state sequence for the given observations</vt:lpstr>
      <vt:lpstr>PowerPoint Presentation</vt:lpstr>
      <vt:lpstr>PowerPoint Presentation</vt:lpstr>
      <vt:lpstr>Decoding Problem (Viterbi Algorithm) - Find the most likely hidden state sequence for the given observations</vt:lpstr>
      <vt:lpstr>Find the most likely hidden state sequence that explains the observations :  a. Normal, Raincoat, Umbrella b. Umbrella, Umbrella, Normal </vt:lpstr>
      <vt:lpstr>Find the most likely hidden state sequence that explains the observations : S = [Rainy, Cloudy, Sunny] with prob [0.4,0.3,0.3]O =[Happy, Sad] a. Happy, Sad, Sad   b. Happy, Happy, Sad</vt:lpstr>
      <vt:lpstr>Forward Algorithm for calculation of the probability of an observation sequence</vt:lpstr>
      <vt:lpstr>Forward Algorithm for calculation of the probability of an observation sequence</vt:lpstr>
      <vt:lpstr>Forward Algorithm for calculation of the probability of an observation sequence</vt:lpstr>
      <vt:lpstr>PowerPoint Presentation</vt:lpstr>
      <vt:lpstr>Forward Algorithm for calculation of the probability of an observation sequence</vt:lpstr>
      <vt:lpstr>Forward Algorithm for calculation of the probability of an observation sequence</vt:lpstr>
      <vt:lpstr>Forward Algorithm for calculation of the probability of an observation sequence</vt:lpstr>
      <vt:lpstr>Forward Algorithm for calculation of the probability of an observation sequence</vt:lpstr>
      <vt:lpstr>Forward Algorithm for calculation of the probability of an observation sequence</vt:lpstr>
      <vt:lpstr>Forward Algorithm for calculation of the probability of an observation sequence</vt:lpstr>
      <vt:lpstr>Forward Algorithm for calculation of the probability of an observation sequence</vt:lpstr>
      <vt:lpstr>Forward Algorithm for calculation of the probability of an observation sequence</vt:lpstr>
      <vt:lpstr>Baum-Welch algorithm</vt:lpstr>
      <vt:lpstr>Baum-Welch algorithm</vt:lpstr>
      <vt:lpstr>Baum-Welch algorithm</vt:lpstr>
      <vt:lpstr>Baum-Welch algorithm</vt:lpstr>
      <vt:lpstr>Baum-Welch algorithm</vt:lpstr>
      <vt:lpstr>Baum-Welch algorithm</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2026-03-12T05:45:55Z</dcterms:created>
  <dcterms:modified xsi:type="dcterms:W3CDTF">2026-03-12T05:46:32Z</dcterms:modified>
</cp:coreProperties>
</file>