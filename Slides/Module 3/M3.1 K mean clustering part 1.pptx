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9" r:id="rId2"/>
    <p:sldId id="375" r:id="rId3"/>
    <p:sldId id="337" r:id="rId4"/>
    <p:sldId id="338" r:id="rId5"/>
    <p:sldId id="339" r:id="rId6"/>
    <p:sldId id="327" r:id="rId7"/>
    <p:sldId id="288" r:id="rId8"/>
    <p:sldId id="289" r:id="rId9"/>
    <p:sldId id="290" r:id="rId10"/>
    <p:sldId id="340" r:id="rId11"/>
    <p:sldId id="369" r:id="rId12"/>
    <p:sldId id="370" r:id="rId13"/>
    <p:sldId id="371" r:id="rId14"/>
    <p:sldId id="377" r:id="rId15"/>
    <p:sldId id="373" r:id="rId16"/>
    <p:sldId id="374" r:id="rId17"/>
    <p:sldId id="378" r:id="rId18"/>
    <p:sldId id="380" r:id="rId19"/>
    <p:sldId id="267" r:id="rId20"/>
    <p:sldId id="388" r:id="rId21"/>
    <p:sldId id="390" r:id="rId22"/>
    <p:sldId id="379" r:id="rId23"/>
    <p:sldId id="269" r:id="rId24"/>
    <p:sldId id="265" r:id="rId25"/>
    <p:sldId id="381" r:id="rId26"/>
    <p:sldId id="382" r:id="rId27"/>
    <p:sldId id="383" r:id="rId28"/>
    <p:sldId id="384" r:id="rId29"/>
    <p:sldId id="385" r:id="rId30"/>
    <p:sldId id="386" r:id="rId31"/>
    <p:sldId id="341" r:id="rId32"/>
    <p:sldId id="345" r:id="rId33"/>
    <p:sldId id="342" r:id="rId34"/>
    <p:sldId id="343" r:id="rId35"/>
    <p:sldId id="344" r:id="rId36"/>
    <p:sldId id="261" r:id="rId37"/>
    <p:sldId id="262" r:id="rId38"/>
    <p:sldId id="346" r:id="rId39"/>
    <p:sldId id="347" r:id="rId40"/>
    <p:sldId id="350" r:id="rId41"/>
    <p:sldId id="351" r:id="rId42"/>
    <p:sldId id="352" r:id="rId43"/>
    <p:sldId id="353" r:id="rId44"/>
    <p:sldId id="354" r:id="rId45"/>
    <p:sldId id="402" r:id="rId46"/>
    <p:sldId id="359" r:id="rId47"/>
    <p:sldId id="368" r:id="rId48"/>
    <p:sldId id="360" r:id="rId49"/>
    <p:sldId id="348" r:id="rId50"/>
    <p:sldId id="349" r:id="rId51"/>
    <p:sldId id="356" r:id="rId52"/>
    <p:sldId id="355" r:id="rId53"/>
    <p:sldId id="387" r:id="rId54"/>
    <p:sldId id="35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B8EE10-3DCA-4EE1-972F-ACB43BEEB96D}"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293D4-36AD-4F16-A0A9-A6DF0ECB22CE}" type="slidenum">
              <a:rPr lang="en-IN" smtClean="0"/>
              <a:t>‹#›</a:t>
            </a:fld>
            <a:endParaRPr lang="en-IN"/>
          </a:p>
        </p:txBody>
      </p:sp>
    </p:spTree>
    <p:extLst>
      <p:ext uri="{BB962C8B-B14F-4D97-AF65-F5344CB8AC3E}">
        <p14:creationId xmlns:p14="http://schemas.microsoft.com/office/powerpoint/2010/main" val="2035833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B9D3CC-8FCA-4F58-A2C8-CC61D9824948}" type="slidenum">
              <a:rPr lang="en-IN" smtClean="0"/>
              <a:t>1</a:t>
            </a:fld>
            <a:endParaRPr lang="en-IN"/>
          </a:p>
        </p:txBody>
      </p:sp>
    </p:spTree>
    <p:extLst>
      <p:ext uri="{BB962C8B-B14F-4D97-AF65-F5344CB8AC3E}">
        <p14:creationId xmlns:p14="http://schemas.microsoft.com/office/powerpoint/2010/main" val="2755942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6" name="Google Shape;576;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8" name="Google Shape;588;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B808E-D846-4FDD-A268-7F465359BC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0F4136-0BAF-E965-33EB-6A65CB489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C2AA4C-C5F4-0493-EC08-AE84BE79F6F3}"/>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5" name="Footer Placeholder 4">
            <a:extLst>
              <a:ext uri="{FF2B5EF4-FFF2-40B4-BE49-F238E27FC236}">
                <a16:creationId xmlns:a16="http://schemas.microsoft.com/office/drawing/2014/main" id="{7D7E1C09-75EF-80AF-F28F-FEF295AD8A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ED7CF-6AD7-26A0-9544-BFA268641FE5}"/>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1346948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6B188-0BC6-FE36-39D9-A212068090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8092D6-249D-3C05-8A51-215B730B09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185831-EED4-EF03-E810-35A250279573}"/>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5" name="Footer Placeholder 4">
            <a:extLst>
              <a:ext uri="{FF2B5EF4-FFF2-40B4-BE49-F238E27FC236}">
                <a16:creationId xmlns:a16="http://schemas.microsoft.com/office/drawing/2014/main" id="{126AC082-5EF1-5A65-19DA-1ED195A049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D9F910-7210-D711-993B-8054CD3FC0B0}"/>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996069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03678-C07F-69B4-69F5-621ACAD6B1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4957E-9E40-62EE-E3DE-1218F8A8F2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F069AB-5DC4-0879-E031-370707CBDBD2}"/>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5" name="Footer Placeholder 4">
            <a:extLst>
              <a:ext uri="{FF2B5EF4-FFF2-40B4-BE49-F238E27FC236}">
                <a16:creationId xmlns:a16="http://schemas.microsoft.com/office/drawing/2014/main" id="{704001A1-EE72-E71D-20A3-CAAF5D4614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C53458-3309-D2BC-75FE-CBBC094CB8F8}"/>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641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102A7-8767-905A-3714-10AF55A727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1BCF10-1191-D862-E687-2544884EF7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A5A5330-33F8-40E3-8F80-A3CCE66F72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CF01EB-EF3C-0342-BE7B-FA8AC8056D64}"/>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6" name="Footer Placeholder 5">
            <a:extLst>
              <a:ext uri="{FF2B5EF4-FFF2-40B4-BE49-F238E27FC236}">
                <a16:creationId xmlns:a16="http://schemas.microsoft.com/office/drawing/2014/main" id="{D238AA1F-9D83-8F0C-09D4-DFBBE2F390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EB9233-6F27-ED9E-154E-B53E4B87F6AD}"/>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2701924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AFB0A-D556-2731-1211-599452A1DD5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A9095C-8DB8-B7E6-385A-C345A65289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669461-63F4-4350-33A7-0F3CCE7573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B097E2-297D-9130-009B-F0B10C736B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34E385-4925-C562-0EDC-A89F99AA9D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183369-A008-79A5-0DDD-6F0A3B0F504A}"/>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8" name="Footer Placeholder 7">
            <a:extLst>
              <a:ext uri="{FF2B5EF4-FFF2-40B4-BE49-F238E27FC236}">
                <a16:creationId xmlns:a16="http://schemas.microsoft.com/office/drawing/2014/main" id="{9724B06B-8488-F216-B8FA-571D203C5B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5D11BC3-E0CB-E2DB-9AB9-3F266FEB7A2A}"/>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1030555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26D3-0F8D-1DA0-28C8-7085114EAD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DEA894-E8EC-0030-DC17-7D2AADDE5AA9}"/>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4" name="Footer Placeholder 3">
            <a:extLst>
              <a:ext uri="{FF2B5EF4-FFF2-40B4-BE49-F238E27FC236}">
                <a16:creationId xmlns:a16="http://schemas.microsoft.com/office/drawing/2014/main" id="{4D8509B1-55CB-9668-F50C-D55A6966E1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8FB597-0D1F-AD75-2DA3-F56937C34EFE}"/>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2681932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043C5E-9536-50F1-CFCC-0F1E046421A1}"/>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3" name="Footer Placeholder 2">
            <a:extLst>
              <a:ext uri="{FF2B5EF4-FFF2-40B4-BE49-F238E27FC236}">
                <a16:creationId xmlns:a16="http://schemas.microsoft.com/office/drawing/2014/main" id="{51C51D29-A7CD-263C-CA11-CF9D42076D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6FA20B-61CB-63D7-56D7-6FB39E59C073}"/>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715921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3B26-D8F6-919B-CB07-40FF7F8CC0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5B1C36-9FAD-5456-1D25-B193032F05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647A97-4F33-9DBF-8846-BE00C609C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357BB-E462-D90B-59C0-F0FDE8A85130}"/>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6" name="Footer Placeholder 5">
            <a:extLst>
              <a:ext uri="{FF2B5EF4-FFF2-40B4-BE49-F238E27FC236}">
                <a16:creationId xmlns:a16="http://schemas.microsoft.com/office/drawing/2014/main" id="{438BE71D-CA47-3114-C5C9-312028D325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4242E1-CEF9-0D87-088E-EC42A20D0FF2}"/>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40960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CD690-0F3C-D137-4B54-036BBA3587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9A6673-6759-58D5-9275-C58A949BC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DF26BF-27A4-9EA1-A7F6-2F0108C691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0CC6B-B5AF-C224-A313-2542C62AAEBA}"/>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6" name="Footer Placeholder 5">
            <a:extLst>
              <a:ext uri="{FF2B5EF4-FFF2-40B4-BE49-F238E27FC236}">
                <a16:creationId xmlns:a16="http://schemas.microsoft.com/office/drawing/2014/main" id="{D43F0387-385C-DCD3-EAC8-619FC14867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F39C4A-8B39-8D7B-868C-3CE7FB1DAB6A}"/>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2023733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996B4-918A-85B4-E137-CC46617FDA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E9BE98-7CF0-6D35-DC19-CC0E032DB1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4E2F80-4E04-556E-E51D-E55AC1B6DA0A}"/>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5" name="Footer Placeholder 4">
            <a:extLst>
              <a:ext uri="{FF2B5EF4-FFF2-40B4-BE49-F238E27FC236}">
                <a16:creationId xmlns:a16="http://schemas.microsoft.com/office/drawing/2014/main" id="{E6EEB595-742B-2112-A56A-CDE8A48514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1FC4D6-A03F-BD68-4918-F794C36B95E4}"/>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1072429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CC6E5E-6F91-C2F6-6D8F-540A75DE29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4D0485-BE7E-1F73-496B-1E5B60DE8E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CA5E78-BABA-A6FB-767D-6C750B68268C}"/>
              </a:ext>
            </a:extLst>
          </p:cNvPr>
          <p:cNvSpPr>
            <a:spLocks noGrp="1"/>
          </p:cNvSpPr>
          <p:nvPr>
            <p:ph type="dt" sz="half" idx="10"/>
          </p:nvPr>
        </p:nvSpPr>
        <p:spPr/>
        <p:txBody>
          <a:bodyPr/>
          <a:lstStyle/>
          <a:p>
            <a:fld id="{D162EE96-3F3B-4B71-A256-18D61B18298F}" type="datetimeFigureOut">
              <a:rPr lang="en-IN" smtClean="0"/>
              <a:t>16-02-2026</a:t>
            </a:fld>
            <a:endParaRPr lang="en-IN"/>
          </a:p>
        </p:txBody>
      </p:sp>
      <p:sp>
        <p:nvSpPr>
          <p:cNvPr id="5" name="Footer Placeholder 4">
            <a:extLst>
              <a:ext uri="{FF2B5EF4-FFF2-40B4-BE49-F238E27FC236}">
                <a16:creationId xmlns:a16="http://schemas.microsoft.com/office/drawing/2014/main" id="{4087166E-FD3C-2CD7-FDF3-C929A00311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D4C4A3-55F3-E74C-D8B8-9D4047488504}"/>
              </a:ext>
            </a:extLst>
          </p:cNvPr>
          <p:cNvSpPr>
            <a:spLocks noGrp="1"/>
          </p:cNvSpPr>
          <p:nvPr>
            <p:ph type="sldNum" sz="quarter" idx="12"/>
          </p:nvPr>
        </p:nvSpPr>
        <p:spPr/>
        <p:txBody>
          <a:bodyPr/>
          <a:lstStyle/>
          <a:p>
            <a:fld id="{EA5A80A3-555F-4FBA-AB8D-CA69D3134C82}" type="slidenum">
              <a:rPr lang="en-IN" smtClean="0"/>
              <a:t>‹#›</a:t>
            </a:fld>
            <a:endParaRPr lang="en-IN"/>
          </a:p>
        </p:txBody>
      </p:sp>
    </p:spTree>
    <p:extLst>
      <p:ext uri="{BB962C8B-B14F-4D97-AF65-F5344CB8AC3E}">
        <p14:creationId xmlns:p14="http://schemas.microsoft.com/office/powerpoint/2010/main" val="4162506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754DD6-441A-5C96-FE0A-AE6126DFBB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E5B99E-25C7-391E-68E8-CA2D99E690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4951E6-40BA-8761-594B-BA319AF5F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62EE96-3F3B-4B71-A256-18D61B18298F}" type="datetimeFigureOut">
              <a:rPr lang="en-IN" smtClean="0"/>
              <a:t>16-02-2026</a:t>
            </a:fld>
            <a:endParaRPr lang="en-IN"/>
          </a:p>
        </p:txBody>
      </p:sp>
      <p:sp>
        <p:nvSpPr>
          <p:cNvPr id="5" name="Footer Placeholder 4">
            <a:extLst>
              <a:ext uri="{FF2B5EF4-FFF2-40B4-BE49-F238E27FC236}">
                <a16:creationId xmlns:a16="http://schemas.microsoft.com/office/drawing/2014/main" id="{97B20F40-4B44-99CA-70F3-D6B57B05CD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CA89188-2C05-F0FF-13E8-ED9D4470AE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5A80A3-555F-4FBA-AB8D-CA69D3134C82}" type="slidenum">
              <a:rPr lang="en-IN" smtClean="0"/>
              <a:t>‹#›</a:t>
            </a:fld>
            <a:endParaRPr lang="en-IN"/>
          </a:p>
        </p:txBody>
      </p:sp>
    </p:spTree>
    <p:extLst>
      <p:ext uri="{BB962C8B-B14F-4D97-AF65-F5344CB8AC3E}">
        <p14:creationId xmlns:p14="http://schemas.microsoft.com/office/powerpoint/2010/main" val="2640238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50.pn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30.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9ADE1-2DA2-BBEC-B80E-C147DDD65A45}"/>
              </a:ext>
            </a:extLst>
          </p:cNvPr>
          <p:cNvSpPr>
            <a:spLocks noGrp="1"/>
          </p:cNvSpPr>
          <p:nvPr>
            <p:ph type="title"/>
          </p:nvPr>
        </p:nvSpPr>
        <p:spPr/>
        <p:txBody>
          <a:bodyPr/>
          <a:lstStyle/>
          <a:p>
            <a:pPr algn="ctr"/>
            <a:r>
              <a:rPr lang="en-IN" dirty="0"/>
              <a:t>Module 3</a:t>
            </a:r>
          </a:p>
        </p:txBody>
      </p:sp>
      <p:sp>
        <p:nvSpPr>
          <p:cNvPr id="3" name="Content Placeholder 2">
            <a:extLst>
              <a:ext uri="{FF2B5EF4-FFF2-40B4-BE49-F238E27FC236}">
                <a16:creationId xmlns:a16="http://schemas.microsoft.com/office/drawing/2014/main" id="{4B7AE5C3-022E-0C4C-C870-0CDA46CCA7B1}"/>
              </a:ext>
            </a:extLst>
          </p:cNvPr>
          <p:cNvSpPr>
            <a:spLocks noGrp="1"/>
          </p:cNvSpPr>
          <p:nvPr>
            <p:ph idx="1"/>
          </p:nvPr>
        </p:nvSpPr>
        <p:spPr/>
        <p:txBody>
          <a:bodyPr/>
          <a:lstStyle/>
          <a:p>
            <a:r>
              <a:rPr lang="en-US" dirty="0"/>
              <a:t>Unsupervised learning: Clustering-K-means, High, Hierarchical clustering, </a:t>
            </a:r>
          </a:p>
          <a:p>
            <a:r>
              <a:rPr lang="en-US" dirty="0"/>
              <a:t>Criterion functions for clustering, proximity measures, </a:t>
            </a:r>
            <a:r>
              <a:rPr lang="en-IN" dirty="0"/>
              <a:t>Euclidean, Manhattan, Minkowski Distances, Cosine Similarity.</a:t>
            </a:r>
          </a:p>
          <a:p>
            <a:r>
              <a:rPr lang="en-US" dirty="0"/>
              <a:t>Reinforcement Learning: </a:t>
            </a:r>
          </a:p>
          <a:p>
            <a:pPr lvl="1"/>
            <a:r>
              <a:rPr lang="en-US" dirty="0"/>
              <a:t>Agent based learning, </a:t>
            </a:r>
          </a:p>
          <a:p>
            <a:pPr lvl="1"/>
            <a:r>
              <a:rPr lang="en-US" dirty="0"/>
              <a:t>Q-learning,</a:t>
            </a:r>
          </a:p>
          <a:p>
            <a:r>
              <a:rPr lang="en-IN" dirty="0"/>
              <a:t>Introduction to HMM (Hidden Markov Model)models</a:t>
            </a:r>
          </a:p>
        </p:txBody>
      </p:sp>
    </p:spTree>
    <p:extLst>
      <p:ext uri="{BB962C8B-B14F-4D97-AF65-F5344CB8AC3E}">
        <p14:creationId xmlns:p14="http://schemas.microsoft.com/office/powerpoint/2010/main" val="1523359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93E8A-F48F-C0C1-E760-6F3C53D01441}"/>
              </a:ext>
            </a:extLst>
          </p:cNvPr>
          <p:cNvSpPr>
            <a:spLocks noGrp="1"/>
          </p:cNvSpPr>
          <p:nvPr>
            <p:ph type="title"/>
          </p:nvPr>
        </p:nvSpPr>
        <p:spPr/>
        <p:txBody>
          <a:bodyPr/>
          <a:lstStyle/>
          <a:p>
            <a:r>
              <a:rPr lang="en-IN" dirty="0"/>
              <a:t>Why Unsupervised Learning</a:t>
            </a:r>
          </a:p>
        </p:txBody>
      </p:sp>
      <p:sp>
        <p:nvSpPr>
          <p:cNvPr id="3" name="Content Placeholder 2">
            <a:extLst>
              <a:ext uri="{FF2B5EF4-FFF2-40B4-BE49-F238E27FC236}">
                <a16:creationId xmlns:a16="http://schemas.microsoft.com/office/drawing/2014/main" id="{B03E80F1-2478-A1DA-8E73-7ABE05A83C4A}"/>
              </a:ext>
            </a:extLst>
          </p:cNvPr>
          <p:cNvSpPr>
            <a:spLocks noGrp="1"/>
          </p:cNvSpPr>
          <p:nvPr>
            <p:ph idx="1"/>
          </p:nvPr>
        </p:nvSpPr>
        <p:spPr/>
        <p:txBody>
          <a:bodyPr/>
          <a:lstStyle/>
          <a:p>
            <a:r>
              <a:rPr lang="en-US" dirty="0"/>
              <a:t>Unsupervised learning is harder </a:t>
            </a:r>
          </a:p>
          <a:p>
            <a:pPr lvl="1"/>
            <a:r>
              <a:rPr lang="en-US" dirty="0"/>
              <a:t>How do we know if results are meaningful? No answer labels are available. </a:t>
            </a:r>
          </a:p>
          <a:p>
            <a:pPr lvl="2"/>
            <a:r>
              <a:rPr lang="en-US" dirty="0"/>
              <a:t>Let the expert look at the results (external evaluation) </a:t>
            </a:r>
          </a:p>
          <a:p>
            <a:pPr lvl="2"/>
            <a:r>
              <a:rPr lang="en-US" dirty="0"/>
              <a:t>Define an objective function on clustering (internal evaluation) </a:t>
            </a:r>
          </a:p>
          <a:p>
            <a:r>
              <a:rPr lang="en-US" dirty="0"/>
              <a:t>We nevertheless need it because </a:t>
            </a:r>
          </a:p>
          <a:p>
            <a:pPr marL="914400" lvl="1" indent="-457200">
              <a:buFont typeface="+mj-lt"/>
              <a:buAutoNum type="arabicPeriod"/>
            </a:pPr>
            <a:r>
              <a:rPr lang="en-US" dirty="0"/>
              <a:t>Labeling large datasets is very costly (speech recognition)</a:t>
            </a:r>
          </a:p>
          <a:p>
            <a:pPr lvl="2"/>
            <a:r>
              <a:rPr lang="en-US" dirty="0"/>
              <a:t>Sometimes can label only a few examples by hand </a:t>
            </a:r>
          </a:p>
          <a:p>
            <a:pPr marL="914400" lvl="1" indent="-457200">
              <a:buFont typeface="+mj-lt"/>
              <a:buAutoNum type="arabicPeriod"/>
            </a:pPr>
            <a:r>
              <a:rPr lang="en-US" dirty="0"/>
              <a:t>May have no idea what/how many classes there are (data mining) </a:t>
            </a:r>
          </a:p>
          <a:p>
            <a:pPr marL="914400" lvl="1" indent="-457200">
              <a:buFont typeface="+mj-lt"/>
              <a:buAutoNum type="arabicPeriod"/>
            </a:pPr>
            <a:r>
              <a:rPr lang="en-US" dirty="0"/>
              <a:t>May want to use clustering to gain some insight into the structure of the data before designing a classifier  </a:t>
            </a:r>
          </a:p>
          <a:p>
            <a:pPr lvl="2"/>
            <a:r>
              <a:rPr lang="en-US" dirty="0"/>
              <a:t>Clustering as data description</a:t>
            </a:r>
            <a:endParaRPr lang="en-IN" dirty="0"/>
          </a:p>
        </p:txBody>
      </p:sp>
    </p:spTree>
    <p:extLst>
      <p:ext uri="{BB962C8B-B14F-4D97-AF65-F5344CB8AC3E}">
        <p14:creationId xmlns:p14="http://schemas.microsoft.com/office/powerpoint/2010/main" val="2714098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579" name="Google Shape;579;p69"/>
          <p:cNvPicPr preferRelativeResize="0">
            <a:picLocks noGrp="1"/>
          </p:cNvPicPr>
          <p:nvPr>
            <p:ph type="body" idx="4294967295"/>
          </p:nvPr>
        </p:nvPicPr>
        <p:blipFill rotWithShape="1">
          <a:blip r:embed="rId3">
            <a:alphaModFix/>
          </a:blip>
          <a:srcRect/>
          <a:stretch/>
        </p:blipFill>
        <p:spPr>
          <a:xfrm>
            <a:off x="879407" y="318812"/>
            <a:ext cx="10587037" cy="5794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pic>
        <p:nvPicPr>
          <p:cNvPr id="585" name="Google Shape;585;p70"/>
          <p:cNvPicPr preferRelativeResize="0">
            <a:picLocks noGrp="1"/>
          </p:cNvPicPr>
          <p:nvPr>
            <p:ph type="body" idx="4294967295"/>
          </p:nvPr>
        </p:nvPicPr>
        <p:blipFill rotWithShape="1">
          <a:blip r:embed="rId3">
            <a:alphaModFix/>
          </a:blip>
          <a:srcRect/>
          <a:stretch/>
        </p:blipFill>
        <p:spPr>
          <a:xfrm>
            <a:off x="1576388" y="365125"/>
            <a:ext cx="10615612" cy="6054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pic>
        <p:nvPicPr>
          <p:cNvPr id="591" name="Google Shape;591;p71"/>
          <p:cNvPicPr preferRelativeResize="0">
            <a:picLocks noGrp="1"/>
          </p:cNvPicPr>
          <p:nvPr>
            <p:ph type="body" idx="4294967295"/>
          </p:nvPr>
        </p:nvPicPr>
        <p:blipFill rotWithShape="1">
          <a:blip r:embed="rId3">
            <a:alphaModFix/>
          </a:blip>
          <a:srcRect/>
          <a:stretch/>
        </p:blipFill>
        <p:spPr>
          <a:xfrm>
            <a:off x="797719" y="182562"/>
            <a:ext cx="10596562" cy="6492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0BBE1-4E07-7CC9-2375-50F417B27F36}"/>
              </a:ext>
            </a:extLst>
          </p:cNvPr>
          <p:cNvSpPr>
            <a:spLocks noGrp="1"/>
          </p:cNvSpPr>
          <p:nvPr>
            <p:ph type="title"/>
          </p:nvPr>
        </p:nvSpPr>
        <p:spPr/>
        <p:txBody>
          <a:bodyPr/>
          <a:lstStyle/>
          <a:p>
            <a:r>
              <a:rPr lang="en-IN" dirty="0"/>
              <a:t>Unsupervised learning</a:t>
            </a:r>
          </a:p>
        </p:txBody>
      </p:sp>
      <p:pic>
        <p:nvPicPr>
          <p:cNvPr id="2050" name="Picture 2" descr="Introduction to Unsupervised Learning: Overview and applications">
            <a:extLst>
              <a:ext uri="{FF2B5EF4-FFF2-40B4-BE49-F238E27FC236}">
                <a16:creationId xmlns:a16="http://schemas.microsoft.com/office/drawing/2014/main" id="{37AD5551-798E-3F23-2EF2-5C0D9A78F5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7903" y="1351722"/>
            <a:ext cx="5802923" cy="25146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 set of different-colored shapes (unlabeled data) is input into an unsupervised learning algorithm, resulting in output of three homogenous groups (classes).">
            <a:extLst>
              <a:ext uri="{FF2B5EF4-FFF2-40B4-BE49-F238E27FC236}">
                <a16:creationId xmlns:a16="http://schemas.microsoft.com/office/drawing/2014/main" id="{5BFD669C-B03F-368E-9064-CDA17315A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9600" y="4121150"/>
            <a:ext cx="6400800"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079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92F7-4A34-C463-2575-3D8EBBFD8184}"/>
              </a:ext>
            </a:extLst>
          </p:cNvPr>
          <p:cNvSpPr>
            <a:spLocks noGrp="1"/>
          </p:cNvSpPr>
          <p:nvPr>
            <p:ph type="title"/>
          </p:nvPr>
        </p:nvSpPr>
        <p:spPr/>
        <p:txBody>
          <a:bodyPr/>
          <a:lstStyle/>
          <a:p>
            <a:r>
              <a:rPr lang="en-IN" dirty="0"/>
              <a:t>Unsupervised learning</a:t>
            </a:r>
          </a:p>
        </p:txBody>
      </p:sp>
      <p:sp>
        <p:nvSpPr>
          <p:cNvPr id="3" name="Content Placeholder 2">
            <a:extLst>
              <a:ext uri="{FF2B5EF4-FFF2-40B4-BE49-F238E27FC236}">
                <a16:creationId xmlns:a16="http://schemas.microsoft.com/office/drawing/2014/main" id="{F24EA8D1-6707-4B0D-C0A0-8A361056F0CE}"/>
              </a:ext>
            </a:extLst>
          </p:cNvPr>
          <p:cNvSpPr>
            <a:spLocks noGrp="1"/>
          </p:cNvSpPr>
          <p:nvPr>
            <p:ph idx="1"/>
          </p:nvPr>
        </p:nvSpPr>
        <p:spPr/>
        <p:txBody>
          <a:bodyPr>
            <a:normAutofit/>
          </a:bodyPr>
          <a:lstStyle/>
          <a:p>
            <a:r>
              <a:rPr lang="en-US" dirty="0"/>
              <a:t>The system tries to learn without a teacher or label. </a:t>
            </a:r>
          </a:p>
          <a:p>
            <a:r>
              <a:rPr lang="en-US" dirty="0"/>
              <a:t>Some of the most important unsupervised learning algorithms</a:t>
            </a:r>
          </a:p>
          <a:p>
            <a:pPr lvl="1"/>
            <a:r>
              <a:rPr lang="en-IN" dirty="0"/>
              <a:t>Clustering</a:t>
            </a:r>
          </a:p>
          <a:p>
            <a:pPr lvl="2"/>
            <a:r>
              <a:rPr lang="en-IN" b="1" dirty="0"/>
              <a:t>K-Means</a:t>
            </a:r>
            <a:r>
              <a:rPr lang="en-IN" dirty="0"/>
              <a:t>, DBSCAN, Hierarchical Cluster Analysis (HCA)</a:t>
            </a:r>
          </a:p>
          <a:p>
            <a:pPr lvl="1"/>
            <a:r>
              <a:rPr lang="en-US" dirty="0"/>
              <a:t>Anomaly detection and novelty detection</a:t>
            </a:r>
          </a:p>
          <a:p>
            <a:pPr lvl="2"/>
            <a:r>
              <a:rPr lang="en-IN" dirty="0"/>
              <a:t>One-class </a:t>
            </a:r>
            <a:r>
              <a:rPr lang="en-IN" b="1" dirty="0"/>
              <a:t>SVM</a:t>
            </a:r>
            <a:r>
              <a:rPr lang="en-IN" dirty="0"/>
              <a:t>, Isolation Forest, </a:t>
            </a:r>
          </a:p>
          <a:p>
            <a:pPr lvl="1"/>
            <a:r>
              <a:rPr lang="en-IN" dirty="0"/>
              <a:t>Visualization and dimensionality reduction</a:t>
            </a:r>
          </a:p>
          <a:p>
            <a:pPr lvl="2"/>
            <a:r>
              <a:rPr lang="en-IN" b="1" dirty="0"/>
              <a:t>Principal Component Analysis (PCA)</a:t>
            </a:r>
            <a:r>
              <a:rPr lang="en-IN" dirty="0"/>
              <a:t>, Kernel PCA, Locally Linear Embedding (LLE), </a:t>
            </a:r>
            <a:r>
              <a:rPr lang="en-US" dirty="0"/>
              <a:t>t-Distributed Stochastic Neighbor Embedding (t-SNE)</a:t>
            </a:r>
          </a:p>
          <a:p>
            <a:pPr lvl="1"/>
            <a:r>
              <a:rPr lang="en-IN" dirty="0"/>
              <a:t>Association rule learning</a:t>
            </a:r>
          </a:p>
          <a:p>
            <a:pPr lvl="2"/>
            <a:r>
              <a:rPr lang="en-IN" dirty="0" err="1"/>
              <a:t>Apriori</a:t>
            </a:r>
            <a:r>
              <a:rPr lang="en-IN" dirty="0"/>
              <a:t>, Eclat</a:t>
            </a:r>
          </a:p>
        </p:txBody>
      </p:sp>
    </p:spTree>
    <p:extLst>
      <p:ext uri="{BB962C8B-B14F-4D97-AF65-F5344CB8AC3E}">
        <p14:creationId xmlns:p14="http://schemas.microsoft.com/office/powerpoint/2010/main" val="280958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80318-C14A-C46C-B1D1-49EA8E8F74D0}"/>
              </a:ext>
            </a:extLst>
          </p:cNvPr>
          <p:cNvSpPr>
            <a:spLocks noGrp="1"/>
          </p:cNvSpPr>
          <p:nvPr>
            <p:ph type="title"/>
          </p:nvPr>
        </p:nvSpPr>
        <p:spPr/>
        <p:txBody>
          <a:bodyPr/>
          <a:lstStyle/>
          <a:p>
            <a:r>
              <a:rPr lang="en-IN" dirty="0"/>
              <a:t>Unsupervised learning - Clustering</a:t>
            </a:r>
          </a:p>
        </p:txBody>
      </p:sp>
      <p:pic>
        <p:nvPicPr>
          <p:cNvPr id="5" name="Content Placeholder 4">
            <a:extLst>
              <a:ext uri="{FF2B5EF4-FFF2-40B4-BE49-F238E27FC236}">
                <a16:creationId xmlns:a16="http://schemas.microsoft.com/office/drawing/2014/main" id="{588065CA-D4C2-57BC-E53E-11C8FA65C62D}"/>
              </a:ext>
            </a:extLst>
          </p:cNvPr>
          <p:cNvPicPr>
            <a:picLocks noGrp="1" noChangeAspect="1"/>
          </p:cNvPicPr>
          <p:nvPr>
            <p:ph idx="1"/>
          </p:nvPr>
        </p:nvPicPr>
        <p:blipFill>
          <a:blip r:embed="rId2"/>
          <a:stretch>
            <a:fillRect/>
          </a:stretch>
        </p:blipFill>
        <p:spPr>
          <a:xfrm>
            <a:off x="1991138" y="1571417"/>
            <a:ext cx="7659758" cy="3506975"/>
          </a:xfrm>
          <a:prstGeom prst="rect">
            <a:avLst/>
          </a:prstGeom>
        </p:spPr>
      </p:pic>
      <p:sp>
        <p:nvSpPr>
          <p:cNvPr id="4" name="TextBox 3">
            <a:extLst>
              <a:ext uri="{FF2B5EF4-FFF2-40B4-BE49-F238E27FC236}">
                <a16:creationId xmlns:a16="http://schemas.microsoft.com/office/drawing/2014/main" id="{4459019A-498C-38AE-F0DA-872C6435F446}"/>
              </a:ext>
            </a:extLst>
          </p:cNvPr>
          <p:cNvSpPr txBox="1"/>
          <p:nvPr/>
        </p:nvSpPr>
        <p:spPr>
          <a:xfrm>
            <a:off x="838200" y="5170313"/>
            <a:ext cx="10959548" cy="1200329"/>
          </a:xfrm>
          <a:prstGeom prst="rect">
            <a:avLst/>
          </a:prstGeom>
          <a:noFill/>
        </p:spPr>
        <p:txBody>
          <a:bodyPr wrap="square">
            <a:spAutoFit/>
          </a:bodyPr>
          <a:lstStyle/>
          <a:p>
            <a:pPr algn="l"/>
            <a:r>
              <a:rPr lang="en-US" sz="2400" b="0" i="0" u="none" strike="noStrike" baseline="0" dirty="0"/>
              <a:t>The goal is to group similar instances together into </a:t>
            </a:r>
            <a:r>
              <a:rPr lang="en-US" sz="2400" b="0" i="1" u="none" strike="noStrike" baseline="0" dirty="0"/>
              <a:t>clusters</a:t>
            </a:r>
            <a:r>
              <a:rPr lang="en-US" sz="2400" b="0" i="0" u="none" strike="noStrike" baseline="0" dirty="0"/>
              <a:t>. Clustering is a great tool for data analysis, customer segmentation, recommender systems, search engines, image segmentation, semi-supervised learning, dimensionality reduction, </a:t>
            </a:r>
            <a:r>
              <a:rPr lang="en-IN" sz="2400" b="0" i="0" u="none" strike="noStrike" baseline="0" dirty="0"/>
              <a:t>and more.</a:t>
            </a:r>
            <a:endParaRPr lang="en-IN" sz="2400" dirty="0"/>
          </a:p>
        </p:txBody>
      </p:sp>
    </p:spTree>
    <p:extLst>
      <p:ext uri="{BB962C8B-B14F-4D97-AF65-F5344CB8AC3E}">
        <p14:creationId xmlns:p14="http://schemas.microsoft.com/office/powerpoint/2010/main" val="2830176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F2D8A-EA4B-663F-FA72-EC8EA1185CD9}"/>
              </a:ext>
            </a:extLst>
          </p:cNvPr>
          <p:cNvSpPr>
            <a:spLocks noGrp="1"/>
          </p:cNvSpPr>
          <p:nvPr>
            <p:ph type="title"/>
          </p:nvPr>
        </p:nvSpPr>
        <p:spPr/>
        <p:txBody>
          <a:bodyPr/>
          <a:lstStyle/>
          <a:p>
            <a:r>
              <a:rPr lang="en-IN" dirty="0"/>
              <a:t>Unsupervised learning - </a:t>
            </a:r>
            <a:r>
              <a:rPr lang="en-IN" i="1" dirty="0"/>
              <a:t>Anomaly detection</a:t>
            </a:r>
            <a:endParaRPr lang="en-IN" dirty="0"/>
          </a:p>
        </p:txBody>
      </p:sp>
      <p:pic>
        <p:nvPicPr>
          <p:cNvPr id="5" name="Content Placeholder 4">
            <a:extLst>
              <a:ext uri="{FF2B5EF4-FFF2-40B4-BE49-F238E27FC236}">
                <a16:creationId xmlns:a16="http://schemas.microsoft.com/office/drawing/2014/main" id="{30973414-CCBC-77FF-C18C-5BBEFF57BF19}"/>
              </a:ext>
            </a:extLst>
          </p:cNvPr>
          <p:cNvPicPr>
            <a:picLocks noGrp="1" noChangeAspect="1"/>
          </p:cNvPicPr>
          <p:nvPr>
            <p:ph idx="1"/>
          </p:nvPr>
        </p:nvPicPr>
        <p:blipFill>
          <a:blip r:embed="rId2"/>
          <a:stretch>
            <a:fillRect/>
          </a:stretch>
        </p:blipFill>
        <p:spPr>
          <a:xfrm>
            <a:off x="1719469" y="1673156"/>
            <a:ext cx="8259417" cy="3511687"/>
          </a:xfrm>
          <a:prstGeom prst="rect">
            <a:avLst/>
          </a:prstGeom>
        </p:spPr>
      </p:pic>
      <p:sp>
        <p:nvSpPr>
          <p:cNvPr id="4" name="TextBox 3">
            <a:extLst>
              <a:ext uri="{FF2B5EF4-FFF2-40B4-BE49-F238E27FC236}">
                <a16:creationId xmlns:a16="http://schemas.microsoft.com/office/drawing/2014/main" id="{37B3C896-5CF2-1836-66F4-64CF2FC80E9D}"/>
              </a:ext>
            </a:extLst>
          </p:cNvPr>
          <p:cNvSpPr txBox="1"/>
          <p:nvPr/>
        </p:nvSpPr>
        <p:spPr>
          <a:xfrm>
            <a:off x="838198" y="5380672"/>
            <a:ext cx="10889975" cy="1200329"/>
          </a:xfrm>
          <a:prstGeom prst="rect">
            <a:avLst/>
          </a:prstGeom>
          <a:noFill/>
        </p:spPr>
        <p:txBody>
          <a:bodyPr wrap="square">
            <a:spAutoFit/>
          </a:bodyPr>
          <a:lstStyle/>
          <a:p>
            <a:pPr algn="l"/>
            <a:r>
              <a:rPr lang="en-US" sz="2400" b="0" i="0" u="none" strike="noStrike" baseline="0" dirty="0"/>
              <a:t>The objective is to learn what “normal” data looks like, and then use that to detect abnormal instances, such as defective items on a production line or a new trend in a time series.</a:t>
            </a:r>
            <a:endParaRPr lang="en-IN" sz="2400" dirty="0"/>
          </a:p>
        </p:txBody>
      </p:sp>
    </p:spTree>
    <p:extLst>
      <p:ext uri="{BB962C8B-B14F-4D97-AF65-F5344CB8AC3E}">
        <p14:creationId xmlns:p14="http://schemas.microsoft.com/office/powerpoint/2010/main" val="282388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FCB6C-21E2-26F6-E594-77E90E48A2E2}"/>
              </a:ext>
            </a:extLst>
          </p:cNvPr>
          <p:cNvSpPr>
            <a:spLocks noGrp="1"/>
          </p:cNvSpPr>
          <p:nvPr>
            <p:ph type="title"/>
          </p:nvPr>
        </p:nvSpPr>
        <p:spPr/>
        <p:txBody>
          <a:bodyPr/>
          <a:lstStyle/>
          <a:p>
            <a:r>
              <a:rPr lang="en-IN" dirty="0"/>
              <a:t>Unsupervised learning - </a:t>
            </a:r>
            <a:r>
              <a:rPr lang="en-IN" i="1" dirty="0"/>
              <a:t>Anomaly detection</a:t>
            </a:r>
            <a:endParaRPr lang="en-IN" dirty="0"/>
          </a:p>
        </p:txBody>
      </p:sp>
      <p:sp>
        <p:nvSpPr>
          <p:cNvPr id="3" name="Content Placeholder 2">
            <a:extLst>
              <a:ext uri="{FF2B5EF4-FFF2-40B4-BE49-F238E27FC236}">
                <a16:creationId xmlns:a16="http://schemas.microsoft.com/office/drawing/2014/main" id="{334E482A-FE3A-ED19-43EA-81728907A036}"/>
              </a:ext>
            </a:extLst>
          </p:cNvPr>
          <p:cNvSpPr>
            <a:spLocks noGrp="1"/>
          </p:cNvSpPr>
          <p:nvPr>
            <p:ph idx="1"/>
          </p:nvPr>
        </p:nvSpPr>
        <p:spPr/>
        <p:txBody>
          <a:bodyPr/>
          <a:lstStyle/>
          <a:p>
            <a:r>
              <a:rPr lang="en-IN" b="1" dirty="0"/>
              <a:t>Density estimation</a:t>
            </a:r>
          </a:p>
          <a:p>
            <a:pPr lvl="1"/>
            <a:r>
              <a:rPr lang="en-US" dirty="0"/>
              <a:t>This is the task of estimating the probability density function (PDF) of the random process that generated the dataset. </a:t>
            </a:r>
          </a:p>
          <a:p>
            <a:pPr lvl="1"/>
            <a:r>
              <a:rPr lang="en-US" dirty="0"/>
              <a:t>Density estimation is commonly used for anomaly detection: instances located in very low-density regions are likely to be anomalies. </a:t>
            </a:r>
          </a:p>
          <a:p>
            <a:pPr lvl="1"/>
            <a:r>
              <a:rPr lang="en-US" dirty="0"/>
              <a:t>It is also useful for data analysis and visualization.</a:t>
            </a:r>
            <a:endParaRPr lang="en-IN" dirty="0"/>
          </a:p>
        </p:txBody>
      </p:sp>
    </p:spTree>
    <p:extLst>
      <p:ext uri="{BB962C8B-B14F-4D97-AF65-F5344CB8AC3E}">
        <p14:creationId xmlns:p14="http://schemas.microsoft.com/office/powerpoint/2010/main" val="2635848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79243-B1C9-B822-56A1-F27FB633DCF7}"/>
              </a:ext>
            </a:extLst>
          </p:cNvPr>
          <p:cNvSpPr>
            <a:spLocks noGrp="1"/>
          </p:cNvSpPr>
          <p:nvPr>
            <p:ph type="title"/>
          </p:nvPr>
        </p:nvSpPr>
        <p:spPr/>
        <p:txBody>
          <a:bodyPr>
            <a:normAutofit/>
          </a:bodyPr>
          <a:lstStyle/>
          <a:p>
            <a:r>
              <a:rPr lang="en-US" sz="3600" dirty="0"/>
              <a:t>The basic steps that an expert must follow in order to develop a clustering task </a:t>
            </a:r>
            <a:r>
              <a:rPr lang="en-IN" sz="3600" dirty="0"/>
              <a:t>are the following:</a:t>
            </a:r>
          </a:p>
        </p:txBody>
      </p:sp>
      <p:sp>
        <p:nvSpPr>
          <p:cNvPr id="3" name="Content Placeholder 2">
            <a:extLst>
              <a:ext uri="{FF2B5EF4-FFF2-40B4-BE49-F238E27FC236}">
                <a16:creationId xmlns:a16="http://schemas.microsoft.com/office/drawing/2014/main" id="{1160AD2E-2C55-1259-C1CA-A4924D3E1685}"/>
              </a:ext>
            </a:extLst>
          </p:cNvPr>
          <p:cNvSpPr>
            <a:spLocks noGrp="1"/>
          </p:cNvSpPr>
          <p:nvPr>
            <p:ph idx="1"/>
          </p:nvPr>
        </p:nvSpPr>
        <p:spPr/>
        <p:txBody>
          <a:bodyPr>
            <a:normAutofit/>
          </a:bodyPr>
          <a:lstStyle/>
          <a:p>
            <a:pPr marL="457200" indent="-457200">
              <a:buFont typeface="+mj-lt"/>
              <a:buAutoNum type="arabicPeriod"/>
            </a:pPr>
            <a:r>
              <a:rPr lang="en-US" sz="2400" b="1" dirty="0"/>
              <a:t>Feature selection: </a:t>
            </a:r>
            <a:r>
              <a:rPr lang="en-US" sz="2400" dirty="0"/>
              <a:t>Features must be properly selected so as to encode as much information as possible concerning the task of interest. </a:t>
            </a:r>
          </a:p>
          <a:p>
            <a:pPr marL="457200" indent="-457200">
              <a:buFont typeface="+mj-lt"/>
              <a:buAutoNum type="arabicPeriod"/>
            </a:pPr>
            <a:r>
              <a:rPr lang="en-US" sz="2400" b="1" dirty="0"/>
              <a:t>Proximity measure:</a:t>
            </a:r>
            <a:r>
              <a:rPr lang="en-US" sz="2400" dirty="0"/>
              <a:t> This measure quantifies </a:t>
            </a:r>
            <a:r>
              <a:rPr lang="en-US" sz="2400" dirty="0" err="1"/>
              <a:t>how“similar”or“dissimilar”two</a:t>
            </a:r>
            <a:r>
              <a:rPr lang="en-US" sz="2400" dirty="0"/>
              <a:t> feature vectors are. All selected features contribute equally to the computation of the proximity measure and there are no features that dominate others.</a:t>
            </a:r>
          </a:p>
          <a:p>
            <a:pPr marL="457200" indent="-457200">
              <a:buFont typeface="+mj-lt"/>
              <a:buAutoNum type="arabicPeriod"/>
            </a:pPr>
            <a:r>
              <a:rPr lang="en-US" sz="2400" b="1" dirty="0"/>
              <a:t>Clustering criterion</a:t>
            </a:r>
            <a:r>
              <a:rPr lang="en-US" sz="2400" dirty="0"/>
              <a:t>. This criterion depends on the interpretation the expert gives to the term </a:t>
            </a:r>
            <a:r>
              <a:rPr lang="en-US" sz="2400" i="1" dirty="0"/>
              <a:t>sensible</a:t>
            </a:r>
            <a:r>
              <a:rPr lang="en-US" sz="2400" dirty="0"/>
              <a:t>, based on the type of clusters that are expected to underlie the data set. </a:t>
            </a:r>
          </a:p>
          <a:p>
            <a:pPr marL="457200" indent="-457200">
              <a:buFont typeface="+mj-lt"/>
              <a:buAutoNum type="arabicPeriod"/>
            </a:pPr>
            <a:r>
              <a:rPr lang="en-US" sz="2400" b="1" dirty="0"/>
              <a:t>Clustering algorithms:</a:t>
            </a:r>
            <a:r>
              <a:rPr lang="en-US" sz="2400" dirty="0"/>
              <a:t> Having adopted a proximity measure and a clustering criterion, this step refers to the choice of a specific algorithmic scheme that unravels the clustering structure of the data set.</a:t>
            </a:r>
          </a:p>
        </p:txBody>
      </p:sp>
    </p:spTree>
    <p:extLst>
      <p:ext uri="{BB962C8B-B14F-4D97-AF65-F5344CB8AC3E}">
        <p14:creationId xmlns:p14="http://schemas.microsoft.com/office/powerpoint/2010/main" val="4177317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79243-B1C9-B822-56A1-F27FB633DCF7}"/>
              </a:ext>
            </a:extLst>
          </p:cNvPr>
          <p:cNvSpPr>
            <a:spLocks noGrp="1"/>
          </p:cNvSpPr>
          <p:nvPr>
            <p:ph type="title"/>
          </p:nvPr>
        </p:nvSpPr>
        <p:spPr/>
        <p:txBody>
          <a:bodyPr>
            <a:normAutofit/>
          </a:bodyPr>
          <a:lstStyle/>
          <a:p>
            <a:r>
              <a:rPr lang="en-US" sz="3600" dirty="0"/>
              <a:t>The basic steps that an expert must follow in order to develop a clustering task </a:t>
            </a:r>
            <a:r>
              <a:rPr lang="en-IN" sz="3600" dirty="0"/>
              <a:t>are the following:</a:t>
            </a:r>
          </a:p>
        </p:txBody>
      </p:sp>
      <p:sp>
        <p:nvSpPr>
          <p:cNvPr id="3" name="Content Placeholder 2">
            <a:extLst>
              <a:ext uri="{FF2B5EF4-FFF2-40B4-BE49-F238E27FC236}">
                <a16:creationId xmlns:a16="http://schemas.microsoft.com/office/drawing/2014/main" id="{1160AD2E-2C55-1259-C1CA-A4924D3E1685}"/>
              </a:ext>
            </a:extLst>
          </p:cNvPr>
          <p:cNvSpPr>
            <a:spLocks noGrp="1"/>
          </p:cNvSpPr>
          <p:nvPr>
            <p:ph idx="1"/>
          </p:nvPr>
        </p:nvSpPr>
        <p:spPr/>
        <p:txBody>
          <a:bodyPr>
            <a:normAutofit/>
          </a:bodyPr>
          <a:lstStyle/>
          <a:p>
            <a:pPr marL="457200" indent="-457200">
              <a:buFont typeface="+mj-lt"/>
              <a:buAutoNum type="arabicPeriod" startAt="5"/>
            </a:pPr>
            <a:r>
              <a:rPr lang="en-US" sz="2400" b="1" dirty="0"/>
              <a:t>Validation of the results:</a:t>
            </a:r>
            <a:r>
              <a:rPr lang="en-US" sz="2400" dirty="0"/>
              <a:t> Once the results of the clustering algorithm have been obtained, we have to verify their correctness. This is usually carried out </a:t>
            </a:r>
            <a:r>
              <a:rPr lang="en-IN" sz="2400" dirty="0"/>
              <a:t>using appropriate tests.</a:t>
            </a:r>
          </a:p>
          <a:p>
            <a:pPr marL="457200" indent="-457200">
              <a:buFont typeface="+mj-lt"/>
              <a:buAutoNum type="arabicPeriod" startAt="5"/>
            </a:pPr>
            <a:r>
              <a:rPr lang="en-US" sz="2400" b="1" dirty="0"/>
              <a:t>Interpretation of the results:</a:t>
            </a:r>
            <a:r>
              <a:rPr lang="en-US" sz="2400" dirty="0"/>
              <a:t> In many cases, the expert in the application field must integrate the results of clustering with other experimental evidence and analysis in order to draw the right conclusions.</a:t>
            </a:r>
            <a:endParaRPr lang="en-IN" sz="2400" dirty="0"/>
          </a:p>
        </p:txBody>
      </p:sp>
    </p:spTree>
    <p:extLst>
      <p:ext uri="{BB962C8B-B14F-4D97-AF65-F5344CB8AC3E}">
        <p14:creationId xmlns:p14="http://schemas.microsoft.com/office/powerpoint/2010/main" val="2827753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E9694-323B-A4C8-48B0-6496A89FA00C}"/>
              </a:ext>
            </a:extLst>
          </p:cNvPr>
          <p:cNvSpPr>
            <a:spLocks noGrp="1"/>
          </p:cNvSpPr>
          <p:nvPr>
            <p:ph type="title"/>
          </p:nvPr>
        </p:nvSpPr>
        <p:spPr/>
        <p:txBody>
          <a:bodyPr/>
          <a:lstStyle/>
          <a:p>
            <a:r>
              <a:rPr lang="en-IN" dirty="0"/>
              <a:t>Clustering</a:t>
            </a:r>
          </a:p>
        </p:txBody>
      </p:sp>
      <p:sp>
        <p:nvSpPr>
          <p:cNvPr id="3" name="Content Placeholder 2">
            <a:extLst>
              <a:ext uri="{FF2B5EF4-FFF2-40B4-BE49-F238E27FC236}">
                <a16:creationId xmlns:a16="http://schemas.microsoft.com/office/drawing/2014/main" id="{F86E1A47-99EA-2C04-0E16-222A91FC3441}"/>
              </a:ext>
            </a:extLst>
          </p:cNvPr>
          <p:cNvSpPr>
            <a:spLocks noGrp="1"/>
          </p:cNvSpPr>
          <p:nvPr>
            <p:ph idx="1"/>
          </p:nvPr>
        </p:nvSpPr>
        <p:spPr/>
        <p:txBody>
          <a:bodyPr>
            <a:normAutofit/>
          </a:bodyPr>
          <a:lstStyle/>
          <a:p>
            <a:pPr marL="0" indent="0">
              <a:buNone/>
            </a:pPr>
            <a:r>
              <a:rPr lang="en-US" sz="2400" dirty="0"/>
              <a:t>Let </a:t>
            </a:r>
            <a:r>
              <a:rPr lang="en-US" sz="2400" i="1" dirty="0"/>
              <a:t>X </a:t>
            </a:r>
            <a:r>
              <a:rPr lang="en-US" sz="2400" dirty="0"/>
              <a:t>be our data set, </a:t>
            </a:r>
            <a:r>
              <a:rPr lang="en-IN" sz="2400" dirty="0"/>
              <a:t>that is,         </a:t>
            </a:r>
            <a:r>
              <a:rPr lang="en-IN" sz="2400" i="1" dirty="0"/>
              <a:t>X </a:t>
            </a:r>
            <a:r>
              <a:rPr lang="en-IN" sz="2400" dirty="0"/>
              <a:t> {</a:t>
            </a:r>
            <a:r>
              <a:rPr lang="en-IN" sz="2400" b="1" i="1" dirty="0"/>
              <a:t>x</a:t>
            </a:r>
            <a:r>
              <a:rPr lang="en-IN" sz="2400" dirty="0"/>
              <a:t>1, </a:t>
            </a:r>
            <a:r>
              <a:rPr lang="en-IN" sz="2400" b="1" i="1" dirty="0"/>
              <a:t>x</a:t>
            </a:r>
            <a:r>
              <a:rPr lang="en-IN" sz="2400" dirty="0"/>
              <a:t>2, </a:t>
            </a:r>
            <a:r>
              <a:rPr lang="en-IN" sz="2400" i="1" dirty="0"/>
              <a:t>. . . </a:t>
            </a:r>
            <a:r>
              <a:rPr lang="en-IN" sz="2400" dirty="0"/>
              <a:t>, </a:t>
            </a:r>
            <a:r>
              <a:rPr lang="en-IN" sz="2400" b="1" i="1" dirty="0" err="1"/>
              <a:t>x</a:t>
            </a:r>
            <a:r>
              <a:rPr lang="en-IN" sz="2400" i="1" dirty="0" err="1"/>
              <a:t>N</a:t>
            </a:r>
            <a:r>
              <a:rPr lang="en-IN" sz="2400" i="1" dirty="0"/>
              <a:t> </a:t>
            </a:r>
            <a:r>
              <a:rPr lang="en-IN" sz="2400" dirty="0"/>
              <a:t>}</a:t>
            </a:r>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r>
              <a:rPr lang="en-US" sz="2400" dirty="0"/>
              <a:t>the vectors contained in a cluster </a:t>
            </a:r>
            <a:r>
              <a:rPr lang="en-US" sz="2400" i="1" dirty="0"/>
              <a:t>Ci </a:t>
            </a:r>
            <a:r>
              <a:rPr lang="en-US" sz="2400" dirty="0"/>
              <a:t>are “more similar” to each other and “less similar” to the feature vectors of the other clusters</a:t>
            </a:r>
            <a:endParaRPr lang="en-IN" sz="2400" dirty="0"/>
          </a:p>
          <a:p>
            <a:pPr marL="0" indent="0">
              <a:buNone/>
            </a:pPr>
            <a:endParaRPr lang="en-IN" sz="2400" dirty="0"/>
          </a:p>
        </p:txBody>
      </p:sp>
      <p:pic>
        <p:nvPicPr>
          <p:cNvPr id="5" name="Picture 4">
            <a:extLst>
              <a:ext uri="{FF2B5EF4-FFF2-40B4-BE49-F238E27FC236}">
                <a16:creationId xmlns:a16="http://schemas.microsoft.com/office/drawing/2014/main" id="{1409BEE1-0974-32D0-3813-3C55AAD37362}"/>
              </a:ext>
            </a:extLst>
          </p:cNvPr>
          <p:cNvPicPr>
            <a:picLocks noChangeAspect="1"/>
          </p:cNvPicPr>
          <p:nvPr/>
        </p:nvPicPr>
        <p:blipFill>
          <a:blip r:embed="rId2"/>
          <a:stretch>
            <a:fillRect/>
          </a:stretch>
        </p:blipFill>
        <p:spPr>
          <a:xfrm>
            <a:off x="838200" y="2318325"/>
            <a:ext cx="10084904" cy="2638793"/>
          </a:xfrm>
          <a:prstGeom prst="rect">
            <a:avLst/>
          </a:prstGeom>
        </p:spPr>
      </p:pic>
    </p:spTree>
    <p:extLst>
      <p:ext uri="{BB962C8B-B14F-4D97-AF65-F5344CB8AC3E}">
        <p14:creationId xmlns:p14="http://schemas.microsoft.com/office/powerpoint/2010/main" val="3147720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3995-449F-03F8-89AF-35FC33641636}"/>
              </a:ext>
            </a:extLst>
          </p:cNvPr>
          <p:cNvSpPr>
            <a:spLocks noGrp="1"/>
          </p:cNvSpPr>
          <p:nvPr>
            <p:ph type="title"/>
          </p:nvPr>
        </p:nvSpPr>
        <p:spPr/>
        <p:txBody>
          <a:bodyPr/>
          <a:lstStyle/>
          <a:p>
            <a:r>
              <a:rPr lang="en-IN" dirty="0"/>
              <a:t>Clustering</a:t>
            </a:r>
          </a:p>
        </p:txBody>
      </p:sp>
      <p:sp>
        <p:nvSpPr>
          <p:cNvPr id="3" name="Content Placeholder 2">
            <a:extLst>
              <a:ext uri="{FF2B5EF4-FFF2-40B4-BE49-F238E27FC236}">
                <a16:creationId xmlns:a16="http://schemas.microsoft.com/office/drawing/2014/main" id="{5EB26599-6B09-ACEF-491C-3DC873CBE6A1}"/>
              </a:ext>
            </a:extLst>
          </p:cNvPr>
          <p:cNvSpPr>
            <a:spLocks noGrp="1"/>
          </p:cNvSpPr>
          <p:nvPr>
            <p:ph idx="1"/>
          </p:nvPr>
        </p:nvSpPr>
        <p:spPr/>
        <p:txBody>
          <a:bodyPr/>
          <a:lstStyle/>
          <a:p>
            <a:r>
              <a:rPr lang="en-IN" dirty="0"/>
              <a:t>Hard or crisp </a:t>
            </a:r>
            <a:r>
              <a:rPr lang="en-US" dirty="0"/>
              <a:t>clustering </a:t>
            </a:r>
            <a:r>
              <a:rPr lang="en-US" dirty="0">
                <a:sym typeface="Wingdings" panose="05000000000000000000" pitchFamily="2" charset="2"/>
              </a:rPr>
              <a:t> </a:t>
            </a:r>
            <a:r>
              <a:rPr lang="en-IN" dirty="0"/>
              <a:t>each vector belongs to </a:t>
            </a:r>
            <a:r>
              <a:rPr lang="en-US" dirty="0"/>
              <a:t>a single cluster</a:t>
            </a:r>
          </a:p>
          <a:p>
            <a:r>
              <a:rPr lang="en-US" dirty="0"/>
              <a:t>What is a good clustering? </a:t>
            </a:r>
          </a:p>
          <a:p>
            <a:pPr lvl="1"/>
            <a:r>
              <a:rPr lang="en-US" dirty="0"/>
              <a:t>Internal (within the cluster) distances should be small </a:t>
            </a:r>
          </a:p>
          <a:p>
            <a:pPr lvl="1"/>
            <a:r>
              <a:rPr lang="en-US" dirty="0"/>
              <a:t>External (intra-cluster) should be large</a:t>
            </a:r>
          </a:p>
          <a:p>
            <a:pPr lvl="1"/>
            <a:r>
              <a:rPr lang="en-US" dirty="0"/>
              <a:t>Clustering is a way to discover new categories (classes)</a:t>
            </a:r>
          </a:p>
          <a:p>
            <a:r>
              <a:rPr lang="en-US" dirty="0"/>
              <a:t>What we Need for Clustering</a:t>
            </a:r>
          </a:p>
          <a:p>
            <a:pPr marL="914400" lvl="1" indent="-457200">
              <a:buFont typeface="+mj-lt"/>
              <a:buAutoNum type="arabicPeriod"/>
            </a:pPr>
            <a:r>
              <a:rPr lang="en-US" b="1" dirty="0"/>
              <a:t>Proximity measure</a:t>
            </a:r>
            <a:r>
              <a:rPr lang="en-US" dirty="0"/>
              <a:t>, either </a:t>
            </a:r>
          </a:p>
          <a:p>
            <a:pPr lvl="2"/>
            <a:r>
              <a:rPr lang="en-US" dirty="0"/>
              <a:t>Dissimilarity(or distance) measure d(</a:t>
            </a:r>
            <a:r>
              <a:rPr lang="en-US" dirty="0" err="1"/>
              <a:t>x,y</a:t>
            </a:r>
            <a:r>
              <a:rPr lang="en-US" dirty="0"/>
              <a:t>): small if </a:t>
            </a:r>
            <a:r>
              <a:rPr lang="en-US" dirty="0" err="1"/>
              <a:t>x,y</a:t>
            </a:r>
            <a:r>
              <a:rPr lang="en-US" baseline="-25000" dirty="0"/>
              <a:t> </a:t>
            </a:r>
            <a:r>
              <a:rPr lang="en-US" dirty="0"/>
              <a:t>are similar</a:t>
            </a:r>
          </a:p>
          <a:p>
            <a:pPr lvl="2"/>
            <a:r>
              <a:rPr lang="en-US" dirty="0"/>
              <a:t>Similarity measure s(</a:t>
            </a:r>
            <a:r>
              <a:rPr lang="en-US" dirty="0" err="1"/>
              <a:t>x,y</a:t>
            </a:r>
            <a:r>
              <a:rPr lang="en-US" dirty="0"/>
              <a:t>): large if </a:t>
            </a:r>
            <a:r>
              <a:rPr lang="en-US" dirty="0" err="1"/>
              <a:t>x,y</a:t>
            </a:r>
            <a:r>
              <a:rPr lang="en-US" baseline="-25000" dirty="0"/>
              <a:t> </a:t>
            </a:r>
            <a:r>
              <a:rPr lang="en-US" dirty="0"/>
              <a:t>are similar </a:t>
            </a:r>
          </a:p>
          <a:p>
            <a:pPr lvl="2"/>
            <a:endParaRPr lang="en-IN" dirty="0"/>
          </a:p>
        </p:txBody>
      </p:sp>
    </p:spTree>
    <p:extLst>
      <p:ext uri="{BB962C8B-B14F-4D97-AF65-F5344CB8AC3E}">
        <p14:creationId xmlns:p14="http://schemas.microsoft.com/office/powerpoint/2010/main" val="3201990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32770B-AB91-B6B1-F281-8CD8130A94B5}"/>
              </a:ext>
            </a:extLst>
          </p:cNvPr>
          <p:cNvPicPr>
            <a:picLocks noChangeAspect="1"/>
          </p:cNvPicPr>
          <p:nvPr/>
        </p:nvPicPr>
        <p:blipFill>
          <a:blip r:embed="rId2"/>
          <a:stretch>
            <a:fillRect/>
          </a:stretch>
        </p:blipFill>
        <p:spPr>
          <a:xfrm>
            <a:off x="1852020" y="518706"/>
            <a:ext cx="8487960" cy="5820587"/>
          </a:xfrm>
          <a:prstGeom prst="rect">
            <a:avLst/>
          </a:prstGeom>
        </p:spPr>
      </p:pic>
      <p:sp>
        <p:nvSpPr>
          <p:cNvPr id="7" name="TextBox 6">
            <a:extLst>
              <a:ext uri="{FF2B5EF4-FFF2-40B4-BE49-F238E27FC236}">
                <a16:creationId xmlns:a16="http://schemas.microsoft.com/office/drawing/2014/main" id="{A18533B7-BBF3-C227-95C2-20CA2F8FD7FD}"/>
              </a:ext>
            </a:extLst>
          </p:cNvPr>
          <p:cNvSpPr txBox="1"/>
          <p:nvPr/>
        </p:nvSpPr>
        <p:spPr>
          <a:xfrm>
            <a:off x="8716618" y="6339293"/>
            <a:ext cx="3250096" cy="461665"/>
          </a:xfrm>
          <a:prstGeom prst="rect">
            <a:avLst/>
          </a:prstGeom>
          <a:noFill/>
        </p:spPr>
        <p:txBody>
          <a:bodyPr wrap="square">
            <a:spAutoFit/>
          </a:bodyPr>
          <a:lstStyle/>
          <a:p>
            <a:r>
              <a:rPr lang="en-IN" sz="2400" b="1" u="none" strike="noStrike" baseline="0" dirty="0">
                <a:solidFill>
                  <a:srgbClr val="231F20"/>
                </a:solidFill>
              </a:rPr>
              <a:t>Triangular Inequality</a:t>
            </a:r>
            <a:endParaRPr lang="en-IN" sz="2400" b="1" dirty="0"/>
          </a:p>
        </p:txBody>
      </p:sp>
    </p:spTree>
    <p:extLst>
      <p:ext uri="{BB962C8B-B14F-4D97-AF65-F5344CB8AC3E}">
        <p14:creationId xmlns:p14="http://schemas.microsoft.com/office/powerpoint/2010/main" val="485514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3DC01B-3941-AE0C-5C3E-1E4497F81E6F}"/>
              </a:ext>
            </a:extLst>
          </p:cNvPr>
          <p:cNvPicPr>
            <a:picLocks noChangeAspect="1"/>
          </p:cNvPicPr>
          <p:nvPr/>
        </p:nvPicPr>
        <p:blipFill>
          <a:blip r:embed="rId2"/>
          <a:stretch>
            <a:fillRect/>
          </a:stretch>
        </p:blipFill>
        <p:spPr>
          <a:xfrm>
            <a:off x="1599572" y="256732"/>
            <a:ext cx="8992855" cy="6344535"/>
          </a:xfrm>
          <a:prstGeom prst="rect">
            <a:avLst/>
          </a:prstGeom>
        </p:spPr>
      </p:pic>
    </p:spTree>
    <p:extLst>
      <p:ext uri="{BB962C8B-B14F-4D97-AF65-F5344CB8AC3E}">
        <p14:creationId xmlns:p14="http://schemas.microsoft.com/office/powerpoint/2010/main" val="2489231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37C95-CBC7-CBE5-6A5D-A70FBE16C4F9}"/>
              </a:ext>
            </a:extLst>
          </p:cNvPr>
          <p:cNvSpPr>
            <a:spLocks noGrp="1"/>
          </p:cNvSpPr>
          <p:nvPr>
            <p:ph type="title"/>
          </p:nvPr>
        </p:nvSpPr>
        <p:spPr/>
        <p:txBody>
          <a:bodyPr/>
          <a:lstStyle/>
          <a:p>
            <a:r>
              <a:rPr lang="en-US" dirty="0"/>
              <a:t>Dissimilarity(or distance) measure d(</a:t>
            </a:r>
            <a:r>
              <a:rPr lang="en-US" dirty="0" err="1"/>
              <a:t>x,y</a:t>
            </a:r>
            <a:r>
              <a:rPr lang="en-US" dirty="0"/>
              <a:t>)</a:t>
            </a:r>
            <a:endParaRPr lang="en-IN" dirty="0"/>
          </a:p>
        </p:txBody>
      </p:sp>
      <p:sp>
        <p:nvSpPr>
          <p:cNvPr id="3" name="Content Placeholder 2">
            <a:extLst>
              <a:ext uri="{FF2B5EF4-FFF2-40B4-BE49-F238E27FC236}">
                <a16:creationId xmlns:a16="http://schemas.microsoft.com/office/drawing/2014/main" id="{79F737C7-5640-89CF-0595-4AB586F64A8C}"/>
              </a:ext>
            </a:extLst>
          </p:cNvPr>
          <p:cNvSpPr>
            <a:spLocks noGrp="1"/>
          </p:cNvSpPr>
          <p:nvPr>
            <p:ph idx="1"/>
          </p:nvPr>
        </p:nvSpPr>
        <p:spPr/>
        <p:txBody>
          <a:bodyPr/>
          <a:lstStyle/>
          <a:p>
            <a:pPr marL="514350" indent="-514350">
              <a:buFont typeface="+mj-lt"/>
              <a:buAutoNum type="arabicPeriod"/>
            </a:pPr>
            <a:r>
              <a:rPr lang="en-IN" dirty="0"/>
              <a:t>Manhattan distance</a:t>
            </a:r>
          </a:p>
          <a:p>
            <a:pPr marL="514350" indent="-514350">
              <a:buFont typeface="+mj-lt"/>
              <a:buAutoNum type="arabicPeriod"/>
            </a:pPr>
            <a:r>
              <a:rPr lang="en-IN" dirty="0"/>
              <a:t>Euclidean distance</a:t>
            </a:r>
          </a:p>
          <a:p>
            <a:pPr marL="514350" indent="-514350">
              <a:buFont typeface="+mj-lt"/>
              <a:buAutoNum type="arabicPeriod"/>
            </a:pPr>
            <a:r>
              <a:rPr lang="en-IN" dirty="0"/>
              <a:t>Minkowski Distances</a:t>
            </a:r>
          </a:p>
        </p:txBody>
      </p:sp>
      <p:pic>
        <p:nvPicPr>
          <p:cNvPr id="5" name="Picture 4">
            <a:extLst>
              <a:ext uri="{FF2B5EF4-FFF2-40B4-BE49-F238E27FC236}">
                <a16:creationId xmlns:a16="http://schemas.microsoft.com/office/drawing/2014/main" id="{C2C1DC03-6599-E78C-3F1E-8B6FF0204F0E}"/>
              </a:ext>
            </a:extLst>
          </p:cNvPr>
          <p:cNvPicPr>
            <a:picLocks noChangeAspect="1"/>
          </p:cNvPicPr>
          <p:nvPr/>
        </p:nvPicPr>
        <p:blipFill>
          <a:blip r:embed="rId2"/>
          <a:stretch>
            <a:fillRect/>
          </a:stretch>
        </p:blipFill>
        <p:spPr>
          <a:xfrm>
            <a:off x="4452730" y="3135957"/>
            <a:ext cx="7603004" cy="3722043"/>
          </a:xfrm>
          <a:prstGeom prst="rect">
            <a:avLst/>
          </a:prstGeom>
        </p:spPr>
      </p:pic>
    </p:spTree>
    <p:extLst>
      <p:ext uri="{BB962C8B-B14F-4D97-AF65-F5344CB8AC3E}">
        <p14:creationId xmlns:p14="http://schemas.microsoft.com/office/powerpoint/2010/main" val="2666432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8A38-F726-A5F1-D067-53594F724690}"/>
              </a:ext>
            </a:extLst>
          </p:cNvPr>
          <p:cNvSpPr>
            <a:spLocks noGrp="1"/>
          </p:cNvSpPr>
          <p:nvPr>
            <p:ph type="title"/>
          </p:nvPr>
        </p:nvSpPr>
        <p:spPr/>
        <p:txBody>
          <a:bodyPr/>
          <a:lstStyle/>
          <a:p>
            <a:r>
              <a:rPr lang="en-IN" dirty="0"/>
              <a:t>Manhattan distance</a:t>
            </a:r>
          </a:p>
        </p:txBody>
      </p:sp>
      <p:sp>
        <p:nvSpPr>
          <p:cNvPr id="3" name="Content Placeholder 2">
            <a:extLst>
              <a:ext uri="{FF2B5EF4-FFF2-40B4-BE49-F238E27FC236}">
                <a16:creationId xmlns:a16="http://schemas.microsoft.com/office/drawing/2014/main" id="{009F3898-C668-5D3B-1A5B-05E9A0DAEFD4}"/>
              </a:ext>
            </a:extLst>
          </p:cNvPr>
          <p:cNvSpPr>
            <a:spLocks noGrp="1"/>
          </p:cNvSpPr>
          <p:nvPr>
            <p:ph idx="1"/>
          </p:nvPr>
        </p:nvSpPr>
        <p:spPr/>
        <p:txBody>
          <a:bodyPr>
            <a:normAutofit/>
          </a:bodyPr>
          <a:lstStyle/>
          <a:p>
            <a:r>
              <a:rPr lang="en-US" sz="2400" dirty="0"/>
              <a:t>Special </a:t>
            </a:r>
            <a:r>
              <a:rPr lang="en-US" sz="2400" dirty="0" err="1"/>
              <a:t>lp</a:t>
            </a:r>
            <a:r>
              <a:rPr lang="en-US" sz="2400" dirty="0"/>
              <a:t> metric DMs that are also encountered in practice are the (weighted) l1 or Manhattan norm,</a:t>
            </a:r>
            <a:endParaRPr lang="en-IN" sz="2400" dirty="0"/>
          </a:p>
        </p:txBody>
      </p:sp>
      <p:pic>
        <p:nvPicPr>
          <p:cNvPr id="5" name="Picture 4">
            <a:extLst>
              <a:ext uri="{FF2B5EF4-FFF2-40B4-BE49-F238E27FC236}">
                <a16:creationId xmlns:a16="http://schemas.microsoft.com/office/drawing/2014/main" id="{CC853A51-5C00-46F0-F481-D6F48C455726}"/>
              </a:ext>
            </a:extLst>
          </p:cNvPr>
          <p:cNvPicPr>
            <a:picLocks noChangeAspect="1"/>
          </p:cNvPicPr>
          <p:nvPr/>
        </p:nvPicPr>
        <p:blipFill>
          <a:blip r:embed="rId2"/>
          <a:stretch>
            <a:fillRect/>
          </a:stretch>
        </p:blipFill>
        <p:spPr>
          <a:xfrm>
            <a:off x="4252878" y="2759077"/>
            <a:ext cx="3797818" cy="1053790"/>
          </a:xfrm>
          <a:prstGeom prst="rect">
            <a:avLst/>
          </a:prstGeom>
        </p:spPr>
      </p:pic>
    </p:spTree>
    <p:extLst>
      <p:ext uri="{BB962C8B-B14F-4D97-AF65-F5344CB8AC3E}">
        <p14:creationId xmlns:p14="http://schemas.microsoft.com/office/powerpoint/2010/main" val="2855926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0730-87BC-348E-F844-844C5622CF42}"/>
              </a:ext>
            </a:extLst>
          </p:cNvPr>
          <p:cNvSpPr>
            <a:spLocks noGrp="1"/>
          </p:cNvSpPr>
          <p:nvPr>
            <p:ph type="title"/>
          </p:nvPr>
        </p:nvSpPr>
        <p:spPr/>
        <p:txBody>
          <a:bodyPr/>
          <a:lstStyle/>
          <a:p>
            <a:r>
              <a:rPr lang="en-IN" dirty="0"/>
              <a:t>Euclidean distance</a:t>
            </a:r>
          </a:p>
        </p:txBody>
      </p:sp>
      <p:sp>
        <p:nvSpPr>
          <p:cNvPr id="3" name="Content Placeholder 2">
            <a:extLst>
              <a:ext uri="{FF2B5EF4-FFF2-40B4-BE49-F238E27FC236}">
                <a16:creationId xmlns:a16="http://schemas.microsoft.com/office/drawing/2014/main" id="{E45242F9-BA89-7B43-2AA3-5DEDA9089540}"/>
              </a:ext>
            </a:extLst>
          </p:cNvPr>
          <p:cNvSpPr>
            <a:spLocks noGrp="1"/>
          </p:cNvSpPr>
          <p:nvPr>
            <p:ph idx="1"/>
          </p:nvPr>
        </p:nvSpPr>
        <p:spPr>
          <a:xfrm>
            <a:off x="838200" y="1391478"/>
            <a:ext cx="10515600" cy="4785485"/>
          </a:xfrm>
        </p:spPr>
        <p:txBody>
          <a:bodyPr>
            <a:normAutofit/>
          </a:bodyPr>
          <a:lstStyle/>
          <a:p>
            <a:r>
              <a:rPr lang="en-IN" sz="2400" dirty="0"/>
              <a:t>This is a dissimilarity </a:t>
            </a:r>
            <a:r>
              <a:rPr lang="en-US" sz="2400" dirty="0"/>
              <a:t>measure on </a:t>
            </a:r>
            <a:r>
              <a:rPr lang="en-US" sz="2400" i="1" dirty="0"/>
              <a:t>X</a:t>
            </a:r>
            <a:r>
              <a:rPr lang="en-US" sz="2400" dirty="0"/>
              <a:t>, with </a:t>
            </a:r>
            <a:r>
              <a:rPr lang="en-US" sz="2400" i="1" dirty="0"/>
              <a:t>d</a:t>
            </a:r>
            <a:r>
              <a:rPr lang="en-US" sz="2400" baseline="-25000" dirty="0"/>
              <a:t>0</a:t>
            </a:r>
            <a:r>
              <a:rPr lang="en-US" sz="2400" dirty="0"/>
              <a:t> =  0; that is, the minimum possible distance between two vectors of </a:t>
            </a:r>
            <a:r>
              <a:rPr lang="en-US" sz="2400" i="1" dirty="0"/>
              <a:t>X </a:t>
            </a:r>
            <a:r>
              <a:rPr lang="en-US" sz="2400" dirty="0"/>
              <a:t>is 0. Moreover, the distance of a vector from itself is equal to 0. Also, it is easy to observe </a:t>
            </a:r>
            <a:r>
              <a:rPr lang="es-ES" sz="2400" dirty="0" err="1"/>
              <a:t>that</a:t>
            </a:r>
            <a:r>
              <a:rPr lang="es-ES" sz="2400" dirty="0"/>
              <a:t> </a:t>
            </a:r>
            <a:r>
              <a:rPr lang="es-ES" sz="2400" i="1" dirty="0"/>
              <a:t>d</a:t>
            </a:r>
            <a:r>
              <a:rPr lang="es-ES" sz="2400" dirty="0"/>
              <a:t>(</a:t>
            </a:r>
            <a:r>
              <a:rPr lang="es-ES" sz="2400" b="1" i="1" dirty="0"/>
              <a:t>x</a:t>
            </a:r>
            <a:r>
              <a:rPr lang="es-ES" sz="2400" dirty="0"/>
              <a:t>, </a:t>
            </a:r>
            <a:r>
              <a:rPr lang="es-ES" sz="2400" b="1" i="1" dirty="0"/>
              <a:t>y</a:t>
            </a:r>
            <a:r>
              <a:rPr lang="es-ES" sz="2400" dirty="0"/>
              <a:t>)  </a:t>
            </a:r>
            <a:r>
              <a:rPr lang="es-ES" sz="2400" i="1" dirty="0"/>
              <a:t>d</a:t>
            </a:r>
            <a:r>
              <a:rPr lang="es-ES" sz="2400" dirty="0"/>
              <a:t>( </a:t>
            </a:r>
            <a:r>
              <a:rPr lang="es-ES" sz="2400" b="1" i="1" dirty="0"/>
              <a:t>y</a:t>
            </a:r>
            <a:r>
              <a:rPr lang="es-ES" sz="2400" dirty="0"/>
              <a:t>, </a:t>
            </a:r>
            <a:r>
              <a:rPr lang="es-ES" sz="2400" b="1" i="1" dirty="0"/>
              <a:t>x</a:t>
            </a:r>
            <a:r>
              <a:rPr lang="es-ES" sz="2400" dirty="0"/>
              <a:t>).</a:t>
            </a:r>
            <a:endParaRPr lang="en-IN" sz="2400" dirty="0"/>
          </a:p>
        </p:txBody>
      </p:sp>
      <p:pic>
        <p:nvPicPr>
          <p:cNvPr id="5" name="Picture 4">
            <a:extLst>
              <a:ext uri="{FF2B5EF4-FFF2-40B4-BE49-F238E27FC236}">
                <a16:creationId xmlns:a16="http://schemas.microsoft.com/office/drawing/2014/main" id="{39FA649A-17AC-7062-5B44-6708758DC260}"/>
              </a:ext>
            </a:extLst>
          </p:cNvPr>
          <p:cNvPicPr>
            <a:picLocks noChangeAspect="1"/>
          </p:cNvPicPr>
          <p:nvPr/>
        </p:nvPicPr>
        <p:blipFill>
          <a:blip r:embed="rId2"/>
          <a:stretch>
            <a:fillRect/>
          </a:stretch>
        </p:blipFill>
        <p:spPr>
          <a:xfrm>
            <a:off x="1303304" y="2345635"/>
            <a:ext cx="8392696" cy="1829055"/>
          </a:xfrm>
          <a:prstGeom prst="rect">
            <a:avLst/>
          </a:prstGeom>
        </p:spPr>
      </p:pic>
      <p:pic>
        <p:nvPicPr>
          <p:cNvPr id="4" name="Picture 3">
            <a:extLst>
              <a:ext uri="{FF2B5EF4-FFF2-40B4-BE49-F238E27FC236}">
                <a16:creationId xmlns:a16="http://schemas.microsoft.com/office/drawing/2014/main" id="{8DDA0679-10A1-C7F2-0E62-62B9299A06E4}"/>
              </a:ext>
            </a:extLst>
          </p:cNvPr>
          <p:cNvPicPr>
            <a:picLocks noChangeAspect="1"/>
          </p:cNvPicPr>
          <p:nvPr/>
        </p:nvPicPr>
        <p:blipFill>
          <a:blip r:embed="rId3"/>
          <a:stretch>
            <a:fillRect/>
          </a:stretch>
        </p:blipFill>
        <p:spPr>
          <a:xfrm>
            <a:off x="728294" y="4424392"/>
            <a:ext cx="11212490" cy="2267266"/>
          </a:xfrm>
          <a:prstGeom prst="rect">
            <a:avLst/>
          </a:prstGeom>
        </p:spPr>
      </p:pic>
      <p:sp>
        <p:nvSpPr>
          <p:cNvPr id="6" name="Rectangle 5">
            <a:extLst>
              <a:ext uri="{FF2B5EF4-FFF2-40B4-BE49-F238E27FC236}">
                <a16:creationId xmlns:a16="http://schemas.microsoft.com/office/drawing/2014/main" id="{AFD7B18F-F67A-C765-B5FC-F5050C88193F}"/>
              </a:ext>
            </a:extLst>
          </p:cNvPr>
          <p:cNvSpPr/>
          <p:nvPr/>
        </p:nvSpPr>
        <p:spPr>
          <a:xfrm>
            <a:off x="728293" y="5262562"/>
            <a:ext cx="10254445" cy="15954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0790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4BA8-9B30-3EE4-0FD5-8FDED8DA6157}"/>
              </a:ext>
            </a:extLst>
          </p:cNvPr>
          <p:cNvSpPr>
            <a:spLocks noGrp="1"/>
          </p:cNvSpPr>
          <p:nvPr>
            <p:ph type="title"/>
          </p:nvPr>
        </p:nvSpPr>
        <p:spPr/>
        <p:txBody>
          <a:bodyPr/>
          <a:lstStyle/>
          <a:p>
            <a:r>
              <a:rPr lang="en-IN" dirty="0"/>
              <a:t>Minkowski Distances</a:t>
            </a:r>
          </a:p>
        </p:txBody>
      </p:sp>
      <p:pic>
        <p:nvPicPr>
          <p:cNvPr id="5" name="Content Placeholder 4">
            <a:extLst>
              <a:ext uri="{FF2B5EF4-FFF2-40B4-BE49-F238E27FC236}">
                <a16:creationId xmlns:a16="http://schemas.microsoft.com/office/drawing/2014/main" id="{DAB99B0C-8E3E-089B-CF0C-2703B57274A9}"/>
              </a:ext>
            </a:extLst>
          </p:cNvPr>
          <p:cNvPicPr>
            <a:picLocks noGrp="1" noChangeAspect="1"/>
          </p:cNvPicPr>
          <p:nvPr>
            <p:ph idx="1"/>
          </p:nvPr>
        </p:nvPicPr>
        <p:blipFill>
          <a:blip r:embed="rId2"/>
          <a:stretch>
            <a:fillRect/>
          </a:stretch>
        </p:blipFill>
        <p:spPr>
          <a:xfrm>
            <a:off x="1509072" y="2062686"/>
            <a:ext cx="9173855" cy="3877216"/>
          </a:xfrm>
          <a:prstGeom prst="rect">
            <a:avLst/>
          </a:prstGeom>
        </p:spPr>
      </p:pic>
    </p:spTree>
    <p:extLst>
      <p:ext uri="{BB962C8B-B14F-4D97-AF65-F5344CB8AC3E}">
        <p14:creationId xmlns:p14="http://schemas.microsoft.com/office/powerpoint/2010/main" val="3700729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529CA-33BF-6AC4-2476-4186B47F22E6}"/>
              </a:ext>
            </a:extLst>
          </p:cNvPr>
          <p:cNvSpPr>
            <a:spLocks noGrp="1"/>
          </p:cNvSpPr>
          <p:nvPr>
            <p:ph type="title"/>
          </p:nvPr>
        </p:nvSpPr>
        <p:spPr/>
        <p:txBody>
          <a:bodyPr/>
          <a:lstStyle/>
          <a:p>
            <a:r>
              <a:rPr lang="en-US" dirty="0"/>
              <a:t>Dissimilarity(or distance) measure d(</a:t>
            </a:r>
            <a:r>
              <a:rPr lang="en-US" dirty="0" err="1"/>
              <a:t>x,y</a:t>
            </a:r>
            <a:r>
              <a:rPr lang="en-US" dirty="0"/>
              <a:t>)</a:t>
            </a:r>
            <a:endParaRPr lang="en-IN" dirty="0"/>
          </a:p>
        </p:txBody>
      </p:sp>
      <p:pic>
        <p:nvPicPr>
          <p:cNvPr id="5" name="Content Placeholder 4">
            <a:extLst>
              <a:ext uri="{FF2B5EF4-FFF2-40B4-BE49-F238E27FC236}">
                <a16:creationId xmlns:a16="http://schemas.microsoft.com/office/drawing/2014/main" id="{A4409269-F7CC-511A-A03B-565056DBAE40}"/>
              </a:ext>
            </a:extLst>
          </p:cNvPr>
          <p:cNvPicPr>
            <a:picLocks noGrp="1" noChangeAspect="1"/>
          </p:cNvPicPr>
          <p:nvPr>
            <p:ph idx="1"/>
          </p:nvPr>
        </p:nvPicPr>
        <p:blipFill>
          <a:blip r:embed="rId2"/>
          <a:stretch>
            <a:fillRect/>
          </a:stretch>
        </p:blipFill>
        <p:spPr>
          <a:xfrm>
            <a:off x="742122" y="1451113"/>
            <a:ext cx="11449878" cy="5152708"/>
          </a:xfrm>
          <a:prstGeom prst="rect">
            <a:avLst/>
          </a:prstGeom>
        </p:spPr>
      </p:pic>
      <p:sp>
        <p:nvSpPr>
          <p:cNvPr id="3" name="Rectangle 2">
            <a:extLst>
              <a:ext uri="{FF2B5EF4-FFF2-40B4-BE49-F238E27FC236}">
                <a16:creationId xmlns:a16="http://schemas.microsoft.com/office/drawing/2014/main" id="{40FB0760-D124-2BAB-6676-6B07841037E3}"/>
              </a:ext>
            </a:extLst>
          </p:cNvPr>
          <p:cNvSpPr/>
          <p:nvPr/>
        </p:nvSpPr>
        <p:spPr>
          <a:xfrm>
            <a:off x="838200" y="2730410"/>
            <a:ext cx="487018" cy="32330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09949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D7F4D-588C-42CE-86F4-E1C22BFCD771}"/>
              </a:ext>
            </a:extLst>
          </p:cNvPr>
          <p:cNvSpPr>
            <a:spLocks noGrp="1"/>
          </p:cNvSpPr>
          <p:nvPr>
            <p:ph type="title"/>
          </p:nvPr>
        </p:nvSpPr>
        <p:spPr/>
        <p:txBody>
          <a:bodyPr/>
          <a:lstStyle/>
          <a:p>
            <a:r>
              <a:rPr lang="en-US" dirty="0"/>
              <a:t>Similarity measure s(</a:t>
            </a:r>
            <a:r>
              <a:rPr lang="en-US" dirty="0" err="1"/>
              <a:t>x,y</a:t>
            </a:r>
            <a:r>
              <a:rPr lang="en-US" dirty="0"/>
              <a:t>)</a:t>
            </a:r>
            <a:endParaRPr lang="en-IN" dirty="0"/>
          </a:p>
        </p:txBody>
      </p:sp>
      <p:pic>
        <p:nvPicPr>
          <p:cNvPr id="5" name="Content Placeholder 4">
            <a:extLst>
              <a:ext uri="{FF2B5EF4-FFF2-40B4-BE49-F238E27FC236}">
                <a16:creationId xmlns:a16="http://schemas.microsoft.com/office/drawing/2014/main" id="{46928834-90D4-9727-16A9-6F4D10DFB8C4}"/>
              </a:ext>
            </a:extLst>
          </p:cNvPr>
          <p:cNvPicPr>
            <a:picLocks noGrp="1" noChangeAspect="1"/>
          </p:cNvPicPr>
          <p:nvPr>
            <p:ph idx="1"/>
          </p:nvPr>
        </p:nvPicPr>
        <p:blipFill>
          <a:blip r:embed="rId2"/>
          <a:stretch>
            <a:fillRect/>
          </a:stretch>
        </p:blipFill>
        <p:spPr>
          <a:xfrm>
            <a:off x="838200" y="1690688"/>
            <a:ext cx="10231278" cy="2638793"/>
          </a:xfrm>
          <a:prstGeom prst="rect">
            <a:avLst/>
          </a:prstGeom>
        </p:spPr>
      </p:pic>
    </p:spTree>
    <p:extLst>
      <p:ext uri="{BB962C8B-B14F-4D97-AF65-F5344CB8AC3E}">
        <p14:creationId xmlns:p14="http://schemas.microsoft.com/office/powerpoint/2010/main" val="344278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60A8-09E3-065D-C9B2-0050B4FC35E8}"/>
              </a:ext>
            </a:extLst>
          </p:cNvPr>
          <p:cNvSpPr>
            <a:spLocks noGrp="1"/>
          </p:cNvSpPr>
          <p:nvPr>
            <p:ph type="title"/>
          </p:nvPr>
        </p:nvSpPr>
        <p:spPr/>
        <p:txBody>
          <a:bodyPr/>
          <a:lstStyle/>
          <a:p>
            <a:r>
              <a:rPr lang="en-IN" dirty="0"/>
              <a:t>Cosine Similarity</a:t>
            </a:r>
          </a:p>
        </p:txBody>
      </p:sp>
      <p:sp>
        <p:nvSpPr>
          <p:cNvPr id="3" name="Content Placeholder 2">
            <a:extLst>
              <a:ext uri="{FF2B5EF4-FFF2-40B4-BE49-F238E27FC236}">
                <a16:creationId xmlns:a16="http://schemas.microsoft.com/office/drawing/2014/main" id="{385142E0-8CC2-A014-14CF-70DF0E94A87E}"/>
              </a:ext>
            </a:extLst>
          </p:cNvPr>
          <p:cNvSpPr>
            <a:spLocks noGrp="1"/>
          </p:cNvSpPr>
          <p:nvPr>
            <p:ph idx="1"/>
          </p:nvPr>
        </p:nvSpPr>
        <p:spPr/>
        <p:txBody>
          <a:bodyPr>
            <a:normAutofit/>
          </a:bodyPr>
          <a:lstStyle/>
          <a:p>
            <a:r>
              <a:rPr lang="en-US" sz="2400" dirty="0"/>
              <a:t>Closely related to the inner product is the </a:t>
            </a:r>
            <a:r>
              <a:rPr lang="en-US" sz="2400" i="1" dirty="0"/>
              <a:t>cosine similarity measure</a:t>
            </a:r>
            <a:r>
              <a:rPr lang="en-US" sz="2400" dirty="0"/>
              <a:t>, </a:t>
            </a:r>
            <a:r>
              <a:rPr lang="en-IN" sz="2400" dirty="0"/>
              <a:t>which is defined as</a:t>
            </a:r>
          </a:p>
          <a:p>
            <a:endParaRPr lang="en-IN" sz="2400" dirty="0"/>
          </a:p>
          <a:p>
            <a:endParaRPr lang="en-IN" sz="2400" dirty="0"/>
          </a:p>
          <a:p>
            <a:endParaRPr lang="en-IN" sz="2400" dirty="0"/>
          </a:p>
          <a:p>
            <a:endParaRPr lang="en-IN" sz="2400" dirty="0"/>
          </a:p>
        </p:txBody>
      </p:sp>
      <p:pic>
        <p:nvPicPr>
          <p:cNvPr id="5" name="Picture 4">
            <a:extLst>
              <a:ext uri="{FF2B5EF4-FFF2-40B4-BE49-F238E27FC236}">
                <a16:creationId xmlns:a16="http://schemas.microsoft.com/office/drawing/2014/main" id="{A0B79FA1-A091-2CFB-ABF1-F96F711BDB55}"/>
              </a:ext>
            </a:extLst>
          </p:cNvPr>
          <p:cNvPicPr>
            <a:picLocks noChangeAspect="1"/>
          </p:cNvPicPr>
          <p:nvPr/>
        </p:nvPicPr>
        <p:blipFill>
          <a:blip r:embed="rId2"/>
          <a:stretch>
            <a:fillRect/>
          </a:stretch>
        </p:blipFill>
        <p:spPr>
          <a:xfrm>
            <a:off x="3776435" y="2135765"/>
            <a:ext cx="4224566" cy="1293235"/>
          </a:xfrm>
          <a:prstGeom prst="rect">
            <a:avLst/>
          </a:prstGeom>
        </p:spPr>
      </p:pic>
      <p:pic>
        <p:nvPicPr>
          <p:cNvPr id="7" name="Picture 6">
            <a:extLst>
              <a:ext uri="{FF2B5EF4-FFF2-40B4-BE49-F238E27FC236}">
                <a16:creationId xmlns:a16="http://schemas.microsoft.com/office/drawing/2014/main" id="{421FEF04-E35B-90D6-1F9C-67CCB605429C}"/>
              </a:ext>
            </a:extLst>
          </p:cNvPr>
          <p:cNvPicPr>
            <a:picLocks noChangeAspect="1"/>
          </p:cNvPicPr>
          <p:nvPr/>
        </p:nvPicPr>
        <p:blipFill>
          <a:blip r:embed="rId3"/>
          <a:stretch>
            <a:fillRect/>
          </a:stretch>
        </p:blipFill>
        <p:spPr>
          <a:xfrm>
            <a:off x="980361" y="3739140"/>
            <a:ext cx="10231278" cy="1219370"/>
          </a:xfrm>
          <a:prstGeom prst="rect">
            <a:avLst/>
          </a:prstGeom>
        </p:spPr>
      </p:pic>
    </p:spTree>
    <p:extLst>
      <p:ext uri="{BB962C8B-B14F-4D97-AF65-F5344CB8AC3E}">
        <p14:creationId xmlns:p14="http://schemas.microsoft.com/office/powerpoint/2010/main" val="1211082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28956-0BDF-A0AF-0F21-1A58A9181943}"/>
              </a:ext>
            </a:extLst>
          </p:cNvPr>
          <p:cNvSpPr>
            <a:spLocks noGrp="1"/>
          </p:cNvSpPr>
          <p:nvPr>
            <p:ph type="title"/>
          </p:nvPr>
        </p:nvSpPr>
        <p:spPr/>
        <p:txBody>
          <a:bodyPr>
            <a:normAutofit/>
          </a:bodyPr>
          <a:lstStyle/>
          <a:p>
            <a:r>
              <a:rPr lang="en-US" dirty="0"/>
              <a:t>Criterion functions for clustering</a:t>
            </a:r>
            <a:endParaRPr lang="en-IN" dirty="0"/>
          </a:p>
        </p:txBody>
      </p:sp>
      <p:sp>
        <p:nvSpPr>
          <p:cNvPr id="3" name="Content Placeholder 2">
            <a:extLst>
              <a:ext uri="{FF2B5EF4-FFF2-40B4-BE49-F238E27FC236}">
                <a16:creationId xmlns:a16="http://schemas.microsoft.com/office/drawing/2014/main" id="{C2F26324-A109-F49C-1E17-78EE19F9DBEC}"/>
              </a:ext>
            </a:extLst>
          </p:cNvPr>
          <p:cNvSpPr>
            <a:spLocks noGrp="1"/>
          </p:cNvSpPr>
          <p:nvPr>
            <p:ph idx="1"/>
          </p:nvPr>
        </p:nvSpPr>
        <p:spPr/>
        <p:txBody>
          <a:bodyPr>
            <a:normAutofit/>
          </a:bodyPr>
          <a:lstStyle/>
          <a:p>
            <a:r>
              <a:rPr lang="en-US" sz="2400" dirty="0"/>
              <a:t>A </a:t>
            </a:r>
            <a:r>
              <a:rPr lang="en-US" sz="2400" b="1" dirty="0"/>
              <a:t>criterion function for clustering</a:t>
            </a:r>
            <a:r>
              <a:rPr lang="en-US" sz="2400" dirty="0"/>
              <a:t> is a mathematical measure used to evaluate and optimize the quality of clusters formed from a dataset.</a:t>
            </a:r>
          </a:p>
          <a:p>
            <a:r>
              <a:rPr lang="en-US" sz="2400" dirty="0"/>
              <a:t>Goal:</a:t>
            </a:r>
          </a:p>
          <a:p>
            <a:pPr lvl="1"/>
            <a:r>
              <a:rPr lang="en-US" sz="2000" b="1" dirty="0"/>
              <a:t>Minimize similarity within clusters (compactness)</a:t>
            </a:r>
            <a:endParaRPr lang="en-US" sz="2000" dirty="0"/>
          </a:p>
          <a:p>
            <a:pPr lvl="1"/>
            <a:r>
              <a:rPr lang="en-US" sz="2000" b="1" dirty="0"/>
              <a:t>Maximize dissimilarity between clusters (separation)</a:t>
            </a:r>
            <a:endParaRPr lang="en-US" sz="2000" dirty="0"/>
          </a:p>
          <a:p>
            <a:r>
              <a:rPr lang="en-US" sz="2400" b="1" dirty="0"/>
              <a:t>Types of Criterion Functions</a:t>
            </a:r>
          </a:p>
          <a:p>
            <a:pPr marL="914400" lvl="1" indent="-457200">
              <a:buFont typeface="+mj-lt"/>
              <a:buAutoNum type="arabicPeriod"/>
            </a:pPr>
            <a:r>
              <a:rPr lang="en-US" sz="2000" dirty="0"/>
              <a:t>Within-Cluster Sum of Squares (WCSS / SSE)</a:t>
            </a:r>
          </a:p>
          <a:p>
            <a:pPr marL="914400" lvl="1" indent="-457200">
              <a:buFont typeface="+mj-lt"/>
              <a:buAutoNum type="arabicPeriod"/>
            </a:pPr>
            <a:r>
              <a:rPr lang="en-IN" sz="2000" dirty="0"/>
              <a:t>Between-Cluster Separation</a:t>
            </a:r>
          </a:p>
          <a:p>
            <a:pPr marL="914400" lvl="1" indent="-457200">
              <a:buFont typeface="+mj-lt"/>
              <a:buAutoNum type="arabicPeriod"/>
            </a:pPr>
            <a:r>
              <a:rPr lang="en-IN" sz="2000" dirty="0"/>
              <a:t>Silhouette Coefficient</a:t>
            </a:r>
          </a:p>
          <a:p>
            <a:pPr marL="914400" lvl="1" indent="-457200">
              <a:buFont typeface="+mj-lt"/>
              <a:buAutoNum type="arabicPeriod"/>
            </a:pPr>
            <a:r>
              <a:rPr lang="en-IN" sz="2000" dirty="0"/>
              <a:t>Dunn Index</a:t>
            </a:r>
          </a:p>
          <a:p>
            <a:pPr marL="914400" lvl="1" indent="-457200">
              <a:buFont typeface="+mj-lt"/>
              <a:buAutoNum type="arabicPeriod"/>
            </a:pPr>
            <a:r>
              <a:rPr lang="en-US" sz="2000" dirty="0"/>
              <a:t>Scatter</a:t>
            </a:r>
            <a:endParaRPr lang="en-IN" sz="2000" dirty="0"/>
          </a:p>
          <a:p>
            <a:pPr marL="914400" lvl="1" indent="-457200">
              <a:buFont typeface="+mj-lt"/>
              <a:buAutoNum type="arabicPeriod"/>
            </a:pPr>
            <a:endParaRPr lang="en-US" sz="2000" dirty="0"/>
          </a:p>
          <a:p>
            <a:endParaRPr lang="en-IN" sz="2400" dirty="0"/>
          </a:p>
        </p:txBody>
      </p:sp>
    </p:spTree>
    <p:extLst>
      <p:ext uri="{BB962C8B-B14F-4D97-AF65-F5344CB8AC3E}">
        <p14:creationId xmlns:p14="http://schemas.microsoft.com/office/powerpoint/2010/main" val="3486245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7C065-4B59-FC05-0D2C-C3E9558963C0}"/>
              </a:ext>
            </a:extLst>
          </p:cNvPr>
          <p:cNvSpPr>
            <a:spLocks noGrp="1"/>
          </p:cNvSpPr>
          <p:nvPr>
            <p:ph type="title"/>
          </p:nvPr>
        </p:nvSpPr>
        <p:spPr/>
        <p:txBody>
          <a:bodyPr>
            <a:normAutofit/>
          </a:bodyPr>
          <a:lstStyle/>
          <a:p>
            <a:r>
              <a:rPr lang="en-US" sz="4000" dirty="0"/>
              <a:t>1. Within-Cluster Sum of Squares (WCSS / SSE)</a:t>
            </a:r>
            <a:endParaRPr lang="en-IN"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44FE30-EED0-343C-EB2B-2F08561A3E24}"/>
                  </a:ext>
                </a:extLst>
              </p:cNvPr>
              <p:cNvSpPr>
                <a:spLocks noGrp="1"/>
              </p:cNvSpPr>
              <p:nvPr>
                <p:ph idx="1"/>
              </p:nvPr>
            </p:nvSpPr>
            <p:spPr/>
            <p:txBody>
              <a:bodyPr/>
              <a:lstStyle/>
              <a:p>
                <a:r>
                  <a:rPr lang="en-IN" dirty="0"/>
                  <a:t>Used in </a:t>
                </a:r>
                <a:r>
                  <a:rPr lang="en-IN" b="1" dirty="0"/>
                  <a:t>K-Means</a:t>
                </a:r>
                <a:r>
                  <a:rPr lang="en-IN" dirty="0"/>
                  <a:t>.</a:t>
                </a:r>
              </a:p>
              <a:p>
                <a:endParaRPr lang="en-IN" dirty="0"/>
              </a:p>
              <a:p>
                <a:endParaRPr lang="en-IN" dirty="0"/>
              </a:p>
              <a:p>
                <a:r>
                  <a:rPr lang="en-IN" dirty="0"/>
                  <a:t>Where:</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𝑘</m:t>
                        </m:r>
                      </m:sub>
                    </m:sSub>
                  </m:oMath>
                </a14:m>
                <a:r>
                  <a:rPr lang="ar-AE" dirty="0"/>
                  <a:t>= </a:t>
                </a:r>
                <a:r>
                  <a:rPr lang="en-IN" dirty="0"/>
                  <a:t>cluster k</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oMath>
                </a14:m>
                <a:r>
                  <a:rPr lang="ar-AE" dirty="0"/>
                  <a:t>= </a:t>
                </a:r>
                <a:r>
                  <a:rPr lang="en-IN" dirty="0"/>
                  <a:t>centroid of cluster k</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ar-AE" dirty="0"/>
                  <a:t>= </a:t>
                </a:r>
                <a:r>
                  <a:rPr lang="en-IN" dirty="0"/>
                  <a:t>data point</a:t>
                </a:r>
              </a:p>
              <a:p>
                <a:r>
                  <a:rPr lang="en-IN" dirty="0"/>
                  <a:t>Minimizes variance inside clusters.</a:t>
                </a:r>
              </a:p>
              <a:p>
                <a:endParaRPr lang="en-IN" dirty="0"/>
              </a:p>
            </p:txBody>
          </p:sp>
        </mc:Choice>
        <mc:Fallback xmlns="">
          <p:sp>
            <p:nvSpPr>
              <p:cNvPr id="3" name="Content Placeholder 2">
                <a:extLst>
                  <a:ext uri="{FF2B5EF4-FFF2-40B4-BE49-F238E27FC236}">
                    <a16:creationId xmlns:a16="http://schemas.microsoft.com/office/drawing/2014/main" id="{A944FE30-EED0-343C-EB2B-2F08561A3E2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A0653E00-D2EA-EF73-BC62-486D5D5220B5}"/>
              </a:ext>
            </a:extLst>
          </p:cNvPr>
          <p:cNvPicPr>
            <a:picLocks noChangeAspect="1"/>
          </p:cNvPicPr>
          <p:nvPr/>
        </p:nvPicPr>
        <p:blipFill>
          <a:blip r:embed="rId3"/>
          <a:stretch>
            <a:fillRect/>
          </a:stretch>
        </p:blipFill>
        <p:spPr>
          <a:xfrm>
            <a:off x="4386310" y="1825625"/>
            <a:ext cx="2904324" cy="1185932"/>
          </a:xfrm>
          <a:prstGeom prst="rect">
            <a:avLst/>
          </a:prstGeom>
        </p:spPr>
      </p:pic>
    </p:spTree>
    <p:extLst>
      <p:ext uri="{BB962C8B-B14F-4D97-AF65-F5344CB8AC3E}">
        <p14:creationId xmlns:p14="http://schemas.microsoft.com/office/powerpoint/2010/main" val="1354810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F7B1B-6099-D142-9A9A-07D175459373}"/>
              </a:ext>
            </a:extLst>
          </p:cNvPr>
          <p:cNvSpPr>
            <a:spLocks noGrp="1"/>
          </p:cNvSpPr>
          <p:nvPr>
            <p:ph type="title"/>
          </p:nvPr>
        </p:nvSpPr>
        <p:spPr/>
        <p:txBody>
          <a:bodyPr/>
          <a:lstStyle/>
          <a:p>
            <a:r>
              <a:rPr lang="en-IN" dirty="0"/>
              <a:t>2. Between-Cluster Separation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48C3CB-7AD4-BD47-E5E8-86E47E88ACD2}"/>
                  </a:ext>
                </a:extLst>
              </p:cNvPr>
              <p:cNvSpPr>
                <a:spLocks noGrp="1"/>
              </p:cNvSpPr>
              <p:nvPr>
                <p:ph idx="1"/>
              </p:nvPr>
            </p:nvSpPr>
            <p:spPr/>
            <p:txBody>
              <a:bodyPr/>
              <a:lstStyle/>
              <a:p>
                <a:endParaRPr lang="en-IN" dirty="0"/>
              </a:p>
              <a:p>
                <a:endParaRPr lang="en-IN" dirty="0"/>
              </a:p>
              <a:p>
                <a:r>
                  <a:rPr lang="en-IN" dirty="0"/>
                  <a:t>Where:</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𝑛</m:t>
                        </m:r>
                      </m:e>
                      <m:sub>
                        <m:r>
                          <a:rPr lang="ar-AE" i="1">
                            <a:latin typeface="Cambria Math" panose="02040503050406030204" pitchFamily="18" charset="0"/>
                          </a:rPr>
                          <m:t>𝑘</m:t>
                        </m:r>
                      </m:sub>
                    </m:sSub>
                  </m:oMath>
                </a14:m>
                <a:r>
                  <a:rPr lang="ar-AE" dirty="0"/>
                  <a:t>= </a:t>
                </a:r>
                <a:r>
                  <a:rPr lang="en-IN" dirty="0"/>
                  <a:t>number of points in cluster k</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oMath>
                </a14:m>
                <a:r>
                  <a:rPr lang="ar-AE" dirty="0"/>
                  <a:t>= </a:t>
                </a:r>
                <a:r>
                  <a:rPr lang="en-IN" dirty="0"/>
                  <a:t>cluster mean</a:t>
                </a:r>
              </a:p>
              <a:p>
                <a:pPr lvl="1"/>
                <a14:m>
                  <m:oMath xmlns:m="http://schemas.openxmlformats.org/officeDocument/2006/math">
                    <m:r>
                      <a:rPr lang="en-IN" i="1">
                        <a:latin typeface="Cambria Math" panose="02040503050406030204" pitchFamily="18" charset="0"/>
                      </a:rPr>
                      <m:t>𝜇</m:t>
                    </m:r>
                  </m:oMath>
                </a14:m>
                <a:r>
                  <a:rPr lang="en-IN" dirty="0"/>
                  <a:t>= global mean</a:t>
                </a:r>
              </a:p>
              <a:p>
                <a:r>
                  <a:rPr lang="en-IN" dirty="0"/>
                  <a:t>Maximizes distance between clusters.</a:t>
                </a:r>
              </a:p>
            </p:txBody>
          </p:sp>
        </mc:Choice>
        <mc:Fallback xmlns="">
          <p:sp>
            <p:nvSpPr>
              <p:cNvPr id="3" name="Content Placeholder 2">
                <a:extLst>
                  <a:ext uri="{FF2B5EF4-FFF2-40B4-BE49-F238E27FC236}">
                    <a16:creationId xmlns:a16="http://schemas.microsoft.com/office/drawing/2014/main" id="{D448C3CB-7AD4-BD47-E5E8-86E47E88ACD2}"/>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B825B620-9237-53ED-1705-277CB19548B6}"/>
              </a:ext>
            </a:extLst>
          </p:cNvPr>
          <p:cNvPicPr>
            <a:picLocks noChangeAspect="1"/>
          </p:cNvPicPr>
          <p:nvPr/>
        </p:nvPicPr>
        <p:blipFill>
          <a:blip r:embed="rId3"/>
          <a:stretch>
            <a:fillRect/>
          </a:stretch>
        </p:blipFill>
        <p:spPr>
          <a:xfrm>
            <a:off x="4942296" y="1825625"/>
            <a:ext cx="3283081" cy="1325563"/>
          </a:xfrm>
          <a:prstGeom prst="rect">
            <a:avLst/>
          </a:prstGeom>
        </p:spPr>
      </p:pic>
    </p:spTree>
    <p:extLst>
      <p:ext uri="{BB962C8B-B14F-4D97-AF65-F5344CB8AC3E}">
        <p14:creationId xmlns:p14="http://schemas.microsoft.com/office/powerpoint/2010/main" val="4117035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9505B-69E2-B41F-1A06-CCF851A50A99}"/>
              </a:ext>
            </a:extLst>
          </p:cNvPr>
          <p:cNvSpPr>
            <a:spLocks noGrp="1"/>
          </p:cNvSpPr>
          <p:nvPr>
            <p:ph type="title"/>
          </p:nvPr>
        </p:nvSpPr>
        <p:spPr/>
        <p:txBody>
          <a:bodyPr/>
          <a:lstStyle/>
          <a:p>
            <a:r>
              <a:rPr lang="en-IN" dirty="0"/>
              <a:t>3. Silhouette Coefficient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C23FAB-6B9C-1680-98BB-D0080BBDA32F}"/>
                  </a:ext>
                </a:extLst>
              </p:cNvPr>
              <p:cNvSpPr>
                <a:spLocks noGrp="1"/>
              </p:cNvSpPr>
              <p:nvPr>
                <p:ph idx="1"/>
              </p:nvPr>
            </p:nvSpPr>
            <p:spPr/>
            <p:txBody>
              <a:bodyPr>
                <a:normAutofit/>
              </a:bodyPr>
              <a:lstStyle/>
              <a:p>
                <a:endParaRPr lang="en-IN" sz="2400" dirty="0"/>
              </a:p>
              <a:p>
                <a:endParaRPr lang="en-IN" sz="2400" dirty="0"/>
              </a:p>
              <a:p>
                <a:endParaRPr lang="en-IN" sz="2400" dirty="0"/>
              </a:p>
              <a:p>
                <a:r>
                  <a:rPr lang="en-IN" sz="2400" dirty="0"/>
                  <a:t>Where:</a:t>
                </a:r>
              </a:p>
              <a:p>
                <a:pPr lvl="1"/>
                <a14:m>
                  <m:oMath xmlns:m="http://schemas.openxmlformats.org/officeDocument/2006/math">
                    <m:r>
                      <a:rPr lang="en-IN" sz="2000" i="1">
                        <a:latin typeface="Cambria Math" panose="02040503050406030204" pitchFamily="18" charset="0"/>
                      </a:rPr>
                      <m:t>𝑎</m:t>
                    </m:r>
                    <m:d>
                      <m:dPr>
                        <m:ctrlPr>
                          <a:rPr lang="ar-AE" sz="2000" i="1">
                            <a:latin typeface="Cambria Math" panose="02040503050406030204" pitchFamily="18" charset="0"/>
                          </a:rPr>
                        </m:ctrlPr>
                      </m:dPr>
                      <m:e>
                        <m:r>
                          <a:rPr lang="ar-AE" sz="2000" i="1">
                            <a:latin typeface="Cambria Math" panose="02040503050406030204" pitchFamily="18" charset="0"/>
                          </a:rPr>
                          <m:t>𝑖</m:t>
                        </m:r>
                      </m:e>
                    </m:d>
                  </m:oMath>
                </a14:m>
                <a:r>
                  <a:rPr lang="ar-AE" sz="2000" dirty="0"/>
                  <a:t>= </a:t>
                </a:r>
                <a:r>
                  <a:rPr lang="en-IN" sz="2000" dirty="0"/>
                  <a:t>average distance within same cluster</a:t>
                </a:r>
              </a:p>
              <a:p>
                <a:pPr lvl="1"/>
                <a14:m>
                  <m:oMath xmlns:m="http://schemas.openxmlformats.org/officeDocument/2006/math">
                    <m:r>
                      <a:rPr lang="en-IN" sz="2000" i="1">
                        <a:latin typeface="Cambria Math" panose="02040503050406030204" pitchFamily="18" charset="0"/>
                      </a:rPr>
                      <m:t>𝑏</m:t>
                    </m:r>
                    <m:d>
                      <m:dPr>
                        <m:ctrlPr>
                          <a:rPr lang="ar-AE" sz="2000" i="1">
                            <a:latin typeface="Cambria Math" panose="02040503050406030204" pitchFamily="18" charset="0"/>
                          </a:rPr>
                        </m:ctrlPr>
                      </m:dPr>
                      <m:e>
                        <m:r>
                          <a:rPr lang="ar-AE" sz="2000" i="1">
                            <a:latin typeface="Cambria Math" panose="02040503050406030204" pitchFamily="18" charset="0"/>
                          </a:rPr>
                          <m:t>𝑖</m:t>
                        </m:r>
                      </m:e>
                    </m:d>
                  </m:oMath>
                </a14:m>
                <a:r>
                  <a:rPr lang="ar-AE" sz="2000" dirty="0"/>
                  <a:t>= </a:t>
                </a:r>
                <a:r>
                  <a:rPr lang="en-IN" sz="2000" dirty="0"/>
                  <a:t>average distance to nearest cluster</a:t>
                </a:r>
              </a:p>
              <a:p>
                <a:r>
                  <a:rPr lang="en-IN" sz="2400" dirty="0"/>
                  <a:t>Range: </a:t>
                </a:r>
                <a:r>
                  <a:rPr lang="en-IN" sz="2400" b="1" dirty="0"/>
                  <a:t>−1 to +1</a:t>
                </a:r>
              </a:p>
              <a:p>
                <a:r>
                  <a:rPr lang="en-IN" sz="2400" dirty="0"/>
                  <a:t>Higher value = better clustering.</a:t>
                </a:r>
              </a:p>
              <a:p>
                <a:endParaRPr lang="en-IN" sz="2400" dirty="0"/>
              </a:p>
            </p:txBody>
          </p:sp>
        </mc:Choice>
        <mc:Fallback xmlns="">
          <p:sp>
            <p:nvSpPr>
              <p:cNvPr id="3" name="Content Placeholder 2">
                <a:extLst>
                  <a:ext uri="{FF2B5EF4-FFF2-40B4-BE49-F238E27FC236}">
                    <a16:creationId xmlns:a16="http://schemas.microsoft.com/office/drawing/2014/main" id="{EEC23FAB-6B9C-1680-98BB-D0080BBDA32F}"/>
                  </a:ext>
                </a:extLst>
              </p:cNvPr>
              <p:cNvSpPr>
                <a:spLocks noGrp="1" noRot="1" noChangeAspect="1" noMove="1" noResize="1" noEditPoints="1" noAdjustHandles="1" noChangeArrowheads="1" noChangeShapeType="1" noTextEdit="1"/>
              </p:cNvSpPr>
              <p:nvPr>
                <p:ph idx="1"/>
              </p:nvPr>
            </p:nvSpPr>
            <p:spPr>
              <a:blipFill>
                <a:blip r:embed="rId2"/>
                <a:stretch>
                  <a:fillRect l="-812"/>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296B17FC-295B-AC9B-73BB-AB6EF0962F96}"/>
              </a:ext>
            </a:extLst>
          </p:cNvPr>
          <p:cNvPicPr>
            <a:picLocks noChangeAspect="1"/>
          </p:cNvPicPr>
          <p:nvPr/>
        </p:nvPicPr>
        <p:blipFill>
          <a:blip r:embed="rId3"/>
          <a:stretch>
            <a:fillRect/>
          </a:stretch>
        </p:blipFill>
        <p:spPr>
          <a:xfrm>
            <a:off x="4895492" y="1690688"/>
            <a:ext cx="3450232" cy="1215940"/>
          </a:xfrm>
          <a:prstGeom prst="rect">
            <a:avLst/>
          </a:prstGeom>
        </p:spPr>
      </p:pic>
    </p:spTree>
    <p:extLst>
      <p:ext uri="{BB962C8B-B14F-4D97-AF65-F5344CB8AC3E}">
        <p14:creationId xmlns:p14="http://schemas.microsoft.com/office/powerpoint/2010/main" val="3976371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7F6CF-66E2-3E2E-AB85-F46B183238EB}"/>
              </a:ext>
            </a:extLst>
          </p:cNvPr>
          <p:cNvSpPr>
            <a:spLocks noGrp="1"/>
          </p:cNvSpPr>
          <p:nvPr>
            <p:ph type="title"/>
          </p:nvPr>
        </p:nvSpPr>
        <p:spPr/>
        <p:txBody>
          <a:bodyPr>
            <a:normAutofit/>
          </a:bodyPr>
          <a:lstStyle/>
          <a:p>
            <a:r>
              <a:rPr lang="en-IN" dirty="0"/>
              <a:t>4. Dunn Index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3BE57F-B268-AD90-DA1E-D8858A15ED48}"/>
                  </a:ext>
                </a:extLst>
              </p:cNvPr>
              <p:cNvSpPr>
                <a:spLocks noGrp="1"/>
              </p:cNvSpPr>
              <p:nvPr>
                <p:ph idx="1"/>
              </p:nvPr>
            </p:nvSpPr>
            <p:spPr/>
            <p:txBody>
              <a:bodyPr>
                <a:normAutofit/>
              </a:bodyPr>
              <a:lstStyle/>
              <a:p>
                <a:endParaRPr lang="en-IN" dirty="0"/>
              </a:p>
              <a:p>
                <a:endParaRPr lang="en-IN" dirty="0"/>
              </a:p>
              <a:p>
                <a:endParaRPr lang="en-IN" dirty="0"/>
              </a:p>
              <a:p>
                <a:r>
                  <a:rPr lang="en-IN" sz="2400" dirty="0"/>
                  <a:t>Where </a:t>
                </a:r>
              </a:p>
              <a:p>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1">
                            <a:latin typeface="Cambria Math" panose="02040503050406030204" pitchFamily="18" charset="0"/>
                          </a:rPr>
                          <m:t>𝑘</m:t>
                        </m:r>
                      </m:sub>
                    </m:sSub>
                  </m:oMath>
                </a14:m>
                <a:r>
                  <a:rPr lang="ar-AE" sz="2400" dirty="0"/>
                  <a:t>= </a:t>
                </a:r>
                <a:r>
                  <a:rPr lang="en-IN" sz="2400" dirty="0"/>
                  <a:t>k-</a:t>
                </a:r>
                <a:r>
                  <a:rPr lang="en-IN" sz="2400" dirty="0" err="1"/>
                  <a:t>th</a:t>
                </a:r>
                <a:r>
                  <a:rPr lang="en-IN" sz="2400" dirty="0"/>
                  <a:t> cluster</a:t>
                </a:r>
              </a:p>
              <a:p>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𝑗</m:t>
                        </m:r>
                      </m:sub>
                    </m:sSub>
                  </m:oMath>
                </a14:m>
                <a:r>
                  <a:rPr lang="ar-AE" sz="2400" dirty="0"/>
                  <a:t>= </a:t>
                </a:r>
                <a:r>
                  <a:rPr lang="en-IN" sz="2400" dirty="0"/>
                  <a:t>any two points in the same cluster</a:t>
                </a:r>
              </a:p>
              <a:p>
                <a14:m>
                  <m:oMath xmlns:m="http://schemas.openxmlformats.org/officeDocument/2006/math">
                    <m:r>
                      <a:rPr lang="en-IN" sz="2400" i="1">
                        <a:latin typeface="Cambria Math" panose="02040503050406030204" pitchFamily="18" charset="0"/>
                      </a:rPr>
                      <m:t>𝑑</m:t>
                    </m:r>
                    <m:d>
                      <m:dPr>
                        <m:ctrlPr>
                          <a:rPr lang="ar-AE" sz="2400" i="1">
                            <a:latin typeface="Cambria Math" panose="02040503050406030204" pitchFamily="18" charset="0"/>
                          </a:rPr>
                        </m:ctrlPr>
                      </m:dPr>
                      <m:e>
                        <m:r>
                          <a:rPr lang="ar-AE" sz="2400">
                            <a:latin typeface="Cambria Math" panose="02040503050406030204" pitchFamily="18" charset="0"/>
                          </a:rPr>
                          <m:t>⋅</m:t>
                        </m:r>
                      </m:e>
                    </m:d>
                  </m:oMath>
                </a14:m>
                <a:r>
                  <a:rPr lang="ar-AE" sz="2400" dirty="0"/>
                  <a:t>= </a:t>
                </a:r>
                <a:r>
                  <a:rPr lang="en-IN" sz="2400" dirty="0"/>
                  <a:t>distance metric (usually Euclidean)</a:t>
                </a:r>
              </a:p>
              <a:p>
                <a:r>
                  <a:rPr lang="en-IN" sz="2400" dirty="0"/>
                  <a:t>It represents the </a:t>
                </a:r>
                <a:r>
                  <a:rPr lang="en-IN" sz="2400" b="1" dirty="0"/>
                  <a:t>largest distance between any two points within a cluster</a:t>
                </a:r>
                <a:r>
                  <a:rPr lang="en-IN" sz="2400" dirty="0"/>
                  <a:t>.</a:t>
                </a:r>
              </a:p>
              <a:p>
                <a:r>
                  <a:rPr lang="en-US" sz="2400" dirty="0"/>
                  <a:t>Large Dunn Index = better clusters.</a:t>
                </a:r>
                <a:endParaRPr lang="en-IN" sz="2400" dirty="0"/>
              </a:p>
              <a:p>
                <a:endParaRPr lang="en-IN" dirty="0"/>
              </a:p>
            </p:txBody>
          </p:sp>
        </mc:Choice>
        <mc:Fallback xmlns="">
          <p:sp>
            <p:nvSpPr>
              <p:cNvPr id="3" name="Content Placeholder 2">
                <a:extLst>
                  <a:ext uri="{FF2B5EF4-FFF2-40B4-BE49-F238E27FC236}">
                    <a16:creationId xmlns:a16="http://schemas.microsoft.com/office/drawing/2014/main" id="{453BE57F-B268-AD90-DA1E-D8858A15ED48}"/>
                  </a:ext>
                </a:extLst>
              </p:cNvPr>
              <p:cNvSpPr>
                <a:spLocks noGrp="1" noRot="1" noChangeAspect="1" noMove="1" noResize="1" noEditPoints="1" noAdjustHandles="1" noChangeArrowheads="1" noChangeShapeType="1" noTextEdit="1"/>
              </p:cNvSpPr>
              <p:nvPr>
                <p:ph idx="1"/>
              </p:nvPr>
            </p:nvSpPr>
            <p:spPr>
              <a:blipFill>
                <a:blip r:embed="rId2"/>
                <a:stretch>
                  <a:fillRect l="-812" b="-1120"/>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A95CFF82-0B7D-AA0B-FBBB-89BA712EBBB0}"/>
              </a:ext>
            </a:extLst>
          </p:cNvPr>
          <p:cNvPicPr>
            <a:picLocks noChangeAspect="1"/>
          </p:cNvPicPr>
          <p:nvPr/>
        </p:nvPicPr>
        <p:blipFill>
          <a:blip r:embed="rId3"/>
          <a:stretch>
            <a:fillRect/>
          </a:stretch>
        </p:blipFill>
        <p:spPr>
          <a:xfrm>
            <a:off x="5199667" y="1366792"/>
            <a:ext cx="3526889" cy="1033743"/>
          </a:xfrm>
          <a:prstGeom prst="rect">
            <a:avLst/>
          </a:prstGeom>
        </p:spPr>
      </p:pic>
      <p:pic>
        <p:nvPicPr>
          <p:cNvPr id="7" name="Picture 6">
            <a:extLst>
              <a:ext uri="{FF2B5EF4-FFF2-40B4-BE49-F238E27FC236}">
                <a16:creationId xmlns:a16="http://schemas.microsoft.com/office/drawing/2014/main" id="{27FDA971-7512-6005-3EE3-E3D72A092226}"/>
              </a:ext>
            </a:extLst>
          </p:cNvPr>
          <p:cNvPicPr>
            <a:picLocks noChangeAspect="1"/>
          </p:cNvPicPr>
          <p:nvPr/>
        </p:nvPicPr>
        <p:blipFill>
          <a:blip r:embed="rId4"/>
          <a:stretch>
            <a:fillRect/>
          </a:stretch>
        </p:blipFill>
        <p:spPr>
          <a:xfrm>
            <a:off x="3976829" y="2433824"/>
            <a:ext cx="4829241" cy="1145078"/>
          </a:xfrm>
          <a:prstGeom prst="rect">
            <a:avLst/>
          </a:prstGeom>
        </p:spPr>
      </p:pic>
    </p:spTree>
    <p:extLst>
      <p:ext uri="{BB962C8B-B14F-4D97-AF65-F5344CB8AC3E}">
        <p14:creationId xmlns:p14="http://schemas.microsoft.com/office/powerpoint/2010/main" val="12083733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A8754-51B9-60F0-7029-E26482148218}"/>
              </a:ext>
            </a:extLst>
          </p:cNvPr>
          <p:cNvSpPr>
            <a:spLocks noGrp="1"/>
          </p:cNvSpPr>
          <p:nvPr>
            <p:ph type="title"/>
          </p:nvPr>
        </p:nvSpPr>
        <p:spPr/>
        <p:txBody>
          <a:bodyPr/>
          <a:lstStyle/>
          <a:p>
            <a:r>
              <a:rPr lang="en-US" dirty="0"/>
              <a:t>5. Scatter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8B7053-FEEB-9EE8-B6BA-0B740E112C15}"/>
                  </a:ext>
                </a:extLst>
              </p:cNvPr>
              <p:cNvSpPr>
                <a:spLocks noGrp="1"/>
              </p:cNvSpPr>
              <p:nvPr>
                <p:ph idx="1"/>
              </p:nvPr>
            </p:nvSpPr>
            <p:spPr/>
            <p:txBody>
              <a:bodyPr>
                <a:normAutofit/>
              </a:bodyPr>
              <a:lstStyle/>
              <a:p>
                <a:r>
                  <a:rPr lang="en-US" sz="2400" b="1" dirty="0"/>
                  <a:t>Scatter</a:t>
                </a:r>
                <a:r>
                  <a:rPr lang="en-US" sz="2400" dirty="0"/>
                  <a:t> is a measure of the variability or dispersion of data points around a center (mean/centroid) in a dataset or cluster.</a:t>
                </a:r>
              </a:p>
              <a:p>
                <a:r>
                  <a:rPr lang="en-US" sz="2400" b="1" dirty="0"/>
                  <a:t>Types of Scatter in Clustering</a:t>
                </a:r>
              </a:p>
              <a:p>
                <a:pPr marL="914400" lvl="1" indent="-457200">
                  <a:buFont typeface="+mj-lt"/>
                  <a:buAutoNum type="arabicPeriod"/>
                </a:pPr>
                <a:r>
                  <a:rPr lang="en-US" sz="2000" b="1" dirty="0"/>
                  <a:t>Within-Cluster Scatter (Intra-cluster scatter) : </a:t>
                </a:r>
                <a:r>
                  <a:rPr lang="en-US" sz="2000" dirty="0"/>
                  <a:t>Measures compactness</a:t>
                </a:r>
              </a:p>
              <a:p>
                <a:pPr lvl="2"/>
                <a:r>
                  <a:rPr lang="en-US" dirty="0"/>
                  <a:t>Small value → cluster is compact.</a:t>
                </a:r>
              </a:p>
              <a:p>
                <a:pPr lvl="2"/>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𝜇</m:t>
                        </m:r>
                      </m:e>
                      <m:sub>
                        <m:r>
                          <a:rPr lang="ar-AE" sz="2200" i="1">
                            <a:latin typeface="Cambria Math" panose="02040503050406030204" pitchFamily="18" charset="0"/>
                          </a:rPr>
                          <m:t>𝑘</m:t>
                        </m:r>
                      </m:sub>
                    </m:sSub>
                  </m:oMath>
                </a14:m>
                <a:r>
                  <a:rPr lang="ar-AE" sz="2200" dirty="0"/>
                  <a:t>= </a:t>
                </a:r>
                <a:r>
                  <a:rPr lang="en-IN" sz="2200" dirty="0"/>
                  <a:t>cluster mean</a:t>
                </a:r>
              </a:p>
              <a:p>
                <a:pPr lvl="2"/>
                <a14:m>
                  <m:oMath xmlns:m="http://schemas.openxmlformats.org/officeDocument/2006/math">
                    <m:r>
                      <a:rPr lang="en-IN" sz="2200" i="1">
                        <a:latin typeface="Cambria Math" panose="02040503050406030204" pitchFamily="18" charset="0"/>
                      </a:rPr>
                      <m:t>𝜇</m:t>
                    </m:r>
                  </m:oMath>
                </a14:m>
                <a:r>
                  <a:rPr lang="en-IN" sz="2200" dirty="0"/>
                  <a:t>= overall mean</a:t>
                </a:r>
              </a:p>
              <a:p>
                <a:pPr lvl="2"/>
                <a14:m>
                  <m:oMath xmlns:m="http://schemas.openxmlformats.org/officeDocument/2006/math">
                    <m:sSub>
                      <m:sSubPr>
                        <m:ctrlPr>
                          <a:rPr lang="ar-AE" sz="2200" i="1">
                            <a:latin typeface="Cambria Math" panose="02040503050406030204" pitchFamily="18" charset="0"/>
                          </a:rPr>
                        </m:ctrlPr>
                      </m:sSubPr>
                      <m:e>
                        <m:r>
                          <a:rPr lang="ar-AE" sz="2200" i="1">
                            <a:latin typeface="Cambria Math" panose="02040503050406030204" pitchFamily="18" charset="0"/>
                          </a:rPr>
                          <m:t>𝑛</m:t>
                        </m:r>
                      </m:e>
                      <m:sub>
                        <m:r>
                          <a:rPr lang="ar-AE" sz="2200" i="1">
                            <a:latin typeface="Cambria Math" panose="02040503050406030204" pitchFamily="18" charset="0"/>
                          </a:rPr>
                          <m:t>𝑘</m:t>
                        </m:r>
                      </m:sub>
                    </m:sSub>
                  </m:oMath>
                </a14:m>
                <a:r>
                  <a:rPr lang="ar-AE" sz="2200" dirty="0"/>
                  <a:t>= </a:t>
                </a:r>
                <a:r>
                  <a:rPr lang="en-IN" sz="2200" dirty="0"/>
                  <a:t>number of samples</a:t>
                </a:r>
              </a:p>
              <a:p>
                <a:pPr marL="914400" lvl="1" indent="-457200">
                  <a:buFont typeface="+mj-lt"/>
                  <a:buAutoNum type="arabicPeriod"/>
                </a:pPr>
                <a:endParaRPr lang="en-IN" sz="2000" b="1" dirty="0"/>
              </a:p>
              <a:p>
                <a:pPr marL="914400" lvl="1" indent="-457200">
                  <a:buFont typeface="+mj-lt"/>
                  <a:buAutoNum type="arabicPeriod"/>
                </a:pPr>
                <a:r>
                  <a:rPr lang="en-IN" sz="2000" b="1" dirty="0"/>
                  <a:t>Between-Cluster Scatter (Inter-cluster scatter): </a:t>
                </a:r>
                <a:r>
                  <a:rPr lang="en-IN" sz="2000" dirty="0"/>
                  <a:t>Measures separation.</a:t>
                </a:r>
                <a:endParaRPr lang="en-US" sz="2000" dirty="0"/>
              </a:p>
              <a:p>
                <a:pPr lvl="2"/>
                <a:r>
                  <a:rPr lang="en-US" dirty="0"/>
                  <a:t>Large value → clusters are well separated.</a:t>
                </a:r>
              </a:p>
              <a:p>
                <a:pPr lvl="2"/>
                <a:endParaRPr lang="en-IN" dirty="0"/>
              </a:p>
            </p:txBody>
          </p:sp>
        </mc:Choice>
        <mc:Fallback xmlns="">
          <p:sp>
            <p:nvSpPr>
              <p:cNvPr id="3" name="Content Placeholder 2">
                <a:extLst>
                  <a:ext uri="{FF2B5EF4-FFF2-40B4-BE49-F238E27FC236}">
                    <a16:creationId xmlns:a16="http://schemas.microsoft.com/office/drawing/2014/main" id="{868B7053-FEEB-9EE8-B6BA-0B740E112C15}"/>
                  </a:ext>
                </a:extLst>
              </p:cNvPr>
              <p:cNvSpPr>
                <a:spLocks noGrp="1" noRot="1" noChangeAspect="1" noMove="1" noResize="1" noEditPoints="1" noAdjustHandles="1" noChangeArrowheads="1" noChangeShapeType="1" noTextEdit="1"/>
              </p:cNvSpPr>
              <p:nvPr>
                <p:ph idx="1"/>
              </p:nvPr>
            </p:nvSpPr>
            <p:spPr>
              <a:blipFill>
                <a:blip r:embed="rId2"/>
                <a:stretch>
                  <a:fillRect l="-812" t="-1961" r="-1217"/>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2BC1F35B-3269-E8B8-A89C-9E1516E7D387}"/>
              </a:ext>
            </a:extLst>
          </p:cNvPr>
          <p:cNvPicPr>
            <a:picLocks noChangeAspect="1"/>
          </p:cNvPicPr>
          <p:nvPr/>
        </p:nvPicPr>
        <p:blipFill>
          <a:blip r:embed="rId3"/>
          <a:stretch>
            <a:fillRect/>
          </a:stretch>
        </p:blipFill>
        <p:spPr>
          <a:xfrm>
            <a:off x="6855498" y="5425557"/>
            <a:ext cx="4498302" cy="1280973"/>
          </a:xfrm>
          <a:prstGeom prst="rect">
            <a:avLst/>
          </a:prstGeom>
        </p:spPr>
      </p:pic>
      <p:pic>
        <p:nvPicPr>
          <p:cNvPr id="9" name="Picture 8">
            <a:extLst>
              <a:ext uri="{FF2B5EF4-FFF2-40B4-BE49-F238E27FC236}">
                <a16:creationId xmlns:a16="http://schemas.microsoft.com/office/drawing/2014/main" id="{F31C4B1C-A5B2-8943-3BDC-09E1BE4EAC07}"/>
              </a:ext>
            </a:extLst>
          </p:cNvPr>
          <p:cNvPicPr>
            <a:picLocks noChangeAspect="1"/>
          </p:cNvPicPr>
          <p:nvPr/>
        </p:nvPicPr>
        <p:blipFill>
          <a:blip r:embed="rId4"/>
          <a:stretch>
            <a:fillRect/>
          </a:stretch>
        </p:blipFill>
        <p:spPr>
          <a:xfrm>
            <a:off x="6855498" y="3498573"/>
            <a:ext cx="4845327" cy="1133061"/>
          </a:xfrm>
          <a:prstGeom prst="rect">
            <a:avLst/>
          </a:prstGeom>
        </p:spPr>
      </p:pic>
    </p:spTree>
    <p:extLst>
      <p:ext uri="{BB962C8B-B14F-4D97-AF65-F5344CB8AC3E}">
        <p14:creationId xmlns:p14="http://schemas.microsoft.com/office/powerpoint/2010/main" val="1325594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682F-F8E9-99AA-A598-4CA7D13274E4}"/>
              </a:ext>
            </a:extLst>
          </p:cNvPr>
          <p:cNvSpPr>
            <a:spLocks noGrp="1"/>
          </p:cNvSpPr>
          <p:nvPr>
            <p:ph type="title"/>
          </p:nvPr>
        </p:nvSpPr>
        <p:spPr/>
        <p:txBody>
          <a:bodyPr/>
          <a:lstStyle/>
          <a:p>
            <a:r>
              <a:rPr lang="en-US" dirty="0"/>
              <a:t>5. Scatter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5A856F-DA8C-92A5-B4C7-C99B75A0A9C9}"/>
                  </a:ext>
                </a:extLst>
              </p:cNvPr>
              <p:cNvSpPr>
                <a:spLocks noGrp="1"/>
              </p:cNvSpPr>
              <p:nvPr>
                <p:ph idx="1"/>
              </p:nvPr>
            </p:nvSpPr>
            <p:spPr/>
            <p:txBody>
              <a:bodyPr/>
              <a:lstStyle/>
              <a:p>
                <a:r>
                  <a:rPr lang="en-IN" b="1" dirty="0"/>
                  <a:t>Total Scatter   </a:t>
                </a:r>
                <a:endParaRPr lang="en-IN" dirty="0"/>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𝑇</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𝑊</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𝐵</m:t>
                          </m:r>
                        </m:sub>
                      </m:sSub>
                    </m:oMath>
                  </m:oMathPara>
                </a14:m>
                <a:endParaRPr lang="ar-AE" dirty="0"/>
              </a:p>
              <a:p>
                <a:r>
                  <a:rPr lang="en-IN" sz="2400" dirty="0"/>
                  <a:t>Represents total data variance.</a:t>
                </a:r>
              </a:p>
              <a:p>
                <a:r>
                  <a:rPr lang="en-US" altLang="en-US" sz="2400" b="1" dirty="0"/>
                  <a:t>Low scatter</a:t>
                </a:r>
                <a:r>
                  <a:rPr lang="en-US" altLang="en-US" sz="2400" dirty="0"/>
                  <a:t> → points are close → tight clusters.</a:t>
                </a:r>
              </a:p>
              <a:p>
                <a:r>
                  <a:rPr lang="en-US" altLang="en-US" sz="2400" b="1" dirty="0"/>
                  <a:t>High scatter</a:t>
                </a:r>
                <a:r>
                  <a:rPr lang="en-US" altLang="en-US" sz="2400" dirty="0"/>
                  <a:t> → points are far → spread-out clusters.</a:t>
                </a:r>
              </a:p>
              <a:p>
                <a:r>
                  <a:rPr lang="en-US" sz="2400" dirty="0"/>
                  <a:t>Example:</a:t>
                </a:r>
              </a:p>
              <a:p>
                <a:pPr lvl="1"/>
                <a:r>
                  <a:rPr lang="en-US" sz="2000" dirty="0"/>
                  <a:t>Marks: 70, 71, 72 → low scatter</a:t>
                </a:r>
              </a:p>
              <a:p>
                <a:pPr lvl="1"/>
                <a:r>
                  <a:rPr lang="en-US" sz="2000" dirty="0"/>
                  <a:t>Marks: 30, 60, 90 → high scatter</a:t>
                </a:r>
                <a:endParaRPr lang="en-US" altLang="en-US" sz="2000" dirty="0"/>
              </a:p>
              <a:p>
                <a:pPr lvl="1"/>
                <a:endParaRPr lang="en-IN" sz="2000" dirty="0"/>
              </a:p>
              <a:p>
                <a:endParaRPr lang="en-IN" dirty="0"/>
              </a:p>
            </p:txBody>
          </p:sp>
        </mc:Choice>
        <mc:Fallback xmlns="">
          <p:sp>
            <p:nvSpPr>
              <p:cNvPr id="3" name="Content Placeholder 2">
                <a:extLst>
                  <a:ext uri="{FF2B5EF4-FFF2-40B4-BE49-F238E27FC236}">
                    <a16:creationId xmlns:a16="http://schemas.microsoft.com/office/drawing/2014/main" id="{195A856F-DA8C-92A5-B4C7-C99B75A0A9C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4255288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35BB-381B-8E45-3C91-E66735BAF7A4}"/>
              </a:ext>
            </a:extLst>
          </p:cNvPr>
          <p:cNvSpPr>
            <a:spLocks noGrp="1"/>
          </p:cNvSpPr>
          <p:nvPr>
            <p:ph type="title"/>
          </p:nvPr>
        </p:nvSpPr>
        <p:spPr/>
        <p:txBody>
          <a:bodyPr/>
          <a:lstStyle/>
          <a:p>
            <a:r>
              <a:rPr lang="en-IN" dirty="0"/>
              <a:t>Clustering</a:t>
            </a:r>
          </a:p>
        </p:txBody>
      </p:sp>
      <p:sp>
        <p:nvSpPr>
          <p:cNvPr id="3" name="Content Placeholder 2">
            <a:extLst>
              <a:ext uri="{FF2B5EF4-FFF2-40B4-BE49-F238E27FC236}">
                <a16:creationId xmlns:a16="http://schemas.microsoft.com/office/drawing/2014/main" id="{F88388E8-5CD1-C8CF-8B8A-E436DFDFCC8C}"/>
              </a:ext>
            </a:extLst>
          </p:cNvPr>
          <p:cNvSpPr>
            <a:spLocks noGrp="1"/>
          </p:cNvSpPr>
          <p:nvPr>
            <p:ph idx="1"/>
          </p:nvPr>
        </p:nvSpPr>
        <p:spPr/>
        <p:txBody>
          <a:bodyPr>
            <a:normAutofit/>
          </a:bodyPr>
          <a:lstStyle/>
          <a:p>
            <a:r>
              <a:rPr lang="en-US" sz="2400" dirty="0"/>
              <a:t>Clustering is the task of identifying similar instances and assigning them to clusters, or groups of similar instances.</a:t>
            </a:r>
          </a:p>
          <a:p>
            <a:r>
              <a:rPr lang="en-IN" b="1" dirty="0"/>
              <a:t>Two different kinds of clusters</a:t>
            </a:r>
          </a:p>
          <a:p>
            <a:pPr marL="914400" lvl="1" indent="-457200">
              <a:buFont typeface="+mj-lt"/>
              <a:buAutoNum type="arabicPeriod"/>
            </a:pPr>
            <a:r>
              <a:rPr lang="en-IN" dirty="0"/>
              <a:t>Some algorithms </a:t>
            </a:r>
            <a:r>
              <a:rPr lang="en-US" dirty="0"/>
              <a:t>look for instances centered around a particular point, called a centroid. </a:t>
            </a:r>
          </a:p>
          <a:p>
            <a:pPr marL="914400" lvl="1" indent="-457200">
              <a:buFont typeface="+mj-lt"/>
              <a:buAutoNum type="arabicPeriod"/>
            </a:pPr>
            <a:r>
              <a:rPr lang="en-US" dirty="0"/>
              <a:t>Others look for continuous regions of densely packed instances: these clusters can take on any shape. </a:t>
            </a:r>
          </a:p>
          <a:p>
            <a:r>
              <a:rPr lang="en-US" dirty="0"/>
              <a:t>Some algorithms are hierarchical, looking for clusters of clusters.</a:t>
            </a:r>
            <a:endParaRPr lang="en-US" sz="2400" dirty="0"/>
          </a:p>
          <a:p>
            <a:endParaRPr lang="en-IN" sz="2000" dirty="0"/>
          </a:p>
        </p:txBody>
      </p:sp>
    </p:spTree>
    <p:extLst>
      <p:ext uri="{BB962C8B-B14F-4D97-AF65-F5344CB8AC3E}">
        <p14:creationId xmlns:p14="http://schemas.microsoft.com/office/powerpoint/2010/main" val="4183210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22F14-8966-48FA-E5E0-8B22A406BEF5}"/>
              </a:ext>
            </a:extLst>
          </p:cNvPr>
          <p:cNvSpPr>
            <a:spLocks noGrp="1"/>
          </p:cNvSpPr>
          <p:nvPr>
            <p:ph type="title"/>
          </p:nvPr>
        </p:nvSpPr>
        <p:spPr/>
        <p:txBody>
          <a:bodyPr/>
          <a:lstStyle/>
          <a:p>
            <a:r>
              <a:rPr lang="en-IN" dirty="0"/>
              <a:t>Application of Clustering </a:t>
            </a:r>
          </a:p>
        </p:txBody>
      </p:sp>
      <p:sp>
        <p:nvSpPr>
          <p:cNvPr id="3" name="Content Placeholder 2">
            <a:extLst>
              <a:ext uri="{FF2B5EF4-FFF2-40B4-BE49-F238E27FC236}">
                <a16:creationId xmlns:a16="http://schemas.microsoft.com/office/drawing/2014/main" id="{25BBD2B9-C3A4-47A2-2CD6-5F449D380DFB}"/>
              </a:ext>
            </a:extLst>
          </p:cNvPr>
          <p:cNvSpPr>
            <a:spLocks noGrp="1"/>
          </p:cNvSpPr>
          <p:nvPr>
            <p:ph idx="1"/>
          </p:nvPr>
        </p:nvSpPr>
        <p:spPr/>
        <p:txBody>
          <a:bodyPr/>
          <a:lstStyle/>
          <a:p>
            <a:r>
              <a:rPr lang="en-US" sz="2400" dirty="0"/>
              <a:t>Clustering is used in a wide variety of applications, including these:</a:t>
            </a:r>
          </a:p>
          <a:p>
            <a:r>
              <a:rPr lang="en-IN" sz="2400" b="1" dirty="0"/>
              <a:t>For customer segmentation</a:t>
            </a:r>
          </a:p>
          <a:p>
            <a:pPr lvl="1"/>
            <a:r>
              <a:rPr lang="en-US" sz="2000" dirty="0"/>
              <a:t>You can cluster your customers based on their purchases and their activity on your website. </a:t>
            </a:r>
          </a:p>
          <a:p>
            <a:pPr lvl="1"/>
            <a:r>
              <a:rPr lang="en-US" sz="2000" dirty="0"/>
              <a:t>This is useful to understand who your customers are and what they need, so you can adapt your products and marketing campaigns to each segment.</a:t>
            </a:r>
          </a:p>
          <a:p>
            <a:pPr lvl="1"/>
            <a:r>
              <a:rPr lang="en-US" sz="2000" dirty="0"/>
              <a:t>For example, customer segmentation can be useful in recommender systems to suggest content that other users in the same cluster enjoyed.</a:t>
            </a:r>
          </a:p>
          <a:p>
            <a:r>
              <a:rPr lang="en-IN" sz="2400" b="1" dirty="0"/>
              <a:t>For data analysis</a:t>
            </a:r>
          </a:p>
          <a:p>
            <a:pPr lvl="1"/>
            <a:r>
              <a:rPr lang="en-US" sz="2000" dirty="0"/>
              <a:t>When you analyze a new dataset, it can be helpful to run a clustering algorithm, and then analyze each cluster separately.</a:t>
            </a:r>
            <a:endParaRPr lang="en-IN" dirty="0"/>
          </a:p>
        </p:txBody>
      </p:sp>
    </p:spTree>
    <p:extLst>
      <p:ext uri="{BB962C8B-B14F-4D97-AF65-F5344CB8AC3E}">
        <p14:creationId xmlns:p14="http://schemas.microsoft.com/office/powerpoint/2010/main" val="15483793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2DD3E-BAE9-D2CA-8052-C65C13AFAC41}"/>
              </a:ext>
            </a:extLst>
          </p:cNvPr>
          <p:cNvSpPr>
            <a:spLocks noGrp="1"/>
          </p:cNvSpPr>
          <p:nvPr>
            <p:ph type="title"/>
          </p:nvPr>
        </p:nvSpPr>
        <p:spPr>
          <a:xfrm>
            <a:off x="838200" y="365126"/>
            <a:ext cx="10515600" cy="837510"/>
          </a:xfrm>
        </p:spPr>
        <p:txBody>
          <a:bodyPr/>
          <a:lstStyle/>
          <a:p>
            <a:r>
              <a:rPr lang="en-IN" dirty="0"/>
              <a:t>Clustering</a:t>
            </a:r>
          </a:p>
        </p:txBody>
      </p:sp>
      <p:sp>
        <p:nvSpPr>
          <p:cNvPr id="3" name="Content Placeholder 2">
            <a:extLst>
              <a:ext uri="{FF2B5EF4-FFF2-40B4-BE49-F238E27FC236}">
                <a16:creationId xmlns:a16="http://schemas.microsoft.com/office/drawing/2014/main" id="{B15B26DA-811C-4CCF-4D88-2CCAD6CFCA21}"/>
              </a:ext>
            </a:extLst>
          </p:cNvPr>
          <p:cNvSpPr>
            <a:spLocks noGrp="1"/>
          </p:cNvSpPr>
          <p:nvPr>
            <p:ph idx="1"/>
          </p:nvPr>
        </p:nvSpPr>
        <p:spPr>
          <a:xfrm>
            <a:off x="838200" y="1659834"/>
            <a:ext cx="10515600" cy="4833039"/>
          </a:xfrm>
        </p:spPr>
        <p:txBody>
          <a:bodyPr>
            <a:noAutofit/>
          </a:bodyPr>
          <a:lstStyle/>
          <a:p>
            <a:r>
              <a:rPr lang="en-IN" sz="2400" b="1" dirty="0"/>
              <a:t>As a dimensionality reduction technique</a:t>
            </a:r>
          </a:p>
          <a:p>
            <a:pPr lvl="1"/>
            <a:r>
              <a:rPr lang="en-US" sz="2000" dirty="0"/>
              <a:t>Once a dataset has been clustered, it is usually possible to measure each instance’s affinity with each cluster (affinity is any measure of how well an instance fits into a cluster). </a:t>
            </a:r>
          </a:p>
          <a:p>
            <a:pPr lvl="1"/>
            <a:r>
              <a:rPr lang="en-US" sz="2000" dirty="0"/>
              <a:t>Each instance’s feature vector </a:t>
            </a:r>
            <a:r>
              <a:rPr lang="en-US" sz="2000" b="1" dirty="0"/>
              <a:t>x </a:t>
            </a:r>
            <a:r>
              <a:rPr lang="en-US" sz="2000" dirty="0"/>
              <a:t>can then be replaced with the vector of its cluster affinities. </a:t>
            </a:r>
          </a:p>
          <a:p>
            <a:pPr lvl="1"/>
            <a:r>
              <a:rPr lang="en-US" sz="2000" dirty="0"/>
              <a:t>If there are k clusters, then this vector is k-dimensional. This vector is typically much lower-dimensional than the original feature vector, but it can preserve enough information for further processing.</a:t>
            </a:r>
          </a:p>
          <a:p>
            <a:r>
              <a:rPr lang="en-US" sz="2400" b="1" dirty="0"/>
              <a:t>For anomaly detection (also called outlier detection)</a:t>
            </a:r>
          </a:p>
          <a:p>
            <a:pPr lvl="1"/>
            <a:r>
              <a:rPr lang="en-US" sz="2000" dirty="0"/>
              <a:t>Any instance that has a low affinity to all the clusters is likely to be an anomaly.</a:t>
            </a:r>
          </a:p>
          <a:p>
            <a:pPr lvl="1"/>
            <a:r>
              <a:rPr lang="en-US" sz="2000" dirty="0"/>
              <a:t>For example, if you have clustered the users of your website based on their behavior, you can detect users with unusual behavior, such as an unusual number of requests per second. Anomaly detection is particularly useful in detecting defects in manufacturing, or for </a:t>
            </a:r>
            <a:r>
              <a:rPr lang="en-US" sz="2000" i="1" dirty="0"/>
              <a:t>fraud detection</a:t>
            </a:r>
            <a:r>
              <a:rPr lang="en-US" sz="2000" dirty="0"/>
              <a:t>.</a:t>
            </a:r>
          </a:p>
        </p:txBody>
      </p:sp>
    </p:spTree>
    <p:extLst>
      <p:ext uri="{BB962C8B-B14F-4D97-AF65-F5344CB8AC3E}">
        <p14:creationId xmlns:p14="http://schemas.microsoft.com/office/powerpoint/2010/main" val="41332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B889C-B94E-4E21-032F-02012C6D4467}"/>
              </a:ext>
            </a:extLst>
          </p:cNvPr>
          <p:cNvSpPr>
            <a:spLocks noGrp="1"/>
          </p:cNvSpPr>
          <p:nvPr>
            <p:ph type="title"/>
          </p:nvPr>
        </p:nvSpPr>
        <p:spPr>
          <a:xfrm>
            <a:off x="838200" y="365125"/>
            <a:ext cx="10515600" cy="757997"/>
          </a:xfrm>
        </p:spPr>
        <p:txBody>
          <a:bodyPr/>
          <a:lstStyle/>
          <a:p>
            <a:r>
              <a:rPr lang="en-IN" dirty="0"/>
              <a:t>Clustering</a:t>
            </a:r>
          </a:p>
        </p:txBody>
      </p:sp>
      <p:sp>
        <p:nvSpPr>
          <p:cNvPr id="3" name="Content Placeholder 2">
            <a:extLst>
              <a:ext uri="{FF2B5EF4-FFF2-40B4-BE49-F238E27FC236}">
                <a16:creationId xmlns:a16="http://schemas.microsoft.com/office/drawing/2014/main" id="{872E815F-E2A5-5FBA-D088-D4F4417265A0}"/>
              </a:ext>
            </a:extLst>
          </p:cNvPr>
          <p:cNvSpPr>
            <a:spLocks noGrp="1"/>
          </p:cNvSpPr>
          <p:nvPr>
            <p:ph idx="1"/>
          </p:nvPr>
        </p:nvSpPr>
        <p:spPr>
          <a:xfrm>
            <a:off x="838200" y="1232452"/>
            <a:ext cx="10515600" cy="5357191"/>
          </a:xfrm>
        </p:spPr>
        <p:txBody>
          <a:bodyPr>
            <a:normAutofit/>
          </a:bodyPr>
          <a:lstStyle/>
          <a:p>
            <a:r>
              <a:rPr lang="en-IN" sz="2400" b="1" dirty="0"/>
              <a:t>For semi-supervised learning</a:t>
            </a:r>
            <a:endParaRPr lang="en-IN" sz="2000" b="1" dirty="0"/>
          </a:p>
          <a:p>
            <a:pPr lvl="1"/>
            <a:r>
              <a:rPr lang="en-US" sz="2000" dirty="0"/>
              <a:t>If you only have a few labels, you could perform clustering and propagate the labels to all the instances in the same cluster. This technique can greatly increase the number of labels available for a subsequent supervised learning algorithm, and thus improve its performance.</a:t>
            </a:r>
          </a:p>
          <a:p>
            <a:r>
              <a:rPr lang="en-IN" sz="2400" b="1" dirty="0"/>
              <a:t>For search engines</a:t>
            </a:r>
          </a:p>
          <a:p>
            <a:pPr lvl="1"/>
            <a:r>
              <a:rPr lang="en-US" sz="2000" dirty="0"/>
              <a:t>Some search engines let you search for images that are similar to a reference image. To build such a system, you would first apply a clustering algorithm to all the images in your database; similar images would end up in the same cluster.</a:t>
            </a:r>
          </a:p>
          <a:p>
            <a:pPr lvl="1"/>
            <a:r>
              <a:rPr lang="en-US" sz="2000" dirty="0"/>
              <a:t>Then when a user provides a reference image, all you need to do is use the trained clustering model to find this image’s cluster, and you can then simply return all the images from this cluster.</a:t>
            </a:r>
          </a:p>
          <a:p>
            <a:r>
              <a:rPr lang="en-IN" sz="2400" b="1" dirty="0"/>
              <a:t>To segment an image </a:t>
            </a:r>
          </a:p>
          <a:p>
            <a:pPr lvl="1"/>
            <a:r>
              <a:rPr lang="en-US" sz="2000" dirty="0"/>
              <a:t>By clustering pixels according to their color, then replacing each pixel’s color with the mean color of its cluster, it is possible to considerably reduce the number of different colors in the image. Image segmentation is used in many object detection and tracking systems, as it makes it easier to detect the contour of each </a:t>
            </a:r>
            <a:r>
              <a:rPr lang="en-IN" sz="2000" dirty="0"/>
              <a:t>object.</a:t>
            </a:r>
            <a:endParaRPr lang="en-IN" sz="4800" dirty="0"/>
          </a:p>
          <a:p>
            <a:endParaRPr lang="en-IN" dirty="0"/>
          </a:p>
        </p:txBody>
      </p:sp>
    </p:spTree>
    <p:extLst>
      <p:ext uri="{BB962C8B-B14F-4D97-AF65-F5344CB8AC3E}">
        <p14:creationId xmlns:p14="http://schemas.microsoft.com/office/powerpoint/2010/main" val="1891936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F4C6-7BED-990E-55DB-AD92DB327FA5}"/>
              </a:ext>
            </a:extLst>
          </p:cNvPr>
          <p:cNvSpPr>
            <a:spLocks noGrp="1"/>
          </p:cNvSpPr>
          <p:nvPr>
            <p:ph type="title"/>
          </p:nvPr>
        </p:nvSpPr>
        <p:spPr/>
        <p:txBody>
          <a:bodyPr/>
          <a:lstStyle/>
          <a:p>
            <a:r>
              <a:rPr lang="en-IN" dirty="0"/>
              <a:t>K-Means Clustering</a:t>
            </a:r>
          </a:p>
        </p:txBody>
      </p:sp>
      <p:sp>
        <p:nvSpPr>
          <p:cNvPr id="3" name="Content Placeholder 2">
            <a:extLst>
              <a:ext uri="{FF2B5EF4-FFF2-40B4-BE49-F238E27FC236}">
                <a16:creationId xmlns:a16="http://schemas.microsoft.com/office/drawing/2014/main" id="{6C5FB175-AA62-BCC7-1F0A-CFB90CBD6551}"/>
              </a:ext>
            </a:extLst>
          </p:cNvPr>
          <p:cNvSpPr>
            <a:spLocks noGrp="1"/>
          </p:cNvSpPr>
          <p:nvPr>
            <p:ph idx="1"/>
          </p:nvPr>
        </p:nvSpPr>
        <p:spPr/>
        <p:txBody>
          <a:bodyPr>
            <a:normAutofit fontScale="92500" lnSpcReduction="10000"/>
          </a:bodyPr>
          <a:lstStyle/>
          <a:p>
            <a:pPr fontAlgn="base"/>
            <a:r>
              <a:rPr lang="en-US" sz="2400" dirty="0"/>
              <a:t>K-Means Clustering groups similar data points into clusters without needing labeled data. It is used to uncover hidden patterns when the goal is to organize data based on similarity.</a:t>
            </a:r>
          </a:p>
          <a:p>
            <a:pPr lvl="1" fontAlgn="base"/>
            <a:r>
              <a:rPr lang="en-US" sz="2000" dirty="0"/>
              <a:t>Helps identify natural groupings in unlabeled datasets</a:t>
            </a:r>
          </a:p>
          <a:p>
            <a:pPr lvl="1" fontAlgn="base"/>
            <a:r>
              <a:rPr lang="en-US" sz="2000" dirty="0"/>
              <a:t>Works by grouping points based on distance to cluster centers</a:t>
            </a:r>
          </a:p>
          <a:p>
            <a:pPr lvl="1" fontAlgn="base"/>
            <a:r>
              <a:rPr lang="en-US" sz="2000" dirty="0"/>
              <a:t>Commonly used in customer segmentation, image compression, and pattern discovery</a:t>
            </a:r>
          </a:p>
          <a:p>
            <a:pPr lvl="1" fontAlgn="base"/>
            <a:r>
              <a:rPr lang="en-US" sz="2000" dirty="0"/>
              <a:t>Useful when you need structure from raw, unorganized data</a:t>
            </a:r>
          </a:p>
          <a:p>
            <a:r>
              <a:rPr lang="en-US" sz="2600" dirty="0"/>
              <a:t>The vast majority of the instances were clearly assigned to the appropriate cluster, but a few instances were probably mislabeled (especially near the boundary between the top-left cluster and the central cluster). </a:t>
            </a:r>
          </a:p>
          <a:p>
            <a:r>
              <a:rPr lang="en-US" sz="2600" dirty="0"/>
              <a:t>Indeed, the K-Means algorithm does not behave very well when the blobs have very different diameters because all it cares about when assigning an instance to a cluster is the distance to the centroid.</a:t>
            </a:r>
            <a:endParaRPr lang="en-US" sz="5800" dirty="0"/>
          </a:p>
        </p:txBody>
      </p:sp>
    </p:spTree>
    <p:extLst>
      <p:ext uri="{BB962C8B-B14F-4D97-AF65-F5344CB8AC3E}">
        <p14:creationId xmlns:p14="http://schemas.microsoft.com/office/powerpoint/2010/main" val="654260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B870A-EF90-B1F2-E4AA-894776BE4880}"/>
              </a:ext>
            </a:extLst>
          </p:cNvPr>
          <p:cNvSpPr>
            <a:spLocks noGrp="1"/>
          </p:cNvSpPr>
          <p:nvPr>
            <p:ph type="title"/>
          </p:nvPr>
        </p:nvSpPr>
        <p:spPr/>
        <p:txBody>
          <a:bodyPr/>
          <a:lstStyle/>
          <a:p>
            <a:r>
              <a:rPr lang="en-IN" dirty="0"/>
              <a:t>K-Means Clustering</a:t>
            </a:r>
          </a:p>
        </p:txBody>
      </p:sp>
      <p:pic>
        <p:nvPicPr>
          <p:cNvPr id="5" name="Content Placeholder 4">
            <a:extLst>
              <a:ext uri="{FF2B5EF4-FFF2-40B4-BE49-F238E27FC236}">
                <a16:creationId xmlns:a16="http://schemas.microsoft.com/office/drawing/2014/main" id="{8784F921-8ECA-6329-698B-4243D652386B}"/>
              </a:ext>
            </a:extLst>
          </p:cNvPr>
          <p:cNvPicPr>
            <a:picLocks noGrp="1" noChangeAspect="1"/>
          </p:cNvPicPr>
          <p:nvPr>
            <p:ph idx="1"/>
          </p:nvPr>
        </p:nvPicPr>
        <p:blipFill>
          <a:blip r:embed="rId2"/>
          <a:stretch>
            <a:fillRect/>
          </a:stretch>
        </p:blipFill>
        <p:spPr>
          <a:xfrm>
            <a:off x="1" y="1402965"/>
            <a:ext cx="6788426" cy="3177686"/>
          </a:xfrm>
          <a:prstGeom prst="rect">
            <a:avLst/>
          </a:prstGeom>
        </p:spPr>
      </p:pic>
      <p:pic>
        <p:nvPicPr>
          <p:cNvPr id="7" name="Picture 6">
            <a:extLst>
              <a:ext uri="{FF2B5EF4-FFF2-40B4-BE49-F238E27FC236}">
                <a16:creationId xmlns:a16="http://schemas.microsoft.com/office/drawing/2014/main" id="{A4F3BE89-01C5-A366-53BB-4858951DBAA6}"/>
              </a:ext>
            </a:extLst>
          </p:cNvPr>
          <p:cNvPicPr>
            <a:picLocks noChangeAspect="1"/>
          </p:cNvPicPr>
          <p:nvPr/>
        </p:nvPicPr>
        <p:blipFill>
          <a:blip r:embed="rId3"/>
          <a:stretch>
            <a:fillRect/>
          </a:stretch>
        </p:blipFill>
        <p:spPr>
          <a:xfrm>
            <a:off x="4422559" y="3235852"/>
            <a:ext cx="7769440" cy="3622148"/>
          </a:xfrm>
          <a:prstGeom prst="rect">
            <a:avLst/>
          </a:prstGeom>
        </p:spPr>
      </p:pic>
    </p:spTree>
    <p:extLst>
      <p:ext uri="{BB962C8B-B14F-4D97-AF65-F5344CB8AC3E}">
        <p14:creationId xmlns:p14="http://schemas.microsoft.com/office/powerpoint/2010/main" val="421061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4CDD1-C848-1895-00F2-D6D0396DCAC0}"/>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4327F9C2-C77F-0F72-5650-A9EF11EA4D8E}"/>
              </a:ext>
            </a:extLst>
          </p:cNvPr>
          <p:cNvSpPr>
            <a:spLocks noGrp="1"/>
          </p:cNvSpPr>
          <p:nvPr>
            <p:ph idx="1"/>
          </p:nvPr>
        </p:nvSpPr>
        <p:spPr/>
        <p:txBody>
          <a:bodyPr>
            <a:normAutofit/>
          </a:bodyPr>
          <a:lstStyle/>
          <a:p>
            <a:r>
              <a:rPr lang="en-US" sz="2400" dirty="0"/>
              <a:t>Instead of assigning each instance to a single cluster, which is called </a:t>
            </a:r>
            <a:r>
              <a:rPr lang="en-US" sz="2400" b="1" dirty="0"/>
              <a:t>hard clustering</a:t>
            </a:r>
            <a:r>
              <a:rPr lang="en-US" sz="2400" dirty="0"/>
              <a:t>, it can be useful to give each instance a score per cluster, which is called </a:t>
            </a:r>
            <a:r>
              <a:rPr lang="en-US" sz="2400" b="1" dirty="0"/>
              <a:t>soft clustering</a:t>
            </a:r>
            <a:r>
              <a:rPr lang="en-US" sz="2400" dirty="0"/>
              <a:t>.</a:t>
            </a:r>
          </a:p>
          <a:p>
            <a:r>
              <a:rPr lang="en-US" sz="2400" dirty="0"/>
              <a:t>The score can be the distance between the instance and the centroid; conversely, it can be a similarity score (or affinity), such as the Gaussian Radial Basis Function.</a:t>
            </a:r>
          </a:p>
          <a:p>
            <a:r>
              <a:rPr lang="en-US" sz="2400" dirty="0"/>
              <a:t>The computational complexity of the algorithm is generally linear with regard to the number of instances </a:t>
            </a:r>
            <a:r>
              <a:rPr lang="en-US" sz="2400" i="1" dirty="0"/>
              <a:t>m</a:t>
            </a:r>
            <a:r>
              <a:rPr lang="en-US" sz="2400" dirty="0"/>
              <a:t>, the number of clusters </a:t>
            </a:r>
            <a:r>
              <a:rPr lang="en-US" sz="2400" i="1" dirty="0"/>
              <a:t>k</a:t>
            </a:r>
            <a:r>
              <a:rPr lang="en-US" sz="2400" dirty="0"/>
              <a:t>, and the number of dimensions </a:t>
            </a:r>
            <a:r>
              <a:rPr lang="en-US" sz="2400" i="1" dirty="0"/>
              <a:t>n</a:t>
            </a:r>
            <a:r>
              <a:rPr lang="en-US" sz="2400" dirty="0"/>
              <a:t>. However, this is only true when the data has a clustering structure. If it does not, then in the </a:t>
            </a:r>
            <a:r>
              <a:rPr lang="en-US" sz="2400" dirty="0" err="1"/>
              <a:t>worstcase</a:t>
            </a:r>
            <a:r>
              <a:rPr lang="en-US" sz="2400" dirty="0"/>
              <a:t> scenario the complexity can increase exponentially with the number of instances. In practice, this rarely happens, and K-Means is generally one of the fastest clustering algorithms.</a:t>
            </a:r>
            <a:endParaRPr lang="en-IN" sz="2400" dirty="0"/>
          </a:p>
        </p:txBody>
      </p:sp>
    </p:spTree>
    <p:extLst>
      <p:ext uri="{BB962C8B-B14F-4D97-AF65-F5344CB8AC3E}">
        <p14:creationId xmlns:p14="http://schemas.microsoft.com/office/powerpoint/2010/main" val="2077864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4BB518-0EB1-41C8-95AD-97E4FC711379}"/>
              </a:ext>
            </a:extLst>
          </p:cNvPr>
          <p:cNvPicPr>
            <a:picLocks noChangeAspect="1"/>
          </p:cNvPicPr>
          <p:nvPr/>
        </p:nvPicPr>
        <p:blipFill>
          <a:blip r:embed="rId2"/>
          <a:stretch>
            <a:fillRect/>
          </a:stretch>
        </p:blipFill>
        <p:spPr>
          <a:xfrm>
            <a:off x="1790740" y="0"/>
            <a:ext cx="8610519" cy="6858000"/>
          </a:xfrm>
          <a:prstGeom prst="rect">
            <a:avLst/>
          </a:prstGeom>
        </p:spPr>
      </p:pic>
    </p:spTree>
    <p:extLst>
      <p:ext uri="{BB962C8B-B14F-4D97-AF65-F5344CB8AC3E}">
        <p14:creationId xmlns:p14="http://schemas.microsoft.com/office/powerpoint/2010/main" val="890832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EBE38-8314-C085-908D-72DBC915820A}"/>
              </a:ext>
            </a:extLst>
          </p:cNvPr>
          <p:cNvSpPr>
            <a:spLocks noGrp="1"/>
          </p:cNvSpPr>
          <p:nvPr>
            <p:ph type="title"/>
          </p:nvPr>
        </p:nvSpPr>
        <p:spPr/>
        <p:txBody>
          <a:bodyPr/>
          <a:lstStyle/>
          <a:p>
            <a:r>
              <a:rPr lang="en-IN" dirty="0"/>
              <a:t>Steps in </a:t>
            </a:r>
            <a:r>
              <a:rPr lang="en-US" dirty="0"/>
              <a:t>K-means clustering algorithm</a:t>
            </a:r>
            <a:endParaRPr lang="en-IN" dirty="0"/>
          </a:p>
        </p:txBody>
      </p:sp>
      <p:sp>
        <p:nvSpPr>
          <p:cNvPr id="3" name="Content Placeholder 2">
            <a:extLst>
              <a:ext uri="{FF2B5EF4-FFF2-40B4-BE49-F238E27FC236}">
                <a16:creationId xmlns:a16="http://schemas.microsoft.com/office/drawing/2014/main" id="{9D4717D5-7092-8FAA-AC6A-00FE73185B92}"/>
              </a:ext>
            </a:extLst>
          </p:cNvPr>
          <p:cNvSpPr>
            <a:spLocks noGrp="1"/>
          </p:cNvSpPr>
          <p:nvPr>
            <p:ph idx="1"/>
          </p:nvPr>
        </p:nvSpPr>
        <p:spPr>
          <a:xfrm>
            <a:off x="838200" y="1825625"/>
            <a:ext cx="10979426" cy="4351338"/>
          </a:xfrm>
        </p:spPr>
        <p:txBody>
          <a:bodyPr>
            <a:normAutofit/>
          </a:bodyPr>
          <a:lstStyle/>
          <a:p>
            <a:pPr marL="514350" indent="-514350">
              <a:buFont typeface="+mj-lt"/>
              <a:buAutoNum type="arabicPeriod"/>
            </a:pPr>
            <a:r>
              <a:rPr lang="en-US" sz="2400" b="1" dirty="0"/>
              <a:t>Choose Number of Clusters (K)</a:t>
            </a:r>
          </a:p>
          <a:p>
            <a:pPr lvl="1"/>
            <a:r>
              <a:rPr lang="en-US" sz="2000" dirty="0"/>
              <a:t>Select the number of clusters </a:t>
            </a:r>
            <a:r>
              <a:rPr lang="en-US" sz="2000" b="1" dirty="0"/>
              <a:t>K</a:t>
            </a:r>
            <a:r>
              <a:rPr lang="en-US" sz="2000" dirty="0"/>
              <a:t> based on the problem requirement.</a:t>
            </a:r>
          </a:p>
          <a:p>
            <a:pPr lvl="1"/>
            <a:r>
              <a:rPr lang="en-US" sz="2000" dirty="0"/>
              <a:t>Methods like the </a:t>
            </a:r>
            <a:r>
              <a:rPr lang="en-US" sz="2000" b="1" dirty="0"/>
              <a:t>Elbow Method</a:t>
            </a:r>
            <a:r>
              <a:rPr lang="en-US" sz="2000" dirty="0"/>
              <a:t> can help in choosing optimal K.</a:t>
            </a:r>
            <a:endParaRPr lang="en-IN" sz="2000" b="1" dirty="0"/>
          </a:p>
          <a:p>
            <a:pPr marL="514350" indent="-514350">
              <a:buFont typeface="+mj-lt"/>
              <a:buAutoNum type="arabicPeriod"/>
            </a:pPr>
            <a:r>
              <a:rPr lang="en-IN" sz="2400" b="1" dirty="0"/>
              <a:t>Initializing Random Centroids</a:t>
            </a:r>
          </a:p>
          <a:p>
            <a:pPr lvl="1"/>
            <a:r>
              <a:rPr lang="en-US" sz="2000" dirty="0"/>
              <a:t>Randomly select </a:t>
            </a:r>
            <a:r>
              <a:rPr lang="en-US" sz="2000" b="1" dirty="0"/>
              <a:t>K data points</a:t>
            </a:r>
            <a:r>
              <a:rPr lang="en-US" sz="2000" dirty="0"/>
              <a:t> as the initial cluster centroids.</a:t>
            </a:r>
          </a:p>
          <a:p>
            <a:pPr lvl="1"/>
            <a:r>
              <a:rPr lang="en-US" sz="2000" dirty="0"/>
              <a:t>These centroids represent the center of each cluster.</a:t>
            </a:r>
          </a:p>
          <a:p>
            <a:pPr marL="514350" indent="-514350">
              <a:buFont typeface="+mj-lt"/>
              <a:buAutoNum type="arabicPeriod"/>
            </a:pPr>
            <a:r>
              <a:rPr lang="en-US" sz="2400" b="1" dirty="0"/>
              <a:t>Assign Data Points to Nearest Centroid</a:t>
            </a:r>
          </a:p>
          <a:p>
            <a:pPr lvl="1"/>
            <a:r>
              <a:rPr lang="en-US" sz="2000" dirty="0"/>
              <a:t>For each data point, compute the </a:t>
            </a:r>
            <a:r>
              <a:rPr lang="en-US" sz="2000" b="1" dirty="0"/>
              <a:t>distance</a:t>
            </a:r>
            <a:r>
              <a:rPr lang="en-US" sz="2000" dirty="0"/>
              <a:t> (usually Euclidean distance) from all centroids.</a:t>
            </a:r>
          </a:p>
          <a:p>
            <a:pPr lvl="1"/>
            <a:r>
              <a:rPr lang="en-US" sz="2000" dirty="0"/>
              <a:t>Assign each point to the cluster with the </a:t>
            </a:r>
            <a:r>
              <a:rPr lang="en-US" sz="2000" b="1" dirty="0"/>
              <a:t>minimum distance</a:t>
            </a:r>
            <a:r>
              <a:rPr lang="en-US" sz="2000" dirty="0"/>
              <a:t>.</a:t>
            </a:r>
          </a:p>
          <a:p>
            <a:pPr marL="457200" lvl="1" indent="0">
              <a:buNone/>
            </a:pPr>
            <a:endParaRPr lang="en-IN" sz="2000" b="1" dirty="0"/>
          </a:p>
          <a:p>
            <a:pPr marL="514350" indent="-514350">
              <a:buFont typeface="+mj-lt"/>
              <a:buAutoNum type="arabicPeriod"/>
            </a:pPr>
            <a:endParaRPr lang="en-IN" sz="2400" dirty="0"/>
          </a:p>
        </p:txBody>
      </p:sp>
    </p:spTree>
    <p:extLst>
      <p:ext uri="{BB962C8B-B14F-4D97-AF65-F5344CB8AC3E}">
        <p14:creationId xmlns:p14="http://schemas.microsoft.com/office/powerpoint/2010/main" val="14749556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18828-AC48-1693-45C3-7E7F751D0951}"/>
              </a:ext>
            </a:extLst>
          </p:cNvPr>
          <p:cNvSpPr>
            <a:spLocks noGrp="1"/>
          </p:cNvSpPr>
          <p:nvPr>
            <p:ph type="title"/>
          </p:nvPr>
        </p:nvSpPr>
        <p:spPr/>
        <p:txBody>
          <a:bodyPr/>
          <a:lstStyle/>
          <a:p>
            <a:r>
              <a:rPr lang="en-IN" dirty="0"/>
              <a:t>Steps in </a:t>
            </a:r>
            <a:r>
              <a:rPr lang="en-US" dirty="0"/>
              <a:t>K-means clustering algorithm</a:t>
            </a:r>
            <a:endParaRPr lang="en-IN" dirty="0"/>
          </a:p>
        </p:txBody>
      </p:sp>
      <p:sp>
        <p:nvSpPr>
          <p:cNvPr id="3" name="Content Placeholder 2">
            <a:extLst>
              <a:ext uri="{FF2B5EF4-FFF2-40B4-BE49-F238E27FC236}">
                <a16:creationId xmlns:a16="http://schemas.microsoft.com/office/drawing/2014/main" id="{2E6F64B3-D969-707D-B9E1-E030B3BA7CE8}"/>
              </a:ext>
            </a:extLst>
          </p:cNvPr>
          <p:cNvSpPr>
            <a:spLocks noGrp="1"/>
          </p:cNvSpPr>
          <p:nvPr>
            <p:ph idx="1"/>
          </p:nvPr>
        </p:nvSpPr>
        <p:spPr/>
        <p:txBody>
          <a:bodyPr/>
          <a:lstStyle/>
          <a:p>
            <a:pPr marL="514350" indent="-514350">
              <a:buFont typeface="+mj-lt"/>
              <a:buAutoNum type="arabicPeriod" startAt="4"/>
            </a:pPr>
            <a:r>
              <a:rPr lang="en-US" sz="2400" b="1" dirty="0"/>
              <a:t>Update Centroids</a:t>
            </a:r>
          </a:p>
          <a:p>
            <a:pPr lvl="1"/>
            <a:r>
              <a:rPr lang="en-US" sz="2000" dirty="0"/>
              <a:t>Recalculate the centroid of each cluster by taking the </a:t>
            </a:r>
            <a:r>
              <a:rPr lang="en-US" sz="2000" b="1" dirty="0"/>
              <a:t>mean of all points</a:t>
            </a:r>
            <a:r>
              <a:rPr lang="en-US" sz="2000" dirty="0"/>
              <a:t> assigned to that cluster.</a:t>
            </a:r>
          </a:p>
          <a:p>
            <a:pPr lvl="1"/>
            <a:endParaRPr lang="en-US" sz="2000" dirty="0"/>
          </a:p>
          <a:p>
            <a:pPr lvl="1"/>
            <a:endParaRPr lang="en-US" sz="2000" dirty="0"/>
          </a:p>
          <a:p>
            <a:pPr lvl="1"/>
            <a:endParaRPr lang="en-US" sz="2000" dirty="0"/>
          </a:p>
          <a:p>
            <a:pPr lvl="1"/>
            <a:endParaRPr lang="en-US" sz="2000" dirty="0"/>
          </a:p>
          <a:p>
            <a:pPr marL="457200" indent="-457200">
              <a:buFont typeface="+mj-lt"/>
              <a:buAutoNum type="arabicPeriod" startAt="5"/>
            </a:pPr>
            <a:r>
              <a:rPr lang="en-US" sz="2400" b="1" dirty="0"/>
              <a:t>Check for Convergence</a:t>
            </a:r>
          </a:p>
          <a:p>
            <a:pPr lvl="1"/>
            <a:r>
              <a:rPr lang="en-US" sz="2000" dirty="0"/>
              <a:t>Compare old and new centroids.</a:t>
            </a:r>
          </a:p>
          <a:p>
            <a:pPr lvl="1"/>
            <a:r>
              <a:rPr lang="en-US" sz="2000" dirty="0"/>
              <a:t>If centroids do not change (or change is below a threshold), the algorithm stops.</a:t>
            </a:r>
          </a:p>
          <a:p>
            <a:pPr lvl="1"/>
            <a:r>
              <a:rPr lang="en-US" sz="2000" dirty="0"/>
              <a:t>Otherwise, repeat Steps 3 and 4.</a:t>
            </a:r>
          </a:p>
          <a:p>
            <a:endParaRPr lang="en-US" sz="2400" dirty="0"/>
          </a:p>
          <a:p>
            <a:pPr lvl="1"/>
            <a:endParaRPr lang="en-US" sz="2000" dirty="0"/>
          </a:p>
          <a:p>
            <a:endParaRPr lang="en-IN" dirty="0"/>
          </a:p>
        </p:txBody>
      </p:sp>
      <p:pic>
        <p:nvPicPr>
          <p:cNvPr id="5" name="Picture 4">
            <a:extLst>
              <a:ext uri="{FF2B5EF4-FFF2-40B4-BE49-F238E27FC236}">
                <a16:creationId xmlns:a16="http://schemas.microsoft.com/office/drawing/2014/main" id="{853E27B8-693D-8CA8-7E91-67D33477A74D}"/>
              </a:ext>
            </a:extLst>
          </p:cNvPr>
          <p:cNvPicPr>
            <a:picLocks noChangeAspect="1"/>
          </p:cNvPicPr>
          <p:nvPr/>
        </p:nvPicPr>
        <p:blipFill>
          <a:blip r:embed="rId2"/>
          <a:stretch>
            <a:fillRect/>
          </a:stretch>
        </p:blipFill>
        <p:spPr>
          <a:xfrm>
            <a:off x="3562452" y="2839416"/>
            <a:ext cx="3583783" cy="1433514"/>
          </a:xfrm>
          <a:prstGeom prst="rect">
            <a:avLst/>
          </a:prstGeom>
        </p:spPr>
      </p:pic>
    </p:spTree>
    <p:extLst>
      <p:ext uri="{BB962C8B-B14F-4D97-AF65-F5344CB8AC3E}">
        <p14:creationId xmlns:p14="http://schemas.microsoft.com/office/powerpoint/2010/main" val="40358747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95945-9995-A6CC-576E-38DF9DFDE86F}"/>
              </a:ext>
            </a:extLst>
          </p:cNvPr>
          <p:cNvSpPr>
            <a:spLocks noGrp="1"/>
          </p:cNvSpPr>
          <p:nvPr>
            <p:ph type="title"/>
          </p:nvPr>
        </p:nvSpPr>
        <p:spPr/>
        <p:txBody>
          <a:bodyPr/>
          <a:lstStyle/>
          <a:p>
            <a:r>
              <a:rPr lang="en-IN" dirty="0"/>
              <a:t>Steps in </a:t>
            </a:r>
            <a:r>
              <a:rPr lang="en-US" dirty="0"/>
              <a:t>K-means clustering algorithm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4B083C-20AC-79AC-30FB-3E1954C991CF}"/>
                  </a:ext>
                </a:extLst>
              </p:cNvPr>
              <p:cNvSpPr>
                <a:spLocks noGrp="1"/>
              </p:cNvSpPr>
              <p:nvPr>
                <p:ph idx="1"/>
              </p:nvPr>
            </p:nvSpPr>
            <p:spPr/>
            <p:txBody>
              <a:bodyPr/>
              <a:lstStyle/>
              <a:p>
                <a:pPr marL="514350" indent="-514350">
                  <a:buFont typeface="+mj-lt"/>
                  <a:buAutoNum type="arabicPeriod" startAt="6"/>
                </a:pPr>
                <a:r>
                  <a:rPr lang="en-US" b="1" dirty="0"/>
                  <a:t>Output Clusters</a:t>
                </a:r>
              </a:p>
              <a:p>
                <a:pPr lvl="1"/>
                <a:r>
                  <a:rPr lang="en-US" dirty="0"/>
                  <a:t>Final clusters and centroids are produced, minimizing intra-cluster variance.</a:t>
                </a:r>
              </a:p>
              <a:p>
                <a:pPr lvl="1"/>
                <a:r>
                  <a:rPr lang="en-IN" b="1" dirty="0"/>
                  <a:t>Objective Function: </a:t>
                </a:r>
                <a:r>
                  <a:rPr lang="en-IN" dirty="0"/>
                  <a:t>K-Means minimizes:</a:t>
                </a:r>
              </a:p>
              <a:p>
                <a:pPr lvl="1"/>
                <a:endParaRPr lang="en-IN" dirty="0"/>
              </a:p>
              <a:p>
                <a:pPr lvl="1"/>
                <a:endParaRPr lang="en-IN" dirty="0"/>
              </a:p>
              <a:p>
                <a:pPr lvl="1"/>
                <a:endParaRPr lang="en-IN" dirty="0"/>
              </a:p>
              <a:p>
                <a:pPr lvl="1"/>
                <a:r>
                  <a:rPr lang="en-IN"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oMath>
                </a14:m>
                <a:r>
                  <a:rPr lang="en-IN" dirty="0"/>
                  <a:t>is centroid of cluster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𝑘</m:t>
                        </m:r>
                      </m:sub>
                    </m:sSub>
                  </m:oMath>
                </a14:m>
                <a:r>
                  <a:rPr lang="ar-AE" dirty="0"/>
                  <a:t>.</a:t>
                </a:r>
              </a:p>
              <a:p>
                <a:pPr lvl="1"/>
                <a:endParaRPr lang="en-US" dirty="0"/>
              </a:p>
              <a:p>
                <a:endParaRPr lang="en-IN" dirty="0"/>
              </a:p>
            </p:txBody>
          </p:sp>
        </mc:Choice>
        <mc:Fallback xmlns="">
          <p:sp>
            <p:nvSpPr>
              <p:cNvPr id="3" name="Content Placeholder 2">
                <a:extLst>
                  <a:ext uri="{FF2B5EF4-FFF2-40B4-BE49-F238E27FC236}">
                    <a16:creationId xmlns:a16="http://schemas.microsoft.com/office/drawing/2014/main" id="{314B083C-20AC-79AC-30FB-3E1954C991CF}"/>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77C5AD20-F91B-FDB1-5CB9-427D9351550E}"/>
              </a:ext>
            </a:extLst>
          </p:cNvPr>
          <p:cNvPicPr>
            <a:picLocks noChangeAspect="1"/>
          </p:cNvPicPr>
          <p:nvPr/>
        </p:nvPicPr>
        <p:blipFill>
          <a:blip r:embed="rId3"/>
          <a:stretch>
            <a:fillRect/>
          </a:stretch>
        </p:blipFill>
        <p:spPr>
          <a:xfrm>
            <a:off x="5823544" y="2959732"/>
            <a:ext cx="3687010" cy="1294215"/>
          </a:xfrm>
          <a:prstGeom prst="rect">
            <a:avLst/>
          </a:prstGeom>
        </p:spPr>
      </p:pic>
    </p:spTree>
    <p:extLst>
      <p:ext uri="{BB962C8B-B14F-4D97-AF65-F5344CB8AC3E}">
        <p14:creationId xmlns:p14="http://schemas.microsoft.com/office/powerpoint/2010/main" val="3030896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BE222-CF93-BB3E-F667-FEF8751767C1}"/>
              </a:ext>
            </a:extLst>
          </p:cNvPr>
          <p:cNvSpPr>
            <a:spLocks noGrp="1"/>
          </p:cNvSpPr>
          <p:nvPr>
            <p:ph type="title"/>
          </p:nvPr>
        </p:nvSpPr>
        <p:spPr/>
        <p:txBody>
          <a:bodyPr/>
          <a:lstStyle/>
          <a:p>
            <a:r>
              <a:rPr lang="en-US" dirty="0"/>
              <a:t>Simple Example of K-Means Clustering</a:t>
            </a:r>
            <a:endParaRPr lang="en-IN" dirty="0"/>
          </a:p>
        </p:txBody>
      </p:sp>
      <p:sp>
        <p:nvSpPr>
          <p:cNvPr id="3" name="Content Placeholder 2">
            <a:extLst>
              <a:ext uri="{FF2B5EF4-FFF2-40B4-BE49-F238E27FC236}">
                <a16:creationId xmlns:a16="http://schemas.microsoft.com/office/drawing/2014/main" id="{4CC2DF19-BD91-71A0-C949-00A67737404F}"/>
              </a:ext>
            </a:extLst>
          </p:cNvPr>
          <p:cNvSpPr>
            <a:spLocks noGrp="1"/>
          </p:cNvSpPr>
          <p:nvPr>
            <p:ph sz="half" idx="1"/>
          </p:nvPr>
        </p:nvSpPr>
        <p:spPr/>
        <p:txBody>
          <a:bodyPr>
            <a:normAutofit/>
          </a:bodyPr>
          <a:lstStyle/>
          <a:p>
            <a:r>
              <a:rPr lang="en-US" sz="2400" dirty="0"/>
              <a:t>Assume we have </a:t>
            </a:r>
            <a:r>
              <a:rPr lang="en-US" sz="2400" b="1" dirty="0"/>
              <a:t>6 data points</a:t>
            </a:r>
            <a:r>
              <a:rPr lang="en-US" sz="2400" dirty="0"/>
              <a:t> representing students based on two features: </a:t>
            </a:r>
            <a:r>
              <a:rPr lang="en-US" sz="2400" b="1" dirty="0"/>
              <a:t>Study Hours (X)</a:t>
            </a:r>
            <a:r>
              <a:rPr lang="en-US" sz="2400" dirty="0"/>
              <a:t> and </a:t>
            </a:r>
            <a:r>
              <a:rPr lang="en-US" sz="2400" b="1" dirty="0"/>
              <a:t>Marks (Y)</a:t>
            </a:r>
            <a:r>
              <a:rPr lang="en-US" sz="2400" dirty="0"/>
              <a:t>.</a:t>
            </a:r>
            <a:endParaRPr lang="en-IN" sz="2400"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A9988D3-F1B3-2379-1543-A0155836DB32}"/>
                  </a:ext>
                </a:extLst>
              </p:cNvPr>
              <p:cNvSpPr>
                <a:spLocks noGrp="1"/>
              </p:cNvSpPr>
              <p:nvPr>
                <p:ph sz="half" idx="2"/>
              </p:nvPr>
            </p:nvSpPr>
            <p:spPr/>
            <p:txBody>
              <a:bodyPr/>
              <a:lstStyle/>
              <a:p>
                <a:pPr marL="514350" indent="-514350">
                  <a:buFont typeface="+mj-lt"/>
                  <a:buAutoNum type="arabicPeriod"/>
                </a:pPr>
                <a:r>
                  <a:rPr lang="en-IN" b="1" dirty="0"/>
                  <a:t>Choose K</a:t>
                </a:r>
                <a:r>
                  <a:rPr lang="en-IN" b="1" dirty="0">
                    <a:sym typeface="Wingdings" panose="05000000000000000000" pitchFamily="2" charset="2"/>
                  </a:rPr>
                  <a:t> </a:t>
                </a:r>
                <a:r>
                  <a:rPr lang="en-IN" dirty="0"/>
                  <a:t>Let </a:t>
                </a:r>
                <a:r>
                  <a:rPr lang="en-IN" b="1" dirty="0"/>
                  <a:t>K = 2</a:t>
                </a:r>
                <a:r>
                  <a:rPr lang="en-IN" dirty="0"/>
                  <a:t>.</a:t>
                </a:r>
              </a:p>
              <a:p>
                <a:pPr marL="514350" indent="-514350">
                  <a:buFont typeface="+mj-lt"/>
                  <a:buAutoNum type="arabicPeriod"/>
                </a:pPr>
                <a:r>
                  <a:rPr lang="en-IN" b="1" dirty="0"/>
                  <a:t>Initialize Centroids</a:t>
                </a:r>
              </a:p>
              <a:p>
                <a:pPr lvl="1"/>
                <a:r>
                  <a:rPr lang="en-IN" dirty="0"/>
                  <a:t>Choose two initial centroids randomly: </a:t>
                </a:r>
                <a14:m>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𝐶</m:t>
                        </m:r>
                      </m:e>
                      <m:sub>
                        <m:r>
                          <a:rPr lang="ar-AE">
                            <a:latin typeface="Cambria Math" panose="02040503050406030204" pitchFamily="18" charset="0"/>
                          </a:rPr>
                          <m:t>1</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2</m:t>
                        </m:r>
                      </m:e>
                    </m:d>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a:latin typeface="Cambria Math" panose="02040503050406030204" pitchFamily="18" charset="0"/>
                          </a:rPr>
                          <m:t>2</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5</m:t>
                        </m:r>
                      </m:e>
                      <m:e>
                        <m:r>
                          <a:rPr lang="ar-AE">
                            <a:latin typeface="Cambria Math" panose="02040503050406030204" pitchFamily="18" charset="0"/>
                          </a:rPr>
                          <m:t>4</m:t>
                        </m:r>
                      </m:e>
                    </m:d>
                  </m:oMath>
                </a14:m>
                <a:endParaRPr lang="ar-AE" dirty="0"/>
              </a:p>
              <a:p>
                <a:pPr marL="514350" indent="-514350">
                  <a:buFont typeface="+mj-lt"/>
                  <a:buAutoNum type="arabicPeriod"/>
                </a:pPr>
                <a:r>
                  <a:rPr lang="en-US" b="1" dirty="0"/>
                  <a:t>Assign Points to Nearest Centroid</a:t>
                </a:r>
              </a:p>
              <a:p>
                <a:pPr lvl="1"/>
                <a:r>
                  <a:rPr lang="en-US" dirty="0"/>
                  <a:t>Using Euclidean distance:</a:t>
                </a:r>
              </a:p>
              <a:p>
                <a:pPr marL="514350" indent="-514350">
                  <a:buFont typeface="+mj-lt"/>
                  <a:buAutoNum type="arabicPeriod"/>
                </a:pPr>
                <a:endParaRPr lang="en-IN" dirty="0"/>
              </a:p>
              <a:p>
                <a:endParaRPr lang="en-IN" dirty="0"/>
              </a:p>
            </p:txBody>
          </p:sp>
        </mc:Choice>
        <mc:Fallback xmlns="">
          <p:sp>
            <p:nvSpPr>
              <p:cNvPr id="5" name="Content Placeholder 4">
                <a:extLst>
                  <a:ext uri="{FF2B5EF4-FFF2-40B4-BE49-F238E27FC236}">
                    <a16:creationId xmlns:a16="http://schemas.microsoft.com/office/drawing/2014/main" id="{FA9988D3-F1B3-2379-1543-A0155836DB32}"/>
                  </a:ext>
                </a:extLst>
              </p:cNvPr>
              <p:cNvSpPr>
                <a:spLocks noGrp="1" noRot="1" noChangeAspect="1" noMove="1" noResize="1" noEditPoints="1" noAdjustHandles="1" noChangeArrowheads="1" noChangeShapeType="1" noTextEdit="1"/>
              </p:cNvSpPr>
              <p:nvPr>
                <p:ph sz="half" idx="2"/>
              </p:nvPr>
            </p:nvSpPr>
            <p:spPr>
              <a:blipFill>
                <a:blip r:embed="rId2"/>
                <a:stretch>
                  <a:fillRect l="-2471" t="-2661"/>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3311C640-0D1E-8840-2C2E-D633A8D57B71}"/>
              </a:ext>
            </a:extLst>
          </p:cNvPr>
          <p:cNvGraphicFramePr>
            <a:graphicFrameLocks noGrp="1"/>
          </p:cNvGraphicFramePr>
          <p:nvPr/>
        </p:nvGraphicFramePr>
        <p:xfrm>
          <a:off x="1205947" y="3538220"/>
          <a:ext cx="3515139" cy="2773680"/>
        </p:xfrm>
        <a:graphic>
          <a:graphicData uri="http://schemas.openxmlformats.org/drawingml/2006/table">
            <a:tbl>
              <a:tblPr/>
              <a:tblGrid>
                <a:gridCol w="1171713">
                  <a:extLst>
                    <a:ext uri="{9D8B030D-6E8A-4147-A177-3AD203B41FA5}">
                      <a16:colId xmlns:a16="http://schemas.microsoft.com/office/drawing/2014/main" val="3229688118"/>
                    </a:ext>
                  </a:extLst>
                </a:gridCol>
                <a:gridCol w="1171713">
                  <a:extLst>
                    <a:ext uri="{9D8B030D-6E8A-4147-A177-3AD203B41FA5}">
                      <a16:colId xmlns:a16="http://schemas.microsoft.com/office/drawing/2014/main" val="954662938"/>
                    </a:ext>
                  </a:extLst>
                </a:gridCol>
                <a:gridCol w="1171713">
                  <a:extLst>
                    <a:ext uri="{9D8B030D-6E8A-4147-A177-3AD203B41FA5}">
                      <a16:colId xmlns:a16="http://schemas.microsoft.com/office/drawing/2014/main" val="581273158"/>
                    </a:ext>
                  </a:extLst>
                </a:gridCol>
              </a:tblGrid>
              <a:tr h="0">
                <a:tc>
                  <a:txBody>
                    <a:bodyPr/>
                    <a:lstStyle/>
                    <a:p>
                      <a:pPr>
                        <a:buNone/>
                      </a:pPr>
                      <a:r>
                        <a:rPr lang="en-IN" sz="2000" dirty="0"/>
                        <a:t>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X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Y (Marks)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3012076"/>
                  </a:ext>
                </a:extLst>
              </a:tr>
              <a:tr h="0">
                <a:tc>
                  <a:txBody>
                    <a:bodyPr/>
                    <a:lstStyle/>
                    <a:p>
                      <a:pPr>
                        <a:buNone/>
                      </a:pPr>
                      <a:r>
                        <a:rPr lang="en-IN" sz="200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236506"/>
                  </a:ext>
                </a:extLst>
              </a:tr>
              <a:tr h="0">
                <a:tc>
                  <a:txBody>
                    <a:bodyPr/>
                    <a:lstStyle/>
                    <a:p>
                      <a:pPr>
                        <a:buNone/>
                      </a:pPr>
                      <a:r>
                        <a:rPr lang="en-IN" sz="200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07701"/>
                  </a:ext>
                </a:extLst>
              </a:tr>
              <a:tr h="0">
                <a:tc>
                  <a:txBody>
                    <a:bodyPr/>
                    <a:lstStyle/>
                    <a:p>
                      <a:pPr>
                        <a:buNone/>
                      </a:pPr>
                      <a:r>
                        <a:rPr lang="en-IN" sz="2000"/>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446860"/>
                  </a:ext>
                </a:extLst>
              </a:tr>
              <a:tr h="0">
                <a:tc>
                  <a:txBody>
                    <a:bodyPr/>
                    <a:lstStyle/>
                    <a:p>
                      <a:pPr>
                        <a:buNone/>
                      </a:pPr>
                      <a:r>
                        <a:rPr lang="en-IN" sz="2000"/>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906287"/>
                  </a:ext>
                </a:extLst>
              </a:tr>
              <a:tr h="0">
                <a:tc>
                  <a:txBody>
                    <a:bodyPr/>
                    <a:lstStyle/>
                    <a:p>
                      <a:pPr>
                        <a:buNone/>
                      </a:pPr>
                      <a:r>
                        <a:rPr lang="en-IN" sz="2000"/>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302673"/>
                  </a:ext>
                </a:extLst>
              </a:tr>
              <a:tr h="0">
                <a:tc>
                  <a:txBody>
                    <a:bodyPr/>
                    <a:lstStyle/>
                    <a:p>
                      <a:pPr>
                        <a:buNone/>
                      </a:pPr>
                      <a:r>
                        <a:rPr lang="en-IN" sz="2000"/>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6872298"/>
                  </a:ext>
                </a:extLst>
              </a:tr>
            </a:tbl>
          </a:graphicData>
        </a:graphic>
      </p:graphicFrame>
    </p:spTree>
    <p:extLst>
      <p:ext uri="{BB962C8B-B14F-4D97-AF65-F5344CB8AC3E}">
        <p14:creationId xmlns:p14="http://schemas.microsoft.com/office/powerpoint/2010/main" val="41383826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9260-16F3-B47E-CAE6-AA2478B31E4A}"/>
              </a:ext>
            </a:extLst>
          </p:cNvPr>
          <p:cNvSpPr>
            <a:spLocks noGrp="1"/>
          </p:cNvSpPr>
          <p:nvPr>
            <p:ph type="title"/>
          </p:nvPr>
        </p:nvSpPr>
        <p:spPr/>
        <p:txBody>
          <a:bodyPr/>
          <a:lstStyle/>
          <a:p>
            <a:r>
              <a:rPr lang="en-US" dirty="0"/>
              <a:t>Simple Example of K-Means Clustering</a:t>
            </a:r>
            <a:endParaRPr lang="en-IN" dirty="0"/>
          </a:p>
        </p:txBody>
      </p:sp>
      <p:graphicFrame>
        <p:nvGraphicFramePr>
          <p:cNvPr id="5" name="Content Placeholder 4">
            <a:extLst>
              <a:ext uri="{FF2B5EF4-FFF2-40B4-BE49-F238E27FC236}">
                <a16:creationId xmlns:a16="http://schemas.microsoft.com/office/drawing/2014/main" id="{73E79FAF-7107-FEB7-6B48-8ED30D692E8D}"/>
              </a:ext>
            </a:extLst>
          </p:cNvPr>
          <p:cNvGraphicFramePr>
            <a:graphicFrameLocks noGrp="1"/>
          </p:cNvGraphicFramePr>
          <p:nvPr>
            <p:ph sz="half" idx="1"/>
          </p:nvPr>
        </p:nvGraphicFramePr>
        <p:xfrm>
          <a:off x="802171" y="3301237"/>
          <a:ext cx="5181600" cy="2875726"/>
        </p:xfrm>
        <a:graphic>
          <a:graphicData uri="http://schemas.openxmlformats.org/drawingml/2006/table">
            <a:tbl>
              <a:tblPr/>
              <a:tblGrid>
                <a:gridCol w="1295400">
                  <a:extLst>
                    <a:ext uri="{9D8B030D-6E8A-4147-A177-3AD203B41FA5}">
                      <a16:colId xmlns:a16="http://schemas.microsoft.com/office/drawing/2014/main" val="544349980"/>
                    </a:ext>
                  </a:extLst>
                </a:gridCol>
                <a:gridCol w="1295400">
                  <a:extLst>
                    <a:ext uri="{9D8B030D-6E8A-4147-A177-3AD203B41FA5}">
                      <a16:colId xmlns:a16="http://schemas.microsoft.com/office/drawing/2014/main" val="4271097763"/>
                    </a:ext>
                  </a:extLst>
                </a:gridCol>
                <a:gridCol w="1295400">
                  <a:extLst>
                    <a:ext uri="{9D8B030D-6E8A-4147-A177-3AD203B41FA5}">
                      <a16:colId xmlns:a16="http://schemas.microsoft.com/office/drawing/2014/main" val="3274030309"/>
                    </a:ext>
                  </a:extLst>
                </a:gridCol>
                <a:gridCol w="1295400">
                  <a:extLst>
                    <a:ext uri="{9D8B030D-6E8A-4147-A177-3AD203B41FA5}">
                      <a16:colId xmlns:a16="http://schemas.microsoft.com/office/drawing/2014/main" val="1991217654"/>
                    </a:ext>
                  </a:extLst>
                </a:gridCol>
              </a:tblGrid>
              <a:tr h="180230">
                <a:tc>
                  <a:txBody>
                    <a:bodyPr/>
                    <a:lstStyle/>
                    <a:p>
                      <a:pPr>
                        <a:buNone/>
                      </a:pPr>
                      <a:r>
                        <a:rPr lang="en-IN" sz="240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err="1"/>
                        <a:t>Dist</a:t>
                      </a:r>
                      <a:r>
                        <a:rPr lang="en-IN" sz="2400" dirty="0"/>
                        <a:t>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Dist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4265872"/>
                  </a:ext>
                </a:extLst>
              </a:tr>
              <a:tr h="180230">
                <a:tc>
                  <a:txBody>
                    <a:bodyPr/>
                    <a:lstStyle/>
                    <a:p>
                      <a:pPr>
                        <a:buNone/>
                      </a:pPr>
                      <a:r>
                        <a:rPr lang="en-IN" sz="2400" dirty="0"/>
                        <a:t>A(1,2)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4.47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5321753"/>
                  </a:ext>
                </a:extLst>
              </a:tr>
              <a:tr h="180230">
                <a:tc>
                  <a:txBody>
                    <a:bodyPr/>
                    <a:lstStyle/>
                    <a:p>
                      <a:pPr>
                        <a:buNone/>
                      </a:pPr>
                      <a:r>
                        <a:rPr lang="en-IN" sz="2400"/>
                        <a:t>B(2,1)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4.24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880142"/>
                  </a:ext>
                </a:extLst>
              </a:tr>
              <a:tr h="180230">
                <a:tc>
                  <a:txBody>
                    <a:bodyPr/>
                    <a:lstStyle/>
                    <a:p>
                      <a:pPr>
                        <a:buNone/>
                      </a:pPr>
                      <a:r>
                        <a:rPr lang="en-IN" sz="2400"/>
                        <a:t>C(4,5)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4.24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8406676"/>
                  </a:ext>
                </a:extLst>
              </a:tr>
              <a:tr h="180230">
                <a:tc>
                  <a:txBody>
                    <a:bodyPr/>
                    <a:lstStyle/>
                    <a:p>
                      <a:pPr>
                        <a:buNone/>
                      </a:pPr>
                      <a:r>
                        <a:rPr lang="en-IN" sz="2400"/>
                        <a:t>D(5,4)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4.47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162751"/>
                  </a:ext>
                </a:extLst>
              </a:tr>
              <a:tr h="180230">
                <a:tc>
                  <a:txBody>
                    <a:bodyPr/>
                    <a:lstStyle/>
                    <a:p>
                      <a:pPr>
                        <a:buNone/>
                      </a:pPr>
                      <a:r>
                        <a:rPr lang="en-IN" sz="2400"/>
                        <a:t>E(6,5)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5.66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666497"/>
                  </a:ext>
                </a:extLst>
              </a:tr>
              <a:tr h="180230">
                <a:tc>
                  <a:txBody>
                    <a:bodyPr/>
                    <a:lstStyle/>
                    <a:p>
                      <a:pPr>
                        <a:buNone/>
                      </a:pPr>
                      <a:r>
                        <a:rPr lang="en-IN" sz="2400"/>
                        <a:t>F(7,6)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7.21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2.83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7014566"/>
                  </a:ext>
                </a:extLst>
              </a:tr>
            </a:tbl>
          </a:graphicData>
        </a:graphic>
      </p:graphicFrame>
      <p:sp>
        <p:nvSpPr>
          <p:cNvPr id="4" name="Content Placeholder 3">
            <a:extLst>
              <a:ext uri="{FF2B5EF4-FFF2-40B4-BE49-F238E27FC236}">
                <a16:creationId xmlns:a16="http://schemas.microsoft.com/office/drawing/2014/main" id="{B132DBBE-FF61-FF99-F2F7-B31EC0DDF8A0}"/>
              </a:ext>
            </a:extLst>
          </p:cNvPr>
          <p:cNvSpPr>
            <a:spLocks noGrp="1"/>
          </p:cNvSpPr>
          <p:nvPr>
            <p:ph sz="half" idx="2"/>
          </p:nvPr>
        </p:nvSpPr>
        <p:spPr/>
        <p:txBody>
          <a:bodyPr>
            <a:normAutofit/>
          </a:bodyPr>
          <a:lstStyle/>
          <a:p>
            <a:pPr marL="457200" indent="-457200">
              <a:buFont typeface="+mj-lt"/>
              <a:buAutoNum type="arabicPeriod" startAt="4"/>
            </a:pPr>
            <a:r>
              <a:rPr lang="en-IN" sz="2400" b="1" dirty="0"/>
              <a:t>Update Centroids</a:t>
            </a:r>
          </a:p>
        </p:txBody>
      </p:sp>
      <p:sp>
        <p:nvSpPr>
          <p:cNvPr id="7" name="TextBox 6">
            <a:extLst>
              <a:ext uri="{FF2B5EF4-FFF2-40B4-BE49-F238E27FC236}">
                <a16:creationId xmlns:a16="http://schemas.microsoft.com/office/drawing/2014/main" id="{7529FB12-CCF6-77E9-C170-398F5FCC2F49}"/>
              </a:ext>
            </a:extLst>
          </p:cNvPr>
          <p:cNvSpPr txBox="1"/>
          <p:nvPr/>
        </p:nvSpPr>
        <p:spPr>
          <a:xfrm>
            <a:off x="613741" y="1747929"/>
            <a:ext cx="5181600" cy="830997"/>
          </a:xfrm>
          <a:prstGeom prst="rect">
            <a:avLst/>
          </a:prstGeom>
          <a:noFill/>
        </p:spPr>
        <p:txBody>
          <a:bodyPr wrap="square">
            <a:spAutoFit/>
          </a:bodyPr>
          <a:lstStyle/>
          <a:p>
            <a:pPr marL="514350" indent="-514350">
              <a:buFont typeface="+mj-lt"/>
              <a:buAutoNum type="arabicPeriod" startAt="3"/>
            </a:pPr>
            <a:r>
              <a:rPr lang="en-US" sz="2400" b="1" dirty="0"/>
              <a:t>Assign Points to Nearest Centroid</a:t>
            </a:r>
          </a:p>
          <a:p>
            <a:pPr marL="914400" lvl="1" indent="-457200">
              <a:buFont typeface="Arial" panose="020B0604020202020204" pitchFamily="34" charset="0"/>
              <a:buChar char="•"/>
            </a:pPr>
            <a:r>
              <a:rPr lang="en-US" sz="2400" dirty="0"/>
              <a:t>Using Euclidean distance: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1734B5-88DE-306D-807D-EB0DF703E0DA}"/>
                  </a:ext>
                </a:extLst>
              </p:cNvPr>
              <p:cNvSpPr txBox="1"/>
              <p:nvPr/>
            </p:nvSpPr>
            <p:spPr>
              <a:xfrm>
                <a:off x="361950" y="2703881"/>
                <a:ext cx="284259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2000" i="1" smtClean="0">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1</m:t>
                          </m:r>
                        </m:e>
                        <m:e>
                          <m:r>
                            <a:rPr lang="ar-AE" sz="2000">
                              <a:latin typeface="Cambria Math" panose="02040503050406030204" pitchFamily="18" charset="0"/>
                            </a:rPr>
                            <m:t>2</m:t>
                          </m:r>
                        </m:e>
                      </m:d>
                      <m:r>
                        <a:rPr lang="ar-AE" sz="200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5</m:t>
                          </m:r>
                        </m:e>
                        <m:e>
                          <m:r>
                            <a:rPr lang="ar-AE" sz="2000">
                              <a:latin typeface="Cambria Math" panose="02040503050406030204" pitchFamily="18" charset="0"/>
                            </a:rPr>
                            <m:t>4</m:t>
                          </m:r>
                        </m:e>
                      </m:d>
                    </m:oMath>
                  </m:oMathPara>
                </a14:m>
                <a:endParaRPr lang="en-IN" sz="2000" dirty="0"/>
              </a:p>
            </p:txBody>
          </p:sp>
        </mc:Choice>
        <mc:Fallback xmlns="">
          <p:sp>
            <p:nvSpPr>
              <p:cNvPr id="9" name="TextBox 8">
                <a:extLst>
                  <a:ext uri="{FF2B5EF4-FFF2-40B4-BE49-F238E27FC236}">
                    <a16:creationId xmlns:a16="http://schemas.microsoft.com/office/drawing/2014/main" id="{7C1734B5-88DE-306D-807D-EB0DF703E0DA}"/>
                  </a:ext>
                </a:extLst>
              </p:cNvPr>
              <p:cNvSpPr txBox="1">
                <a:spLocks noRot="1" noChangeAspect="1" noMove="1" noResize="1" noEditPoints="1" noAdjustHandles="1" noChangeArrowheads="1" noChangeShapeType="1" noTextEdit="1"/>
              </p:cNvSpPr>
              <p:nvPr/>
            </p:nvSpPr>
            <p:spPr>
              <a:xfrm>
                <a:off x="361950" y="2703881"/>
                <a:ext cx="2842591" cy="400110"/>
              </a:xfrm>
              <a:prstGeom prst="rect">
                <a:avLst/>
              </a:prstGeom>
              <a:blipFill>
                <a:blip r:embed="rId2"/>
                <a:stretch>
                  <a:fillRect b="-1538"/>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67CCE427-356B-50A6-E5FB-3DDE03A0090A}"/>
              </a:ext>
            </a:extLst>
          </p:cNvPr>
          <p:cNvSpPr txBox="1"/>
          <p:nvPr/>
        </p:nvSpPr>
        <p:spPr>
          <a:xfrm>
            <a:off x="613741" y="6353452"/>
            <a:ext cx="6107594" cy="400110"/>
          </a:xfrm>
          <a:prstGeom prst="rect">
            <a:avLst/>
          </a:prstGeom>
          <a:noFill/>
        </p:spPr>
        <p:txBody>
          <a:bodyPr wrap="square">
            <a:spAutoFit/>
          </a:bodyPr>
          <a:lstStyle/>
          <a:p>
            <a:r>
              <a:rPr lang="pt-BR" sz="2000" dirty="0"/>
              <a:t>Cluster 1 → A, B, Cluster 2 → C, D, E, F</a:t>
            </a:r>
            <a:endParaRPr lang="en-IN" sz="2000" dirty="0"/>
          </a:p>
        </p:txBody>
      </p:sp>
      <p:pic>
        <p:nvPicPr>
          <p:cNvPr id="13" name="Picture 12">
            <a:extLst>
              <a:ext uri="{FF2B5EF4-FFF2-40B4-BE49-F238E27FC236}">
                <a16:creationId xmlns:a16="http://schemas.microsoft.com/office/drawing/2014/main" id="{1430A632-0C1B-079B-A1E5-D03A66F73626}"/>
              </a:ext>
            </a:extLst>
          </p:cNvPr>
          <p:cNvPicPr>
            <a:picLocks noChangeAspect="1"/>
          </p:cNvPicPr>
          <p:nvPr/>
        </p:nvPicPr>
        <p:blipFill>
          <a:blip r:embed="rId3"/>
          <a:stretch>
            <a:fillRect/>
          </a:stretch>
        </p:blipFill>
        <p:spPr>
          <a:xfrm>
            <a:off x="3204541" y="2636166"/>
            <a:ext cx="2857899" cy="488582"/>
          </a:xfrm>
          <a:prstGeom prst="rect">
            <a:avLst/>
          </a:prstGeom>
        </p:spPr>
      </p:pic>
      <p:pic>
        <p:nvPicPr>
          <p:cNvPr id="15" name="Picture 14">
            <a:extLst>
              <a:ext uri="{FF2B5EF4-FFF2-40B4-BE49-F238E27FC236}">
                <a16:creationId xmlns:a16="http://schemas.microsoft.com/office/drawing/2014/main" id="{576D9BEA-00E6-DCD0-D13E-7A88E251C639}"/>
              </a:ext>
            </a:extLst>
          </p:cNvPr>
          <p:cNvPicPr>
            <a:picLocks noChangeAspect="1"/>
          </p:cNvPicPr>
          <p:nvPr/>
        </p:nvPicPr>
        <p:blipFill>
          <a:blip r:embed="rId4"/>
          <a:stretch>
            <a:fillRect/>
          </a:stretch>
        </p:blipFill>
        <p:spPr>
          <a:xfrm>
            <a:off x="6360630" y="2281077"/>
            <a:ext cx="5217629" cy="3155627"/>
          </a:xfrm>
          <a:prstGeom prst="rect">
            <a:avLst/>
          </a:prstGeom>
        </p:spPr>
      </p:pic>
    </p:spTree>
    <p:extLst>
      <p:ext uri="{BB962C8B-B14F-4D97-AF65-F5344CB8AC3E}">
        <p14:creationId xmlns:p14="http://schemas.microsoft.com/office/powerpoint/2010/main" val="1004840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6A5B-9D5D-1642-A71B-902022B56445}"/>
              </a:ext>
            </a:extLst>
          </p:cNvPr>
          <p:cNvSpPr>
            <a:spLocks noGrp="1"/>
          </p:cNvSpPr>
          <p:nvPr>
            <p:ph type="title"/>
          </p:nvPr>
        </p:nvSpPr>
        <p:spPr/>
        <p:txBody>
          <a:bodyPr/>
          <a:lstStyle/>
          <a:p>
            <a:r>
              <a:rPr lang="en-US" dirty="0"/>
              <a:t>Simple Example of K-Means Clustering</a:t>
            </a:r>
            <a:endParaRPr lang="en-IN" dirty="0"/>
          </a:p>
        </p:txBody>
      </p:sp>
      <p:pic>
        <p:nvPicPr>
          <p:cNvPr id="1026" name="Picture 2">
            <a:extLst>
              <a:ext uri="{FF2B5EF4-FFF2-40B4-BE49-F238E27FC236}">
                <a16:creationId xmlns:a16="http://schemas.microsoft.com/office/drawing/2014/main" id="{C35BF7E7-56E3-16D2-0CA3-92C26D541C5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1911076"/>
            <a:ext cx="5181600" cy="41804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3257B5C-ADE0-C56B-347E-732FDD95D2E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1911076"/>
            <a:ext cx="5181600" cy="4180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3242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CFE37-03A4-D78D-3FCB-AE735B225167}"/>
              </a:ext>
            </a:extLst>
          </p:cNvPr>
          <p:cNvSpPr>
            <a:spLocks noGrp="1"/>
          </p:cNvSpPr>
          <p:nvPr>
            <p:ph type="title"/>
          </p:nvPr>
        </p:nvSpPr>
        <p:spPr/>
        <p:txBody>
          <a:bodyPr/>
          <a:lstStyle/>
          <a:p>
            <a:r>
              <a:rPr lang="en-US" dirty="0"/>
              <a:t>Simple Example of K-Means Clustering</a:t>
            </a:r>
            <a:endParaRPr lang="en-IN" dirty="0"/>
          </a:p>
        </p:txBody>
      </p:sp>
      <p:graphicFrame>
        <p:nvGraphicFramePr>
          <p:cNvPr id="5" name="Content Placeholder 4">
            <a:extLst>
              <a:ext uri="{FF2B5EF4-FFF2-40B4-BE49-F238E27FC236}">
                <a16:creationId xmlns:a16="http://schemas.microsoft.com/office/drawing/2014/main" id="{6F81B0E3-B52F-2B9C-6E47-3BF68F63C598}"/>
              </a:ext>
            </a:extLst>
          </p:cNvPr>
          <p:cNvGraphicFramePr>
            <a:graphicFrameLocks noGrp="1"/>
          </p:cNvGraphicFramePr>
          <p:nvPr>
            <p:ph sz="half" idx="1"/>
          </p:nvPr>
        </p:nvGraphicFramePr>
        <p:xfrm>
          <a:off x="796787" y="3353236"/>
          <a:ext cx="5181600" cy="2753806"/>
        </p:xfrm>
        <a:graphic>
          <a:graphicData uri="http://schemas.openxmlformats.org/drawingml/2006/table">
            <a:tbl>
              <a:tblPr/>
              <a:tblGrid>
                <a:gridCol w="1295400">
                  <a:extLst>
                    <a:ext uri="{9D8B030D-6E8A-4147-A177-3AD203B41FA5}">
                      <a16:colId xmlns:a16="http://schemas.microsoft.com/office/drawing/2014/main" val="879158091"/>
                    </a:ext>
                  </a:extLst>
                </a:gridCol>
                <a:gridCol w="1295400">
                  <a:extLst>
                    <a:ext uri="{9D8B030D-6E8A-4147-A177-3AD203B41FA5}">
                      <a16:colId xmlns:a16="http://schemas.microsoft.com/office/drawing/2014/main" val="2465564020"/>
                    </a:ext>
                  </a:extLst>
                </a:gridCol>
                <a:gridCol w="1295400">
                  <a:extLst>
                    <a:ext uri="{9D8B030D-6E8A-4147-A177-3AD203B41FA5}">
                      <a16:colId xmlns:a16="http://schemas.microsoft.com/office/drawing/2014/main" val="3255851435"/>
                    </a:ext>
                  </a:extLst>
                </a:gridCol>
                <a:gridCol w="1295400">
                  <a:extLst>
                    <a:ext uri="{9D8B030D-6E8A-4147-A177-3AD203B41FA5}">
                      <a16:colId xmlns:a16="http://schemas.microsoft.com/office/drawing/2014/main" val="262458252"/>
                    </a:ext>
                  </a:extLst>
                </a:gridCol>
              </a:tblGrid>
              <a:tr h="180230">
                <a:tc>
                  <a:txBody>
                    <a:bodyPr/>
                    <a:lstStyle/>
                    <a:p>
                      <a:pPr>
                        <a:buNone/>
                      </a:pPr>
                      <a:r>
                        <a:rPr lang="en-IN" sz="200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Assigned 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3306384"/>
                  </a:ext>
                </a:extLst>
              </a:tr>
              <a:tr h="180230">
                <a:tc>
                  <a:txBody>
                    <a:bodyPr/>
                    <a:lstStyle/>
                    <a:p>
                      <a:pPr>
                        <a:buNone/>
                      </a:pPr>
                      <a:r>
                        <a:rPr lang="en-IN" sz="2000" dirty="0"/>
                        <a:t>A</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0.71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6279711"/>
                  </a:ext>
                </a:extLst>
              </a:tr>
              <a:tr h="180230">
                <a:tc>
                  <a:txBody>
                    <a:bodyPr/>
                    <a:lstStyle/>
                    <a:p>
                      <a:pPr>
                        <a:buNone/>
                      </a:pPr>
                      <a:r>
                        <a:rPr lang="en-IN" sz="2000"/>
                        <a:t>B</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0.71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5.32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3248567"/>
                  </a:ext>
                </a:extLst>
              </a:tr>
              <a:tr h="180230">
                <a:tc>
                  <a:txBody>
                    <a:bodyPr/>
                    <a:lstStyle/>
                    <a:p>
                      <a:pPr>
                        <a:buNone/>
                      </a:pPr>
                      <a:r>
                        <a:rPr lang="en-IN" sz="2000"/>
                        <a:t>C</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4.30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1.50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5899279"/>
                  </a:ext>
                </a:extLst>
              </a:tr>
              <a:tr h="180230">
                <a:tc>
                  <a:txBody>
                    <a:bodyPr/>
                    <a:lstStyle/>
                    <a:p>
                      <a:pPr>
                        <a:buNone/>
                      </a:pPr>
                      <a:r>
                        <a:rPr lang="en-IN" sz="2000"/>
                        <a:t>D</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4.30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0845780"/>
                  </a:ext>
                </a:extLst>
              </a:tr>
              <a:tr h="180230">
                <a:tc>
                  <a:txBody>
                    <a:bodyPr/>
                    <a:lstStyle/>
                    <a:p>
                      <a:pPr>
                        <a:buNone/>
                      </a:pPr>
                      <a:r>
                        <a:rPr lang="en-IN" sz="2000"/>
                        <a:t>E</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5.70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0.50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1648211"/>
                  </a:ext>
                </a:extLst>
              </a:tr>
              <a:tr h="180230">
                <a:tc>
                  <a:txBody>
                    <a:bodyPr/>
                    <a:lstStyle/>
                    <a:p>
                      <a:pPr>
                        <a:buNone/>
                      </a:pPr>
                      <a:r>
                        <a:rPr lang="en-IN" sz="2000"/>
                        <a:t>F</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7.11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1.80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5112493"/>
                  </a:ext>
                </a:extLst>
              </a:tr>
            </a:tbl>
          </a:graphicData>
        </a:graphic>
      </p:graphicFrame>
      <p:sp>
        <p:nvSpPr>
          <p:cNvPr id="7" name="TextBox 6">
            <a:extLst>
              <a:ext uri="{FF2B5EF4-FFF2-40B4-BE49-F238E27FC236}">
                <a16:creationId xmlns:a16="http://schemas.microsoft.com/office/drawing/2014/main" id="{B5382443-DB80-7DB2-B84B-E44D4BE4D01D}"/>
              </a:ext>
            </a:extLst>
          </p:cNvPr>
          <p:cNvSpPr txBox="1"/>
          <p:nvPr/>
        </p:nvSpPr>
        <p:spPr>
          <a:xfrm>
            <a:off x="838200" y="1825625"/>
            <a:ext cx="4946374" cy="830997"/>
          </a:xfrm>
          <a:prstGeom prst="rect">
            <a:avLst/>
          </a:prstGeom>
          <a:noFill/>
        </p:spPr>
        <p:txBody>
          <a:bodyPr wrap="square">
            <a:spAutoFit/>
          </a:bodyPr>
          <a:lstStyle/>
          <a:p>
            <a:pPr marL="514350" indent="-514350">
              <a:buFont typeface="+mj-lt"/>
              <a:buAutoNum type="arabicPeriod" startAt="3"/>
            </a:pPr>
            <a:r>
              <a:rPr lang="en-US" sz="2400" b="1" dirty="0"/>
              <a:t>Assign Points to Nearest Centroid</a:t>
            </a:r>
          </a:p>
          <a:p>
            <a:pPr marL="914400" lvl="1" indent="-457200">
              <a:buFont typeface="Arial" panose="020B0604020202020204" pitchFamily="34" charset="0"/>
              <a:buChar char="•"/>
            </a:pPr>
            <a:r>
              <a:rPr lang="en-US" sz="2400" dirty="0"/>
              <a:t>Using Euclidean distance:</a:t>
            </a:r>
          </a:p>
        </p:txBody>
      </p:sp>
      <p:sp>
        <p:nvSpPr>
          <p:cNvPr id="8" name="TextBox 7">
            <a:extLst>
              <a:ext uri="{FF2B5EF4-FFF2-40B4-BE49-F238E27FC236}">
                <a16:creationId xmlns:a16="http://schemas.microsoft.com/office/drawing/2014/main" id="{E411F9E9-3B09-C5CA-18FD-2591B173B0DD}"/>
              </a:ext>
            </a:extLst>
          </p:cNvPr>
          <p:cNvSpPr txBox="1"/>
          <p:nvPr/>
        </p:nvSpPr>
        <p:spPr>
          <a:xfrm>
            <a:off x="613741" y="6353452"/>
            <a:ext cx="6107594" cy="400110"/>
          </a:xfrm>
          <a:prstGeom prst="rect">
            <a:avLst/>
          </a:prstGeom>
          <a:noFill/>
        </p:spPr>
        <p:txBody>
          <a:bodyPr wrap="square">
            <a:spAutoFit/>
          </a:bodyPr>
          <a:lstStyle/>
          <a:p>
            <a:r>
              <a:rPr lang="pt-BR" sz="2000" dirty="0"/>
              <a:t>Cluster 1 → A, B, Cluster 2 → C, D, E, F</a:t>
            </a:r>
            <a:endParaRPr lang="en-IN" sz="2000"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AAD75A3-9212-FAFA-2BE3-6D90402D411F}"/>
                  </a:ext>
                </a:extLst>
              </p:cNvPr>
              <p:cNvSpPr txBox="1"/>
              <p:nvPr/>
            </p:nvSpPr>
            <p:spPr>
              <a:xfrm>
                <a:off x="934278" y="2737494"/>
                <a:ext cx="485029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2000" i="1" smtClean="0">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1</m:t>
                          </m:r>
                          <m:r>
                            <a:rPr lang="en-IN" sz="2000" b="0" i="0" smtClean="0">
                              <a:latin typeface="Cambria Math" panose="02040503050406030204" pitchFamily="18" charset="0"/>
                            </a:rPr>
                            <m:t>.</m:t>
                          </m:r>
                          <m:r>
                            <a:rPr lang="en-IN" sz="2000" b="0" i="0" smtClean="0">
                              <a:latin typeface="Cambria Math" panose="02040503050406030204" pitchFamily="18" charset="0"/>
                            </a:rPr>
                            <m:t>5</m:t>
                          </m:r>
                        </m:e>
                        <m:e>
                          <m:r>
                            <a:rPr lang="en-IN" sz="2000" b="0" i="1" smtClean="0">
                              <a:latin typeface="Cambria Math" panose="02040503050406030204" pitchFamily="18" charset="0"/>
                            </a:rPr>
                            <m:t>1</m:t>
                          </m:r>
                          <m:r>
                            <a:rPr lang="en-IN" sz="2000" b="0" i="1" smtClean="0">
                              <a:latin typeface="Cambria Math" panose="02040503050406030204" pitchFamily="18" charset="0"/>
                            </a:rPr>
                            <m:t>.</m:t>
                          </m:r>
                          <m:r>
                            <a:rPr lang="en-IN" sz="2000" b="0" i="1" smtClean="0">
                              <a:latin typeface="Cambria Math" panose="02040503050406030204" pitchFamily="18" charset="0"/>
                            </a:rPr>
                            <m:t>5</m:t>
                          </m:r>
                        </m:e>
                      </m:d>
                      <m:r>
                        <a:rPr lang="ar-AE" sz="200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5</m:t>
                          </m:r>
                          <m:r>
                            <a:rPr lang="en-IN" sz="2000" b="0" i="1" smtClean="0">
                              <a:latin typeface="Cambria Math" panose="02040503050406030204" pitchFamily="18" charset="0"/>
                            </a:rPr>
                            <m:t>.</m:t>
                          </m:r>
                          <m:r>
                            <a:rPr lang="en-IN" sz="2000" b="0" i="1" smtClean="0">
                              <a:latin typeface="Cambria Math" panose="02040503050406030204" pitchFamily="18" charset="0"/>
                            </a:rPr>
                            <m:t>5</m:t>
                          </m:r>
                        </m:e>
                        <m:e>
                          <m:r>
                            <a:rPr lang="en-IN" sz="2000" b="0" i="1" smtClean="0">
                              <a:latin typeface="Cambria Math" panose="02040503050406030204" pitchFamily="18" charset="0"/>
                            </a:rPr>
                            <m:t>5</m:t>
                          </m:r>
                        </m:e>
                      </m:d>
                    </m:oMath>
                  </m:oMathPara>
                </a14:m>
                <a:endParaRPr lang="en-IN" sz="2000" dirty="0"/>
              </a:p>
            </p:txBody>
          </p:sp>
        </mc:Choice>
        <mc:Fallback>
          <p:sp>
            <p:nvSpPr>
              <p:cNvPr id="10" name="TextBox 9">
                <a:extLst>
                  <a:ext uri="{FF2B5EF4-FFF2-40B4-BE49-F238E27FC236}">
                    <a16:creationId xmlns:a16="http://schemas.microsoft.com/office/drawing/2014/main" id="{5AAD75A3-9212-FAFA-2BE3-6D90402D411F}"/>
                  </a:ext>
                </a:extLst>
              </p:cNvPr>
              <p:cNvSpPr txBox="1">
                <a:spLocks noRot="1" noChangeAspect="1" noMove="1" noResize="1" noEditPoints="1" noAdjustHandles="1" noChangeArrowheads="1" noChangeShapeType="1" noTextEdit="1"/>
              </p:cNvSpPr>
              <p:nvPr/>
            </p:nvSpPr>
            <p:spPr>
              <a:xfrm>
                <a:off x="934278" y="2737494"/>
                <a:ext cx="4850296" cy="400110"/>
              </a:xfrm>
              <a:prstGeom prst="rect">
                <a:avLst/>
              </a:prstGeom>
              <a:blipFill>
                <a:blip r:embed="rId2"/>
                <a:stretch>
                  <a:fillRect/>
                </a:stretch>
              </a:blipFill>
            </p:spPr>
            <p:txBody>
              <a:bodyPr/>
              <a:lstStyle/>
              <a:p>
                <a:r>
                  <a:rPr lang="en-IN">
                    <a:noFill/>
                  </a:rPr>
                  <a:t> </a:t>
                </a:r>
              </a:p>
            </p:txBody>
          </p:sp>
        </mc:Fallback>
      </mc:AlternateContent>
      <p:pic>
        <p:nvPicPr>
          <p:cNvPr id="11" name="Content Placeholder 10">
            <a:extLst>
              <a:ext uri="{FF2B5EF4-FFF2-40B4-BE49-F238E27FC236}">
                <a16:creationId xmlns:a16="http://schemas.microsoft.com/office/drawing/2014/main" id="{6B72C889-E226-59DB-E636-BE105F172CEB}"/>
              </a:ext>
            </a:extLst>
          </p:cNvPr>
          <p:cNvPicPr>
            <a:picLocks noGrp="1" noChangeAspect="1"/>
          </p:cNvPicPr>
          <p:nvPr>
            <p:ph sz="half" idx="2"/>
          </p:nvPr>
        </p:nvPicPr>
        <p:blipFill>
          <a:blip r:embed="rId3"/>
          <a:stretch>
            <a:fillRect/>
          </a:stretch>
        </p:blipFill>
        <p:spPr>
          <a:xfrm>
            <a:off x="6172200" y="3055260"/>
            <a:ext cx="5181600" cy="1892068"/>
          </a:xfrm>
          <a:prstGeom prst="rect">
            <a:avLst/>
          </a:prstGeom>
        </p:spPr>
      </p:pic>
      <p:sp>
        <p:nvSpPr>
          <p:cNvPr id="13" name="TextBox 12">
            <a:extLst>
              <a:ext uri="{FF2B5EF4-FFF2-40B4-BE49-F238E27FC236}">
                <a16:creationId xmlns:a16="http://schemas.microsoft.com/office/drawing/2014/main" id="{1CBBB201-992A-0DF5-D4A4-08D980BB8FBE}"/>
              </a:ext>
            </a:extLst>
          </p:cNvPr>
          <p:cNvSpPr txBox="1"/>
          <p:nvPr/>
        </p:nvSpPr>
        <p:spPr>
          <a:xfrm>
            <a:off x="7317683" y="1921797"/>
            <a:ext cx="3943352" cy="400110"/>
          </a:xfrm>
          <a:prstGeom prst="rect">
            <a:avLst/>
          </a:prstGeom>
          <a:noFill/>
        </p:spPr>
        <p:txBody>
          <a:bodyPr wrap="square">
            <a:spAutoFit/>
          </a:bodyPr>
          <a:lstStyle/>
          <a:p>
            <a:pPr marL="457200" indent="-457200">
              <a:buFont typeface="+mj-lt"/>
              <a:buAutoNum type="arabicPeriod" startAt="4"/>
            </a:pPr>
            <a:r>
              <a:rPr lang="en-IN" sz="2000" b="1" dirty="0"/>
              <a:t>Update Centroids</a:t>
            </a:r>
          </a:p>
        </p:txBody>
      </p:sp>
      <p:sp>
        <p:nvSpPr>
          <p:cNvPr id="14" name="TextBox 13">
            <a:extLst>
              <a:ext uri="{FF2B5EF4-FFF2-40B4-BE49-F238E27FC236}">
                <a16:creationId xmlns:a16="http://schemas.microsoft.com/office/drawing/2014/main" id="{8C8C685B-6506-6BB2-383F-2EC2C2DB51F8}"/>
              </a:ext>
            </a:extLst>
          </p:cNvPr>
          <p:cNvSpPr txBox="1"/>
          <p:nvPr/>
        </p:nvSpPr>
        <p:spPr>
          <a:xfrm>
            <a:off x="3756991" y="1371450"/>
            <a:ext cx="7178535" cy="461665"/>
          </a:xfrm>
          <a:prstGeom prst="rect">
            <a:avLst/>
          </a:prstGeom>
          <a:noFill/>
        </p:spPr>
        <p:txBody>
          <a:bodyPr wrap="square" rtlCol="0">
            <a:spAutoFit/>
          </a:bodyPr>
          <a:lstStyle/>
          <a:p>
            <a:r>
              <a:rPr lang="en-IN" sz="2400" b="1" dirty="0"/>
              <a:t>Repeat Step 3, 4</a:t>
            </a:r>
          </a:p>
        </p:txBody>
      </p:sp>
    </p:spTree>
    <p:extLst>
      <p:ext uri="{BB962C8B-B14F-4D97-AF65-F5344CB8AC3E}">
        <p14:creationId xmlns:p14="http://schemas.microsoft.com/office/powerpoint/2010/main" val="2832980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73272D-B404-26DC-40A5-E21C4CBE94B0}"/>
              </a:ext>
            </a:extLst>
          </p:cNvPr>
          <p:cNvSpPr>
            <a:spLocks noGrp="1"/>
          </p:cNvSpPr>
          <p:nvPr>
            <p:ph type="title"/>
          </p:nvPr>
        </p:nvSpPr>
        <p:spPr/>
        <p:txBody>
          <a:bodyPr/>
          <a:lstStyle/>
          <a:p>
            <a:r>
              <a:rPr lang="en-IN" dirty="0"/>
              <a:t>Limitations of k means clustering</a:t>
            </a:r>
          </a:p>
        </p:txBody>
      </p:sp>
      <p:sp>
        <p:nvSpPr>
          <p:cNvPr id="6" name="Content Placeholder 5">
            <a:extLst>
              <a:ext uri="{FF2B5EF4-FFF2-40B4-BE49-F238E27FC236}">
                <a16:creationId xmlns:a16="http://schemas.microsoft.com/office/drawing/2014/main" id="{4EE02956-DBDB-B9D8-3B6A-7383F4AEAD12}"/>
              </a:ext>
            </a:extLst>
          </p:cNvPr>
          <p:cNvSpPr>
            <a:spLocks noGrp="1"/>
          </p:cNvSpPr>
          <p:nvPr>
            <p:ph idx="1"/>
          </p:nvPr>
        </p:nvSpPr>
        <p:spPr/>
        <p:txBody>
          <a:bodyPr/>
          <a:lstStyle/>
          <a:p>
            <a:r>
              <a:rPr lang="en-US" dirty="0"/>
              <a:t>K-means clustering needs the number of clusters to be specified. </a:t>
            </a:r>
          </a:p>
          <a:p>
            <a:r>
              <a:rPr lang="en-US" dirty="0"/>
              <a:t>K-means has problems when clusters are of differing sized, densities, and nonglobular shapes. </a:t>
            </a:r>
          </a:p>
          <a:p>
            <a:r>
              <a:rPr lang="en-US" dirty="0"/>
              <a:t>Presence of outlier can skew the results.</a:t>
            </a:r>
            <a:endParaRPr lang="en-IN" dirty="0"/>
          </a:p>
        </p:txBody>
      </p:sp>
    </p:spTree>
    <p:extLst>
      <p:ext uri="{BB962C8B-B14F-4D97-AF65-F5344CB8AC3E}">
        <p14:creationId xmlns:p14="http://schemas.microsoft.com/office/powerpoint/2010/main" val="32209251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1FC6-0984-833A-2F00-8682DA494D31}"/>
              </a:ext>
            </a:extLst>
          </p:cNvPr>
          <p:cNvSpPr>
            <a:spLocks noGrp="1"/>
          </p:cNvSpPr>
          <p:nvPr>
            <p:ph type="title"/>
          </p:nvPr>
        </p:nvSpPr>
        <p:spPr/>
        <p:txBody>
          <a:bodyPr/>
          <a:lstStyle/>
          <a:p>
            <a:r>
              <a:rPr lang="en-IN" dirty="0"/>
              <a:t>Failure cases of k-means</a:t>
            </a:r>
          </a:p>
        </p:txBody>
      </p:sp>
      <p:pic>
        <p:nvPicPr>
          <p:cNvPr id="5" name="Content Placeholder 4">
            <a:extLst>
              <a:ext uri="{FF2B5EF4-FFF2-40B4-BE49-F238E27FC236}">
                <a16:creationId xmlns:a16="http://schemas.microsoft.com/office/drawing/2014/main" id="{42DC6BF9-CE4A-8929-AA30-935482CB0892}"/>
              </a:ext>
            </a:extLst>
          </p:cNvPr>
          <p:cNvPicPr>
            <a:picLocks noGrp="1" noChangeAspect="1"/>
          </p:cNvPicPr>
          <p:nvPr>
            <p:ph idx="1"/>
          </p:nvPr>
        </p:nvPicPr>
        <p:blipFill>
          <a:blip r:embed="rId2"/>
          <a:stretch>
            <a:fillRect/>
          </a:stretch>
        </p:blipFill>
        <p:spPr>
          <a:xfrm>
            <a:off x="212880" y="1437998"/>
            <a:ext cx="5333156" cy="3695375"/>
          </a:xfrm>
          <a:prstGeom prst="rect">
            <a:avLst/>
          </a:prstGeom>
        </p:spPr>
      </p:pic>
      <p:sp>
        <p:nvSpPr>
          <p:cNvPr id="7" name="TextBox 6">
            <a:extLst>
              <a:ext uri="{FF2B5EF4-FFF2-40B4-BE49-F238E27FC236}">
                <a16:creationId xmlns:a16="http://schemas.microsoft.com/office/drawing/2014/main" id="{61F5424A-62B0-265C-1355-DA2A6270D14D}"/>
              </a:ext>
            </a:extLst>
          </p:cNvPr>
          <p:cNvSpPr txBox="1"/>
          <p:nvPr/>
        </p:nvSpPr>
        <p:spPr>
          <a:xfrm>
            <a:off x="536713" y="5133373"/>
            <a:ext cx="5009323" cy="400110"/>
          </a:xfrm>
          <a:prstGeom prst="rect">
            <a:avLst/>
          </a:prstGeom>
          <a:noFill/>
        </p:spPr>
        <p:txBody>
          <a:bodyPr wrap="square">
            <a:spAutoFit/>
          </a:bodyPr>
          <a:lstStyle/>
          <a:p>
            <a:r>
              <a:rPr lang="en-US" sz="2000" b="1" u="none" strike="noStrike" baseline="0" dirty="0"/>
              <a:t>k-means fails to identify nonspherical clusters</a:t>
            </a:r>
            <a:endParaRPr lang="en-IN" sz="2000" b="1" dirty="0"/>
          </a:p>
        </p:txBody>
      </p:sp>
      <p:pic>
        <p:nvPicPr>
          <p:cNvPr id="9" name="Picture 8">
            <a:extLst>
              <a:ext uri="{FF2B5EF4-FFF2-40B4-BE49-F238E27FC236}">
                <a16:creationId xmlns:a16="http://schemas.microsoft.com/office/drawing/2014/main" id="{D28E6E12-0A88-60D5-449C-63054148E683}"/>
              </a:ext>
            </a:extLst>
          </p:cNvPr>
          <p:cNvPicPr>
            <a:picLocks noChangeAspect="1"/>
          </p:cNvPicPr>
          <p:nvPr/>
        </p:nvPicPr>
        <p:blipFill>
          <a:blip r:embed="rId3"/>
          <a:stretch>
            <a:fillRect/>
          </a:stretch>
        </p:blipFill>
        <p:spPr>
          <a:xfrm>
            <a:off x="6171356" y="1294351"/>
            <a:ext cx="5688732" cy="3839022"/>
          </a:xfrm>
          <a:prstGeom prst="rect">
            <a:avLst/>
          </a:prstGeom>
        </p:spPr>
      </p:pic>
      <p:sp>
        <p:nvSpPr>
          <p:cNvPr id="11" name="TextBox 10">
            <a:extLst>
              <a:ext uri="{FF2B5EF4-FFF2-40B4-BE49-F238E27FC236}">
                <a16:creationId xmlns:a16="http://schemas.microsoft.com/office/drawing/2014/main" id="{30A51620-AF00-2E81-AEAC-9ABEAA0782A3}"/>
              </a:ext>
            </a:extLst>
          </p:cNvPr>
          <p:cNvSpPr txBox="1"/>
          <p:nvPr/>
        </p:nvSpPr>
        <p:spPr>
          <a:xfrm>
            <a:off x="6096000" y="5163539"/>
            <a:ext cx="5923722" cy="400110"/>
          </a:xfrm>
          <a:prstGeom prst="rect">
            <a:avLst/>
          </a:prstGeom>
          <a:noFill/>
        </p:spPr>
        <p:txBody>
          <a:bodyPr wrap="square">
            <a:spAutoFit/>
          </a:bodyPr>
          <a:lstStyle/>
          <a:p>
            <a:r>
              <a:rPr lang="en-US" sz="2000" b="1" u="none" strike="noStrike" baseline="0" dirty="0"/>
              <a:t>k-means fails to identify clusters with complex shapes</a:t>
            </a:r>
            <a:endParaRPr lang="en-IN" sz="2000" b="1" dirty="0"/>
          </a:p>
        </p:txBody>
      </p:sp>
    </p:spTree>
    <p:extLst>
      <p:ext uri="{BB962C8B-B14F-4D97-AF65-F5344CB8AC3E}">
        <p14:creationId xmlns:p14="http://schemas.microsoft.com/office/powerpoint/2010/main" val="38324288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86F3-A3E0-FCD4-1028-D7612AF4B806}"/>
              </a:ext>
            </a:extLst>
          </p:cNvPr>
          <p:cNvSpPr>
            <a:spLocks noGrp="1"/>
          </p:cNvSpPr>
          <p:nvPr>
            <p:ph type="title"/>
          </p:nvPr>
        </p:nvSpPr>
        <p:spPr/>
        <p:txBody>
          <a:bodyPr/>
          <a:lstStyle/>
          <a:p>
            <a:r>
              <a:rPr lang="en-IN"/>
              <a:t>Use cases</a:t>
            </a:r>
          </a:p>
        </p:txBody>
      </p:sp>
      <p:sp>
        <p:nvSpPr>
          <p:cNvPr id="3" name="Content Placeholder 2">
            <a:extLst>
              <a:ext uri="{FF2B5EF4-FFF2-40B4-BE49-F238E27FC236}">
                <a16:creationId xmlns:a16="http://schemas.microsoft.com/office/drawing/2014/main" id="{F7ADEE58-48A9-0A48-D3E7-EAD5E45513D1}"/>
              </a:ext>
            </a:extLst>
          </p:cNvPr>
          <p:cNvSpPr>
            <a:spLocks noGrp="1"/>
          </p:cNvSpPr>
          <p:nvPr>
            <p:ph idx="1"/>
          </p:nvPr>
        </p:nvSpPr>
        <p:spPr/>
        <p:txBody>
          <a:bodyPr/>
          <a:lstStyle/>
          <a:p>
            <a:r>
              <a:rPr lang="en-US" dirty="0"/>
              <a:t>K-Means is widely used for many applications. </a:t>
            </a:r>
          </a:p>
          <a:p>
            <a:pPr lvl="1"/>
            <a:r>
              <a:rPr lang="en-US" dirty="0"/>
              <a:t>Image Segmentation </a:t>
            </a:r>
          </a:p>
          <a:p>
            <a:pPr lvl="1"/>
            <a:r>
              <a:rPr lang="en-US" dirty="0"/>
              <a:t>Clustering Gene Segmentation Data </a:t>
            </a:r>
          </a:p>
          <a:p>
            <a:pPr lvl="1"/>
            <a:r>
              <a:rPr lang="en-US" dirty="0"/>
              <a:t>News Article Clustering </a:t>
            </a:r>
          </a:p>
          <a:p>
            <a:pPr lvl="1"/>
            <a:r>
              <a:rPr lang="en-US" dirty="0"/>
              <a:t>Clustering Languages </a:t>
            </a:r>
          </a:p>
          <a:p>
            <a:pPr lvl="1"/>
            <a:r>
              <a:rPr lang="en-US" dirty="0"/>
              <a:t>Species Clustering</a:t>
            </a:r>
          </a:p>
          <a:p>
            <a:pPr lvl="1"/>
            <a:r>
              <a:rPr lang="en-US" dirty="0"/>
              <a:t>Anomaly Detection</a:t>
            </a:r>
            <a:endParaRPr lang="en-IN" dirty="0"/>
          </a:p>
        </p:txBody>
      </p:sp>
    </p:spTree>
    <p:extLst>
      <p:ext uri="{BB962C8B-B14F-4D97-AF65-F5344CB8AC3E}">
        <p14:creationId xmlns:p14="http://schemas.microsoft.com/office/powerpoint/2010/main" val="139859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320B6-3FC9-69DA-ECA5-BC4B4FBAC651}"/>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1BFD141F-D4E1-3DAB-8808-DA8A5EDF7089}"/>
              </a:ext>
            </a:extLst>
          </p:cNvPr>
          <p:cNvSpPr>
            <a:spLocks noGrp="1"/>
          </p:cNvSpPr>
          <p:nvPr>
            <p:ph idx="1"/>
          </p:nvPr>
        </p:nvSpPr>
        <p:spPr/>
        <p:txBody>
          <a:bodyPr>
            <a:normAutofit/>
          </a:bodyPr>
          <a:lstStyle/>
          <a:p>
            <a:r>
              <a:rPr lang="en-US" sz="2400" dirty="0"/>
              <a:t>An important improvement to the K-Means algorithm, </a:t>
            </a:r>
            <a:r>
              <a:rPr lang="en-US" sz="2400" i="1" dirty="0"/>
              <a:t>K-Means++</a:t>
            </a:r>
            <a:r>
              <a:rPr lang="en-US" sz="2400" dirty="0"/>
              <a:t>, was proposed in a 2006 paper by David Arthur and Sergei </a:t>
            </a:r>
            <a:r>
              <a:rPr lang="en-US" sz="2400" dirty="0" err="1"/>
              <a:t>Vassilvitskii</a:t>
            </a:r>
            <a:r>
              <a:rPr lang="en-US" sz="2400" dirty="0"/>
              <a:t>. </a:t>
            </a:r>
          </a:p>
          <a:p>
            <a:r>
              <a:rPr lang="en-US" sz="2400" dirty="0"/>
              <a:t>They introduced a smarter initialization step that tends to select centroids that are distant from one another, and this improvement makes the K-Means algorithm much less likely to converge to a suboptimal solution. </a:t>
            </a:r>
          </a:p>
          <a:p>
            <a:r>
              <a:rPr lang="en-US" sz="2400" dirty="0"/>
              <a:t>They showed that the additional computation required for the smarter initialization step is well worth it because it makes it possible to drastically reduce the number of times the algorithm needs to be run to find the optimal solution.</a:t>
            </a:r>
            <a:endParaRPr lang="en-IN" sz="2400" dirty="0"/>
          </a:p>
        </p:txBody>
      </p:sp>
    </p:spTree>
    <p:extLst>
      <p:ext uri="{BB962C8B-B14F-4D97-AF65-F5344CB8AC3E}">
        <p14:creationId xmlns:p14="http://schemas.microsoft.com/office/powerpoint/2010/main" val="26963214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35EF-A723-CBF2-C9FC-E374C92D8907}"/>
              </a:ext>
            </a:extLst>
          </p:cNvPr>
          <p:cNvSpPr>
            <a:spLocks noGrp="1"/>
          </p:cNvSpPr>
          <p:nvPr>
            <p:ph type="title"/>
          </p:nvPr>
        </p:nvSpPr>
        <p:spPr/>
        <p:txBody>
          <a:bodyPr/>
          <a:lstStyle/>
          <a:p>
            <a:r>
              <a:rPr lang="en-IN" dirty="0"/>
              <a:t>K-Means++ initialization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30388B-936B-6FE3-015C-BE69DB05C97F}"/>
                  </a:ext>
                </a:extLst>
              </p:cNvPr>
              <p:cNvSpPr>
                <a:spLocks noGrp="1"/>
              </p:cNvSpPr>
              <p:nvPr>
                <p:ph idx="1"/>
              </p:nvPr>
            </p:nvSpPr>
            <p:spPr/>
            <p:txBody>
              <a:bodyPr>
                <a:normAutofit/>
              </a:bodyPr>
              <a:lstStyle/>
              <a:p>
                <a:pPr marL="457200" indent="-457200">
                  <a:buFont typeface="+mj-lt"/>
                  <a:buAutoNum type="arabicPeriod"/>
                </a:pPr>
                <a:r>
                  <a:rPr lang="en-US" sz="2400" dirty="0"/>
                  <a:t>Take one centroid </a:t>
                </a:r>
                <a:r>
                  <a:rPr lang="en-US" sz="2400" b="1" dirty="0"/>
                  <a:t>c</a:t>
                </a:r>
                <a:r>
                  <a:rPr lang="en-US" sz="2400" dirty="0"/>
                  <a:t>, chosen uniformly at random from the dataset.</a:t>
                </a:r>
              </a:p>
              <a:p>
                <a:pPr marL="457200" indent="-457200">
                  <a:buFont typeface="+mj-lt"/>
                  <a:buAutoNum type="arabicPeriod"/>
                </a:pPr>
                <a:r>
                  <a:rPr lang="en-US" sz="2400" dirty="0"/>
                  <a:t>Take a new centroid </a:t>
                </a:r>
                <a:r>
                  <a:rPr lang="en-US" sz="2400" b="1" dirty="0"/>
                  <a:t>c</a:t>
                </a:r>
                <a:r>
                  <a:rPr lang="en-US" sz="2400" baseline="30000" dirty="0"/>
                  <a:t>(</a:t>
                </a:r>
                <a:r>
                  <a:rPr lang="en-US" sz="2400" i="1" baseline="30000" dirty="0" err="1"/>
                  <a:t>i</a:t>
                </a:r>
                <a:r>
                  <a:rPr lang="en-US" sz="2400" baseline="30000" dirty="0"/>
                  <a:t>)</a:t>
                </a:r>
                <a:r>
                  <a:rPr lang="en-US" sz="2400" dirty="0"/>
                  <a:t>, choosing an instance </a:t>
                </a:r>
                <a:r>
                  <a:rPr lang="en-US" sz="2400" b="1" dirty="0"/>
                  <a:t>x</a:t>
                </a:r>
                <a:r>
                  <a:rPr lang="en-US" sz="2400" baseline="30000" dirty="0"/>
                  <a:t>(</a:t>
                </a:r>
                <a:r>
                  <a:rPr lang="en-US" sz="2400" i="1" baseline="30000" dirty="0" err="1"/>
                  <a:t>i</a:t>
                </a:r>
                <a:r>
                  <a:rPr lang="en-US" sz="2400" baseline="30000" dirty="0"/>
                  <a:t>)</a:t>
                </a:r>
                <a:r>
                  <a:rPr lang="en-US" sz="2400" dirty="0"/>
                  <a:t> with probability </a:t>
                </a:r>
                <a:r>
                  <a:rPr lang="en-US" sz="2400" i="1" dirty="0"/>
                  <a:t>D(</a:t>
                </a:r>
                <a:r>
                  <a:rPr lang="en-US" sz="2400" b="1" dirty="0"/>
                  <a:t>x</a:t>
                </a:r>
                <a:r>
                  <a:rPr lang="en-US" sz="2400" baseline="30000" dirty="0"/>
                  <a:t>(</a:t>
                </a:r>
                <a:r>
                  <a:rPr lang="en-US" sz="2400" i="1" baseline="30000" dirty="0" err="1"/>
                  <a:t>i</a:t>
                </a:r>
                <a:r>
                  <a:rPr lang="en-US" sz="2400" baseline="30000" dirty="0"/>
                  <a:t>)</a:t>
                </a:r>
                <a:r>
                  <a:rPr lang="en-US" sz="2400" i="1" dirty="0"/>
                  <a:t>)</a:t>
                </a:r>
                <a:r>
                  <a:rPr lang="en-US" sz="2400" baseline="30000" dirty="0"/>
                  <a:t>2</a:t>
                </a:r>
                <a:r>
                  <a:rPr lang="en-US" sz="2400" dirty="0"/>
                  <a:t>/</a:t>
                </a:r>
                <a14:m>
                  <m:oMath xmlns:m="http://schemas.openxmlformats.org/officeDocument/2006/math">
                    <m:nary>
                      <m:naryPr>
                        <m:chr m:val="∑"/>
                        <m:ctrlPr>
                          <a:rPr lang="pt-BR" sz="2400" i="1" smtClean="0">
                            <a:latin typeface="Cambria Math" panose="02040503050406030204" pitchFamily="18" charset="0"/>
                          </a:rPr>
                        </m:ctrlPr>
                      </m:naryPr>
                      <m:sub>
                        <m:r>
                          <m:rPr>
                            <m:brk m:alnAt="23"/>
                          </m:rPr>
                          <a:rPr lang="en-IN" sz="2400" b="0" i="1" smtClean="0">
                            <a:latin typeface="Cambria Math" panose="02040503050406030204" pitchFamily="18" charset="0"/>
                          </a:rPr>
                          <m:t>𝑗</m:t>
                        </m:r>
                        <m:r>
                          <a:rPr lang="en-IN" sz="2400" b="0" i="1" smtClean="0">
                            <a:latin typeface="Cambria Math" panose="02040503050406030204" pitchFamily="18" charset="0"/>
                          </a:rPr>
                          <m:t>=</m:t>
                        </m:r>
                        <m:r>
                          <a:rPr lang="en-IN" sz="2400" b="0" i="1" smtClean="0">
                            <a:latin typeface="Cambria Math" panose="02040503050406030204" pitchFamily="18" charset="0"/>
                          </a:rPr>
                          <m:t>1</m:t>
                        </m:r>
                      </m:sub>
                      <m:sup>
                        <m:r>
                          <a:rPr lang="en-IN" sz="2400" b="0" i="1" smtClean="0">
                            <a:latin typeface="Cambria Math" panose="02040503050406030204" pitchFamily="18" charset="0"/>
                          </a:rPr>
                          <m:t>𝑚</m:t>
                        </m:r>
                      </m:sup>
                      <m:e>
                        <m:r>
                          <m:rPr>
                            <m:nor/>
                          </m:rPr>
                          <a:rPr lang="en-US" sz="2400" i="1" dirty="0"/>
                          <m:t>D</m:t>
                        </m:r>
                        <m:r>
                          <m:rPr>
                            <m:nor/>
                          </m:rPr>
                          <a:rPr lang="en-US" sz="2400" i="1" dirty="0"/>
                          <m:t>(</m:t>
                        </m:r>
                        <m:r>
                          <m:rPr>
                            <m:nor/>
                          </m:rPr>
                          <a:rPr lang="en-US" sz="2400" b="1" dirty="0"/>
                          <m:t>x</m:t>
                        </m:r>
                        <m:r>
                          <m:rPr>
                            <m:nor/>
                          </m:rPr>
                          <a:rPr lang="en-US" sz="2400" baseline="30000" dirty="0"/>
                          <m:t>(</m:t>
                        </m:r>
                        <m:r>
                          <m:rPr>
                            <m:nor/>
                          </m:rPr>
                          <a:rPr lang="en-IN" sz="2400" b="0" i="1" baseline="30000" dirty="0" smtClean="0"/>
                          <m:t>j</m:t>
                        </m:r>
                        <m:r>
                          <m:rPr>
                            <m:nor/>
                          </m:rPr>
                          <a:rPr lang="en-US" sz="2400" baseline="30000" dirty="0"/>
                          <m:t>)</m:t>
                        </m:r>
                        <m:r>
                          <m:rPr>
                            <m:nor/>
                          </m:rPr>
                          <a:rPr lang="en-US" sz="2400" i="1" dirty="0"/>
                          <m:t>)</m:t>
                        </m:r>
                        <m:r>
                          <m:rPr>
                            <m:nor/>
                          </m:rPr>
                          <a:rPr lang="en-US" sz="2400" baseline="30000" dirty="0"/>
                          <m:t>2</m:t>
                        </m:r>
                      </m:e>
                    </m:nary>
                  </m:oMath>
                </a14:m>
                <a:r>
                  <a:rPr lang="en-US" sz="2400" dirty="0"/>
                  <a:t>, where </a:t>
                </a:r>
                <a:r>
                  <a:rPr lang="en-US" sz="2400" i="1" dirty="0"/>
                  <a:t>D(</a:t>
                </a:r>
                <a:r>
                  <a:rPr lang="en-US" sz="2400" b="1" dirty="0"/>
                  <a:t>x</a:t>
                </a:r>
                <a:r>
                  <a:rPr lang="en-US" sz="2400" baseline="30000" dirty="0"/>
                  <a:t>(</a:t>
                </a:r>
                <a:r>
                  <a:rPr lang="en-US" sz="2400" i="1" baseline="30000" dirty="0" err="1"/>
                  <a:t>i</a:t>
                </a:r>
                <a:r>
                  <a:rPr lang="en-US" sz="2400" baseline="30000" dirty="0"/>
                  <a:t>)</a:t>
                </a:r>
                <a:r>
                  <a:rPr lang="en-US" sz="2400" i="1" dirty="0"/>
                  <a:t>)</a:t>
                </a:r>
                <a:r>
                  <a:rPr lang="en-US" sz="2400" dirty="0"/>
                  <a:t> is the distance between the instance </a:t>
                </a:r>
                <a:r>
                  <a:rPr lang="en-US" sz="2400" b="1" dirty="0"/>
                  <a:t>x</a:t>
                </a:r>
                <a:r>
                  <a:rPr lang="en-US" sz="2400" dirty="0"/>
                  <a:t>(</a:t>
                </a:r>
                <a:r>
                  <a:rPr lang="en-US" sz="2400" i="1" dirty="0" err="1"/>
                  <a:t>i</a:t>
                </a:r>
                <a:r>
                  <a:rPr lang="en-US" sz="2400" dirty="0"/>
                  <a:t>) and the closest centroid that was already chosen. </a:t>
                </a:r>
              </a:p>
              <a:p>
                <a:pPr lvl="1"/>
                <a:r>
                  <a:rPr lang="en-US" sz="2000" dirty="0"/>
                  <a:t>This probability distribution ensures that instances farther away from already chosen centroids are much more likely be </a:t>
                </a:r>
                <a:r>
                  <a:rPr lang="en-IN" sz="2000" dirty="0"/>
                  <a:t>selected as centroids. </a:t>
                </a:r>
              </a:p>
              <a:p>
                <a:pPr marL="457200" indent="-457200">
                  <a:buFont typeface="+mj-lt"/>
                  <a:buAutoNum type="arabicPeriod"/>
                </a:pPr>
                <a:r>
                  <a:rPr lang="en-US" sz="2400" dirty="0"/>
                  <a:t>Repeat the previous step until all </a:t>
                </a:r>
                <a:r>
                  <a:rPr lang="en-US" sz="2400" i="1" dirty="0"/>
                  <a:t>k </a:t>
                </a:r>
                <a:r>
                  <a:rPr lang="en-US" sz="2400" dirty="0"/>
                  <a:t>centroids have been chosen.</a:t>
                </a:r>
                <a:endParaRPr lang="en-IN" sz="2400" dirty="0"/>
              </a:p>
            </p:txBody>
          </p:sp>
        </mc:Choice>
        <mc:Fallback xmlns="">
          <p:sp>
            <p:nvSpPr>
              <p:cNvPr id="3" name="Content Placeholder 2">
                <a:extLst>
                  <a:ext uri="{FF2B5EF4-FFF2-40B4-BE49-F238E27FC236}">
                    <a16:creationId xmlns:a16="http://schemas.microsoft.com/office/drawing/2014/main" id="{8730388B-936B-6FE3-015C-BE69DB05C97F}"/>
                  </a:ext>
                </a:extLst>
              </p:cNvPr>
              <p:cNvSpPr>
                <a:spLocks noGrp="1" noRot="1" noChangeAspect="1" noMove="1" noResize="1" noEditPoints="1" noAdjustHandles="1" noChangeArrowheads="1" noChangeShapeType="1" noTextEdit="1"/>
              </p:cNvSpPr>
              <p:nvPr>
                <p:ph idx="1"/>
              </p:nvPr>
            </p:nvSpPr>
            <p:spPr>
              <a:blipFill>
                <a:blip r:embed="rId2"/>
                <a:stretch>
                  <a:fillRect l="-928" t="-2101"/>
                </a:stretch>
              </a:blipFill>
            </p:spPr>
            <p:txBody>
              <a:bodyPr/>
              <a:lstStyle/>
              <a:p>
                <a:r>
                  <a:rPr lang="en-IN">
                    <a:noFill/>
                  </a:rPr>
                  <a:t> </a:t>
                </a:r>
              </a:p>
            </p:txBody>
          </p:sp>
        </mc:Fallback>
      </mc:AlternateContent>
    </p:spTree>
    <p:extLst>
      <p:ext uri="{BB962C8B-B14F-4D97-AF65-F5344CB8AC3E}">
        <p14:creationId xmlns:p14="http://schemas.microsoft.com/office/powerpoint/2010/main" val="16584775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0C2B-6E7F-CD8B-BE56-60C66ABE6B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F7CDD-DCFA-9232-E4DD-C1DC82E190DE}"/>
              </a:ext>
            </a:extLst>
          </p:cNvPr>
          <p:cNvSpPr>
            <a:spLocks noGrp="1"/>
          </p:cNvSpPr>
          <p:nvPr>
            <p:ph type="title"/>
          </p:nvPr>
        </p:nvSpPr>
        <p:spPr/>
        <p:txBody>
          <a:bodyPr/>
          <a:lstStyle/>
          <a:p>
            <a:r>
              <a:rPr lang="en-US" dirty="0"/>
              <a:t>Simple Example of K-Means++ Clustering</a:t>
            </a:r>
            <a:endParaRPr lang="en-IN" dirty="0"/>
          </a:p>
        </p:txBody>
      </p:sp>
      <p:sp>
        <p:nvSpPr>
          <p:cNvPr id="3" name="Content Placeholder 2">
            <a:extLst>
              <a:ext uri="{FF2B5EF4-FFF2-40B4-BE49-F238E27FC236}">
                <a16:creationId xmlns:a16="http://schemas.microsoft.com/office/drawing/2014/main" id="{86D8C8BC-DC38-1713-7425-F701DF228567}"/>
              </a:ext>
            </a:extLst>
          </p:cNvPr>
          <p:cNvSpPr>
            <a:spLocks noGrp="1"/>
          </p:cNvSpPr>
          <p:nvPr>
            <p:ph sz="half" idx="1"/>
          </p:nvPr>
        </p:nvSpPr>
        <p:spPr/>
        <p:txBody>
          <a:bodyPr>
            <a:normAutofit/>
          </a:bodyPr>
          <a:lstStyle/>
          <a:p>
            <a:r>
              <a:rPr lang="en-US" sz="2400" dirty="0"/>
              <a:t>Assume we have </a:t>
            </a:r>
            <a:r>
              <a:rPr lang="en-US" sz="2400" b="1" dirty="0"/>
              <a:t>6 data points</a:t>
            </a:r>
            <a:r>
              <a:rPr lang="en-US" sz="2400" dirty="0"/>
              <a:t> representing students based on two features: </a:t>
            </a:r>
            <a:r>
              <a:rPr lang="en-US" sz="2400" b="1" dirty="0"/>
              <a:t>Study Hours (X)</a:t>
            </a:r>
            <a:r>
              <a:rPr lang="en-US" sz="2400" dirty="0"/>
              <a:t> and </a:t>
            </a:r>
            <a:r>
              <a:rPr lang="en-US" sz="2400" b="1" dirty="0"/>
              <a:t>Marks (Y)</a:t>
            </a:r>
            <a:r>
              <a:rPr lang="en-US" sz="2400" dirty="0"/>
              <a:t>.</a:t>
            </a:r>
            <a:endParaRPr lang="en-IN" sz="2400"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873AE767-53CA-0623-9907-538ACDEEF627}"/>
                  </a:ext>
                </a:extLst>
              </p:cNvPr>
              <p:cNvSpPr>
                <a:spLocks noGrp="1"/>
              </p:cNvSpPr>
              <p:nvPr>
                <p:ph sz="half" idx="2"/>
              </p:nvPr>
            </p:nvSpPr>
            <p:spPr>
              <a:xfrm>
                <a:off x="5724939" y="1825625"/>
                <a:ext cx="6361043" cy="4351338"/>
              </a:xfrm>
            </p:spPr>
            <p:txBody>
              <a:bodyPr>
                <a:normAutofit/>
              </a:bodyPr>
              <a:lstStyle/>
              <a:p>
                <a:pPr marL="514350" indent="-514350">
                  <a:buFont typeface="+mj-lt"/>
                  <a:buAutoNum type="arabicPeriod"/>
                </a:pPr>
                <a:r>
                  <a:rPr lang="en-IN" sz="2400" b="1" dirty="0"/>
                  <a:t>Choose K</a:t>
                </a:r>
                <a:r>
                  <a:rPr lang="en-IN" sz="2400" b="1" dirty="0">
                    <a:sym typeface="Wingdings" panose="05000000000000000000" pitchFamily="2" charset="2"/>
                  </a:rPr>
                  <a:t> </a:t>
                </a:r>
                <a:r>
                  <a:rPr lang="en-IN" sz="2400" dirty="0"/>
                  <a:t>Let </a:t>
                </a:r>
                <a:r>
                  <a:rPr lang="en-IN" sz="2400" b="1" dirty="0"/>
                  <a:t>K = 2</a:t>
                </a:r>
                <a:r>
                  <a:rPr lang="en-IN" sz="2400" dirty="0"/>
                  <a:t>.</a:t>
                </a:r>
              </a:p>
              <a:p>
                <a:pPr marL="514350" indent="-514350">
                  <a:buFont typeface="+mj-lt"/>
                  <a:buAutoNum type="arabicPeriod"/>
                </a:pPr>
                <a:r>
                  <a:rPr lang="en-IN" sz="2400" b="1" dirty="0"/>
                  <a:t>Choose First Centroid Randomly: </a:t>
                </a:r>
                <a14:m>
                  <m:oMath xmlns:m="http://schemas.openxmlformats.org/officeDocument/2006/math">
                    <m:sSub>
                      <m:sSubPr>
                        <m:ctrlPr>
                          <a:rPr lang="ar-AE" sz="2400" i="1" smtClean="0">
                            <a:latin typeface="Cambria Math" panose="02040503050406030204" pitchFamily="18" charset="0"/>
                          </a:rPr>
                        </m:ctrlPr>
                      </m:sSubPr>
                      <m:e>
                        <m:r>
                          <a:rPr lang="ar-AE" sz="2400" i="1">
                            <a:latin typeface="Cambria Math" panose="02040503050406030204" pitchFamily="18" charset="0"/>
                          </a:rPr>
                          <m:t>𝐶</m:t>
                        </m:r>
                      </m:e>
                      <m:sub>
                        <m:r>
                          <a:rPr lang="ar-AE" sz="2400">
                            <a:latin typeface="Cambria Math" panose="02040503050406030204" pitchFamily="18" charset="0"/>
                          </a:rPr>
                          <m:t>1</m:t>
                        </m:r>
                      </m:sub>
                    </m:sSub>
                    <m:r>
                      <a:rPr lang="ar-AE" sz="2400">
                        <a:latin typeface="Cambria Math" panose="02040503050406030204" pitchFamily="18" charset="0"/>
                      </a:rPr>
                      <m:t>=</m:t>
                    </m:r>
                    <m:d>
                      <m:dPr>
                        <m:sepChr m:val=","/>
                        <m:ctrlPr>
                          <a:rPr lang="ar-AE" sz="2400" i="1">
                            <a:latin typeface="Cambria Math" panose="02040503050406030204" pitchFamily="18" charset="0"/>
                          </a:rPr>
                        </m:ctrlPr>
                      </m:dPr>
                      <m:e>
                        <m:r>
                          <a:rPr lang="ar-AE" sz="2400">
                            <a:latin typeface="Cambria Math" panose="02040503050406030204" pitchFamily="18" charset="0"/>
                          </a:rPr>
                          <m:t>1</m:t>
                        </m:r>
                      </m:e>
                      <m:e>
                        <m:r>
                          <a:rPr lang="ar-AE" sz="2400">
                            <a:latin typeface="Cambria Math" panose="02040503050406030204" pitchFamily="18" charset="0"/>
                          </a:rPr>
                          <m:t>2</m:t>
                        </m:r>
                      </m:e>
                    </m:d>
                  </m:oMath>
                </a14:m>
                <a:endParaRPr lang="en-IN" sz="2400" dirty="0"/>
              </a:p>
              <a:p>
                <a:pPr marL="514350" indent="-514350">
                  <a:buFont typeface="+mj-lt"/>
                  <a:buAutoNum type="arabicPeriod"/>
                </a:pPr>
                <a:r>
                  <a:rPr lang="en-IN" sz="2400" b="1" dirty="0"/>
                  <a:t>Compute Distance² from </a:t>
                </a:r>
                <a14:m>
                  <m:oMath xmlns:m="http://schemas.openxmlformats.org/officeDocument/2006/math">
                    <m:sSub>
                      <m:sSubPr>
                        <m:ctrlPr>
                          <a:rPr lang="ar-AE" sz="2400" b="1" i="1">
                            <a:latin typeface="Cambria Math" panose="02040503050406030204" pitchFamily="18" charset="0"/>
                          </a:rPr>
                        </m:ctrlPr>
                      </m:sSubPr>
                      <m:e>
                        <m:r>
                          <a:rPr lang="ar-AE" sz="2400" b="1" i="1">
                            <a:latin typeface="Cambria Math" panose="02040503050406030204" pitchFamily="18" charset="0"/>
                          </a:rPr>
                          <m:t>𝑪</m:t>
                        </m:r>
                      </m:e>
                      <m:sub>
                        <m:r>
                          <a:rPr lang="ar-AE" sz="2400" b="1" i="1">
                            <a:latin typeface="Cambria Math" panose="02040503050406030204" pitchFamily="18" charset="0"/>
                          </a:rPr>
                          <m:t>𝟏</m:t>
                        </m:r>
                      </m:sub>
                    </m:sSub>
                  </m:oMath>
                </a14:m>
                <a:endParaRPr lang="ar-AE" sz="2400" b="1" dirty="0"/>
              </a:p>
              <a:p>
                <a:endParaRPr lang="en-IN" sz="2400" dirty="0"/>
              </a:p>
            </p:txBody>
          </p:sp>
        </mc:Choice>
        <mc:Fallback xmlns="">
          <p:sp>
            <p:nvSpPr>
              <p:cNvPr id="5" name="Content Placeholder 4">
                <a:extLst>
                  <a:ext uri="{FF2B5EF4-FFF2-40B4-BE49-F238E27FC236}">
                    <a16:creationId xmlns:a16="http://schemas.microsoft.com/office/drawing/2014/main" id="{873AE767-53CA-0623-9907-538ACDEEF627}"/>
                  </a:ext>
                </a:extLst>
              </p:cNvPr>
              <p:cNvSpPr>
                <a:spLocks noGrp="1" noRot="1" noChangeAspect="1" noMove="1" noResize="1" noEditPoints="1" noAdjustHandles="1" noChangeArrowheads="1" noChangeShapeType="1" noTextEdit="1"/>
              </p:cNvSpPr>
              <p:nvPr>
                <p:ph sz="half" idx="2"/>
              </p:nvPr>
            </p:nvSpPr>
            <p:spPr>
              <a:xfrm>
                <a:off x="5724939" y="1825625"/>
                <a:ext cx="6361043" cy="4351338"/>
              </a:xfrm>
              <a:blipFill>
                <a:blip r:embed="rId2"/>
                <a:stretch>
                  <a:fillRect l="-1533" t="-2101"/>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5B74CB1B-9B06-7EAA-E118-38021A2E8600}"/>
              </a:ext>
            </a:extLst>
          </p:cNvPr>
          <p:cNvGraphicFramePr>
            <a:graphicFrameLocks noGrp="1"/>
          </p:cNvGraphicFramePr>
          <p:nvPr/>
        </p:nvGraphicFramePr>
        <p:xfrm>
          <a:off x="1205947" y="3538220"/>
          <a:ext cx="3515139" cy="2773680"/>
        </p:xfrm>
        <a:graphic>
          <a:graphicData uri="http://schemas.openxmlformats.org/drawingml/2006/table">
            <a:tbl>
              <a:tblPr/>
              <a:tblGrid>
                <a:gridCol w="1171713">
                  <a:extLst>
                    <a:ext uri="{9D8B030D-6E8A-4147-A177-3AD203B41FA5}">
                      <a16:colId xmlns:a16="http://schemas.microsoft.com/office/drawing/2014/main" val="3229688118"/>
                    </a:ext>
                  </a:extLst>
                </a:gridCol>
                <a:gridCol w="1171713">
                  <a:extLst>
                    <a:ext uri="{9D8B030D-6E8A-4147-A177-3AD203B41FA5}">
                      <a16:colId xmlns:a16="http://schemas.microsoft.com/office/drawing/2014/main" val="954662938"/>
                    </a:ext>
                  </a:extLst>
                </a:gridCol>
                <a:gridCol w="1171713">
                  <a:extLst>
                    <a:ext uri="{9D8B030D-6E8A-4147-A177-3AD203B41FA5}">
                      <a16:colId xmlns:a16="http://schemas.microsoft.com/office/drawing/2014/main" val="581273158"/>
                    </a:ext>
                  </a:extLst>
                </a:gridCol>
              </a:tblGrid>
              <a:tr h="0">
                <a:tc>
                  <a:txBody>
                    <a:bodyPr/>
                    <a:lstStyle/>
                    <a:p>
                      <a:pPr>
                        <a:buNone/>
                      </a:pPr>
                      <a:r>
                        <a:rPr lang="en-IN" sz="2000" dirty="0"/>
                        <a:t>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X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Y (Marks)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3012076"/>
                  </a:ext>
                </a:extLst>
              </a:tr>
              <a:tr h="0">
                <a:tc>
                  <a:txBody>
                    <a:bodyPr/>
                    <a:lstStyle/>
                    <a:p>
                      <a:pPr>
                        <a:buNone/>
                      </a:pPr>
                      <a:r>
                        <a:rPr lang="en-IN" sz="200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236506"/>
                  </a:ext>
                </a:extLst>
              </a:tr>
              <a:tr h="0">
                <a:tc>
                  <a:txBody>
                    <a:bodyPr/>
                    <a:lstStyle/>
                    <a:p>
                      <a:pPr>
                        <a:buNone/>
                      </a:pPr>
                      <a:r>
                        <a:rPr lang="en-IN" sz="200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07701"/>
                  </a:ext>
                </a:extLst>
              </a:tr>
              <a:tr h="0">
                <a:tc>
                  <a:txBody>
                    <a:bodyPr/>
                    <a:lstStyle/>
                    <a:p>
                      <a:pPr>
                        <a:buNone/>
                      </a:pPr>
                      <a:r>
                        <a:rPr lang="en-IN" sz="2000"/>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446860"/>
                  </a:ext>
                </a:extLst>
              </a:tr>
              <a:tr h="0">
                <a:tc>
                  <a:txBody>
                    <a:bodyPr/>
                    <a:lstStyle/>
                    <a:p>
                      <a:pPr>
                        <a:buNone/>
                      </a:pPr>
                      <a:r>
                        <a:rPr lang="en-IN" sz="2000"/>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906287"/>
                  </a:ext>
                </a:extLst>
              </a:tr>
              <a:tr h="0">
                <a:tc>
                  <a:txBody>
                    <a:bodyPr/>
                    <a:lstStyle/>
                    <a:p>
                      <a:pPr>
                        <a:buNone/>
                      </a:pPr>
                      <a:r>
                        <a:rPr lang="en-IN" sz="2000"/>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302673"/>
                  </a:ext>
                </a:extLst>
              </a:tr>
              <a:tr h="0">
                <a:tc>
                  <a:txBody>
                    <a:bodyPr/>
                    <a:lstStyle/>
                    <a:p>
                      <a:pPr>
                        <a:buNone/>
                      </a:pPr>
                      <a:r>
                        <a:rPr lang="en-IN" sz="2000"/>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6872298"/>
                  </a:ext>
                </a:extLst>
              </a:tr>
            </a:tbl>
          </a:graphicData>
        </a:graphic>
      </p:graphicFrame>
      <p:graphicFrame>
        <p:nvGraphicFramePr>
          <p:cNvPr id="6" name="Table 5">
            <a:extLst>
              <a:ext uri="{FF2B5EF4-FFF2-40B4-BE49-F238E27FC236}">
                <a16:creationId xmlns:a16="http://schemas.microsoft.com/office/drawing/2014/main" id="{D0255CAD-8C61-22A4-C2E1-C2807748ED94}"/>
              </a:ext>
            </a:extLst>
          </p:cNvPr>
          <p:cNvGraphicFramePr>
            <a:graphicFrameLocks noGrp="1"/>
          </p:cNvGraphicFramePr>
          <p:nvPr/>
        </p:nvGraphicFramePr>
        <p:xfrm>
          <a:off x="6056242" y="3232992"/>
          <a:ext cx="5698435" cy="2773680"/>
        </p:xfrm>
        <a:graphic>
          <a:graphicData uri="http://schemas.openxmlformats.org/drawingml/2006/table">
            <a:tbl>
              <a:tblPr/>
              <a:tblGrid>
                <a:gridCol w="1056862">
                  <a:extLst>
                    <a:ext uri="{9D8B030D-6E8A-4147-A177-3AD203B41FA5}">
                      <a16:colId xmlns:a16="http://schemas.microsoft.com/office/drawing/2014/main" val="4200923493"/>
                    </a:ext>
                  </a:extLst>
                </a:gridCol>
                <a:gridCol w="2623930">
                  <a:extLst>
                    <a:ext uri="{9D8B030D-6E8A-4147-A177-3AD203B41FA5}">
                      <a16:colId xmlns:a16="http://schemas.microsoft.com/office/drawing/2014/main" val="1302660139"/>
                    </a:ext>
                  </a:extLst>
                </a:gridCol>
                <a:gridCol w="2017643">
                  <a:extLst>
                    <a:ext uri="{9D8B030D-6E8A-4147-A177-3AD203B41FA5}">
                      <a16:colId xmlns:a16="http://schemas.microsoft.com/office/drawing/2014/main" val="302887310"/>
                    </a:ext>
                  </a:extLst>
                </a:gridCol>
              </a:tblGrid>
              <a:tr h="0">
                <a:tc>
                  <a:txBody>
                    <a:bodyPr/>
                    <a:lstStyle/>
                    <a:p>
                      <a:pPr algn="ctr">
                        <a:buNone/>
                      </a:pPr>
                      <a:r>
                        <a:rPr lang="en-IN" sz="2000" dirty="0"/>
                        <a:t>Point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Distance from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Distance²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1927264"/>
                  </a:ext>
                </a:extLst>
              </a:tr>
              <a:tr h="0">
                <a:tc>
                  <a:txBody>
                    <a:bodyPr/>
                    <a:lstStyle/>
                    <a:p>
                      <a:pPr algn="ctr">
                        <a:buNone/>
                      </a:pPr>
                      <a:r>
                        <a:rPr lang="en-IN" sz="2000" dirty="0"/>
                        <a:t>A(1,2)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0841099"/>
                  </a:ext>
                </a:extLst>
              </a:tr>
              <a:tr h="0">
                <a:tc>
                  <a:txBody>
                    <a:bodyPr/>
                    <a:lstStyle/>
                    <a:p>
                      <a:pPr algn="ctr">
                        <a:buNone/>
                      </a:pPr>
                      <a:r>
                        <a:rPr lang="en-IN" sz="2000" dirty="0"/>
                        <a:t>B(2,1)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√2 ≈ 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9789236"/>
                  </a:ext>
                </a:extLst>
              </a:tr>
              <a:tr h="0">
                <a:tc>
                  <a:txBody>
                    <a:bodyPr/>
                    <a:lstStyle/>
                    <a:p>
                      <a:pPr algn="ctr">
                        <a:buNone/>
                      </a:pPr>
                      <a:r>
                        <a:rPr lang="en-IN" sz="2000"/>
                        <a:t>C(4,5)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√18 ≈ 4.24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484"/>
                  </a:ext>
                </a:extLst>
              </a:tr>
              <a:tr h="0">
                <a:tc>
                  <a:txBody>
                    <a:bodyPr/>
                    <a:lstStyle/>
                    <a:p>
                      <a:pPr algn="ctr">
                        <a:buNone/>
                      </a:pPr>
                      <a:r>
                        <a:rPr lang="en-IN" sz="2000"/>
                        <a:t>D(5,4)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√20 ≈ 4.47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2599359"/>
                  </a:ext>
                </a:extLst>
              </a:tr>
              <a:tr h="0">
                <a:tc>
                  <a:txBody>
                    <a:bodyPr/>
                    <a:lstStyle/>
                    <a:p>
                      <a:pPr algn="ctr">
                        <a:buNone/>
                      </a:pPr>
                      <a:r>
                        <a:rPr lang="en-IN" sz="2000"/>
                        <a:t>E(6,5)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√34 ≈ 5.83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720736"/>
                  </a:ext>
                </a:extLst>
              </a:tr>
              <a:tr h="0">
                <a:tc>
                  <a:txBody>
                    <a:bodyPr/>
                    <a:lstStyle/>
                    <a:p>
                      <a:pPr algn="ctr">
                        <a:buNone/>
                      </a:pPr>
                      <a:r>
                        <a:rPr lang="en-IN" sz="2000"/>
                        <a:t>F(7,6)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a:t>√52 ≈ 7.21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000" dirty="0"/>
                        <a:t>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7534821"/>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E1C65F-1F7F-7470-2080-555237A2729F}"/>
                  </a:ext>
                </a:extLst>
              </p:cNvPr>
              <p:cNvSpPr txBox="1"/>
              <p:nvPr/>
            </p:nvSpPr>
            <p:spPr>
              <a:xfrm>
                <a:off x="5256143" y="6176963"/>
                <a:ext cx="6601239" cy="369332"/>
              </a:xfrm>
              <a:prstGeom prst="rect">
                <a:avLst/>
              </a:prstGeom>
              <a:noFill/>
            </p:spPr>
            <p:txBody>
              <a:bodyPr wrap="square">
                <a:spAutoFit/>
              </a:bodyPr>
              <a:lstStyle/>
              <a:p>
                <a:pPr>
                  <a:buNone/>
                </a:pPr>
                <a:r>
                  <a:rPr lang="en-IN" dirty="0"/>
                  <a:t>The largest value is for </a:t>
                </a:r>
                <a:r>
                  <a:rPr lang="en-IN" b="1" dirty="0"/>
                  <a:t>F(7,6)</a:t>
                </a:r>
                <a:r>
                  <a:rPr lang="en-IN" dirty="0"/>
                  <a:t>. So choose: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0">
                            <a:latin typeface="Cambria Math" panose="02040503050406030204" pitchFamily="18" charset="0"/>
                          </a:rPr>
                          <m:t>2</m:t>
                        </m:r>
                      </m:sub>
                    </m:sSub>
                    <m:r>
                      <a:rPr lang="ar-AE" i="0">
                        <a:latin typeface="Cambria Math" panose="02040503050406030204" pitchFamily="18" charset="0"/>
                      </a:rPr>
                      <m:t>=</m:t>
                    </m:r>
                    <m:d>
                      <m:dPr>
                        <m:sepChr m:val=","/>
                        <m:ctrlPr>
                          <a:rPr lang="ar-AE" i="1">
                            <a:latin typeface="Cambria Math" panose="02040503050406030204" pitchFamily="18" charset="0"/>
                          </a:rPr>
                        </m:ctrlPr>
                      </m:dPr>
                      <m:e>
                        <m:r>
                          <a:rPr lang="ar-AE" i="0">
                            <a:latin typeface="Cambria Math" panose="02040503050406030204" pitchFamily="18" charset="0"/>
                          </a:rPr>
                          <m:t>7</m:t>
                        </m:r>
                      </m:e>
                      <m:e>
                        <m:r>
                          <a:rPr lang="ar-AE" i="0">
                            <a:latin typeface="Cambria Math" panose="02040503050406030204" pitchFamily="18" charset="0"/>
                          </a:rPr>
                          <m:t>6</m:t>
                        </m:r>
                      </m:e>
                    </m:d>
                  </m:oMath>
                </a14:m>
                <a:endParaRPr lang="ar-AE" dirty="0"/>
              </a:p>
            </p:txBody>
          </p:sp>
        </mc:Choice>
        <mc:Fallback xmlns="">
          <p:sp>
            <p:nvSpPr>
              <p:cNvPr id="8" name="TextBox 7">
                <a:extLst>
                  <a:ext uri="{FF2B5EF4-FFF2-40B4-BE49-F238E27FC236}">
                    <a16:creationId xmlns:a16="http://schemas.microsoft.com/office/drawing/2014/main" id="{DFE1C65F-1F7F-7470-2080-555237A2729F}"/>
                  </a:ext>
                </a:extLst>
              </p:cNvPr>
              <p:cNvSpPr txBox="1">
                <a:spLocks noRot="1" noChangeAspect="1" noMove="1" noResize="1" noEditPoints="1" noAdjustHandles="1" noChangeArrowheads="1" noChangeShapeType="1" noTextEdit="1"/>
              </p:cNvSpPr>
              <p:nvPr/>
            </p:nvSpPr>
            <p:spPr>
              <a:xfrm>
                <a:off x="5256143" y="6176963"/>
                <a:ext cx="6601239" cy="369332"/>
              </a:xfrm>
              <a:prstGeom prst="rect">
                <a:avLst/>
              </a:prstGeom>
              <a:blipFill>
                <a:blip r:embed="rId3"/>
                <a:stretch>
                  <a:fillRect l="-739" t="-8197" b="-24590"/>
                </a:stretch>
              </a:blipFill>
            </p:spPr>
            <p:txBody>
              <a:bodyPr/>
              <a:lstStyle/>
              <a:p>
                <a:r>
                  <a:rPr lang="en-IN">
                    <a:noFill/>
                  </a:rPr>
                  <a:t> </a:t>
                </a:r>
              </a:p>
            </p:txBody>
          </p:sp>
        </mc:Fallback>
      </mc:AlternateContent>
    </p:spTree>
    <p:extLst>
      <p:ext uri="{BB962C8B-B14F-4D97-AF65-F5344CB8AC3E}">
        <p14:creationId xmlns:p14="http://schemas.microsoft.com/office/powerpoint/2010/main" val="23961500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250C5-95D7-4412-9DBC-B8179FD79F1D}"/>
              </a:ext>
            </a:extLst>
          </p:cNvPr>
          <p:cNvSpPr>
            <a:spLocks noGrp="1"/>
          </p:cNvSpPr>
          <p:nvPr>
            <p:ph type="title"/>
          </p:nvPr>
        </p:nvSpPr>
        <p:spPr/>
        <p:txBody>
          <a:bodyPr/>
          <a:lstStyle/>
          <a:p>
            <a:r>
              <a:rPr lang="en-US"/>
              <a:t>Simple Example of K-Means++ Clustering</a:t>
            </a:r>
            <a:endParaRPr lang="en-IN"/>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C46933E-8190-9B2D-D532-54B942BF27F6}"/>
                  </a:ext>
                </a:extLst>
              </p:cNvPr>
              <p:cNvSpPr>
                <a:spLocks noGrp="1"/>
              </p:cNvSpPr>
              <p:nvPr>
                <p:ph sz="half" idx="1"/>
              </p:nvPr>
            </p:nvSpPr>
            <p:spPr/>
            <p:txBody>
              <a:bodyPr>
                <a:normAutofit/>
              </a:bodyPr>
              <a:lstStyle/>
              <a:p>
                <a:pPr marL="514350" indent="-514350">
                  <a:buFont typeface="+mj-lt"/>
                  <a:buAutoNum type="arabicPeriod" startAt="3"/>
                </a:pPr>
                <a:r>
                  <a:rPr lang="en-US" sz="2400" b="1" dirty="0"/>
                  <a:t>Assign Points to Nearest Centroid</a:t>
                </a:r>
              </a:p>
              <a:p>
                <a:pPr marL="457200" lvl="1" indent="0">
                  <a:buNone/>
                </a:pPr>
                <a:r>
                  <a:rPr lang="en-IN" sz="2000" dirty="0"/>
                  <a:t>Compute distance to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d>
                      <m:dPr>
                        <m:sepChr m:val=","/>
                        <m:ctrlPr>
                          <a:rPr lang="ar-AE" sz="2000" i="1">
                            <a:latin typeface="Cambria Math" panose="02040503050406030204" pitchFamily="18" charset="0"/>
                          </a:rPr>
                        </m:ctrlPr>
                      </m:dPr>
                      <m:e>
                        <m:r>
                          <a:rPr lang="ar-AE" sz="2000">
                            <a:latin typeface="Cambria Math" panose="02040503050406030204" pitchFamily="18" charset="0"/>
                          </a:rPr>
                          <m:t>1</m:t>
                        </m:r>
                      </m:e>
                      <m:e>
                        <m:r>
                          <a:rPr lang="ar-AE" sz="2000">
                            <a:latin typeface="Cambria Math" panose="02040503050406030204" pitchFamily="18" charset="0"/>
                          </a:rPr>
                          <m:t>2</m:t>
                        </m:r>
                      </m:e>
                    </m:d>
                  </m:oMath>
                </a14:m>
                <a:r>
                  <a:rPr lang="en-IN" sz="2000" dirty="0"/>
                  <a:t>and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d>
                      <m:dPr>
                        <m:sepChr m:val=","/>
                        <m:ctrlPr>
                          <a:rPr lang="ar-AE" sz="2000" i="1">
                            <a:latin typeface="Cambria Math" panose="02040503050406030204" pitchFamily="18" charset="0"/>
                          </a:rPr>
                        </m:ctrlPr>
                      </m:dPr>
                      <m:e>
                        <m:r>
                          <a:rPr lang="ar-AE" sz="2000">
                            <a:latin typeface="Cambria Math" panose="02040503050406030204" pitchFamily="18" charset="0"/>
                          </a:rPr>
                          <m:t>7</m:t>
                        </m:r>
                      </m:e>
                      <m:e>
                        <m:r>
                          <a:rPr lang="ar-AE" sz="2000">
                            <a:latin typeface="Cambria Math" panose="02040503050406030204" pitchFamily="18" charset="0"/>
                          </a:rPr>
                          <m:t>6</m:t>
                        </m:r>
                      </m:e>
                    </m:d>
                  </m:oMath>
                </a14:m>
                <a:endParaRPr lang="en-IN" sz="2000" b="1" dirty="0"/>
              </a:p>
            </p:txBody>
          </p:sp>
        </mc:Choice>
        <mc:Fallback xmlns="">
          <p:sp>
            <p:nvSpPr>
              <p:cNvPr id="4" name="Content Placeholder 3">
                <a:extLst>
                  <a:ext uri="{FF2B5EF4-FFF2-40B4-BE49-F238E27FC236}">
                    <a16:creationId xmlns:a16="http://schemas.microsoft.com/office/drawing/2014/main" id="{9C46933E-8190-9B2D-D532-54B942BF27F6}"/>
                  </a:ext>
                </a:extLst>
              </p:cNvPr>
              <p:cNvSpPr>
                <a:spLocks noGrp="1" noRot="1" noChangeAspect="1" noMove="1" noResize="1" noEditPoints="1" noAdjustHandles="1" noChangeArrowheads="1" noChangeShapeType="1" noTextEdit="1"/>
              </p:cNvSpPr>
              <p:nvPr>
                <p:ph sz="half" idx="1"/>
              </p:nvPr>
            </p:nvSpPr>
            <p:spPr>
              <a:blipFill>
                <a:blip r:embed="rId2"/>
                <a:stretch>
                  <a:fillRect l="-1882" t="-2101"/>
                </a:stretch>
              </a:blipFill>
            </p:spPr>
            <p:txBody>
              <a:bodyPr/>
              <a:lstStyle/>
              <a:p>
                <a:r>
                  <a:rPr lang="en-IN">
                    <a:noFill/>
                  </a:rPr>
                  <a:t> </a:t>
                </a:r>
              </a:p>
            </p:txBody>
          </p:sp>
        </mc:Fallback>
      </mc:AlternateContent>
      <p:graphicFrame>
        <p:nvGraphicFramePr>
          <p:cNvPr id="11" name="Content Placeholder 10">
            <a:extLst>
              <a:ext uri="{FF2B5EF4-FFF2-40B4-BE49-F238E27FC236}">
                <a16:creationId xmlns:a16="http://schemas.microsoft.com/office/drawing/2014/main" id="{7A043AA3-81B1-08CB-8419-73C405B2D73F}"/>
              </a:ext>
            </a:extLst>
          </p:cNvPr>
          <p:cNvGraphicFramePr>
            <a:graphicFrameLocks noGrp="1"/>
          </p:cNvGraphicFramePr>
          <p:nvPr>
            <p:ph sz="half" idx="2"/>
          </p:nvPr>
        </p:nvGraphicFramePr>
        <p:xfrm>
          <a:off x="838200" y="2876514"/>
          <a:ext cx="5181600" cy="2449006"/>
        </p:xfrm>
        <a:graphic>
          <a:graphicData uri="http://schemas.openxmlformats.org/drawingml/2006/table">
            <a:tbl>
              <a:tblPr/>
              <a:tblGrid>
                <a:gridCol w="1295400">
                  <a:extLst>
                    <a:ext uri="{9D8B030D-6E8A-4147-A177-3AD203B41FA5}">
                      <a16:colId xmlns:a16="http://schemas.microsoft.com/office/drawing/2014/main" val="4016735742"/>
                    </a:ext>
                  </a:extLst>
                </a:gridCol>
                <a:gridCol w="1295400">
                  <a:extLst>
                    <a:ext uri="{9D8B030D-6E8A-4147-A177-3AD203B41FA5}">
                      <a16:colId xmlns:a16="http://schemas.microsoft.com/office/drawing/2014/main" val="2178745789"/>
                    </a:ext>
                  </a:extLst>
                </a:gridCol>
                <a:gridCol w="1295400">
                  <a:extLst>
                    <a:ext uri="{9D8B030D-6E8A-4147-A177-3AD203B41FA5}">
                      <a16:colId xmlns:a16="http://schemas.microsoft.com/office/drawing/2014/main" val="2364861244"/>
                    </a:ext>
                  </a:extLst>
                </a:gridCol>
                <a:gridCol w="1295400">
                  <a:extLst>
                    <a:ext uri="{9D8B030D-6E8A-4147-A177-3AD203B41FA5}">
                      <a16:colId xmlns:a16="http://schemas.microsoft.com/office/drawing/2014/main" val="517212056"/>
                    </a:ext>
                  </a:extLst>
                </a:gridCol>
              </a:tblGrid>
              <a:tr h="180230">
                <a:tc>
                  <a:txBody>
                    <a:bodyPr/>
                    <a:lstStyle/>
                    <a:p>
                      <a:pPr>
                        <a:buNone/>
                      </a:pPr>
                      <a:r>
                        <a:rPr lang="en-IN" sz="2000" dirty="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6806428"/>
                  </a:ext>
                </a:extLst>
              </a:tr>
              <a:tr h="180230">
                <a:tc>
                  <a:txBody>
                    <a:bodyPr/>
                    <a:lstStyle/>
                    <a:p>
                      <a:pPr>
                        <a:buNone/>
                      </a:pPr>
                      <a:r>
                        <a:rPr lang="en-IN" sz="2000"/>
                        <a:t>A(1,2)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2477848"/>
                  </a:ext>
                </a:extLst>
              </a:tr>
              <a:tr h="180230">
                <a:tc>
                  <a:txBody>
                    <a:bodyPr/>
                    <a:lstStyle/>
                    <a:p>
                      <a:pPr>
                        <a:buNone/>
                      </a:pPr>
                      <a:r>
                        <a:rPr lang="en-IN" sz="2000"/>
                        <a:t>B(2,1)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7.07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6581786"/>
                  </a:ext>
                </a:extLst>
              </a:tr>
              <a:tr h="180230">
                <a:tc>
                  <a:txBody>
                    <a:bodyPr/>
                    <a:lstStyle/>
                    <a:p>
                      <a:pPr>
                        <a:buNone/>
                      </a:pPr>
                      <a:r>
                        <a:rPr lang="en-IN" sz="2000"/>
                        <a:t>C(4,5)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4.24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3.61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2371376"/>
                  </a:ext>
                </a:extLst>
              </a:tr>
              <a:tr h="180230">
                <a:tc>
                  <a:txBody>
                    <a:bodyPr/>
                    <a:lstStyle/>
                    <a:p>
                      <a:pPr>
                        <a:buNone/>
                      </a:pPr>
                      <a:r>
                        <a:rPr lang="en-IN" sz="2000"/>
                        <a:t>D(5,4)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4.47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2.83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530216"/>
                  </a:ext>
                </a:extLst>
              </a:tr>
              <a:tr h="180230">
                <a:tc>
                  <a:txBody>
                    <a:bodyPr/>
                    <a:lstStyle/>
                    <a:p>
                      <a:pPr>
                        <a:buNone/>
                      </a:pPr>
                      <a:r>
                        <a:rPr lang="en-IN" sz="2000"/>
                        <a:t>E(6,5)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5.83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9161103"/>
                  </a:ext>
                </a:extLst>
              </a:tr>
              <a:tr h="180230">
                <a:tc>
                  <a:txBody>
                    <a:bodyPr/>
                    <a:lstStyle/>
                    <a:p>
                      <a:pPr>
                        <a:buNone/>
                      </a:pPr>
                      <a:r>
                        <a:rPr lang="en-IN" sz="2000"/>
                        <a:t>F(7,6)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1824590"/>
                  </a:ext>
                </a:extLst>
              </a:tr>
            </a:tbl>
          </a:graphicData>
        </a:graphic>
      </p:graphicFrame>
      <p:sp>
        <p:nvSpPr>
          <p:cNvPr id="13" name="TextBox 12">
            <a:extLst>
              <a:ext uri="{FF2B5EF4-FFF2-40B4-BE49-F238E27FC236}">
                <a16:creationId xmlns:a16="http://schemas.microsoft.com/office/drawing/2014/main" id="{E258C58B-047B-27DE-4AAA-303C7705B977}"/>
              </a:ext>
            </a:extLst>
          </p:cNvPr>
          <p:cNvSpPr txBox="1"/>
          <p:nvPr/>
        </p:nvSpPr>
        <p:spPr>
          <a:xfrm>
            <a:off x="838200" y="5569545"/>
            <a:ext cx="4131365" cy="1015663"/>
          </a:xfrm>
          <a:prstGeom prst="rect">
            <a:avLst/>
          </a:prstGeom>
          <a:noFill/>
        </p:spPr>
        <p:txBody>
          <a:bodyPr wrap="square">
            <a:spAutoFit/>
          </a:bodyPr>
          <a:lstStyle/>
          <a:p>
            <a:pPr>
              <a:buNone/>
            </a:pPr>
            <a:r>
              <a:rPr lang="en-IN" sz="2000"/>
              <a:t>So:</a:t>
            </a:r>
          </a:p>
          <a:p>
            <a:pPr>
              <a:buFont typeface="Arial" panose="020B0604020202020204" pitchFamily="34" charset="0"/>
              <a:buChar char="•"/>
            </a:pPr>
            <a:r>
              <a:rPr lang="en-IN" sz="2000" b="1"/>
              <a:t>Cluster 1:</a:t>
            </a:r>
            <a:r>
              <a:rPr lang="en-IN" sz="2000"/>
              <a:t> A, B</a:t>
            </a:r>
          </a:p>
          <a:p>
            <a:pPr>
              <a:buFont typeface="Arial" panose="020B0604020202020204" pitchFamily="34" charset="0"/>
              <a:buChar char="•"/>
            </a:pPr>
            <a:r>
              <a:rPr lang="en-IN" sz="2000" b="1"/>
              <a:t>Cluster 2:</a:t>
            </a:r>
            <a:r>
              <a:rPr lang="en-IN" sz="2000"/>
              <a:t> C, D, E, F</a:t>
            </a:r>
            <a:endParaRPr lang="en-IN" sz="2000" dirty="0"/>
          </a:p>
        </p:txBody>
      </p:sp>
      <p:sp>
        <p:nvSpPr>
          <p:cNvPr id="15" name="TextBox 14">
            <a:extLst>
              <a:ext uri="{FF2B5EF4-FFF2-40B4-BE49-F238E27FC236}">
                <a16:creationId xmlns:a16="http://schemas.microsoft.com/office/drawing/2014/main" id="{ACFA5A94-A6B7-85C0-D139-46DBB641D78C}"/>
              </a:ext>
            </a:extLst>
          </p:cNvPr>
          <p:cNvSpPr txBox="1"/>
          <p:nvPr/>
        </p:nvSpPr>
        <p:spPr>
          <a:xfrm>
            <a:off x="6607036" y="1825625"/>
            <a:ext cx="4902477" cy="461665"/>
          </a:xfrm>
          <a:prstGeom prst="rect">
            <a:avLst/>
          </a:prstGeom>
          <a:noFill/>
        </p:spPr>
        <p:txBody>
          <a:bodyPr wrap="square">
            <a:spAutoFit/>
          </a:bodyPr>
          <a:lstStyle/>
          <a:p>
            <a:pPr marL="457200" indent="-457200">
              <a:buFont typeface="+mj-lt"/>
              <a:buAutoNum type="arabicPeriod" startAt="4"/>
            </a:pPr>
            <a:r>
              <a:rPr lang="en-IN" sz="2400" b="1" dirty="0"/>
              <a:t>Update Centroids</a:t>
            </a:r>
          </a:p>
        </p:txBody>
      </p:sp>
      <p:pic>
        <p:nvPicPr>
          <p:cNvPr id="17" name="Picture 16">
            <a:extLst>
              <a:ext uri="{FF2B5EF4-FFF2-40B4-BE49-F238E27FC236}">
                <a16:creationId xmlns:a16="http://schemas.microsoft.com/office/drawing/2014/main" id="{C0DC3E93-8890-37D7-CE8E-99D7C79EEF86}"/>
              </a:ext>
            </a:extLst>
          </p:cNvPr>
          <p:cNvPicPr>
            <a:picLocks noChangeAspect="1"/>
          </p:cNvPicPr>
          <p:nvPr/>
        </p:nvPicPr>
        <p:blipFill>
          <a:blip r:embed="rId3"/>
          <a:stretch>
            <a:fillRect/>
          </a:stretch>
        </p:blipFill>
        <p:spPr>
          <a:xfrm>
            <a:off x="6788426" y="2544417"/>
            <a:ext cx="5403574" cy="2932044"/>
          </a:xfrm>
          <a:prstGeom prst="rect">
            <a:avLst/>
          </a:prstGeom>
        </p:spPr>
      </p:pic>
    </p:spTree>
    <p:extLst>
      <p:ext uri="{BB962C8B-B14F-4D97-AF65-F5344CB8AC3E}">
        <p14:creationId xmlns:p14="http://schemas.microsoft.com/office/powerpoint/2010/main" val="12569518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561283-BC02-8068-6ABC-FEB41FB3A21A}"/>
              </a:ext>
            </a:extLst>
          </p:cNvPr>
          <p:cNvSpPr>
            <a:spLocks noGrp="1"/>
          </p:cNvSpPr>
          <p:nvPr>
            <p:ph type="title"/>
          </p:nvPr>
        </p:nvSpPr>
        <p:spPr/>
        <p:txBody>
          <a:bodyPr/>
          <a:lstStyle/>
          <a:p>
            <a:r>
              <a:rPr lang="en-IN" dirty="0"/>
              <a:t>Mini-Batch K-Means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C0B52B6B-C870-D529-8A5C-C7F955675A8E}"/>
                  </a:ext>
                </a:extLst>
              </p:cNvPr>
              <p:cNvSpPr>
                <a:spLocks noGrp="1"/>
              </p:cNvSpPr>
              <p:nvPr>
                <p:ph idx="1"/>
              </p:nvPr>
            </p:nvSpPr>
            <p:spPr/>
            <p:txBody>
              <a:bodyPr>
                <a:normAutofit/>
              </a:bodyPr>
              <a:lstStyle/>
              <a:p>
                <a:r>
                  <a:rPr lang="en-US" dirty="0"/>
                  <a:t>Mini-Batch K-Means is a clustering algorithm that improves computational efficiency by updating centroids using randomly selected small batches of samples instead of the full dataset at every iteration.</a:t>
                </a:r>
              </a:p>
              <a:p>
                <a:r>
                  <a:rPr lang="en-IN" b="1" dirty="0"/>
                  <a:t>Working Steps</a:t>
                </a:r>
              </a:p>
              <a:p>
                <a:pPr lvl="1"/>
                <a:r>
                  <a:rPr lang="en-IN" b="1" dirty="0"/>
                  <a:t>Initialize K centroids</a:t>
                </a:r>
                <a:r>
                  <a:rPr lang="en-IN" dirty="0"/>
                  <a:t> (usually with K-Means++).</a:t>
                </a:r>
              </a:p>
              <a:p>
                <a:pPr lvl="1"/>
                <a:r>
                  <a:rPr lang="en-IN" b="1" dirty="0"/>
                  <a:t>Randomly sample a mini-batch</a:t>
                </a:r>
                <a:r>
                  <a:rPr lang="en-IN" dirty="0"/>
                  <a:t> of size </a:t>
                </a:r>
                <a14:m>
                  <m:oMath xmlns:m="http://schemas.openxmlformats.org/officeDocument/2006/math">
                    <m:r>
                      <a:rPr lang="en-IN" i="1">
                        <a:latin typeface="Cambria Math" panose="02040503050406030204" pitchFamily="18" charset="0"/>
                      </a:rPr>
                      <m:t>𝑏</m:t>
                    </m:r>
                  </m:oMath>
                </a14:m>
                <a:r>
                  <a:rPr lang="en-IN" dirty="0"/>
                  <a:t>.</a:t>
                </a:r>
              </a:p>
              <a:p>
                <a:pPr lvl="1"/>
                <a:r>
                  <a:rPr lang="en-IN" b="1" dirty="0"/>
                  <a:t>Assign each point in the batch to nearest centroid</a:t>
                </a:r>
                <a:r>
                  <a:rPr lang="en-IN" dirty="0"/>
                  <a:t>.</a:t>
                </a:r>
              </a:p>
              <a:p>
                <a:pPr lvl="1"/>
                <a:r>
                  <a:rPr lang="en-IN" b="1" dirty="0"/>
                  <a:t>Update centroids using the batch only</a:t>
                </a:r>
                <a:r>
                  <a:rPr lang="en-IN" dirty="0"/>
                  <a:t>:     </a:t>
                </a:r>
                <a14:m>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r>
                      <a:rPr lang="ar-AE">
                        <a:latin typeface="Cambria Math" panose="02040503050406030204" pitchFamily="18" charset="0"/>
                      </a:rPr>
                      <m:t>+</m:t>
                    </m:r>
                    <m:r>
                      <a:rPr lang="ar-AE" i="1">
                        <a:latin typeface="Cambria Math" panose="02040503050406030204" pitchFamily="18" charset="0"/>
                      </a:rPr>
                      <m:t>𝜂</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e>
                    </m:d>
                  </m:oMath>
                </a14:m>
                <a:endParaRPr lang="ar-AE" dirty="0"/>
              </a:p>
              <a:p>
                <a:pPr lvl="1"/>
                <a:r>
                  <a:rPr lang="en-IN" b="1" dirty="0"/>
                  <a:t>Repeat until convergence</a:t>
                </a:r>
                <a:r>
                  <a:rPr lang="en-IN" dirty="0"/>
                  <a:t>.</a:t>
                </a:r>
              </a:p>
            </p:txBody>
          </p:sp>
        </mc:Choice>
        <mc:Fallback xmlns="">
          <p:sp>
            <p:nvSpPr>
              <p:cNvPr id="6" name="Content Placeholder 5">
                <a:extLst>
                  <a:ext uri="{FF2B5EF4-FFF2-40B4-BE49-F238E27FC236}">
                    <a16:creationId xmlns:a16="http://schemas.microsoft.com/office/drawing/2014/main" id="{C0B52B6B-C870-D529-8A5C-C7F955675A8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9579205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C3177CB7-05F8-9EAF-9EE3-B49ACAAB00EB}"/>
              </a:ext>
            </a:extLst>
          </p:cNvPr>
          <p:cNvGraphicFramePr>
            <a:graphicFrameLocks noGrp="1"/>
          </p:cNvGraphicFramePr>
          <p:nvPr>
            <p:ph idx="1"/>
          </p:nvPr>
        </p:nvGraphicFramePr>
        <p:xfrm>
          <a:off x="357809" y="344695"/>
          <a:ext cx="11022495" cy="6443686"/>
        </p:xfrm>
        <a:graphic>
          <a:graphicData uri="http://schemas.openxmlformats.org/drawingml/2006/table">
            <a:tbl>
              <a:tblPr/>
              <a:tblGrid>
                <a:gridCol w="2238446">
                  <a:extLst>
                    <a:ext uri="{9D8B030D-6E8A-4147-A177-3AD203B41FA5}">
                      <a16:colId xmlns:a16="http://schemas.microsoft.com/office/drawing/2014/main" val="3292348722"/>
                    </a:ext>
                  </a:extLst>
                </a:gridCol>
                <a:gridCol w="2832240">
                  <a:extLst>
                    <a:ext uri="{9D8B030D-6E8A-4147-A177-3AD203B41FA5}">
                      <a16:colId xmlns:a16="http://schemas.microsoft.com/office/drawing/2014/main" val="3419448918"/>
                    </a:ext>
                  </a:extLst>
                </a:gridCol>
                <a:gridCol w="3196185">
                  <a:extLst>
                    <a:ext uri="{9D8B030D-6E8A-4147-A177-3AD203B41FA5}">
                      <a16:colId xmlns:a16="http://schemas.microsoft.com/office/drawing/2014/main" val="3344891246"/>
                    </a:ext>
                  </a:extLst>
                </a:gridCol>
                <a:gridCol w="2755624">
                  <a:extLst>
                    <a:ext uri="{9D8B030D-6E8A-4147-A177-3AD203B41FA5}">
                      <a16:colId xmlns:a16="http://schemas.microsoft.com/office/drawing/2014/main" val="2205136206"/>
                    </a:ext>
                  </a:extLst>
                </a:gridCol>
              </a:tblGrid>
              <a:tr h="348107">
                <a:tc>
                  <a:txBody>
                    <a:bodyPr/>
                    <a:lstStyle/>
                    <a:p>
                      <a:pPr>
                        <a:buNone/>
                      </a:pPr>
                      <a:r>
                        <a:rPr lang="en-IN" sz="2400" dirty="0"/>
                        <a:t>Feature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K-Means</a:t>
                      </a:r>
                      <a:endParaRPr lang="en-IN" sz="24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K-Means++</a:t>
                      </a:r>
                      <a:endParaRPr lang="en-IN" sz="240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Mini-Batch K-Means</a:t>
                      </a:r>
                      <a:endParaRPr lang="en-IN" sz="2400" dirty="0"/>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0464342"/>
                  </a:ext>
                </a:extLst>
              </a:tr>
              <a:tr h="609187">
                <a:tc>
                  <a:txBody>
                    <a:bodyPr/>
                    <a:lstStyle/>
                    <a:p>
                      <a:pPr>
                        <a:buNone/>
                      </a:pPr>
                      <a:r>
                        <a:rPr lang="en-IN" sz="2400"/>
                        <a:t>Initialization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Random centroids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Smart (distance-based) initialization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Uses K-Means++ usually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329989"/>
                  </a:ext>
                </a:extLst>
              </a:tr>
              <a:tr h="348107">
                <a:tc>
                  <a:txBody>
                    <a:bodyPr/>
                    <a:lstStyle/>
                    <a:p>
                      <a:pPr>
                        <a:buNone/>
                      </a:pPr>
                      <a:r>
                        <a:rPr lang="en-IN" sz="2400"/>
                        <a:t>Dataset size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Small–medium</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Medium–large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Very large datasets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564546"/>
                  </a:ext>
                </a:extLst>
              </a:tr>
              <a:tr h="348107">
                <a:tc>
                  <a:txBody>
                    <a:bodyPr/>
                    <a:lstStyle/>
                    <a:p>
                      <a:pPr>
                        <a:buNone/>
                      </a:pPr>
                      <a:r>
                        <a:rPr lang="en-IN" sz="2400"/>
                        <a:t>Speed</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Moderate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Faster than K-Means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Very fast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038009"/>
                  </a:ext>
                </a:extLst>
              </a:tr>
              <a:tr h="348107">
                <a:tc>
                  <a:txBody>
                    <a:bodyPr/>
                    <a:lstStyle/>
                    <a:p>
                      <a:pPr>
                        <a:buNone/>
                      </a:pPr>
                      <a:r>
                        <a:rPr lang="en-IN" sz="2400"/>
                        <a:t>Memory use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Higher</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Same as K-Means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Low</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5898397"/>
                  </a:ext>
                </a:extLst>
              </a:tr>
              <a:tr h="348107">
                <a:tc>
                  <a:txBody>
                    <a:bodyPr/>
                    <a:lstStyle/>
                    <a:p>
                      <a:pPr>
                        <a:buNone/>
                      </a:pPr>
                      <a:r>
                        <a:rPr lang="en-IN" sz="2400"/>
                        <a:t>Convergence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Slower, unstable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Faster, stable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Fast, approximate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0083188"/>
                  </a:ext>
                </a:extLst>
              </a:tr>
              <a:tr h="609187">
                <a:tc>
                  <a:txBody>
                    <a:bodyPr/>
                    <a:lstStyle/>
                    <a:p>
                      <a:pPr>
                        <a:buNone/>
                      </a:pPr>
                      <a:r>
                        <a:rPr lang="en-IN" sz="2400"/>
                        <a:t>Cluster quality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400"/>
                        <a:t>Can be poor due to random start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Better, more consistent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Slightly less accurate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2879795"/>
                  </a:ext>
                </a:extLst>
              </a:tr>
              <a:tr h="348107">
                <a:tc>
                  <a:txBody>
                    <a:bodyPr/>
                    <a:lstStyle/>
                    <a:p>
                      <a:pPr>
                        <a:buNone/>
                      </a:pPr>
                      <a:r>
                        <a:rPr lang="en-IN" sz="2400"/>
                        <a:t>Iterations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More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Fewer</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Very few</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9579534"/>
                  </a:ext>
                </a:extLst>
              </a:tr>
              <a:tr h="348107">
                <a:tc>
                  <a:txBody>
                    <a:bodyPr/>
                    <a:lstStyle/>
                    <a:p>
                      <a:pPr>
                        <a:buNone/>
                      </a:pPr>
                      <a:r>
                        <a:rPr lang="en-IN" sz="2400"/>
                        <a:t>Sensitivity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Sensitive to initialization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Less sensitive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Less sensitive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398563"/>
                  </a:ext>
                </a:extLst>
              </a:tr>
              <a:tr h="348107">
                <a:tc>
                  <a:txBody>
                    <a:bodyPr/>
                    <a:lstStyle/>
                    <a:p>
                      <a:pPr>
                        <a:buNone/>
                      </a:pPr>
                      <a:r>
                        <a:rPr lang="en-IN" sz="2400"/>
                        <a:t>Scalability</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Limited</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Better</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Highly scalable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470678"/>
                  </a:ext>
                </a:extLst>
              </a:tr>
              <a:tr h="348107">
                <a:tc>
                  <a:txBody>
                    <a:bodyPr/>
                    <a:lstStyle/>
                    <a:p>
                      <a:pPr>
                        <a:buNone/>
                      </a:pPr>
                      <a:r>
                        <a:rPr lang="en-IN" sz="2400"/>
                        <a:t>Use case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Simple problems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Production clustering</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Big data / streaming data</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9169605"/>
                  </a:ext>
                </a:extLst>
              </a:tr>
            </a:tbl>
          </a:graphicData>
        </a:graphic>
      </p:graphicFrame>
    </p:spTree>
    <p:extLst>
      <p:ext uri="{BB962C8B-B14F-4D97-AF65-F5344CB8AC3E}">
        <p14:creationId xmlns:p14="http://schemas.microsoft.com/office/powerpoint/2010/main" val="5135452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3272</Words>
  <Application>Microsoft Office PowerPoint</Application>
  <PresentationFormat>Widescreen</PresentationFormat>
  <Paragraphs>480</Paragraphs>
  <Slides>54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Calibri Light</vt:lpstr>
      <vt:lpstr>Cambria Math</vt:lpstr>
      <vt:lpstr>Wingdings</vt:lpstr>
      <vt:lpstr>Office Theme</vt:lpstr>
      <vt:lpstr>Module 3</vt:lpstr>
      <vt:lpstr>Why Unsupervised Learning</vt:lpstr>
      <vt:lpstr>PowerPoint Presentation</vt:lpstr>
      <vt:lpstr>PowerPoint Presentation</vt:lpstr>
      <vt:lpstr>PowerPoint Presentation</vt:lpstr>
      <vt:lpstr>Unsupervised learning</vt:lpstr>
      <vt:lpstr>Unsupervised learning</vt:lpstr>
      <vt:lpstr>Unsupervised learning - Clustering</vt:lpstr>
      <vt:lpstr>Unsupervised learning - Anomaly detection</vt:lpstr>
      <vt:lpstr>Unsupervised learning - Anomaly detection</vt:lpstr>
      <vt:lpstr>The basic steps that an expert must follow in order to develop a clustering task are the following:</vt:lpstr>
      <vt:lpstr>The basic steps that an expert must follow in order to develop a clustering task are the following:</vt:lpstr>
      <vt:lpstr>Clustering</vt:lpstr>
      <vt:lpstr>Clustering</vt:lpstr>
      <vt:lpstr>PowerPoint Presentation</vt:lpstr>
      <vt:lpstr>PowerPoint Presentation</vt:lpstr>
      <vt:lpstr>Dissimilarity(or distance) measure d(x,y)</vt:lpstr>
      <vt:lpstr>Manhattan distance</vt:lpstr>
      <vt:lpstr>Euclidean distance</vt:lpstr>
      <vt:lpstr>Minkowski Distances</vt:lpstr>
      <vt:lpstr>Dissimilarity(or distance) measure d(x,y)</vt:lpstr>
      <vt:lpstr>Similarity measure s(x,y)</vt:lpstr>
      <vt:lpstr>Cosine Similarity</vt:lpstr>
      <vt:lpstr>Criterion functions for clustering</vt:lpstr>
      <vt:lpstr>1. Within-Cluster Sum of Squares (WCSS / SSE)</vt:lpstr>
      <vt:lpstr>2. Between-Cluster Separation</vt:lpstr>
      <vt:lpstr>3. Silhouette Coefficient</vt:lpstr>
      <vt:lpstr>4. Dunn Index</vt:lpstr>
      <vt:lpstr>5. Scatter</vt:lpstr>
      <vt:lpstr>5. Scatter</vt:lpstr>
      <vt:lpstr>Clustering</vt:lpstr>
      <vt:lpstr>Application of Clustering </vt:lpstr>
      <vt:lpstr>Clustering</vt:lpstr>
      <vt:lpstr>Clustering</vt:lpstr>
      <vt:lpstr>K-Means Clustering</vt:lpstr>
      <vt:lpstr>K-Means Clustering</vt:lpstr>
      <vt:lpstr>K-means clustering</vt:lpstr>
      <vt:lpstr>PowerPoint Presentation</vt:lpstr>
      <vt:lpstr>Steps in K-means clustering algorithm</vt:lpstr>
      <vt:lpstr>Steps in K-means clustering algorithm</vt:lpstr>
      <vt:lpstr>Steps in K-means clustering algorithm</vt:lpstr>
      <vt:lpstr>Simple Example of K-Means Clustering</vt:lpstr>
      <vt:lpstr>Simple Example of K-Means Clustering</vt:lpstr>
      <vt:lpstr>Simple Example of K-Means Clustering</vt:lpstr>
      <vt:lpstr>Simple Example of K-Means Clustering</vt:lpstr>
      <vt:lpstr>Limitations of k means clustering</vt:lpstr>
      <vt:lpstr>Failure cases of k-means</vt:lpstr>
      <vt:lpstr>Use cases</vt:lpstr>
      <vt:lpstr>K-Means++ Clustering</vt:lpstr>
      <vt:lpstr>K-Means++ initialization algorithm:</vt:lpstr>
      <vt:lpstr>Simple Example of K-Means++ Clustering</vt:lpstr>
      <vt:lpstr>Simple Example of K-Means++ Clustering</vt:lpstr>
      <vt:lpstr>Mini-Batch K-Means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2026-02-16T11:20:10Z</dcterms:created>
  <dcterms:modified xsi:type="dcterms:W3CDTF">2026-02-16T11:21:23Z</dcterms:modified>
</cp:coreProperties>
</file>