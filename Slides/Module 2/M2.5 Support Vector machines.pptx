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3" r:id="rId2"/>
    <p:sldId id="404" r:id="rId3"/>
    <p:sldId id="400" r:id="rId4"/>
    <p:sldId id="403" r:id="rId5"/>
    <p:sldId id="390" r:id="rId6"/>
    <p:sldId id="391" r:id="rId7"/>
    <p:sldId id="407" r:id="rId8"/>
    <p:sldId id="392" r:id="rId9"/>
    <p:sldId id="405" r:id="rId10"/>
    <p:sldId id="396" r:id="rId11"/>
    <p:sldId id="397" r:id="rId12"/>
    <p:sldId id="398" r:id="rId13"/>
    <p:sldId id="399" r:id="rId14"/>
    <p:sldId id="427" r:id="rId15"/>
    <p:sldId id="428" r:id="rId16"/>
    <p:sldId id="395" r:id="rId17"/>
    <p:sldId id="393" r:id="rId18"/>
    <p:sldId id="426" r:id="rId19"/>
    <p:sldId id="434" r:id="rId20"/>
    <p:sldId id="435" r:id="rId21"/>
    <p:sldId id="436" r:id="rId22"/>
    <p:sldId id="437" r:id="rId23"/>
    <p:sldId id="438" r:id="rId24"/>
    <p:sldId id="388" r:id="rId25"/>
    <p:sldId id="389" r:id="rId26"/>
    <p:sldId id="401" r:id="rId27"/>
    <p:sldId id="402" r:id="rId28"/>
    <p:sldId id="406" r:id="rId29"/>
    <p:sldId id="415" r:id="rId30"/>
    <p:sldId id="414" r:id="rId31"/>
    <p:sldId id="416" r:id="rId32"/>
    <p:sldId id="419" r:id="rId33"/>
    <p:sldId id="418" r:id="rId34"/>
    <p:sldId id="420" r:id="rId35"/>
    <p:sldId id="423" r:id="rId36"/>
    <p:sldId id="424" r:id="rId37"/>
    <p:sldId id="429" r:id="rId38"/>
    <p:sldId id="430" r:id="rId39"/>
    <p:sldId id="431" r:id="rId40"/>
    <p:sldId id="425" r:id="rId41"/>
    <p:sldId id="432" r:id="rId42"/>
    <p:sldId id="433"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7" d="100"/>
          <a:sy n="77" d="100"/>
        </p:scale>
        <p:origin x="83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F536C-044D-0791-50B1-C2FD32D8F7E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3A92B70-23C7-F31F-F6CF-725481A18EB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E5C1BEA-7A44-3274-4080-2D20353CA3A5}"/>
              </a:ext>
            </a:extLst>
          </p:cNvPr>
          <p:cNvSpPr>
            <a:spLocks noGrp="1"/>
          </p:cNvSpPr>
          <p:nvPr>
            <p:ph type="dt" sz="half" idx="10"/>
          </p:nvPr>
        </p:nvSpPr>
        <p:spPr/>
        <p:txBody>
          <a:bodyPr/>
          <a:lstStyle/>
          <a:p>
            <a:fld id="{481A50E7-9A9D-4CAE-87FC-B94AE0E8BB3D}" type="datetimeFigureOut">
              <a:rPr lang="en-IN" smtClean="0"/>
              <a:t>22-01-2026</a:t>
            </a:fld>
            <a:endParaRPr lang="en-IN"/>
          </a:p>
        </p:txBody>
      </p:sp>
      <p:sp>
        <p:nvSpPr>
          <p:cNvPr id="5" name="Footer Placeholder 4">
            <a:extLst>
              <a:ext uri="{FF2B5EF4-FFF2-40B4-BE49-F238E27FC236}">
                <a16:creationId xmlns:a16="http://schemas.microsoft.com/office/drawing/2014/main" id="{7358CB63-5763-B5F6-4164-8C30C50512B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D7F44DF-2EF5-C0CF-9855-16F04A637555}"/>
              </a:ext>
            </a:extLst>
          </p:cNvPr>
          <p:cNvSpPr>
            <a:spLocks noGrp="1"/>
          </p:cNvSpPr>
          <p:nvPr>
            <p:ph type="sldNum" sz="quarter" idx="12"/>
          </p:nvPr>
        </p:nvSpPr>
        <p:spPr/>
        <p:txBody>
          <a:bodyPr/>
          <a:lstStyle/>
          <a:p>
            <a:fld id="{FDD7CC20-66D0-4ED5-9FA9-D1A302BCE700}" type="slidenum">
              <a:rPr lang="en-IN" smtClean="0"/>
              <a:t>‹#›</a:t>
            </a:fld>
            <a:endParaRPr lang="en-IN"/>
          </a:p>
        </p:txBody>
      </p:sp>
    </p:spTree>
    <p:extLst>
      <p:ext uri="{BB962C8B-B14F-4D97-AF65-F5344CB8AC3E}">
        <p14:creationId xmlns:p14="http://schemas.microsoft.com/office/powerpoint/2010/main" val="10854880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B42694-57D0-6B93-763D-24E303FCE79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C2C8055-A076-27F3-4841-085A3FA7F7F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E747D2D-86E1-D497-6A94-6984BAC560BA}"/>
              </a:ext>
            </a:extLst>
          </p:cNvPr>
          <p:cNvSpPr>
            <a:spLocks noGrp="1"/>
          </p:cNvSpPr>
          <p:nvPr>
            <p:ph type="dt" sz="half" idx="10"/>
          </p:nvPr>
        </p:nvSpPr>
        <p:spPr/>
        <p:txBody>
          <a:bodyPr/>
          <a:lstStyle/>
          <a:p>
            <a:fld id="{481A50E7-9A9D-4CAE-87FC-B94AE0E8BB3D}" type="datetimeFigureOut">
              <a:rPr lang="en-IN" smtClean="0"/>
              <a:t>22-01-2026</a:t>
            </a:fld>
            <a:endParaRPr lang="en-IN"/>
          </a:p>
        </p:txBody>
      </p:sp>
      <p:sp>
        <p:nvSpPr>
          <p:cNvPr id="5" name="Footer Placeholder 4">
            <a:extLst>
              <a:ext uri="{FF2B5EF4-FFF2-40B4-BE49-F238E27FC236}">
                <a16:creationId xmlns:a16="http://schemas.microsoft.com/office/drawing/2014/main" id="{58B526DA-2A8D-AD83-84ED-2D77AD13EF3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8F5E639-63C8-155F-0A5E-BBE4A14BB47D}"/>
              </a:ext>
            </a:extLst>
          </p:cNvPr>
          <p:cNvSpPr>
            <a:spLocks noGrp="1"/>
          </p:cNvSpPr>
          <p:nvPr>
            <p:ph type="sldNum" sz="quarter" idx="12"/>
          </p:nvPr>
        </p:nvSpPr>
        <p:spPr/>
        <p:txBody>
          <a:bodyPr/>
          <a:lstStyle/>
          <a:p>
            <a:fld id="{FDD7CC20-66D0-4ED5-9FA9-D1A302BCE700}" type="slidenum">
              <a:rPr lang="en-IN" smtClean="0"/>
              <a:t>‹#›</a:t>
            </a:fld>
            <a:endParaRPr lang="en-IN"/>
          </a:p>
        </p:txBody>
      </p:sp>
    </p:spTree>
    <p:extLst>
      <p:ext uri="{BB962C8B-B14F-4D97-AF65-F5344CB8AC3E}">
        <p14:creationId xmlns:p14="http://schemas.microsoft.com/office/powerpoint/2010/main" val="33790497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8C363-8CFD-7822-EACE-FDA9956F18E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F7D3CD2-C69C-333B-4994-D6D52119897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1D16F2E-C395-1605-E0EF-1A2890B36432}"/>
              </a:ext>
            </a:extLst>
          </p:cNvPr>
          <p:cNvSpPr>
            <a:spLocks noGrp="1"/>
          </p:cNvSpPr>
          <p:nvPr>
            <p:ph type="dt" sz="half" idx="10"/>
          </p:nvPr>
        </p:nvSpPr>
        <p:spPr/>
        <p:txBody>
          <a:bodyPr/>
          <a:lstStyle/>
          <a:p>
            <a:fld id="{481A50E7-9A9D-4CAE-87FC-B94AE0E8BB3D}" type="datetimeFigureOut">
              <a:rPr lang="en-IN" smtClean="0"/>
              <a:t>22-01-2026</a:t>
            </a:fld>
            <a:endParaRPr lang="en-IN"/>
          </a:p>
        </p:txBody>
      </p:sp>
      <p:sp>
        <p:nvSpPr>
          <p:cNvPr id="5" name="Footer Placeholder 4">
            <a:extLst>
              <a:ext uri="{FF2B5EF4-FFF2-40B4-BE49-F238E27FC236}">
                <a16:creationId xmlns:a16="http://schemas.microsoft.com/office/drawing/2014/main" id="{B4EC0E41-85B5-2FC8-3170-7E45D9E3011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66412AF-405D-6C87-9185-262B6CD35600}"/>
              </a:ext>
            </a:extLst>
          </p:cNvPr>
          <p:cNvSpPr>
            <a:spLocks noGrp="1"/>
          </p:cNvSpPr>
          <p:nvPr>
            <p:ph type="sldNum" sz="quarter" idx="12"/>
          </p:nvPr>
        </p:nvSpPr>
        <p:spPr/>
        <p:txBody>
          <a:bodyPr/>
          <a:lstStyle/>
          <a:p>
            <a:fld id="{FDD7CC20-66D0-4ED5-9FA9-D1A302BCE700}" type="slidenum">
              <a:rPr lang="en-IN" smtClean="0"/>
              <a:t>‹#›</a:t>
            </a:fld>
            <a:endParaRPr lang="en-IN"/>
          </a:p>
        </p:txBody>
      </p:sp>
    </p:spTree>
    <p:extLst>
      <p:ext uri="{BB962C8B-B14F-4D97-AF65-F5344CB8AC3E}">
        <p14:creationId xmlns:p14="http://schemas.microsoft.com/office/powerpoint/2010/main" val="34138772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0CE75-1A6F-B466-2C08-4D6754D54D3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C858BCE-CFD8-BE47-1347-77411846E96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503261C-F2F5-3347-FC39-FDF05AC5B47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22B8596-916A-BF4A-1D75-3521DD8D351F}"/>
              </a:ext>
            </a:extLst>
          </p:cNvPr>
          <p:cNvSpPr>
            <a:spLocks noGrp="1"/>
          </p:cNvSpPr>
          <p:nvPr>
            <p:ph type="dt" sz="half" idx="10"/>
          </p:nvPr>
        </p:nvSpPr>
        <p:spPr/>
        <p:txBody>
          <a:bodyPr/>
          <a:lstStyle/>
          <a:p>
            <a:fld id="{481A50E7-9A9D-4CAE-87FC-B94AE0E8BB3D}" type="datetimeFigureOut">
              <a:rPr lang="en-IN" smtClean="0"/>
              <a:t>22-01-2026</a:t>
            </a:fld>
            <a:endParaRPr lang="en-IN"/>
          </a:p>
        </p:txBody>
      </p:sp>
      <p:sp>
        <p:nvSpPr>
          <p:cNvPr id="6" name="Footer Placeholder 5">
            <a:extLst>
              <a:ext uri="{FF2B5EF4-FFF2-40B4-BE49-F238E27FC236}">
                <a16:creationId xmlns:a16="http://schemas.microsoft.com/office/drawing/2014/main" id="{F7E3A3A3-9645-AD92-C739-A489BB54B03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9FB290D-6DD1-5CA3-3E96-AF340ED0C4EF}"/>
              </a:ext>
            </a:extLst>
          </p:cNvPr>
          <p:cNvSpPr>
            <a:spLocks noGrp="1"/>
          </p:cNvSpPr>
          <p:nvPr>
            <p:ph type="sldNum" sz="quarter" idx="12"/>
          </p:nvPr>
        </p:nvSpPr>
        <p:spPr/>
        <p:txBody>
          <a:bodyPr/>
          <a:lstStyle/>
          <a:p>
            <a:fld id="{FDD7CC20-66D0-4ED5-9FA9-D1A302BCE700}" type="slidenum">
              <a:rPr lang="en-IN" smtClean="0"/>
              <a:t>‹#›</a:t>
            </a:fld>
            <a:endParaRPr lang="en-IN"/>
          </a:p>
        </p:txBody>
      </p:sp>
    </p:spTree>
    <p:extLst>
      <p:ext uri="{BB962C8B-B14F-4D97-AF65-F5344CB8AC3E}">
        <p14:creationId xmlns:p14="http://schemas.microsoft.com/office/powerpoint/2010/main" val="22258880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6ECA2C-F68F-BC3C-C6AC-E6199A9302B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E29334C-D0A3-97A4-EAA1-BF05ACE03BF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4C54C09-6B43-4AE1-5CE9-1DED8701371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B1DC907-C518-54CD-1CE9-892CDC893A4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3809F75-2C0E-FFAB-D601-D3413D264C2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6A2206D-F33A-7291-849D-60C43D01580D}"/>
              </a:ext>
            </a:extLst>
          </p:cNvPr>
          <p:cNvSpPr>
            <a:spLocks noGrp="1"/>
          </p:cNvSpPr>
          <p:nvPr>
            <p:ph type="dt" sz="half" idx="10"/>
          </p:nvPr>
        </p:nvSpPr>
        <p:spPr/>
        <p:txBody>
          <a:bodyPr/>
          <a:lstStyle/>
          <a:p>
            <a:fld id="{481A50E7-9A9D-4CAE-87FC-B94AE0E8BB3D}" type="datetimeFigureOut">
              <a:rPr lang="en-IN" smtClean="0"/>
              <a:t>22-01-2026</a:t>
            </a:fld>
            <a:endParaRPr lang="en-IN"/>
          </a:p>
        </p:txBody>
      </p:sp>
      <p:sp>
        <p:nvSpPr>
          <p:cNvPr id="8" name="Footer Placeholder 7">
            <a:extLst>
              <a:ext uri="{FF2B5EF4-FFF2-40B4-BE49-F238E27FC236}">
                <a16:creationId xmlns:a16="http://schemas.microsoft.com/office/drawing/2014/main" id="{BD60F871-37FF-F7BE-C7BF-EDD12CC69F1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19D9DFB-D5D1-99C2-2C5D-6D09261EFDC8}"/>
              </a:ext>
            </a:extLst>
          </p:cNvPr>
          <p:cNvSpPr>
            <a:spLocks noGrp="1"/>
          </p:cNvSpPr>
          <p:nvPr>
            <p:ph type="sldNum" sz="quarter" idx="12"/>
          </p:nvPr>
        </p:nvSpPr>
        <p:spPr/>
        <p:txBody>
          <a:bodyPr/>
          <a:lstStyle/>
          <a:p>
            <a:fld id="{FDD7CC20-66D0-4ED5-9FA9-D1A302BCE700}" type="slidenum">
              <a:rPr lang="en-IN" smtClean="0"/>
              <a:t>‹#›</a:t>
            </a:fld>
            <a:endParaRPr lang="en-IN"/>
          </a:p>
        </p:txBody>
      </p:sp>
    </p:spTree>
    <p:extLst>
      <p:ext uri="{BB962C8B-B14F-4D97-AF65-F5344CB8AC3E}">
        <p14:creationId xmlns:p14="http://schemas.microsoft.com/office/powerpoint/2010/main" val="22919523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2AAF5A-9597-EB58-E21A-DC1CD80527F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F57E5BD-5E70-004B-E515-64B946BCD129}"/>
              </a:ext>
            </a:extLst>
          </p:cNvPr>
          <p:cNvSpPr>
            <a:spLocks noGrp="1"/>
          </p:cNvSpPr>
          <p:nvPr>
            <p:ph type="dt" sz="half" idx="10"/>
          </p:nvPr>
        </p:nvSpPr>
        <p:spPr/>
        <p:txBody>
          <a:bodyPr/>
          <a:lstStyle/>
          <a:p>
            <a:fld id="{481A50E7-9A9D-4CAE-87FC-B94AE0E8BB3D}" type="datetimeFigureOut">
              <a:rPr lang="en-IN" smtClean="0"/>
              <a:t>22-01-2026</a:t>
            </a:fld>
            <a:endParaRPr lang="en-IN"/>
          </a:p>
        </p:txBody>
      </p:sp>
      <p:sp>
        <p:nvSpPr>
          <p:cNvPr id="4" name="Footer Placeholder 3">
            <a:extLst>
              <a:ext uri="{FF2B5EF4-FFF2-40B4-BE49-F238E27FC236}">
                <a16:creationId xmlns:a16="http://schemas.microsoft.com/office/drawing/2014/main" id="{EC8AB94C-664E-5C88-A8EF-5BBC9BB3DF7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6DA3F81-BADE-C512-F3B0-CEC20E1617CC}"/>
              </a:ext>
            </a:extLst>
          </p:cNvPr>
          <p:cNvSpPr>
            <a:spLocks noGrp="1"/>
          </p:cNvSpPr>
          <p:nvPr>
            <p:ph type="sldNum" sz="quarter" idx="12"/>
          </p:nvPr>
        </p:nvSpPr>
        <p:spPr/>
        <p:txBody>
          <a:bodyPr/>
          <a:lstStyle/>
          <a:p>
            <a:fld id="{FDD7CC20-66D0-4ED5-9FA9-D1A302BCE700}" type="slidenum">
              <a:rPr lang="en-IN" smtClean="0"/>
              <a:t>‹#›</a:t>
            </a:fld>
            <a:endParaRPr lang="en-IN"/>
          </a:p>
        </p:txBody>
      </p:sp>
    </p:spTree>
    <p:extLst>
      <p:ext uri="{BB962C8B-B14F-4D97-AF65-F5344CB8AC3E}">
        <p14:creationId xmlns:p14="http://schemas.microsoft.com/office/powerpoint/2010/main" val="2774054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19B55EE-AADC-B693-950D-FCCB64CD7CE5}"/>
              </a:ext>
            </a:extLst>
          </p:cNvPr>
          <p:cNvSpPr>
            <a:spLocks noGrp="1"/>
          </p:cNvSpPr>
          <p:nvPr>
            <p:ph type="dt" sz="half" idx="10"/>
          </p:nvPr>
        </p:nvSpPr>
        <p:spPr/>
        <p:txBody>
          <a:bodyPr/>
          <a:lstStyle/>
          <a:p>
            <a:fld id="{481A50E7-9A9D-4CAE-87FC-B94AE0E8BB3D}" type="datetimeFigureOut">
              <a:rPr lang="en-IN" smtClean="0"/>
              <a:t>22-01-2026</a:t>
            </a:fld>
            <a:endParaRPr lang="en-IN"/>
          </a:p>
        </p:txBody>
      </p:sp>
      <p:sp>
        <p:nvSpPr>
          <p:cNvPr id="3" name="Footer Placeholder 2">
            <a:extLst>
              <a:ext uri="{FF2B5EF4-FFF2-40B4-BE49-F238E27FC236}">
                <a16:creationId xmlns:a16="http://schemas.microsoft.com/office/drawing/2014/main" id="{04DA4F17-9451-D10F-8E47-DDF23C9BC10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2374574-0B26-0473-D8B5-005665A0E670}"/>
              </a:ext>
            </a:extLst>
          </p:cNvPr>
          <p:cNvSpPr>
            <a:spLocks noGrp="1"/>
          </p:cNvSpPr>
          <p:nvPr>
            <p:ph type="sldNum" sz="quarter" idx="12"/>
          </p:nvPr>
        </p:nvSpPr>
        <p:spPr/>
        <p:txBody>
          <a:bodyPr/>
          <a:lstStyle/>
          <a:p>
            <a:fld id="{FDD7CC20-66D0-4ED5-9FA9-D1A302BCE700}" type="slidenum">
              <a:rPr lang="en-IN" smtClean="0"/>
              <a:t>‹#›</a:t>
            </a:fld>
            <a:endParaRPr lang="en-IN"/>
          </a:p>
        </p:txBody>
      </p:sp>
    </p:spTree>
    <p:extLst>
      <p:ext uri="{BB962C8B-B14F-4D97-AF65-F5344CB8AC3E}">
        <p14:creationId xmlns:p14="http://schemas.microsoft.com/office/powerpoint/2010/main" val="10928695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10A53-1834-F4EB-A24E-97058F64E1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C2E31FD-4A1F-8B8B-DFFB-48EA7241937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ECA58BC-4B02-C76A-8D49-D593B639A9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082DE71-1356-54DA-5320-ABDAC03852A8}"/>
              </a:ext>
            </a:extLst>
          </p:cNvPr>
          <p:cNvSpPr>
            <a:spLocks noGrp="1"/>
          </p:cNvSpPr>
          <p:nvPr>
            <p:ph type="dt" sz="half" idx="10"/>
          </p:nvPr>
        </p:nvSpPr>
        <p:spPr/>
        <p:txBody>
          <a:bodyPr/>
          <a:lstStyle/>
          <a:p>
            <a:fld id="{481A50E7-9A9D-4CAE-87FC-B94AE0E8BB3D}" type="datetimeFigureOut">
              <a:rPr lang="en-IN" smtClean="0"/>
              <a:t>22-01-2026</a:t>
            </a:fld>
            <a:endParaRPr lang="en-IN"/>
          </a:p>
        </p:txBody>
      </p:sp>
      <p:sp>
        <p:nvSpPr>
          <p:cNvPr id="6" name="Footer Placeholder 5">
            <a:extLst>
              <a:ext uri="{FF2B5EF4-FFF2-40B4-BE49-F238E27FC236}">
                <a16:creationId xmlns:a16="http://schemas.microsoft.com/office/drawing/2014/main" id="{E5270B73-CB40-32D3-14D2-0CF646946E3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24DE7D7-C82A-BAD3-007B-16D9338B9F0B}"/>
              </a:ext>
            </a:extLst>
          </p:cNvPr>
          <p:cNvSpPr>
            <a:spLocks noGrp="1"/>
          </p:cNvSpPr>
          <p:nvPr>
            <p:ph type="sldNum" sz="quarter" idx="12"/>
          </p:nvPr>
        </p:nvSpPr>
        <p:spPr/>
        <p:txBody>
          <a:bodyPr/>
          <a:lstStyle/>
          <a:p>
            <a:fld id="{FDD7CC20-66D0-4ED5-9FA9-D1A302BCE700}" type="slidenum">
              <a:rPr lang="en-IN" smtClean="0"/>
              <a:t>‹#›</a:t>
            </a:fld>
            <a:endParaRPr lang="en-IN"/>
          </a:p>
        </p:txBody>
      </p:sp>
    </p:spTree>
    <p:extLst>
      <p:ext uri="{BB962C8B-B14F-4D97-AF65-F5344CB8AC3E}">
        <p14:creationId xmlns:p14="http://schemas.microsoft.com/office/powerpoint/2010/main" val="20353707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11E4C-1DD1-F196-3104-4CC6FBE5856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9C44B4B-03F4-0321-7152-923B326919C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80703CE-E38B-15B1-8F1C-DF659AA525C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C6D002-4BAD-0060-1308-811FF7FC3757}"/>
              </a:ext>
            </a:extLst>
          </p:cNvPr>
          <p:cNvSpPr>
            <a:spLocks noGrp="1"/>
          </p:cNvSpPr>
          <p:nvPr>
            <p:ph type="dt" sz="half" idx="10"/>
          </p:nvPr>
        </p:nvSpPr>
        <p:spPr/>
        <p:txBody>
          <a:bodyPr/>
          <a:lstStyle/>
          <a:p>
            <a:fld id="{481A50E7-9A9D-4CAE-87FC-B94AE0E8BB3D}" type="datetimeFigureOut">
              <a:rPr lang="en-IN" smtClean="0"/>
              <a:t>22-01-2026</a:t>
            </a:fld>
            <a:endParaRPr lang="en-IN"/>
          </a:p>
        </p:txBody>
      </p:sp>
      <p:sp>
        <p:nvSpPr>
          <p:cNvPr id="6" name="Footer Placeholder 5">
            <a:extLst>
              <a:ext uri="{FF2B5EF4-FFF2-40B4-BE49-F238E27FC236}">
                <a16:creationId xmlns:a16="http://schemas.microsoft.com/office/drawing/2014/main" id="{99B2F3D9-5BF7-A4FE-A9AF-13FBD0A17E5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C45697A-98AF-E8AC-0E00-E2707B33FA3E}"/>
              </a:ext>
            </a:extLst>
          </p:cNvPr>
          <p:cNvSpPr>
            <a:spLocks noGrp="1"/>
          </p:cNvSpPr>
          <p:nvPr>
            <p:ph type="sldNum" sz="quarter" idx="12"/>
          </p:nvPr>
        </p:nvSpPr>
        <p:spPr/>
        <p:txBody>
          <a:bodyPr/>
          <a:lstStyle/>
          <a:p>
            <a:fld id="{FDD7CC20-66D0-4ED5-9FA9-D1A302BCE700}" type="slidenum">
              <a:rPr lang="en-IN" smtClean="0"/>
              <a:t>‹#›</a:t>
            </a:fld>
            <a:endParaRPr lang="en-IN"/>
          </a:p>
        </p:txBody>
      </p:sp>
    </p:spTree>
    <p:extLst>
      <p:ext uri="{BB962C8B-B14F-4D97-AF65-F5344CB8AC3E}">
        <p14:creationId xmlns:p14="http://schemas.microsoft.com/office/powerpoint/2010/main" val="10160708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F59D2E-4AD1-8801-3DC3-EA3267A06D8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5A62B73-3074-2FC7-19B5-DFE070A7F0F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EB1C7BF-D382-E3BB-ACA7-D7F3F4C3EFA3}"/>
              </a:ext>
            </a:extLst>
          </p:cNvPr>
          <p:cNvSpPr>
            <a:spLocks noGrp="1"/>
          </p:cNvSpPr>
          <p:nvPr>
            <p:ph type="dt" sz="half" idx="10"/>
          </p:nvPr>
        </p:nvSpPr>
        <p:spPr/>
        <p:txBody>
          <a:bodyPr/>
          <a:lstStyle/>
          <a:p>
            <a:fld id="{481A50E7-9A9D-4CAE-87FC-B94AE0E8BB3D}" type="datetimeFigureOut">
              <a:rPr lang="en-IN" smtClean="0"/>
              <a:t>22-01-2026</a:t>
            </a:fld>
            <a:endParaRPr lang="en-IN"/>
          </a:p>
        </p:txBody>
      </p:sp>
      <p:sp>
        <p:nvSpPr>
          <p:cNvPr id="5" name="Footer Placeholder 4">
            <a:extLst>
              <a:ext uri="{FF2B5EF4-FFF2-40B4-BE49-F238E27FC236}">
                <a16:creationId xmlns:a16="http://schemas.microsoft.com/office/drawing/2014/main" id="{CF28B415-6018-5FA0-AB48-CC81F5F272D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C2BE732-BAAB-3ABE-D5D9-EB7334DD828D}"/>
              </a:ext>
            </a:extLst>
          </p:cNvPr>
          <p:cNvSpPr>
            <a:spLocks noGrp="1"/>
          </p:cNvSpPr>
          <p:nvPr>
            <p:ph type="sldNum" sz="quarter" idx="12"/>
          </p:nvPr>
        </p:nvSpPr>
        <p:spPr/>
        <p:txBody>
          <a:bodyPr/>
          <a:lstStyle/>
          <a:p>
            <a:fld id="{FDD7CC20-66D0-4ED5-9FA9-D1A302BCE700}" type="slidenum">
              <a:rPr lang="en-IN" smtClean="0"/>
              <a:t>‹#›</a:t>
            </a:fld>
            <a:endParaRPr lang="en-IN"/>
          </a:p>
        </p:txBody>
      </p:sp>
    </p:spTree>
    <p:extLst>
      <p:ext uri="{BB962C8B-B14F-4D97-AF65-F5344CB8AC3E}">
        <p14:creationId xmlns:p14="http://schemas.microsoft.com/office/powerpoint/2010/main" val="42470920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498C56C-5D9C-6066-7B1A-63483AFDBA3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1FB5B89-E355-ADEE-F633-464D0EEFB36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4E0507B-E6EF-E97E-1033-6637B2B84AD7}"/>
              </a:ext>
            </a:extLst>
          </p:cNvPr>
          <p:cNvSpPr>
            <a:spLocks noGrp="1"/>
          </p:cNvSpPr>
          <p:nvPr>
            <p:ph type="dt" sz="half" idx="10"/>
          </p:nvPr>
        </p:nvSpPr>
        <p:spPr/>
        <p:txBody>
          <a:bodyPr/>
          <a:lstStyle/>
          <a:p>
            <a:fld id="{481A50E7-9A9D-4CAE-87FC-B94AE0E8BB3D}" type="datetimeFigureOut">
              <a:rPr lang="en-IN" smtClean="0"/>
              <a:t>22-01-2026</a:t>
            </a:fld>
            <a:endParaRPr lang="en-IN"/>
          </a:p>
        </p:txBody>
      </p:sp>
      <p:sp>
        <p:nvSpPr>
          <p:cNvPr id="5" name="Footer Placeholder 4">
            <a:extLst>
              <a:ext uri="{FF2B5EF4-FFF2-40B4-BE49-F238E27FC236}">
                <a16:creationId xmlns:a16="http://schemas.microsoft.com/office/drawing/2014/main" id="{FFE2F0B2-22CA-2B60-3359-4560AC02C42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EBEA436-A4DB-B93A-CA6A-457DB4380D0C}"/>
              </a:ext>
            </a:extLst>
          </p:cNvPr>
          <p:cNvSpPr>
            <a:spLocks noGrp="1"/>
          </p:cNvSpPr>
          <p:nvPr>
            <p:ph type="sldNum" sz="quarter" idx="12"/>
          </p:nvPr>
        </p:nvSpPr>
        <p:spPr/>
        <p:txBody>
          <a:bodyPr/>
          <a:lstStyle/>
          <a:p>
            <a:fld id="{FDD7CC20-66D0-4ED5-9FA9-D1A302BCE700}" type="slidenum">
              <a:rPr lang="en-IN" smtClean="0"/>
              <a:t>‹#›</a:t>
            </a:fld>
            <a:endParaRPr lang="en-IN"/>
          </a:p>
        </p:txBody>
      </p:sp>
    </p:spTree>
    <p:extLst>
      <p:ext uri="{BB962C8B-B14F-4D97-AF65-F5344CB8AC3E}">
        <p14:creationId xmlns:p14="http://schemas.microsoft.com/office/powerpoint/2010/main" val="19508660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C160A6C-595D-D04D-49B9-00AAA7CAAF7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3F8D630-750A-ECB0-F851-83E0ACF24A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D6ED369-145C-477A-EABB-BE6AF74207C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81A50E7-9A9D-4CAE-87FC-B94AE0E8BB3D}" type="datetimeFigureOut">
              <a:rPr lang="en-IN" smtClean="0"/>
              <a:t>22-01-2026</a:t>
            </a:fld>
            <a:endParaRPr lang="en-IN"/>
          </a:p>
        </p:txBody>
      </p:sp>
      <p:sp>
        <p:nvSpPr>
          <p:cNvPr id="5" name="Footer Placeholder 4">
            <a:extLst>
              <a:ext uri="{FF2B5EF4-FFF2-40B4-BE49-F238E27FC236}">
                <a16:creationId xmlns:a16="http://schemas.microsoft.com/office/drawing/2014/main" id="{FF336BC6-A542-C1A7-8EB1-DFB7646D395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EE467B3-7E3E-67E3-E8A1-7AB9EBEA4CB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DD7CC20-66D0-4ED5-9FA9-D1A302BCE700}" type="slidenum">
              <a:rPr lang="en-IN" smtClean="0"/>
              <a:t>‹#›</a:t>
            </a:fld>
            <a:endParaRPr lang="en-IN"/>
          </a:p>
        </p:txBody>
      </p:sp>
    </p:spTree>
    <p:extLst>
      <p:ext uri="{BB962C8B-B14F-4D97-AF65-F5344CB8AC3E}">
        <p14:creationId xmlns:p14="http://schemas.microsoft.com/office/powerpoint/2010/main" val="41025913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3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1120.png"/></Relationships>
</file>

<file path=ppt/slides/_rels/slide3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1140.pn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3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1EF3B-82E2-469A-444B-12EFD4313E0D}"/>
              </a:ext>
            </a:extLst>
          </p:cNvPr>
          <p:cNvSpPr>
            <a:spLocks noGrp="1"/>
          </p:cNvSpPr>
          <p:nvPr>
            <p:ph type="title"/>
          </p:nvPr>
        </p:nvSpPr>
        <p:spPr/>
        <p:txBody>
          <a:bodyPr>
            <a:normAutofit/>
          </a:bodyPr>
          <a:lstStyle/>
          <a:p>
            <a:r>
              <a:rPr lang="fr-FR" b="1" dirty="0"/>
              <a:t>Support </a:t>
            </a:r>
            <a:r>
              <a:rPr lang="fr-FR" b="1" dirty="0" err="1"/>
              <a:t>Vector</a:t>
            </a:r>
            <a:r>
              <a:rPr lang="fr-FR" b="1" dirty="0"/>
              <a:t> machines</a:t>
            </a:r>
            <a:endParaRPr lang="en-IN" b="1" dirty="0"/>
          </a:p>
        </p:txBody>
      </p:sp>
      <p:sp>
        <p:nvSpPr>
          <p:cNvPr id="3" name="Content Placeholder 2">
            <a:extLst>
              <a:ext uri="{FF2B5EF4-FFF2-40B4-BE49-F238E27FC236}">
                <a16:creationId xmlns:a16="http://schemas.microsoft.com/office/drawing/2014/main" id="{FB4C2CDF-DEED-AE01-F0FE-6491430A3323}"/>
              </a:ext>
            </a:extLst>
          </p:cNvPr>
          <p:cNvSpPr>
            <a:spLocks noGrp="1"/>
          </p:cNvSpPr>
          <p:nvPr>
            <p:ph idx="1"/>
          </p:nvPr>
        </p:nvSpPr>
        <p:spPr/>
        <p:txBody>
          <a:bodyPr>
            <a:normAutofit/>
          </a:bodyPr>
          <a:lstStyle/>
          <a:p>
            <a:r>
              <a:rPr lang="en-US" sz="2400" dirty="0"/>
              <a:t>A Support Vector Machine (SVM) is a powerful and versatile Machine Learning model, capable of performing linear or nonlinear classification, regression, and even </a:t>
            </a:r>
            <a:r>
              <a:rPr lang="en-IN" sz="2400" dirty="0"/>
              <a:t>outlier detection.</a:t>
            </a:r>
          </a:p>
          <a:p>
            <a:r>
              <a:rPr lang="en-IN" sz="2400" dirty="0"/>
              <a:t>SVMs are particularly </a:t>
            </a:r>
            <a:r>
              <a:rPr lang="en-US" sz="2400" dirty="0"/>
              <a:t>well suited for classification of complex small- or medium-sized datasets.</a:t>
            </a:r>
            <a:endParaRPr lang="en-IN" sz="2400" dirty="0"/>
          </a:p>
          <a:p>
            <a:r>
              <a:rPr lang="en-US" sz="2400" dirty="0"/>
              <a:t>It tries to find the best boundary known as hyperplane that separates different classes in the data. </a:t>
            </a:r>
          </a:p>
          <a:p>
            <a:r>
              <a:rPr lang="en-US" sz="2400" dirty="0"/>
              <a:t>It is useful when you want to do binary classification like spam vs. not spam or cat vs. dog.</a:t>
            </a:r>
          </a:p>
          <a:p>
            <a:r>
              <a:rPr lang="en-US" sz="2400" dirty="0"/>
              <a:t>The main goal of SVM is to maximize the margin between the two classes. </a:t>
            </a:r>
          </a:p>
          <a:p>
            <a:r>
              <a:rPr lang="en-US" sz="2400" dirty="0"/>
              <a:t>The larger the margin the better the model performs on new and unseen data.</a:t>
            </a:r>
            <a:endParaRPr lang="en-IN" sz="2000" dirty="0"/>
          </a:p>
        </p:txBody>
      </p:sp>
    </p:spTree>
    <p:extLst>
      <p:ext uri="{BB962C8B-B14F-4D97-AF65-F5344CB8AC3E}">
        <p14:creationId xmlns:p14="http://schemas.microsoft.com/office/powerpoint/2010/main" val="36233341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E1DC2-0E21-423E-CB5E-838B678F5C53}"/>
              </a:ext>
            </a:extLst>
          </p:cNvPr>
          <p:cNvSpPr>
            <a:spLocks noGrp="1"/>
          </p:cNvSpPr>
          <p:nvPr>
            <p:ph type="title"/>
          </p:nvPr>
        </p:nvSpPr>
        <p:spPr>
          <a:xfrm>
            <a:off x="838200" y="136525"/>
            <a:ext cx="10515600" cy="777875"/>
          </a:xfrm>
        </p:spPr>
        <p:txBody>
          <a:bodyPr/>
          <a:lstStyle/>
          <a:p>
            <a:r>
              <a:rPr lang="fr-FR" b="1" dirty="0"/>
              <a:t>Support </a:t>
            </a:r>
            <a:r>
              <a:rPr lang="fr-FR" b="1" dirty="0" err="1"/>
              <a:t>Vector</a:t>
            </a:r>
            <a:r>
              <a:rPr lang="fr-FR" b="1" dirty="0"/>
              <a:t> machines</a:t>
            </a:r>
            <a:endParaRPr lang="en-IN" b="1" dirty="0"/>
          </a:p>
        </p:txBody>
      </p:sp>
      <p:sp>
        <p:nvSpPr>
          <p:cNvPr id="3" name="Content Placeholder 2">
            <a:extLst>
              <a:ext uri="{FF2B5EF4-FFF2-40B4-BE49-F238E27FC236}">
                <a16:creationId xmlns:a16="http://schemas.microsoft.com/office/drawing/2014/main" id="{C59E9367-BEAE-F35D-E758-584D5DF003AE}"/>
              </a:ext>
            </a:extLst>
          </p:cNvPr>
          <p:cNvSpPr>
            <a:spLocks noGrp="1"/>
          </p:cNvSpPr>
          <p:nvPr>
            <p:ph idx="1"/>
          </p:nvPr>
        </p:nvSpPr>
        <p:spPr>
          <a:xfrm>
            <a:off x="838200" y="1143000"/>
            <a:ext cx="10939670" cy="5033963"/>
          </a:xfrm>
        </p:spPr>
        <p:txBody>
          <a:bodyPr>
            <a:normAutofit/>
          </a:bodyPr>
          <a:lstStyle/>
          <a:p>
            <a:r>
              <a:rPr lang="en-IN" b="1" dirty="0"/>
              <a:t>Linear SVM Classification - linearly separable</a:t>
            </a:r>
          </a:p>
          <a:p>
            <a:pPr lvl="1"/>
            <a:r>
              <a:rPr lang="en-US" b="1" dirty="0"/>
              <a:t>Large margin classification	</a:t>
            </a:r>
            <a:endParaRPr lang="en-IN" b="1" dirty="0"/>
          </a:p>
          <a:p>
            <a:pPr lvl="2"/>
            <a:r>
              <a:rPr lang="en-US" dirty="0"/>
              <a:t>SVM classifier that fits s straight line or hyperplane (</a:t>
            </a:r>
            <a:r>
              <a:rPr lang="en-IN" b="1" dirty="0"/>
              <a:t>decision boundary</a:t>
            </a:r>
            <a:r>
              <a:rPr lang="en-IN" dirty="0"/>
              <a:t>) </a:t>
            </a:r>
            <a:r>
              <a:rPr lang="en-US" dirty="0"/>
              <a:t>between the classes. </a:t>
            </a:r>
            <a:endParaRPr lang="en-US" b="1" dirty="0"/>
          </a:p>
          <a:p>
            <a:pPr lvl="2"/>
            <a:r>
              <a:rPr lang="en-US" dirty="0"/>
              <a:t>This line not only separates the two classes but also stays as far away from the </a:t>
            </a:r>
            <a:r>
              <a:rPr lang="en-IN" dirty="0"/>
              <a:t>closest training instances (</a:t>
            </a:r>
            <a:r>
              <a:rPr lang="en-US" b="1" dirty="0"/>
              <a:t>support vectors</a:t>
            </a:r>
            <a:r>
              <a:rPr lang="en-US" i="1" dirty="0"/>
              <a:t>)</a:t>
            </a:r>
            <a:r>
              <a:rPr lang="en-IN" dirty="0"/>
              <a:t>as possible.</a:t>
            </a:r>
          </a:p>
          <a:p>
            <a:pPr marL="914400" lvl="1" indent="-457200">
              <a:buFont typeface="+mj-lt"/>
              <a:buAutoNum type="arabicPeriod"/>
            </a:pPr>
            <a:r>
              <a:rPr lang="en-IN" b="1" dirty="0"/>
              <a:t>Hard Margin Classification</a:t>
            </a:r>
          </a:p>
          <a:p>
            <a:pPr lvl="2"/>
            <a:r>
              <a:rPr lang="en-US" dirty="0"/>
              <a:t>If we strictly impose that all instances must be off the street and on the right side</a:t>
            </a:r>
          </a:p>
          <a:p>
            <a:pPr marL="914400" lvl="1" indent="-457200">
              <a:buFont typeface="+mj-lt"/>
              <a:buAutoNum type="arabicPeriod"/>
            </a:pPr>
            <a:r>
              <a:rPr lang="en-IN" b="1" dirty="0"/>
              <a:t>Soft Margin Classification</a:t>
            </a:r>
          </a:p>
          <a:p>
            <a:pPr lvl="2"/>
            <a:r>
              <a:rPr lang="en-US" dirty="0"/>
              <a:t>SVM classifier that find a good balance between keeping the street as large as possible and limiting the margin violations</a:t>
            </a:r>
          </a:p>
          <a:p>
            <a:r>
              <a:rPr lang="en-IN" b="1" dirty="0"/>
              <a:t>Nonlinear SVM Classification – non linearly separable</a:t>
            </a:r>
          </a:p>
          <a:p>
            <a:pPr lvl="1"/>
            <a:r>
              <a:rPr lang="en-US" dirty="0"/>
              <a:t>Classify data when it cannot be separated into two classes by a straight line using kernel functions</a:t>
            </a:r>
            <a:endParaRPr lang="en-IN" b="1" dirty="0"/>
          </a:p>
        </p:txBody>
      </p:sp>
    </p:spTree>
    <p:extLst>
      <p:ext uri="{BB962C8B-B14F-4D97-AF65-F5344CB8AC3E}">
        <p14:creationId xmlns:p14="http://schemas.microsoft.com/office/powerpoint/2010/main" val="12544624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239235-BBFC-F7C1-C67D-FB747A885361}"/>
              </a:ext>
            </a:extLst>
          </p:cNvPr>
          <p:cNvSpPr>
            <a:spLocks noGrp="1"/>
          </p:cNvSpPr>
          <p:nvPr>
            <p:ph type="title"/>
          </p:nvPr>
        </p:nvSpPr>
        <p:spPr/>
        <p:txBody>
          <a:bodyPr/>
          <a:lstStyle/>
          <a:p>
            <a:r>
              <a:rPr lang="en-US" b="1" dirty="0"/>
              <a:t>Types of Support Vector Machine</a:t>
            </a:r>
            <a:endParaRPr lang="en-IN" dirty="0"/>
          </a:p>
        </p:txBody>
      </p:sp>
      <p:sp>
        <p:nvSpPr>
          <p:cNvPr id="3" name="Content Placeholder 2">
            <a:extLst>
              <a:ext uri="{FF2B5EF4-FFF2-40B4-BE49-F238E27FC236}">
                <a16:creationId xmlns:a16="http://schemas.microsoft.com/office/drawing/2014/main" id="{CD53AD6D-7CEB-017A-48ED-944D15689749}"/>
              </a:ext>
            </a:extLst>
          </p:cNvPr>
          <p:cNvSpPr>
            <a:spLocks noGrp="1"/>
          </p:cNvSpPr>
          <p:nvPr>
            <p:ph idx="1"/>
          </p:nvPr>
        </p:nvSpPr>
        <p:spPr/>
        <p:txBody>
          <a:bodyPr>
            <a:normAutofit/>
          </a:bodyPr>
          <a:lstStyle/>
          <a:p>
            <a:pPr fontAlgn="base"/>
            <a:r>
              <a:rPr lang="en-US" sz="2000" dirty="0"/>
              <a:t>Based on the nature of the decision boundary, Support Vector Machines (SVM) can be divided into two main parts:</a:t>
            </a:r>
          </a:p>
          <a:p>
            <a:pPr fontAlgn="base"/>
            <a:r>
              <a:rPr lang="en-US" sz="2000" b="1" dirty="0"/>
              <a:t>Linear SVM: </a:t>
            </a:r>
            <a:r>
              <a:rPr lang="en-US" sz="2000" dirty="0"/>
              <a:t>Linear SVMs use a linear decision boundary to separate the data points of different classes. When the data can be precisely linearly separated, linear SVMs are very suitable. This means that a single straight line (in 2D) or a hyperplane (in higher dimensions) can entirely divide the data points into their respective classes. A hyperplane that maximizes the margin between the classes is the decision boundary.</a:t>
            </a:r>
          </a:p>
          <a:p>
            <a:pPr fontAlgn="base"/>
            <a:r>
              <a:rPr lang="en-US" sz="2000" b="1" dirty="0"/>
              <a:t>Non-Linear SVM:</a:t>
            </a:r>
            <a:r>
              <a:rPr lang="en-US" sz="2000" dirty="0"/>
              <a:t> Non-Linear SVM can be used to classify data when it cannot be separated into two classes by a straight line (in the case of 2D). By using kernel functions, nonlinear SVMs can handle nonlinearly separable data. The original input data is transformed by these kernel functions into a higher-dimensional feature space where the data points can be linearly separated. A linear SVM is used to locate a nonlinear decision boundary in this modified space. </a:t>
            </a:r>
          </a:p>
        </p:txBody>
      </p:sp>
    </p:spTree>
    <p:extLst>
      <p:ext uri="{BB962C8B-B14F-4D97-AF65-F5344CB8AC3E}">
        <p14:creationId xmlns:p14="http://schemas.microsoft.com/office/powerpoint/2010/main" val="2602047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59302F-56EA-99A2-0609-DA29B1F79B76}"/>
              </a:ext>
            </a:extLst>
          </p:cNvPr>
          <p:cNvSpPr>
            <a:spLocks noGrp="1"/>
          </p:cNvSpPr>
          <p:nvPr>
            <p:ph type="title"/>
          </p:nvPr>
        </p:nvSpPr>
        <p:spPr/>
        <p:txBody>
          <a:bodyPr/>
          <a:lstStyle/>
          <a:p>
            <a:r>
              <a:rPr lang="en-IN" dirty="0"/>
              <a:t>Linear SVM Classification</a:t>
            </a:r>
          </a:p>
        </p:txBody>
      </p:sp>
      <p:pic>
        <p:nvPicPr>
          <p:cNvPr id="9" name="Content Placeholder 8">
            <a:extLst>
              <a:ext uri="{FF2B5EF4-FFF2-40B4-BE49-F238E27FC236}">
                <a16:creationId xmlns:a16="http://schemas.microsoft.com/office/drawing/2014/main" id="{315A4DE5-2D68-8795-A555-84A15E1DF769}"/>
              </a:ext>
            </a:extLst>
          </p:cNvPr>
          <p:cNvPicPr>
            <a:picLocks noGrp="1" noChangeAspect="1"/>
          </p:cNvPicPr>
          <p:nvPr>
            <p:ph idx="1"/>
          </p:nvPr>
        </p:nvPicPr>
        <p:blipFill>
          <a:blip r:embed="rId2"/>
          <a:stretch>
            <a:fillRect/>
          </a:stretch>
        </p:blipFill>
        <p:spPr>
          <a:xfrm>
            <a:off x="758687" y="1690688"/>
            <a:ext cx="10515600" cy="2682484"/>
          </a:xfrm>
          <a:prstGeom prst="rect">
            <a:avLst/>
          </a:prstGeom>
        </p:spPr>
      </p:pic>
    </p:spTree>
    <p:extLst>
      <p:ext uri="{BB962C8B-B14F-4D97-AF65-F5344CB8AC3E}">
        <p14:creationId xmlns:p14="http://schemas.microsoft.com/office/powerpoint/2010/main" val="6983303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EB5A0-11AB-6553-AC99-40B30EE23E90}"/>
              </a:ext>
            </a:extLst>
          </p:cNvPr>
          <p:cNvSpPr>
            <a:spLocks noGrp="1"/>
          </p:cNvSpPr>
          <p:nvPr>
            <p:ph type="title"/>
          </p:nvPr>
        </p:nvSpPr>
        <p:spPr/>
        <p:txBody>
          <a:bodyPr/>
          <a:lstStyle/>
          <a:p>
            <a:pPr fontAlgn="base"/>
            <a:r>
              <a:rPr lang="en-US" b="1" dirty="0"/>
              <a:t>How does Support Vector Machine Algorithm Work?</a:t>
            </a:r>
          </a:p>
        </p:txBody>
      </p:sp>
      <p:pic>
        <p:nvPicPr>
          <p:cNvPr id="6" name="Content Placeholder 5">
            <a:extLst>
              <a:ext uri="{FF2B5EF4-FFF2-40B4-BE49-F238E27FC236}">
                <a16:creationId xmlns:a16="http://schemas.microsoft.com/office/drawing/2014/main" id="{B3FC7370-E5FC-15C8-82BF-29A92209641D}"/>
              </a:ext>
            </a:extLst>
          </p:cNvPr>
          <p:cNvPicPr>
            <a:picLocks noGrp="1" noChangeAspect="1"/>
          </p:cNvPicPr>
          <p:nvPr>
            <p:ph idx="1"/>
          </p:nvPr>
        </p:nvPicPr>
        <p:blipFill>
          <a:blip r:embed="rId2"/>
          <a:stretch>
            <a:fillRect/>
          </a:stretch>
        </p:blipFill>
        <p:spPr bwMode="auto">
          <a:xfrm>
            <a:off x="1887859" y="1905000"/>
            <a:ext cx="8416282"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07972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AE58F-55D1-27E6-4C7D-30332CE86B94}"/>
              </a:ext>
            </a:extLst>
          </p:cNvPr>
          <p:cNvSpPr>
            <a:spLocks noGrp="1"/>
          </p:cNvSpPr>
          <p:nvPr>
            <p:ph type="title"/>
          </p:nvPr>
        </p:nvSpPr>
        <p:spPr/>
        <p:txBody>
          <a:bodyPr/>
          <a:lstStyle/>
          <a:p>
            <a:r>
              <a:rPr lang="en-US" b="1" dirty="0"/>
              <a:t>How does Support Vector Machine Algorithm Work?</a:t>
            </a:r>
            <a:endParaRPr lang="en-IN" dirty="0"/>
          </a:p>
        </p:txBody>
      </p:sp>
      <p:sp>
        <p:nvSpPr>
          <p:cNvPr id="3" name="Content Placeholder 2">
            <a:extLst>
              <a:ext uri="{FF2B5EF4-FFF2-40B4-BE49-F238E27FC236}">
                <a16:creationId xmlns:a16="http://schemas.microsoft.com/office/drawing/2014/main" id="{B7B30EF5-BE25-3E4E-A02E-3EF4DCBC02F2}"/>
              </a:ext>
            </a:extLst>
          </p:cNvPr>
          <p:cNvSpPr>
            <a:spLocks noGrp="1"/>
          </p:cNvSpPr>
          <p:nvPr>
            <p:ph idx="1"/>
          </p:nvPr>
        </p:nvSpPr>
        <p:spPr/>
        <p:txBody>
          <a:bodyPr>
            <a:normAutofit/>
          </a:bodyPr>
          <a:lstStyle/>
          <a:p>
            <a:r>
              <a:rPr lang="en-US" sz="2400" dirty="0"/>
              <a:t>The key idea behind the SVM algorithm is to find the hyperplane that best separates two classes by maximizing the margin between them. </a:t>
            </a:r>
          </a:p>
          <a:p>
            <a:r>
              <a:rPr lang="en-US" sz="2400" dirty="0"/>
              <a:t>This margin is the distance from the hyperplane to the nearest data points (support vectors) on each side.</a:t>
            </a:r>
          </a:p>
          <a:p>
            <a:r>
              <a:rPr lang="en-US" sz="2400" dirty="0"/>
              <a:t>The best hyperplane also known as the </a:t>
            </a:r>
            <a:r>
              <a:rPr lang="en-US" sz="2400" b="1" dirty="0"/>
              <a:t>"hard margin"</a:t>
            </a:r>
            <a:r>
              <a:rPr lang="en-US" sz="2400" dirty="0"/>
              <a:t> is the one that maximizes the distance between the hyperplane and the nearest data points from both classes. </a:t>
            </a:r>
          </a:p>
          <a:p>
            <a:r>
              <a:rPr lang="en-US" sz="2400" dirty="0"/>
              <a:t>This ensures a clear separation between the classes. So, from the above figure, we choose L2 as hard margin.</a:t>
            </a:r>
            <a:endParaRPr lang="en-IN" sz="2400" dirty="0"/>
          </a:p>
        </p:txBody>
      </p:sp>
    </p:spTree>
    <p:extLst>
      <p:ext uri="{BB962C8B-B14F-4D97-AF65-F5344CB8AC3E}">
        <p14:creationId xmlns:p14="http://schemas.microsoft.com/office/powerpoint/2010/main" val="32748517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DE770-5082-F863-4022-C404A12B80F4}"/>
              </a:ext>
            </a:extLst>
          </p:cNvPr>
          <p:cNvSpPr>
            <a:spLocks noGrp="1"/>
          </p:cNvSpPr>
          <p:nvPr>
            <p:ph type="title"/>
          </p:nvPr>
        </p:nvSpPr>
        <p:spPr/>
        <p:txBody>
          <a:bodyPr/>
          <a:lstStyle/>
          <a:p>
            <a:r>
              <a:rPr lang="en-IN" dirty="0"/>
              <a:t>Hard Margin Classification</a:t>
            </a:r>
          </a:p>
        </p:txBody>
      </p:sp>
      <p:sp>
        <p:nvSpPr>
          <p:cNvPr id="3" name="Content Placeholder 2">
            <a:extLst>
              <a:ext uri="{FF2B5EF4-FFF2-40B4-BE49-F238E27FC236}">
                <a16:creationId xmlns:a16="http://schemas.microsoft.com/office/drawing/2014/main" id="{F52784FE-BD22-946A-ED3D-B3F2FE45FBCE}"/>
              </a:ext>
            </a:extLst>
          </p:cNvPr>
          <p:cNvSpPr>
            <a:spLocks noGrp="1"/>
          </p:cNvSpPr>
          <p:nvPr>
            <p:ph idx="1"/>
          </p:nvPr>
        </p:nvSpPr>
        <p:spPr>
          <a:xfrm>
            <a:off x="838200" y="1570383"/>
            <a:ext cx="10515600" cy="4606580"/>
          </a:xfrm>
        </p:spPr>
        <p:txBody>
          <a:bodyPr>
            <a:normAutofit/>
          </a:bodyPr>
          <a:lstStyle/>
          <a:p>
            <a:r>
              <a:rPr lang="en-US" sz="2400" dirty="0"/>
              <a:t>If we strictly impose that all instances must be off the street and on the right side, this is called </a:t>
            </a:r>
            <a:r>
              <a:rPr lang="en-US" sz="2400" i="1" dirty="0"/>
              <a:t>hard margin classification</a:t>
            </a:r>
            <a:r>
              <a:rPr lang="en-US" sz="2400" dirty="0"/>
              <a:t>. </a:t>
            </a:r>
          </a:p>
          <a:p>
            <a:r>
              <a:rPr lang="en-US" sz="2400" dirty="0"/>
              <a:t>There are two main issues with hard margin classification.</a:t>
            </a:r>
          </a:p>
          <a:p>
            <a:pPr marL="914400" lvl="1" indent="-457200">
              <a:buFont typeface="+mj-lt"/>
              <a:buAutoNum type="arabicPeriod"/>
            </a:pPr>
            <a:r>
              <a:rPr lang="en-US" dirty="0"/>
              <a:t>It only works if the data is linearly separable. </a:t>
            </a:r>
          </a:p>
          <a:p>
            <a:pPr marL="914400" lvl="1" indent="-457200">
              <a:buFont typeface="+mj-lt"/>
              <a:buAutoNum type="arabicPeriod"/>
            </a:pPr>
            <a:r>
              <a:rPr lang="en-US" dirty="0"/>
              <a:t>It is sensitive to outliers. </a:t>
            </a:r>
          </a:p>
        </p:txBody>
      </p:sp>
    </p:spTree>
    <p:extLst>
      <p:ext uri="{BB962C8B-B14F-4D97-AF65-F5344CB8AC3E}">
        <p14:creationId xmlns:p14="http://schemas.microsoft.com/office/powerpoint/2010/main" val="11044185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3E203-57F5-6F27-7A93-D9D4D4B0FDAB}"/>
              </a:ext>
            </a:extLst>
          </p:cNvPr>
          <p:cNvSpPr>
            <a:spLocks noGrp="1"/>
          </p:cNvSpPr>
          <p:nvPr>
            <p:ph type="title"/>
          </p:nvPr>
        </p:nvSpPr>
        <p:spPr/>
        <p:txBody>
          <a:bodyPr/>
          <a:lstStyle/>
          <a:p>
            <a:r>
              <a:rPr lang="en-US" b="1" dirty="0"/>
              <a:t>How does Support Vector Machine Algorithm Work?</a:t>
            </a:r>
            <a:endParaRPr lang="en-IN" dirty="0"/>
          </a:p>
        </p:txBody>
      </p:sp>
      <p:pic>
        <p:nvPicPr>
          <p:cNvPr id="11" name="Content Placeholder 10">
            <a:extLst>
              <a:ext uri="{FF2B5EF4-FFF2-40B4-BE49-F238E27FC236}">
                <a16:creationId xmlns:a16="http://schemas.microsoft.com/office/drawing/2014/main" id="{1518F165-52A1-E848-88EB-3C3B7EA99007}"/>
              </a:ext>
            </a:extLst>
          </p:cNvPr>
          <p:cNvPicPr>
            <a:picLocks noGrp="1" noChangeAspect="1"/>
          </p:cNvPicPr>
          <p:nvPr>
            <p:ph idx="1"/>
          </p:nvPr>
        </p:nvPicPr>
        <p:blipFill>
          <a:blip r:embed="rId2"/>
          <a:stretch>
            <a:fillRect/>
          </a:stretch>
        </p:blipFill>
        <p:spPr>
          <a:xfrm>
            <a:off x="2697352" y="1189520"/>
            <a:ext cx="8345022" cy="4133353"/>
          </a:xfrm>
          <a:prstGeom prst="rect">
            <a:avLst/>
          </a:prstGeom>
        </p:spPr>
      </p:pic>
      <p:sp>
        <p:nvSpPr>
          <p:cNvPr id="13" name="TextBox 12">
            <a:extLst>
              <a:ext uri="{FF2B5EF4-FFF2-40B4-BE49-F238E27FC236}">
                <a16:creationId xmlns:a16="http://schemas.microsoft.com/office/drawing/2014/main" id="{C7B74971-DEC6-8B31-8636-860037FCB829}"/>
              </a:ext>
            </a:extLst>
          </p:cNvPr>
          <p:cNvSpPr txBox="1"/>
          <p:nvPr/>
        </p:nvSpPr>
        <p:spPr>
          <a:xfrm>
            <a:off x="838200" y="5448979"/>
            <a:ext cx="11005102" cy="1200329"/>
          </a:xfrm>
          <a:prstGeom prst="rect">
            <a:avLst/>
          </a:prstGeom>
          <a:noFill/>
        </p:spPr>
        <p:txBody>
          <a:bodyPr wrap="square">
            <a:spAutoFit/>
          </a:bodyPr>
          <a:lstStyle/>
          <a:p>
            <a:r>
              <a:rPr lang="en-US" sz="2400" dirty="0"/>
              <a:t>The blue ball in the boundary of red ones is an outlier of blue balls. The SVM algorithm has the characteristics to ignore the outlier and finds the best hyperplane that maximizes the margin. SVM is robust to outliers.</a:t>
            </a:r>
            <a:endParaRPr lang="en-IN" sz="2400" dirty="0"/>
          </a:p>
        </p:txBody>
      </p:sp>
    </p:spTree>
    <p:extLst>
      <p:ext uri="{BB962C8B-B14F-4D97-AF65-F5344CB8AC3E}">
        <p14:creationId xmlns:p14="http://schemas.microsoft.com/office/powerpoint/2010/main" val="4373443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B48A61-459D-FE70-0519-F393CE178E13}"/>
              </a:ext>
            </a:extLst>
          </p:cNvPr>
          <p:cNvSpPr>
            <a:spLocks noGrp="1"/>
          </p:cNvSpPr>
          <p:nvPr>
            <p:ph type="title"/>
          </p:nvPr>
        </p:nvSpPr>
        <p:spPr/>
        <p:txBody>
          <a:bodyPr/>
          <a:lstStyle/>
          <a:p>
            <a:r>
              <a:rPr lang="en-IN" dirty="0"/>
              <a:t>Soft Margin Classification</a:t>
            </a:r>
          </a:p>
        </p:txBody>
      </p:sp>
      <p:sp>
        <p:nvSpPr>
          <p:cNvPr id="3" name="Content Placeholder 2">
            <a:extLst>
              <a:ext uri="{FF2B5EF4-FFF2-40B4-BE49-F238E27FC236}">
                <a16:creationId xmlns:a16="http://schemas.microsoft.com/office/drawing/2014/main" id="{293CDAAA-DAD9-56EF-AF14-1E79DBD91EC2}"/>
              </a:ext>
            </a:extLst>
          </p:cNvPr>
          <p:cNvSpPr>
            <a:spLocks noGrp="1"/>
          </p:cNvSpPr>
          <p:nvPr>
            <p:ph idx="1"/>
          </p:nvPr>
        </p:nvSpPr>
        <p:spPr/>
        <p:txBody>
          <a:bodyPr>
            <a:normAutofit/>
          </a:bodyPr>
          <a:lstStyle/>
          <a:p>
            <a:r>
              <a:rPr lang="en-US" sz="2400" dirty="0"/>
              <a:t>To avoid these issues associated with hard margin classification, use a more flexible model. </a:t>
            </a:r>
          </a:p>
          <a:p>
            <a:r>
              <a:rPr lang="en-US" sz="2400" dirty="0"/>
              <a:t>The objective is to find a good balance between keeping the street as large as possible and limiting the margin violations (i.e., instances that end up in the middle of the street or even on the wrong side). </a:t>
            </a:r>
          </a:p>
          <a:p>
            <a:r>
              <a:rPr lang="en-US" sz="2400" dirty="0"/>
              <a:t>This is called soft margin classification.</a:t>
            </a:r>
            <a:endParaRPr lang="en-IN" sz="2400" dirty="0"/>
          </a:p>
        </p:txBody>
      </p:sp>
    </p:spTree>
    <p:extLst>
      <p:ext uri="{BB962C8B-B14F-4D97-AF65-F5344CB8AC3E}">
        <p14:creationId xmlns:p14="http://schemas.microsoft.com/office/powerpoint/2010/main" val="19487207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F9E0E70-84B1-AFED-7F7A-3EEA564239A5}"/>
              </a:ext>
            </a:extLst>
          </p:cNvPr>
          <p:cNvPicPr>
            <a:picLocks noGrp="1" noChangeAspect="1"/>
          </p:cNvPicPr>
          <p:nvPr>
            <p:ph idx="4294967295"/>
          </p:nvPr>
        </p:nvPicPr>
        <p:blipFill>
          <a:blip r:embed="rId2"/>
          <a:stretch>
            <a:fillRect/>
          </a:stretch>
        </p:blipFill>
        <p:spPr>
          <a:xfrm>
            <a:off x="129209" y="252480"/>
            <a:ext cx="11628782" cy="6009171"/>
          </a:xfrm>
          <a:prstGeom prst="rect">
            <a:avLst/>
          </a:prstGeom>
        </p:spPr>
      </p:pic>
      <p:pic>
        <p:nvPicPr>
          <p:cNvPr id="3" name="Picture 2">
            <a:extLst>
              <a:ext uri="{FF2B5EF4-FFF2-40B4-BE49-F238E27FC236}">
                <a16:creationId xmlns:a16="http://schemas.microsoft.com/office/drawing/2014/main" id="{BE69005C-7E6F-A43D-8189-306315E11716}"/>
              </a:ext>
            </a:extLst>
          </p:cNvPr>
          <p:cNvPicPr>
            <a:picLocks noChangeAspect="1"/>
          </p:cNvPicPr>
          <p:nvPr/>
        </p:nvPicPr>
        <p:blipFill>
          <a:blip r:embed="rId3"/>
          <a:stretch>
            <a:fillRect/>
          </a:stretch>
        </p:blipFill>
        <p:spPr>
          <a:xfrm>
            <a:off x="3526675" y="3546998"/>
            <a:ext cx="5138649" cy="441357"/>
          </a:xfrm>
          <a:prstGeom prst="rect">
            <a:avLst/>
          </a:prstGeom>
        </p:spPr>
      </p:pic>
    </p:spTree>
    <p:extLst>
      <p:ext uri="{BB962C8B-B14F-4D97-AF65-F5344CB8AC3E}">
        <p14:creationId xmlns:p14="http://schemas.microsoft.com/office/powerpoint/2010/main" val="2024981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BD1C3DD-A5B2-2319-736E-601E5E024274}"/>
              </a:ext>
            </a:extLst>
          </p:cNvPr>
          <p:cNvPicPr>
            <a:picLocks noChangeAspect="1"/>
          </p:cNvPicPr>
          <p:nvPr/>
        </p:nvPicPr>
        <p:blipFill>
          <a:blip r:embed="rId2"/>
          <a:stretch>
            <a:fillRect/>
          </a:stretch>
        </p:blipFill>
        <p:spPr>
          <a:xfrm>
            <a:off x="412910" y="242538"/>
            <a:ext cx="11056847" cy="6496192"/>
          </a:xfrm>
          <a:prstGeom prst="rect">
            <a:avLst/>
          </a:prstGeom>
        </p:spPr>
      </p:pic>
      <p:sp>
        <p:nvSpPr>
          <p:cNvPr id="4" name="TextBox 3">
            <a:extLst>
              <a:ext uri="{FF2B5EF4-FFF2-40B4-BE49-F238E27FC236}">
                <a16:creationId xmlns:a16="http://schemas.microsoft.com/office/drawing/2014/main" id="{1C789709-4A0C-8E7C-5C68-3B20D8D300E9}"/>
              </a:ext>
            </a:extLst>
          </p:cNvPr>
          <p:cNvSpPr txBox="1"/>
          <p:nvPr/>
        </p:nvSpPr>
        <p:spPr>
          <a:xfrm>
            <a:off x="4132194" y="3329608"/>
            <a:ext cx="7646896" cy="830997"/>
          </a:xfrm>
          <a:prstGeom prst="rect">
            <a:avLst/>
          </a:prstGeom>
          <a:noFill/>
          <a:ln>
            <a:solidFill>
              <a:schemeClr val="tx1"/>
            </a:solidFill>
          </a:ln>
        </p:spPr>
        <p:txBody>
          <a:bodyPr wrap="square">
            <a:spAutoFit/>
          </a:bodyPr>
          <a:lstStyle/>
          <a:p>
            <a:pPr algn="l"/>
            <a:r>
              <a:rPr lang="en-US" sz="2400" b="0" i="0" u="none" strike="noStrike" baseline="0" dirty="0"/>
              <a:t>If the result is positive, the predicted class </a:t>
            </a:r>
            <a:r>
              <a:rPr lang="en-US" sz="2400" b="0" i="1" u="none" strike="noStrike" baseline="0" dirty="0"/>
              <a:t>ŷ </a:t>
            </a:r>
            <a:r>
              <a:rPr lang="en-US" sz="2400" b="0" i="0" u="none" strike="noStrike" baseline="0" dirty="0"/>
              <a:t>is the positive class (1), and otherwise it is the negative class (-1);</a:t>
            </a:r>
            <a:endParaRPr lang="en-IN" sz="2400" dirty="0"/>
          </a:p>
        </p:txBody>
      </p:sp>
    </p:spTree>
    <p:extLst>
      <p:ext uri="{BB962C8B-B14F-4D97-AF65-F5344CB8AC3E}">
        <p14:creationId xmlns:p14="http://schemas.microsoft.com/office/powerpoint/2010/main" val="9604354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0026F33-C35C-DE40-27B6-0E31AC8BDD0F}"/>
              </a:ext>
            </a:extLst>
          </p:cNvPr>
          <p:cNvPicPr>
            <a:picLocks noChangeAspect="1"/>
          </p:cNvPicPr>
          <p:nvPr/>
        </p:nvPicPr>
        <p:blipFill>
          <a:blip r:embed="rId2"/>
          <a:stretch>
            <a:fillRect/>
          </a:stretch>
        </p:blipFill>
        <p:spPr>
          <a:xfrm>
            <a:off x="723150" y="190048"/>
            <a:ext cx="10745700" cy="6477904"/>
          </a:xfrm>
          <a:prstGeom prst="rect">
            <a:avLst/>
          </a:prstGeom>
        </p:spPr>
      </p:pic>
      <p:pic>
        <p:nvPicPr>
          <p:cNvPr id="5" name="Picture 4">
            <a:extLst>
              <a:ext uri="{FF2B5EF4-FFF2-40B4-BE49-F238E27FC236}">
                <a16:creationId xmlns:a16="http://schemas.microsoft.com/office/drawing/2014/main" id="{D0DCF1A5-DB06-497C-542C-8124D6FF476A}"/>
              </a:ext>
            </a:extLst>
          </p:cNvPr>
          <p:cNvPicPr>
            <a:picLocks noChangeAspect="1"/>
          </p:cNvPicPr>
          <p:nvPr/>
        </p:nvPicPr>
        <p:blipFill>
          <a:blip r:embed="rId3"/>
          <a:stretch>
            <a:fillRect/>
          </a:stretch>
        </p:blipFill>
        <p:spPr>
          <a:xfrm>
            <a:off x="7554129" y="1776790"/>
            <a:ext cx="4492098" cy="3804671"/>
          </a:xfrm>
          <a:prstGeom prst="rect">
            <a:avLst/>
          </a:prstGeom>
        </p:spPr>
      </p:pic>
      <p:sp>
        <p:nvSpPr>
          <p:cNvPr id="4" name="TextBox 3">
            <a:extLst>
              <a:ext uri="{FF2B5EF4-FFF2-40B4-BE49-F238E27FC236}">
                <a16:creationId xmlns:a16="http://schemas.microsoft.com/office/drawing/2014/main" id="{E76810E2-E22E-A8D3-CE2C-608175B2C5F9}"/>
              </a:ext>
            </a:extLst>
          </p:cNvPr>
          <p:cNvSpPr txBox="1"/>
          <p:nvPr/>
        </p:nvSpPr>
        <p:spPr>
          <a:xfrm>
            <a:off x="3757380" y="2677804"/>
            <a:ext cx="4492098" cy="369332"/>
          </a:xfrm>
          <a:prstGeom prst="rect">
            <a:avLst/>
          </a:prstGeom>
          <a:noFill/>
        </p:spPr>
        <p:txBody>
          <a:bodyPr wrap="square">
            <a:spAutoFit/>
          </a:bodyPr>
          <a:lstStyle/>
          <a:p>
            <a:r>
              <a:rPr lang="en-IN" b="1" dirty="0"/>
              <a:t>Hard Margin Linear SVM classifier objective</a:t>
            </a:r>
          </a:p>
        </p:txBody>
      </p:sp>
      <p:sp>
        <p:nvSpPr>
          <p:cNvPr id="2" name="Rectangle 1">
            <a:extLst>
              <a:ext uri="{FF2B5EF4-FFF2-40B4-BE49-F238E27FC236}">
                <a16:creationId xmlns:a16="http://schemas.microsoft.com/office/drawing/2014/main" id="{C3B5D22F-F237-FE7E-48E7-DD3750AA665C}"/>
              </a:ext>
            </a:extLst>
          </p:cNvPr>
          <p:cNvSpPr/>
          <p:nvPr/>
        </p:nvSpPr>
        <p:spPr>
          <a:xfrm>
            <a:off x="3637722" y="1776790"/>
            <a:ext cx="4492098" cy="135403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8186891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4F6CEC1-CCD9-CB08-539C-571A3D524287}"/>
              </a:ext>
            </a:extLst>
          </p:cNvPr>
          <p:cNvPicPr>
            <a:picLocks noChangeAspect="1"/>
          </p:cNvPicPr>
          <p:nvPr/>
        </p:nvPicPr>
        <p:blipFill>
          <a:blip r:embed="rId2"/>
          <a:stretch>
            <a:fillRect/>
          </a:stretch>
        </p:blipFill>
        <p:spPr>
          <a:xfrm>
            <a:off x="337208" y="147910"/>
            <a:ext cx="11659322" cy="6213133"/>
          </a:xfrm>
          <a:prstGeom prst="rect">
            <a:avLst/>
          </a:prstGeom>
        </p:spPr>
      </p:pic>
    </p:spTree>
    <p:extLst>
      <p:ext uri="{BB962C8B-B14F-4D97-AF65-F5344CB8AC3E}">
        <p14:creationId xmlns:p14="http://schemas.microsoft.com/office/powerpoint/2010/main" val="20762264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BF1ED7-B0A7-7948-7E33-8FB4FCCD3500}"/>
              </a:ext>
            </a:extLst>
          </p:cNvPr>
          <p:cNvSpPr>
            <a:spLocks noGrp="1"/>
          </p:cNvSpPr>
          <p:nvPr>
            <p:ph type="title"/>
          </p:nvPr>
        </p:nvSpPr>
        <p:spPr/>
        <p:txBody>
          <a:bodyPr/>
          <a:lstStyle/>
          <a:p>
            <a:r>
              <a:rPr lang="en-US" i="1" dirty="0"/>
              <a:t>Linear SVM classifier cost function</a:t>
            </a:r>
            <a:endParaRPr lang="en-IN" dirty="0"/>
          </a:p>
        </p:txBody>
      </p:sp>
      <p:pic>
        <p:nvPicPr>
          <p:cNvPr id="4" name="Picture 3">
            <a:extLst>
              <a:ext uri="{FF2B5EF4-FFF2-40B4-BE49-F238E27FC236}">
                <a16:creationId xmlns:a16="http://schemas.microsoft.com/office/drawing/2014/main" id="{D51F0415-C538-B817-BA07-BA6360CFDBD0}"/>
              </a:ext>
            </a:extLst>
          </p:cNvPr>
          <p:cNvPicPr>
            <a:picLocks noChangeAspect="1"/>
          </p:cNvPicPr>
          <p:nvPr/>
        </p:nvPicPr>
        <p:blipFill>
          <a:blip r:embed="rId2"/>
          <a:stretch>
            <a:fillRect/>
          </a:stretch>
        </p:blipFill>
        <p:spPr>
          <a:xfrm>
            <a:off x="576470" y="1891568"/>
            <a:ext cx="10585174" cy="3909750"/>
          </a:xfrm>
          <a:prstGeom prst="rect">
            <a:avLst/>
          </a:prstGeom>
        </p:spPr>
      </p:pic>
    </p:spTree>
    <p:extLst>
      <p:ext uri="{BB962C8B-B14F-4D97-AF65-F5344CB8AC3E}">
        <p14:creationId xmlns:p14="http://schemas.microsoft.com/office/powerpoint/2010/main" val="24169268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8CCDCA-F6BF-37C9-2565-9E45943CFF8C}"/>
              </a:ext>
            </a:extLst>
          </p:cNvPr>
          <p:cNvSpPr>
            <a:spLocks noGrp="1"/>
          </p:cNvSpPr>
          <p:nvPr>
            <p:ph type="title"/>
          </p:nvPr>
        </p:nvSpPr>
        <p:spPr/>
        <p:txBody>
          <a:bodyPr/>
          <a:lstStyle/>
          <a:p>
            <a:pPr algn="ctr"/>
            <a:r>
              <a:rPr lang="en-IN" dirty="0"/>
              <a:t>Hinge Loss</a:t>
            </a:r>
          </a:p>
        </p:txBody>
      </p:sp>
      <p:sp>
        <p:nvSpPr>
          <p:cNvPr id="4" name="TextBox 3">
            <a:extLst>
              <a:ext uri="{FF2B5EF4-FFF2-40B4-BE49-F238E27FC236}">
                <a16:creationId xmlns:a16="http://schemas.microsoft.com/office/drawing/2014/main" id="{676A875B-2E2C-7AFA-60F4-CE36725E6666}"/>
              </a:ext>
            </a:extLst>
          </p:cNvPr>
          <p:cNvSpPr txBox="1"/>
          <p:nvPr/>
        </p:nvSpPr>
        <p:spPr>
          <a:xfrm>
            <a:off x="838200" y="1690688"/>
            <a:ext cx="10711070" cy="1200329"/>
          </a:xfrm>
          <a:prstGeom prst="rect">
            <a:avLst/>
          </a:prstGeom>
          <a:noFill/>
        </p:spPr>
        <p:txBody>
          <a:bodyPr wrap="square">
            <a:spAutoFit/>
          </a:bodyPr>
          <a:lstStyle/>
          <a:p>
            <a:pPr algn="l"/>
            <a:r>
              <a:rPr lang="en-US" sz="2400" b="0" i="0" u="none" strike="noStrike" baseline="0" dirty="0"/>
              <a:t>The function </a:t>
            </a:r>
            <a:r>
              <a:rPr lang="en-US" sz="2400" b="0" i="1" u="none" strike="noStrike" baseline="0" dirty="0"/>
              <a:t>max</a:t>
            </a:r>
            <a:r>
              <a:rPr lang="en-US" sz="2400" b="0" i="0" u="none" strike="noStrike" baseline="0" dirty="0"/>
              <a:t>(0, 1 – </a:t>
            </a:r>
            <a:r>
              <a:rPr lang="en-US" sz="2400" b="0" i="1" u="none" strike="noStrike" baseline="0" dirty="0"/>
              <a:t>t</a:t>
            </a:r>
            <a:r>
              <a:rPr lang="en-US" sz="2400" b="0" i="0" u="none" strike="noStrike" baseline="0" dirty="0"/>
              <a:t>) is called the </a:t>
            </a:r>
            <a:r>
              <a:rPr lang="en-US" sz="2400" b="0" i="1" u="none" strike="noStrike" baseline="0" dirty="0"/>
              <a:t>hinge loss </a:t>
            </a:r>
            <a:r>
              <a:rPr lang="en-US" sz="2400" b="0" i="0" u="none" strike="noStrike" baseline="0" dirty="0"/>
              <a:t>function (see the following image). It is equal to 0 when </a:t>
            </a:r>
            <a:r>
              <a:rPr lang="en-US" sz="2400" b="0" i="1" u="none" strike="noStrike" baseline="0" dirty="0"/>
              <a:t>t </a:t>
            </a:r>
            <a:r>
              <a:rPr lang="en-US" sz="2400" b="0" i="0" u="none" strike="noStrike" baseline="0" dirty="0"/>
              <a:t>≥ 1. Its derivative (slope) is equal to –1 if </a:t>
            </a:r>
            <a:r>
              <a:rPr lang="en-US" sz="2400" b="0" i="1" u="none" strike="noStrike" baseline="0" dirty="0"/>
              <a:t>t </a:t>
            </a:r>
            <a:r>
              <a:rPr lang="en-US" sz="2400" b="0" i="0" u="none" strike="noStrike" baseline="0" dirty="0"/>
              <a:t>&lt; 1 and 0 if </a:t>
            </a:r>
            <a:r>
              <a:rPr lang="en-US" sz="2400" b="0" i="1" u="none" strike="noStrike" baseline="0" dirty="0"/>
              <a:t>t </a:t>
            </a:r>
            <a:r>
              <a:rPr lang="en-US" sz="2400" b="0" i="0" u="none" strike="noStrike" baseline="0" dirty="0"/>
              <a:t>&gt; 1. It is not differentiable at </a:t>
            </a:r>
            <a:r>
              <a:rPr lang="en-US" sz="2400" b="0" i="1" u="none" strike="noStrike" baseline="0" dirty="0"/>
              <a:t>t </a:t>
            </a:r>
            <a:r>
              <a:rPr lang="en-US" sz="2400" b="0" i="0" u="none" strike="noStrike" baseline="0" dirty="0"/>
              <a:t>= 1</a:t>
            </a:r>
            <a:endParaRPr lang="en-IN" sz="2400" dirty="0"/>
          </a:p>
        </p:txBody>
      </p:sp>
      <p:pic>
        <p:nvPicPr>
          <p:cNvPr id="6" name="Picture 5">
            <a:extLst>
              <a:ext uri="{FF2B5EF4-FFF2-40B4-BE49-F238E27FC236}">
                <a16:creationId xmlns:a16="http://schemas.microsoft.com/office/drawing/2014/main" id="{FA00F763-9984-9673-2AE4-7B98F960B6B0}"/>
              </a:ext>
            </a:extLst>
          </p:cNvPr>
          <p:cNvPicPr>
            <a:picLocks noChangeAspect="1"/>
          </p:cNvPicPr>
          <p:nvPr/>
        </p:nvPicPr>
        <p:blipFill>
          <a:blip r:embed="rId2"/>
          <a:stretch>
            <a:fillRect/>
          </a:stretch>
        </p:blipFill>
        <p:spPr>
          <a:xfrm>
            <a:off x="2888325" y="3217070"/>
            <a:ext cx="7140258" cy="3409181"/>
          </a:xfrm>
          <a:prstGeom prst="rect">
            <a:avLst/>
          </a:prstGeom>
        </p:spPr>
      </p:pic>
    </p:spTree>
    <p:extLst>
      <p:ext uri="{BB962C8B-B14F-4D97-AF65-F5344CB8AC3E}">
        <p14:creationId xmlns:p14="http://schemas.microsoft.com/office/powerpoint/2010/main" val="5032164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3F837FD-F5B9-BE03-08DB-8A570C9A9099}"/>
              </a:ext>
            </a:extLst>
          </p:cNvPr>
          <p:cNvSpPr>
            <a:spLocks noGrp="1"/>
          </p:cNvSpPr>
          <p:nvPr>
            <p:ph type="title"/>
          </p:nvPr>
        </p:nvSpPr>
        <p:spPr/>
        <p:txBody>
          <a:bodyPr/>
          <a:lstStyle/>
          <a:p>
            <a:r>
              <a:rPr lang="en-IN" b="1" dirty="0"/>
              <a:t>Nonlinear SVM Classification – non linearly separable</a:t>
            </a:r>
            <a:endParaRPr lang="en-IN" dirty="0"/>
          </a:p>
        </p:txBody>
      </p:sp>
      <p:pic>
        <p:nvPicPr>
          <p:cNvPr id="8" name="Content Placeholder 7">
            <a:extLst>
              <a:ext uri="{FF2B5EF4-FFF2-40B4-BE49-F238E27FC236}">
                <a16:creationId xmlns:a16="http://schemas.microsoft.com/office/drawing/2014/main" id="{D2B8C7A8-E648-8995-9E88-76E49709059A}"/>
              </a:ext>
            </a:extLst>
          </p:cNvPr>
          <p:cNvPicPr>
            <a:picLocks noGrp="1" noChangeAspect="1"/>
          </p:cNvPicPr>
          <p:nvPr>
            <p:ph sz="half" idx="1"/>
          </p:nvPr>
        </p:nvPicPr>
        <p:blipFill>
          <a:blip r:embed="rId2"/>
          <a:stretch>
            <a:fillRect/>
          </a:stretch>
        </p:blipFill>
        <p:spPr>
          <a:xfrm>
            <a:off x="142461" y="1960079"/>
            <a:ext cx="5334000" cy="4082912"/>
          </a:xfrm>
          <a:prstGeom prst="rect">
            <a:avLst/>
          </a:prstGeom>
        </p:spPr>
      </p:pic>
      <p:pic>
        <p:nvPicPr>
          <p:cNvPr id="10" name="Content Placeholder 9">
            <a:extLst>
              <a:ext uri="{FF2B5EF4-FFF2-40B4-BE49-F238E27FC236}">
                <a16:creationId xmlns:a16="http://schemas.microsoft.com/office/drawing/2014/main" id="{B1E9585B-B1EB-8465-FA36-4D7EAF7C704A}"/>
              </a:ext>
            </a:extLst>
          </p:cNvPr>
          <p:cNvPicPr>
            <a:picLocks noGrp="1" noChangeAspect="1"/>
          </p:cNvPicPr>
          <p:nvPr>
            <p:ph sz="half" idx="2"/>
          </p:nvPr>
        </p:nvPicPr>
        <p:blipFill>
          <a:blip r:embed="rId3"/>
          <a:stretch>
            <a:fillRect/>
          </a:stretch>
        </p:blipFill>
        <p:spPr>
          <a:xfrm>
            <a:off x="5893903" y="1960078"/>
            <a:ext cx="5983357" cy="3874192"/>
          </a:xfrm>
          <a:prstGeom prst="rect">
            <a:avLst/>
          </a:prstGeom>
        </p:spPr>
      </p:pic>
      <p:sp>
        <p:nvSpPr>
          <p:cNvPr id="12" name="TextBox 11">
            <a:extLst>
              <a:ext uri="{FF2B5EF4-FFF2-40B4-BE49-F238E27FC236}">
                <a16:creationId xmlns:a16="http://schemas.microsoft.com/office/drawing/2014/main" id="{FEB31845-9D0E-DDDD-2E44-DAF2756A28DD}"/>
              </a:ext>
            </a:extLst>
          </p:cNvPr>
          <p:cNvSpPr txBox="1"/>
          <p:nvPr/>
        </p:nvSpPr>
        <p:spPr>
          <a:xfrm>
            <a:off x="4847809" y="5834270"/>
            <a:ext cx="7506529" cy="830997"/>
          </a:xfrm>
          <a:prstGeom prst="rect">
            <a:avLst/>
          </a:prstGeom>
          <a:noFill/>
        </p:spPr>
        <p:txBody>
          <a:bodyPr wrap="square">
            <a:spAutoFit/>
          </a:bodyPr>
          <a:lstStyle/>
          <a:p>
            <a:r>
              <a:rPr lang="en-US" sz="2400" b="0" i="0" dirty="0">
                <a:solidFill>
                  <a:srgbClr val="273239"/>
                </a:solidFill>
                <a:effectLst/>
              </a:rPr>
              <a:t>In this case the new variable y is created as a function of distance from the origin.</a:t>
            </a:r>
            <a:endParaRPr lang="en-IN" sz="2400" dirty="0"/>
          </a:p>
        </p:txBody>
      </p:sp>
    </p:spTree>
    <p:extLst>
      <p:ext uri="{BB962C8B-B14F-4D97-AF65-F5344CB8AC3E}">
        <p14:creationId xmlns:p14="http://schemas.microsoft.com/office/powerpoint/2010/main" val="28516486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2645F-FF5B-8977-646B-BACCDD8A51D7}"/>
              </a:ext>
            </a:extLst>
          </p:cNvPr>
          <p:cNvSpPr>
            <a:spLocks noGrp="1"/>
          </p:cNvSpPr>
          <p:nvPr>
            <p:ph type="title"/>
          </p:nvPr>
        </p:nvSpPr>
        <p:spPr/>
        <p:txBody>
          <a:bodyPr/>
          <a:lstStyle/>
          <a:p>
            <a:pPr fontAlgn="base"/>
            <a:r>
              <a:rPr lang="en-IN" b="1" dirty="0"/>
              <a:t>Nonlinear SVM Classification – non linearly separable</a:t>
            </a:r>
            <a:endParaRPr lang="en-US" b="1" dirty="0"/>
          </a:p>
        </p:txBody>
      </p:sp>
      <p:sp>
        <p:nvSpPr>
          <p:cNvPr id="3" name="Content Placeholder 2">
            <a:extLst>
              <a:ext uri="{FF2B5EF4-FFF2-40B4-BE49-F238E27FC236}">
                <a16:creationId xmlns:a16="http://schemas.microsoft.com/office/drawing/2014/main" id="{A8F568E7-9EC7-BABF-8602-6F2D1672A244}"/>
              </a:ext>
            </a:extLst>
          </p:cNvPr>
          <p:cNvSpPr>
            <a:spLocks noGrp="1"/>
          </p:cNvSpPr>
          <p:nvPr>
            <p:ph idx="1"/>
          </p:nvPr>
        </p:nvSpPr>
        <p:spPr>
          <a:xfrm>
            <a:off x="838200" y="1789043"/>
            <a:ext cx="10515600" cy="4621696"/>
          </a:xfrm>
        </p:spPr>
        <p:txBody>
          <a:bodyPr>
            <a:normAutofit/>
          </a:bodyPr>
          <a:lstStyle/>
          <a:p>
            <a:pPr fontAlgn="base"/>
            <a:r>
              <a:rPr lang="en-US" sz="2400" dirty="0"/>
              <a:t>A kernel is a function that maps data points into a higher-dimensional space without explicitly computing the coordinates in that space. </a:t>
            </a:r>
          </a:p>
          <a:p>
            <a:pPr fontAlgn="base"/>
            <a:r>
              <a:rPr lang="en-US" sz="2400" dirty="0"/>
              <a:t>This allows SVM to work efficiently with non-linear data by implicitly performing the mapping. </a:t>
            </a:r>
          </a:p>
          <a:p>
            <a:pPr fontAlgn="base"/>
            <a:r>
              <a:rPr lang="en-US" sz="2400" dirty="0"/>
              <a:t>For example, consider data points that are not linearly separable. </a:t>
            </a:r>
          </a:p>
          <a:p>
            <a:pPr fontAlgn="base"/>
            <a:r>
              <a:rPr lang="en-US" sz="2400" dirty="0"/>
              <a:t>By applying a kernel function SVM transforms the data points into a higher-dimensional space where they become linearly separable.</a:t>
            </a:r>
          </a:p>
          <a:p>
            <a:pPr lvl="1" fontAlgn="base"/>
            <a:r>
              <a:rPr lang="en-US" sz="2000" b="1" dirty="0"/>
              <a:t>Linear Kernel</a:t>
            </a:r>
            <a:r>
              <a:rPr lang="en-US" sz="2000" dirty="0"/>
              <a:t>: For linear separability.</a:t>
            </a:r>
          </a:p>
          <a:p>
            <a:pPr lvl="1" fontAlgn="base"/>
            <a:r>
              <a:rPr lang="en-US" sz="2000" b="1" dirty="0"/>
              <a:t>Polynomial Kernel</a:t>
            </a:r>
            <a:r>
              <a:rPr lang="en-US" sz="2000" dirty="0"/>
              <a:t>: Maps data into a polynomial space.</a:t>
            </a:r>
          </a:p>
          <a:p>
            <a:pPr lvl="1" fontAlgn="base"/>
            <a:r>
              <a:rPr lang="en-US" sz="2000" b="1" dirty="0"/>
              <a:t>Radial Basis Function (RBF) Kernel</a:t>
            </a:r>
            <a:r>
              <a:rPr lang="en-US" sz="2000" dirty="0"/>
              <a:t>: Transforms data into a space based on distances between data points.</a:t>
            </a:r>
            <a:endParaRPr lang="en-IN" sz="2000" dirty="0"/>
          </a:p>
        </p:txBody>
      </p:sp>
    </p:spTree>
    <p:extLst>
      <p:ext uri="{BB962C8B-B14F-4D97-AF65-F5344CB8AC3E}">
        <p14:creationId xmlns:p14="http://schemas.microsoft.com/office/powerpoint/2010/main" val="34271076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89CCA-B3C5-9BDA-AF76-0B725F183F3E}"/>
              </a:ext>
            </a:extLst>
          </p:cNvPr>
          <p:cNvSpPr>
            <a:spLocks noGrp="1"/>
          </p:cNvSpPr>
          <p:nvPr>
            <p:ph type="title"/>
          </p:nvPr>
        </p:nvSpPr>
        <p:spPr/>
        <p:txBody>
          <a:bodyPr/>
          <a:lstStyle/>
          <a:p>
            <a:r>
              <a:rPr lang="en-IN" b="1" dirty="0"/>
              <a:t>Nonlinear SVM Classification – non linearly separable</a:t>
            </a:r>
            <a:endParaRPr lang="en-IN" dirty="0"/>
          </a:p>
        </p:txBody>
      </p:sp>
      <p:pic>
        <p:nvPicPr>
          <p:cNvPr id="5" name="Content Placeholder 4">
            <a:extLst>
              <a:ext uri="{FF2B5EF4-FFF2-40B4-BE49-F238E27FC236}">
                <a16:creationId xmlns:a16="http://schemas.microsoft.com/office/drawing/2014/main" id="{BBF0D6E0-3E50-A4D4-E1FE-1B14FD52CEA2}"/>
              </a:ext>
            </a:extLst>
          </p:cNvPr>
          <p:cNvPicPr>
            <a:picLocks noGrp="1" noChangeAspect="1"/>
          </p:cNvPicPr>
          <p:nvPr>
            <p:ph idx="1"/>
          </p:nvPr>
        </p:nvPicPr>
        <p:blipFill>
          <a:blip r:embed="rId2"/>
          <a:stretch>
            <a:fillRect/>
          </a:stretch>
        </p:blipFill>
        <p:spPr>
          <a:xfrm>
            <a:off x="1262270" y="1836117"/>
            <a:ext cx="7709125" cy="2749408"/>
          </a:xfrm>
          <a:prstGeom prst="rect">
            <a:avLst/>
          </a:prstGeom>
        </p:spPr>
      </p:pic>
      <p:pic>
        <p:nvPicPr>
          <p:cNvPr id="7" name="Picture 6">
            <a:extLst>
              <a:ext uri="{FF2B5EF4-FFF2-40B4-BE49-F238E27FC236}">
                <a16:creationId xmlns:a16="http://schemas.microsoft.com/office/drawing/2014/main" id="{CB01E61F-95C0-47DA-E120-4BE948C37F6F}"/>
              </a:ext>
            </a:extLst>
          </p:cNvPr>
          <p:cNvPicPr>
            <a:picLocks noChangeAspect="1"/>
          </p:cNvPicPr>
          <p:nvPr/>
        </p:nvPicPr>
        <p:blipFill>
          <a:blip r:embed="rId3"/>
          <a:stretch>
            <a:fillRect/>
          </a:stretch>
        </p:blipFill>
        <p:spPr>
          <a:xfrm>
            <a:off x="1330228" y="4840285"/>
            <a:ext cx="6830303" cy="1761921"/>
          </a:xfrm>
          <a:prstGeom prst="rect">
            <a:avLst/>
          </a:prstGeom>
        </p:spPr>
      </p:pic>
    </p:spTree>
    <p:extLst>
      <p:ext uri="{BB962C8B-B14F-4D97-AF65-F5344CB8AC3E}">
        <p14:creationId xmlns:p14="http://schemas.microsoft.com/office/powerpoint/2010/main" val="36753474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51CF4-54AD-8EDD-2294-CBA1D3ACDFF2}"/>
              </a:ext>
            </a:extLst>
          </p:cNvPr>
          <p:cNvSpPr>
            <a:spLocks noGrp="1"/>
          </p:cNvSpPr>
          <p:nvPr>
            <p:ph type="title"/>
          </p:nvPr>
        </p:nvSpPr>
        <p:spPr/>
        <p:txBody>
          <a:bodyPr/>
          <a:lstStyle/>
          <a:p>
            <a:r>
              <a:rPr lang="en-IN" b="1" dirty="0"/>
              <a:t>Nonlinear SVM Classification – non linearly separable</a:t>
            </a:r>
            <a:endParaRPr lang="en-IN" dirty="0"/>
          </a:p>
        </p:txBody>
      </p:sp>
      <p:pic>
        <p:nvPicPr>
          <p:cNvPr id="5" name="Content Placeholder 4">
            <a:extLst>
              <a:ext uri="{FF2B5EF4-FFF2-40B4-BE49-F238E27FC236}">
                <a16:creationId xmlns:a16="http://schemas.microsoft.com/office/drawing/2014/main" id="{EBBC4A96-A2D2-5619-5705-432D03245601}"/>
              </a:ext>
            </a:extLst>
          </p:cNvPr>
          <p:cNvPicPr>
            <a:picLocks noGrp="1" noChangeAspect="1"/>
          </p:cNvPicPr>
          <p:nvPr>
            <p:ph idx="1"/>
          </p:nvPr>
        </p:nvPicPr>
        <p:blipFill>
          <a:blip r:embed="rId2"/>
          <a:stretch>
            <a:fillRect/>
          </a:stretch>
        </p:blipFill>
        <p:spPr>
          <a:xfrm>
            <a:off x="976202" y="1690688"/>
            <a:ext cx="5235755" cy="2243895"/>
          </a:xfrm>
          <a:prstGeom prst="rect">
            <a:avLst/>
          </a:prstGeom>
        </p:spPr>
      </p:pic>
      <p:pic>
        <p:nvPicPr>
          <p:cNvPr id="7" name="Picture 6">
            <a:extLst>
              <a:ext uri="{FF2B5EF4-FFF2-40B4-BE49-F238E27FC236}">
                <a16:creationId xmlns:a16="http://schemas.microsoft.com/office/drawing/2014/main" id="{AE70834E-A204-94A4-8C76-F97102B340AA}"/>
              </a:ext>
            </a:extLst>
          </p:cNvPr>
          <p:cNvPicPr>
            <a:picLocks noChangeAspect="1"/>
          </p:cNvPicPr>
          <p:nvPr/>
        </p:nvPicPr>
        <p:blipFill>
          <a:blip r:embed="rId3"/>
          <a:stretch>
            <a:fillRect/>
          </a:stretch>
        </p:blipFill>
        <p:spPr>
          <a:xfrm>
            <a:off x="1064838" y="4055672"/>
            <a:ext cx="5147119" cy="2046953"/>
          </a:xfrm>
          <a:prstGeom prst="rect">
            <a:avLst/>
          </a:prstGeom>
        </p:spPr>
      </p:pic>
      <p:pic>
        <p:nvPicPr>
          <p:cNvPr id="9" name="Picture 8">
            <a:extLst>
              <a:ext uri="{FF2B5EF4-FFF2-40B4-BE49-F238E27FC236}">
                <a16:creationId xmlns:a16="http://schemas.microsoft.com/office/drawing/2014/main" id="{EC0E8CDA-5C60-8CEB-CBAD-7403ADA76D6E}"/>
              </a:ext>
            </a:extLst>
          </p:cNvPr>
          <p:cNvPicPr>
            <a:picLocks noChangeAspect="1"/>
          </p:cNvPicPr>
          <p:nvPr/>
        </p:nvPicPr>
        <p:blipFill>
          <a:blip r:embed="rId4"/>
          <a:stretch>
            <a:fillRect/>
          </a:stretch>
        </p:blipFill>
        <p:spPr>
          <a:xfrm>
            <a:off x="6990741" y="1767322"/>
            <a:ext cx="4826885" cy="3997373"/>
          </a:xfrm>
          <a:prstGeom prst="rect">
            <a:avLst/>
          </a:prstGeom>
        </p:spPr>
      </p:pic>
    </p:spTree>
    <p:extLst>
      <p:ext uri="{BB962C8B-B14F-4D97-AF65-F5344CB8AC3E}">
        <p14:creationId xmlns:p14="http://schemas.microsoft.com/office/powerpoint/2010/main" val="9946322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3C13A9-5585-F658-B5F9-82357014549F}"/>
              </a:ext>
            </a:extLst>
          </p:cNvPr>
          <p:cNvSpPr>
            <a:spLocks noGrp="1"/>
          </p:cNvSpPr>
          <p:nvPr>
            <p:ph type="title"/>
          </p:nvPr>
        </p:nvSpPr>
        <p:spPr/>
        <p:txBody>
          <a:bodyPr/>
          <a:lstStyle/>
          <a:p>
            <a:r>
              <a:rPr lang="en-IN" b="1" dirty="0"/>
              <a:t>Nonlinear SVM Classification – non linearly separable</a:t>
            </a:r>
            <a:endParaRPr lang="en-IN" dirty="0"/>
          </a:p>
        </p:txBody>
      </p:sp>
      <p:pic>
        <p:nvPicPr>
          <p:cNvPr id="5" name="Content Placeholder 4">
            <a:extLst>
              <a:ext uri="{FF2B5EF4-FFF2-40B4-BE49-F238E27FC236}">
                <a16:creationId xmlns:a16="http://schemas.microsoft.com/office/drawing/2014/main" id="{00CB0393-E8A9-919D-D397-A4381CC64A86}"/>
              </a:ext>
            </a:extLst>
          </p:cNvPr>
          <p:cNvPicPr>
            <a:picLocks noGrp="1" noChangeAspect="1"/>
          </p:cNvPicPr>
          <p:nvPr>
            <p:ph idx="1"/>
          </p:nvPr>
        </p:nvPicPr>
        <p:blipFill>
          <a:blip r:embed="rId2"/>
          <a:stretch>
            <a:fillRect/>
          </a:stretch>
        </p:blipFill>
        <p:spPr>
          <a:xfrm>
            <a:off x="920856" y="1690688"/>
            <a:ext cx="3422544" cy="2941248"/>
          </a:xfrm>
          <a:prstGeom prst="rect">
            <a:avLst/>
          </a:prstGeom>
        </p:spPr>
      </p:pic>
      <p:pic>
        <p:nvPicPr>
          <p:cNvPr id="7" name="Picture 6">
            <a:extLst>
              <a:ext uri="{FF2B5EF4-FFF2-40B4-BE49-F238E27FC236}">
                <a16:creationId xmlns:a16="http://schemas.microsoft.com/office/drawing/2014/main" id="{9E0C1B82-87FA-7855-4D6C-0B80EADFC1E5}"/>
              </a:ext>
            </a:extLst>
          </p:cNvPr>
          <p:cNvPicPr>
            <a:picLocks noChangeAspect="1"/>
          </p:cNvPicPr>
          <p:nvPr/>
        </p:nvPicPr>
        <p:blipFill>
          <a:blip r:embed="rId3"/>
          <a:stretch>
            <a:fillRect/>
          </a:stretch>
        </p:blipFill>
        <p:spPr>
          <a:xfrm>
            <a:off x="5348213" y="1798108"/>
            <a:ext cx="5667655" cy="2833828"/>
          </a:xfrm>
          <a:prstGeom prst="rect">
            <a:avLst/>
          </a:prstGeom>
        </p:spPr>
      </p:pic>
    </p:spTree>
    <p:extLst>
      <p:ext uri="{BB962C8B-B14F-4D97-AF65-F5344CB8AC3E}">
        <p14:creationId xmlns:p14="http://schemas.microsoft.com/office/powerpoint/2010/main" val="25020510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CEED32-D1BB-2B33-0359-889FB80459E2}"/>
              </a:ext>
            </a:extLst>
          </p:cNvPr>
          <p:cNvSpPr>
            <a:spLocks noGrp="1"/>
          </p:cNvSpPr>
          <p:nvPr>
            <p:ph type="title"/>
          </p:nvPr>
        </p:nvSpPr>
        <p:spPr/>
        <p:txBody>
          <a:bodyPr/>
          <a:lstStyle/>
          <a:p>
            <a:r>
              <a:rPr lang="en-IN" b="1" dirty="0"/>
              <a:t>Nonlinear SVM Classification – non linearly separable</a:t>
            </a:r>
            <a:endParaRPr lang="en-IN" dirty="0"/>
          </a:p>
        </p:txBody>
      </p:sp>
      <p:pic>
        <p:nvPicPr>
          <p:cNvPr id="5" name="Content Placeholder 4">
            <a:extLst>
              <a:ext uri="{FF2B5EF4-FFF2-40B4-BE49-F238E27FC236}">
                <a16:creationId xmlns:a16="http://schemas.microsoft.com/office/drawing/2014/main" id="{EF00E415-C0F9-06A4-AC9D-6C774BA870EC}"/>
              </a:ext>
            </a:extLst>
          </p:cNvPr>
          <p:cNvPicPr>
            <a:picLocks noGrp="1" noChangeAspect="1"/>
          </p:cNvPicPr>
          <p:nvPr>
            <p:ph idx="1"/>
          </p:nvPr>
        </p:nvPicPr>
        <p:blipFill>
          <a:blip r:embed="rId2"/>
          <a:stretch>
            <a:fillRect/>
          </a:stretch>
        </p:blipFill>
        <p:spPr>
          <a:xfrm>
            <a:off x="945749" y="1795567"/>
            <a:ext cx="9848147" cy="4818629"/>
          </a:xfrm>
          <a:prstGeom prst="rect">
            <a:avLst/>
          </a:prstGeom>
        </p:spPr>
      </p:pic>
    </p:spTree>
    <p:extLst>
      <p:ext uri="{BB962C8B-B14F-4D97-AF65-F5344CB8AC3E}">
        <p14:creationId xmlns:p14="http://schemas.microsoft.com/office/powerpoint/2010/main" val="13779993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B273B-0570-5D46-7EE4-AC88A9774046}"/>
              </a:ext>
            </a:extLst>
          </p:cNvPr>
          <p:cNvSpPr>
            <a:spLocks noGrp="1"/>
          </p:cNvSpPr>
          <p:nvPr>
            <p:ph type="title"/>
          </p:nvPr>
        </p:nvSpPr>
        <p:spPr/>
        <p:txBody>
          <a:bodyPr/>
          <a:lstStyle/>
          <a:p>
            <a:r>
              <a:rPr lang="en-IN" b="1" dirty="0"/>
              <a:t>Nonlinear SVM Classification – non linearly separable</a:t>
            </a:r>
            <a:endParaRPr lang="en-IN" dirty="0"/>
          </a:p>
        </p:txBody>
      </p:sp>
      <p:pic>
        <p:nvPicPr>
          <p:cNvPr id="5" name="Content Placeholder 4">
            <a:extLst>
              <a:ext uri="{FF2B5EF4-FFF2-40B4-BE49-F238E27FC236}">
                <a16:creationId xmlns:a16="http://schemas.microsoft.com/office/drawing/2014/main" id="{A0456BF4-461C-75A5-5C7C-19D532F8A354}"/>
              </a:ext>
            </a:extLst>
          </p:cNvPr>
          <p:cNvPicPr>
            <a:picLocks noGrp="1" noChangeAspect="1"/>
          </p:cNvPicPr>
          <p:nvPr>
            <p:ph idx="1"/>
          </p:nvPr>
        </p:nvPicPr>
        <p:blipFill>
          <a:blip r:embed="rId2"/>
          <a:stretch>
            <a:fillRect/>
          </a:stretch>
        </p:blipFill>
        <p:spPr>
          <a:xfrm>
            <a:off x="838199" y="1690688"/>
            <a:ext cx="7540487" cy="4546302"/>
          </a:xfrm>
          <a:prstGeom prst="rect">
            <a:avLst/>
          </a:prstGeom>
        </p:spPr>
      </p:pic>
    </p:spTree>
    <p:extLst>
      <p:ext uri="{BB962C8B-B14F-4D97-AF65-F5344CB8AC3E}">
        <p14:creationId xmlns:p14="http://schemas.microsoft.com/office/powerpoint/2010/main" val="22916001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F8F30A-269A-BDFE-A34A-574D85460F5B}"/>
              </a:ext>
            </a:extLst>
          </p:cNvPr>
          <p:cNvSpPr>
            <a:spLocks noGrp="1"/>
          </p:cNvSpPr>
          <p:nvPr>
            <p:ph type="title"/>
          </p:nvPr>
        </p:nvSpPr>
        <p:spPr/>
        <p:txBody>
          <a:bodyPr/>
          <a:lstStyle/>
          <a:p>
            <a:r>
              <a:rPr lang="en-IN" b="1" dirty="0"/>
              <a:t>Nonlinear SVM Classification – non linearly separable</a:t>
            </a:r>
            <a:endParaRPr lang="en-IN" dirty="0"/>
          </a:p>
        </p:txBody>
      </p:sp>
      <p:pic>
        <p:nvPicPr>
          <p:cNvPr id="5" name="Content Placeholder 4">
            <a:extLst>
              <a:ext uri="{FF2B5EF4-FFF2-40B4-BE49-F238E27FC236}">
                <a16:creationId xmlns:a16="http://schemas.microsoft.com/office/drawing/2014/main" id="{686E8F9C-E2BA-587E-29EA-18F5D0B4364F}"/>
              </a:ext>
            </a:extLst>
          </p:cNvPr>
          <p:cNvPicPr>
            <a:picLocks noGrp="1" noChangeAspect="1"/>
          </p:cNvPicPr>
          <p:nvPr>
            <p:ph idx="1"/>
          </p:nvPr>
        </p:nvPicPr>
        <p:blipFill>
          <a:blip r:embed="rId2"/>
          <a:stretch>
            <a:fillRect/>
          </a:stretch>
        </p:blipFill>
        <p:spPr>
          <a:xfrm>
            <a:off x="838200" y="1785869"/>
            <a:ext cx="8845825" cy="4351338"/>
          </a:xfrm>
          <a:prstGeom prst="rect">
            <a:avLst/>
          </a:prstGeom>
        </p:spPr>
      </p:pic>
    </p:spTree>
    <p:extLst>
      <p:ext uri="{BB962C8B-B14F-4D97-AF65-F5344CB8AC3E}">
        <p14:creationId xmlns:p14="http://schemas.microsoft.com/office/powerpoint/2010/main" val="25017518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BCEBAD-532B-9D07-39AD-C1B0BFF68DBE}"/>
              </a:ext>
            </a:extLst>
          </p:cNvPr>
          <p:cNvSpPr>
            <a:spLocks noGrp="1"/>
          </p:cNvSpPr>
          <p:nvPr>
            <p:ph type="title"/>
          </p:nvPr>
        </p:nvSpPr>
        <p:spPr/>
        <p:txBody>
          <a:bodyPr/>
          <a:lstStyle/>
          <a:p>
            <a:r>
              <a:rPr lang="en-US" b="1" dirty="0"/>
              <a:t>Key Concepts of Support Vector Machine</a:t>
            </a:r>
            <a:endParaRPr lang="en-IN" dirty="0"/>
          </a:p>
        </p:txBody>
      </p:sp>
      <p:sp>
        <p:nvSpPr>
          <p:cNvPr id="3" name="Content Placeholder 2">
            <a:extLst>
              <a:ext uri="{FF2B5EF4-FFF2-40B4-BE49-F238E27FC236}">
                <a16:creationId xmlns:a16="http://schemas.microsoft.com/office/drawing/2014/main" id="{EDD76168-C60F-28A6-2582-BAAFA2C1CC60}"/>
              </a:ext>
            </a:extLst>
          </p:cNvPr>
          <p:cNvSpPr>
            <a:spLocks noGrp="1"/>
          </p:cNvSpPr>
          <p:nvPr>
            <p:ph idx="1"/>
          </p:nvPr>
        </p:nvSpPr>
        <p:spPr>
          <a:xfrm>
            <a:off x="838200" y="1690687"/>
            <a:ext cx="10591800" cy="4802187"/>
          </a:xfrm>
        </p:spPr>
        <p:txBody>
          <a:bodyPr>
            <a:normAutofit lnSpcReduction="10000"/>
          </a:bodyPr>
          <a:lstStyle/>
          <a:p>
            <a:pPr fontAlgn="base"/>
            <a:r>
              <a:rPr lang="en-US" sz="2400" b="1" dirty="0"/>
              <a:t>Hyperplane</a:t>
            </a:r>
            <a:r>
              <a:rPr lang="en-US" sz="2400" dirty="0"/>
              <a:t>: A decision boundary separating different classes in feature space and is represented by the equation </a:t>
            </a:r>
            <a:r>
              <a:rPr lang="en-US" sz="2400" dirty="0" err="1"/>
              <a:t>wx</a:t>
            </a:r>
            <a:r>
              <a:rPr lang="en-US" sz="2400" dirty="0"/>
              <a:t> + b = 0 in linear classification.</a:t>
            </a:r>
          </a:p>
          <a:p>
            <a:pPr fontAlgn="base"/>
            <a:r>
              <a:rPr lang="en-US" sz="2400" b="1" dirty="0"/>
              <a:t>Support Vectors</a:t>
            </a:r>
            <a:r>
              <a:rPr lang="en-US" sz="2400" dirty="0"/>
              <a:t>: The closest data points to the hyperplane, crucial for determining the hyperplane and margin in SVM.</a:t>
            </a:r>
          </a:p>
          <a:p>
            <a:pPr fontAlgn="base"/>
            <a:r>
              <a:rPr lang="en-US" sz="2400" b="1" dirty="0"/>
              <a:t>Margin</a:t>
            </a:r>
            <a:r>
              <a:rPr lang="en-US" sz="2400" dirty="0"/>
              <a:t>: The distance between the hyperplane and the support vectors. SVM aims to maximize this margin for better classification performance.</a:t>
            </a:r>
          </a:p>
          <a:p>
            <a:pPr fontAlgn="base"/>
            <a:r>
              <a:rPr lang="en-US" sz="2400" b="1" dirty="0"/>
              <a:t>Kernel</a:t>
            </a:r>
            <a:r>
              <a:rPr lang="en-US" sz="2400" dirty="0"/>
              <a:t>: A function that maps data to a higher-dimensional space enabling SVM to handle non-linearly separable data.</a:t>
            </a:r>
          </a:p>
          <a:p>
            <a:pPr fontAlgn="base"/>
            <a:r>
              <a:rPr lang="en-US" sz="2400" b="1" dirty="0"/>
              <a:t>Hard Margin</a:t>
            </a:r>
            <a:r>
              <a:rPr lang="en-US" sz="2400" dirty="0"/>
              <a:t>: A maximum-margin hyperplane that perfectly separates the data without misclassifications.</a:t>
            </a:r>
          </a:p>
          <a:p>
            <a:pPr fontAlgn="base"/>
            <a:r>
              <a:rPr lang="en-US" sz="2400" b="1" dirty="0"/>
              <a:t>Soft Margin</a:t>
            </a:r>
            <a:r>
              <a:rPr lang="en-US" sz="2400" dirty="0"/>
              <a:t>: Allows some misclassifications by introducing slack variables, balancing margin maximization and misclassification penalties when data is not perfectly separable.3</a:t>
            </a:r>
          </a:p>
        </p:txBody>
      </p:sp>
    </p:spTree>
    <p:extLst>
      <p:ext uri="{BB962C8B-B14F-4D97-AF65-F5344CB8AC3E}">
        <p14:creationId xmlns:p14="http://schemas.microsoft.com/office/powerpoint/2010/main" val="11701088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BCEBAD-532B-9D07-39AD-C1B0BFF68DBE}"/>
              </a:ext>
            </a:extLst>
          </p:cNvPr>
          <p:cNvSpPr>
            <a:spLocks noGrp="1"/>
          </p:cNvSpPr>
          <p:nvPr>
            <p:ph type="title"/>
          </p:nvPr>
        </p:nvSpPr>
        <p:spPr/>
        <p:txBody>
          <a:bodyPr/>
          <a:lstStyle/>
          <a:p>
            <a:r>
              <a:rPr lang="en-US" b="1" dirty="0"/>
              <a:t>Key Concepts of Support Vector Machine</a:t>
            </a:r>
            <a:endParaRPr lang="en-IN" dirty="0"/>
          </a:p>
        </p:txBody>
      </p:sp>
      <p:sp>
        <p:nvSpPr>
          <p:cNvPr id="3" name="Content Placeholder 2">
            <a:extLst>
              <a:ext uri="{FF2B5EF4-FFF2-40B4-BE49-F238E27FC236}">
                <a16:creationId xmlns:a16="http://schemas.microsoft.com/office/drawing/2014/main" id="{EDD76168-C60F-28A6-2582-BAAFA2C1CC60}"/>
              </a:ext>
            </a:extLst>
          </p:cNvPr>
          <p:cNvSpPr>
            <a:spLocks noGrp="1"/>
          </p:cNvSpPr>
          <p:nvPr>
            <p:ph idx="1"/>
          </p:nvPr>
        </p:nvSpPr>
        <p:spPr/>
        <p:txBody>
          <a:bodyPr>
            <a:normAutofit/>
          </a:bodyPr>
          <a:lstStyle/>
          <a:p>
            <a:pPr fontAlgn="base"/>
            <a:r>
              <a:rPr lang="en-US" sz="2400" b="1" dirty="0"/>
              <a:t>C</a:t>
            </a:r>
            <a:r>
              <a:rPr lang="en-US" sz="2400" dirty="0"/>
              <a:t>: A regularization term balancing margin maximization and misclassification penalties. A higher C value forces stricter penalty for misclassifications.</a:t>
            </a:r>
          </a:p>
          <a:p>
            <a:pPr fontAlgn="base"/>
            <a:r>
              <a:rPr lang="en-US" sz="2400" b="1" dirty="0"/>
              <a:t>Hinge Loss</a:t>
            </a:r>
            <a:r>
              <a:rPr lang="en-US" sz="2400" dirty="0"/>
              <a:t>: A loss function penalizing misclassified points or margin violations and is combined with regularization in SVM.</a:t>
            </a:r>
          </a:p>
          <a:p>
            <a:pPr fontAlgn="base"/>
            <a:r>
              <a:rPr lang="en-US" sz="2400" b="1" dirty="0"/>
              <a:t>Dual Problem</a:t>
            </a:r>
            <a:r>
              <a:rPr lang="en-US" sz="2400" dirty="0"/>
              <a:t>: Involves solving for Lagrange multipliers associated with support vectors, facilitating the kernel trick and efficient computation.</a:t>
            </a:r>
          </a:p>
        </p:txBody>
      </p:sp>
    </p:spTree>
    <p:extLst>
      <p:ext uri="{BB962C8B-B14F-4D97-AF65-F5344CB8AC3E}">
        <p14:creationId xmlns:p14="http://schemas.microsoft.com/office/powerpoint/2010/main" val="32336359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6AE292-FB0F-681E-178B-CC7DF40EE640}"/>
              </a:ext>
            </a:extLst>
          </p:cNvPr>
          <p:cNvSpPr>
            <a:spLocks noGrp="1"/>
          </p:cNvSpPr>
          <p:nvPr>
            <p:ph type="title"/>
          </p:nvPr>
        </p:nvSpPr>
        <p:spPr/>
        <p:txBody>
          <a:bodyPr/>
          <a:lstStyle/>
          <a:p>
            <a:r>
              <a:rPr lang="en-US" b="1" dirty="0"/>
              <a:t>Advantages of Support Vector Machine (SVM)</a:t>
            </a:r>
            <a:endParaRPr lang="en-IN" dirty="0"/>
          </a:p>
        </p:txBody>
      </p:sp>
      <p:sp>
        <p:nvSpPr>
          <p:cNvPr id="3" name="Content Placeholder 2">
            <a:extLst>
              <a:ext uri="{FF2B5EF4-FFF2-40B4-BE49-F238E27FC236}">
                <a16:creationId xmlns:a16="http://schemas.microsoft.com/office/drawing/2014/main" id="{CA16926B-2DF1-1512-CC4F-B67080D7C84A}"/>
              </a:ext>
            </a:extLst>
          </p:cNvPr>
          <p:cNvSpPr>
            <a:spLocks noGrp="1"/>
          </p:cNvSpPr>
          <p:nvPr>
            <p:ph idx="1"/>
          </p:nvPr>
        </p:nvSpPr>
        <p:spPr/>
        <p:txBody>
          <a:bodyPr>
            <a:normAutofit/>
          </a:bodyPr>
          <a:lstStyle/>
          <a:p>
            <a:pPr fontAlgn="base"/>
            <a:r>
              <a:rPr lang="en-US" sz="2400" b="1" dirty="0"/>
              <a:t>High-Dimensional Performance</a:t>
            </a:r>
            <a:r>
              <a:rPr lang="en-US" sz="2400" dirty="0"/>
              <a:t>: SVM excels in high-dimensional spaces, making it suitable for image classification and gene expression analysis.</a:t>
            </a:r>
          </a:p>
          <a:p>
            <a:pPr fontAlgn="base"/>
            <a:r>
              <a:rPr lang="en-US" sz="2400" b="1" dirty="0"/>
              <a:t>Nonlinear Capability</a:t>
            </a:r>
            <a:r>
              <a:rPr lang="en-US" sz="2400" dirty="0"/>
              <a:t>: Utilizing kernel functions like RBF and polynomial SVM effectively handles nonlinear relationships.</a:t>
            </a:r>
          </a:p>
          <a:p>
            <a:pPr fontAlgn="base"/>
            <a:r>
              <a:rPr lang="en-US" sz="2400" b="1" dirty="0"/>
              <a:t>Outlier Resilience</a:t>
            </a:r>
            <a:r>
              <a:rPr lang="en-US" sz="2400" dirty="0"/>
              <a:t>: The soft margin feature allows SVM to ignore outliers, enhancing robustness in spam detection and anomaly detection.</a:t>
            </a:r>
          </a:p>
          <a:p>
            <a:pPr fontAlgn="base"/>
            <a:r>
              <a:rPr lang="en-US" sz="2400" b="1" dirty="0"/>
              <a:t>Binary and Multiclass Support</a:t>
            </a:r>
            <a:r>
              <a:rPr lang="en-US" sz="2400" dirty="0"/>
              <a:t>: SVM is effective for both binary classification and multiclass classification suitable for applications in text classification.</a:t>
            </a:r>
          </a:p>
          <a:p>
            <a:pPr fontAlgn="base"/>
            <a:r>
              <a:rPr lang="en-US" sz="2400" b="1" dirty="0"/>
              <a:t>Memory Efficiency</a:t>
            </a:r>
            <a:r>
              <a:rPr lang="en-US" sz="2400" dirty="0"/>
              <a:t>: It focuses on support vectors making it memory efficient compared to other algorithms.</a:t>
            </a:r>
          </a:p>
        </p:txBody>
      </p:sp>
    </p:spTree>
    <p:extLst>
      <p:ext uri="{BB962C8B-B14F-4D97-AF65-F5344CB8AC3E}">
        <p14:creationId xmlns:p14="http://schemas.microsoft.com/office/powerpoint/2010/main" val="18843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F94D47-6719-A5A3-D855-F2A15BC3DFA8}"/>
              </a:ext>
            </a:extLst>
          </p:cNvPr>
          <p:cNvSpPr>
            <a:spLocks noGrp="1"/>
          </p:cNvSpPr>
          <p:nvPr>
            <p:ph type="title"/>
          </p:nvPr>
        </p:nvSpPr>
        <p:spPr/>
        <p:txBody>
          <a:bodyPr>
            <a:normAutofit/>
          </a:bodyPr>
          <a:lstStyle/>
          <a:p>
            <a:r>
              <a:rPr lang="en-US" b="1" dirty="0"/>
              <a:t>Disadvantages of Support Vector Machine (SVM)</a:t>
            </a:r>
            <a:endParaRPr lang="en-IN" dirty="0"/>
          </a:p>
        </p:txBody>
      </p:sp>
      <p:sp>
        <p:nvSpPr>
          <p:cNvPr id="3" name="Content Placeholder 2">
            <a:extLst>
              <a:ext uri="{FF2B5EF4-FFF2-40B4-BE49-F238E27FC236}">
                <a16:creationId xmlns:a16="http://schemas.microsoft.com/office/drawing/2014/main" id="{D8D680C7-405B-318A-4C53-434B6ADD98FD}"/>
              </a:ext>
            </a:extLst>
          </p:cNvPr>
          <p:cNvSpPr>
            <a:spLocks noGrp="1"/>
          </p:cNvSpPr>
          <p:nvPr>
            <p:ph idx="1"/>
          </p:nvPr>
        </p:nvSpPr>
        <p:spPr/>
        <p:txBody>
          <a:bodyPr>
            <a:normAutofit/>
          </a:bodyPr>
          <a:lstStyle/>
          <a:p>
            <a:pPr fontAlgn="base"/>
            <a:r>
              <a:rPr lang="en-IN" sz="2400" b="1" dirty="0"/>
              <a:t>Slow Training</a:t>
            </a:r>
            <a:r>
              <a:rPr lang="en-IN" sz="2400" dirty="0"/>
              <a:t>: SVM can be slow for large datasets, affecting performance in SVM in data mining tasks.</a:t>
            </a:r>
          </a:p>
          <a:p>
            <a:pPr fontAlgn="base"/>
            <a:r>
              <a:rPr lang="en-IN" sz="2400" b="1" dirty="0"/>
              <a:t>Parameter Tuning Difficulty</a:t>
            </a:r>
            <a:r>
              <a:rPr lang="en-IN" sz="2400" dirty="0"/>
              <a:t>: Selecting the right kernel and adjusting parameters like C requires careful tuning, impacting SVM algorithms.</a:t>
            </a:r>
          </a:p>
          <a:p>
            <a:pPr fontAlgn="base"/>
            <a:r>
              <a:rPr lang="en-IN" sz="2400" b="1" dirty="0"/>
              <a:t>Noise Sensitivity</a:t>
            </a:r>
            <a:r>
              <a:rPr lang="en-IN" sz="2400" dirty="0"/>
              <a:t>: SVM struggles with noisy datasets and overlapping classes, limiting effectiveness in real-world scenarios.</a:t>
            </a:r>
          </a:p>
          <a:p>
            <a:pPr fontAlgn="base"/>
            <a:r>
              <a:rPr lang="en-IN" sz="2400" b="1" dirty="0"/>
              <a:t>Limited Interpretability</a:t>
            </a:r>
            <a:r>
              <a:rPr lang="en-IN" sz="2400" dirty="0"/>
              <a:t>: The complexity of the hyperplane in higher dimensions makes SVM less interpretable than other models.</a:t>
            </a:r>
          </a:p>
          <a:p>
            <a:pPr fontAlgn="base"/>
            <a:r>
              <a:rPr lang="en-IN" sz="2400" b="1" dirty="0"/>
              <a:t>Feature Scaling Sensitivity</a:t>
            </a:r>
            <a:r>
              <a:rPr lang="en-IN" sz="2400" dirty="0"/>
              <a:t>: Proper feature scaling is essential, otherwise SVM models may perform poorly.</a:t>
            </a:r>
          </a:p>
        </p:txBody>
      </p:sp>
    </p:spTree>
    <p:extLst>
      <p:ext uri="{BB962C8B-B14F-4D97-AF65-F5344CB8AC3E}">
        <p14:creationId xmlns:p14="http://schemas.microsoft.com/office/powerpoint/2010/main" val="41023291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F4ECFC-343B-380B-B936-7FA55651ACD9}"/>
              </a:ext>
            </a:extLst>
          </p:cNvPr>
          <p:cNvSpPr>
            <a:spLocks noGrp="1"/>
          </p:cNvSpPr>
          <p:nvPr>
            <p:ph type="title"/>
          </p:nvPr>
        </p:nvSpPr>
        <p:spPr>
          <a:xfrm>
            <a:off x="838200" y="365125"/>
            <a:ext cx="10515600" cy="897145"/>
          </a:xfrm>
        </p:spPr>
        <p:txBody>
          <a:bodyPr/>
          <a:lstStyle/>
          <a:p>
            <a:r>
              <a:rPr lang="en-IN" b="1" dirty="0"/>
              <a:t>Feature Scaling Sensitivity</a:t>
            </a:r>
          </a:p>
        </p:txBody>
      </p:sp>
      <p:pic>
        <p:nvPicPr>
          <p:cNvPr id="5" name="Content Placeholder 4">
            <a:extLst>
              <a:ext uri="{FF2B5EF4-FFF2-40B4-BE49-F238E27FC236}">
                <a16:creationId xmlns:a16="http://schemas.microsoft.com/office/drawing/2014/main" id="{59C5566D-F62E-3E7D-69F8-8EFD36323F8E}"/>
              </a:ext>
            </a:extLst>
          </p:cNvPr>
          <p:cNvPicPr>
            <a:picLocks noGrp="1" noChangeAspect="1"/>
          </p:cNvPicPr>
          <p:nvPr>
            <p:ph idx="1"/>
          </p:nvPr>
        </p:nvPicPr>
        <p:blipFill>
          <a:blip r:embed="rId2"/>
          <a:stretch>
            <a:fillRect/>
          </a:stretch>
        </p:blipFill>
        <p:spPr>
          <a:xfrm>
            <a:off x="838200" y="1692770"/>
            <a:ext cx="10515600" cy="3004456"/>
          </a:xfrm>
          <a:prstGeom prst="rect">
            <a:avLst/>
          </a:prstGeom>
        </p:spPr>
      </p:pic>
      <p:sp>
        <p:nvSpPr>
          <p:cNvPr id="7" name="TextBox 6">
            <a:extLst>
              <a:ext uri="{FF2B5EF4-FFF2-40B4-BE49-F238E27FC236}">
                <a16:creationId xmlns:a16="http://schemas.microsoft.com/office/drawing/2014/main" id="{52B97F5C-BFF2-7454-75B3-63E9D5CBE78A}"/>
              </a:ext>
            </a:extLst>
          </p:cNvPr>
          <p:cNvSpPr txBox="1"/>
          <p:nvPr/>
        </p:nvSpPr>
        <p:spPr>
          <a:xfrm>
            <a:off x="838200" y="4697226"/>
            <a:ext cx="10432774" cy="1569660"/>
          </a:xfrm>
          <a:prstGeom prst="rect">
            <a:avLst/>
          </a:prstGeom>
          <a:noFill/>
        </p:spPr>
        <p:txBody>
          <a:bodyPr wrap="square">
            <a:spAutoFit/>
          </a:bodyPr>
          <a:lstStyle/>
          <a:p>
            <a:pPr marL="342900" indent="-342900" algn="l">
              <a:buFont typeface="Arial" panose="020B0604020202020204" pitchFamily="34" charset="0"/>
              <a:buChar char="•"/>
            </a:pPr>
            <a:r>
              <a:rPr lang="en-US" sz="2400" b="0" i="0" u="none" strike="noStrike" baseline="0" dirty="0"/>
              <a:t>In the left plot, the vertical scale is much larger than the horizontal scale, so the widest possible street is close to horizontal.</a:t>
            </a:r>
          </a:p>
          <a:p>
            <a:pPr marL="342900" indent="-342900" algn="l">
              <a:buFont typeface="Arial" panose="020B0604020202020204" pitchFamily="34" charset="0"/>
              <a:buChar char="•"/>
            </a:pPr>
            <a:r>
              <a:rPr lang="en-US" sz="2400" b="0" i="0" u="none" strike="noStrike" baseline="0" dirty="0"/>
              <a:t>After feature scaling (e.g., using Scikit-Learn’s </a:t>
            </a:r>
            <a:r>
              <a:rPr lang="en-US" sz="2400" b="0" i="0" u="none" strike="noStrike" baseline="0" dirty="0" err="1"/>
              <a:t>StandardScaler</a:t>
            </a:r>
            <a:r>
              <a:rPr lang="en-US" sz="2400" b="0" i="0" u="none" strike="noStrike" baseline="0" dirty="0"/>
              <a:t>), the decision boundary in the right plot looks much better.</a:t>
            </a:r>
            <a:endParaRPr lang="en-IN" sz="2400" dirty="0"/>
          </a:p>
        </p:txBody>
      </p:sp>
    </p:spTree>
    <p:extLst>
      <p:ext uri="{BB962C8B-B14F-4D97-AF65-F5344CB8AC3E}">
        <p14:creationId xmlns:p14="http://schemas.microsoft.com/office/powerpoint/2010/main" val="40747354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7FCA4F-9469-2002-7970-5271FC0C165C}"/>
              </a:ext>
            </a:extLst>
          </p:cNvPr>
          <p:cNvSpPr>
            <a:spLocks noGrp="1"/>
          </p:cNvSpPr>
          <p:nvPr>
            <p:ph type="title"/>
          </p:nvPr>
        </p:nvSpPr>
        <p:spPr/>
        <p:txBody>
          <a:bodyPr/>
          <a:lstStyle/>
          <a:p>
            <a:r>
              <a:rPr lang="en-IN" dirty="0"/>
              <a:t>Linear SVM Classification</a:t>
            </a:r>
          </a:p>
        </p:txBody>
      </p:sp>
      <p:sp>
        <p:nvSpPr>
          <p:cNvPr id="16" name="Content Placeholder 15">
            <a:extLst>
              <a:ext uri="{FF2B5EF4-FFF2-40B4-BE49-F238E27FC236}">
                <a16:creationId xmlns:a16="http://schemas.microsoft.com/office/drawing/2014/main" id="{CD4C159B-4DFC-0023-7785-AC74ABCBF750}"/>
              </a:ext>
            </a:extLst>
          </p:cNvPr>
          <p:cNvSpPr>
            <a:spLocks noGrp="1"/>
          </p:cNvSpPr>
          <p:nvPr>
            <p:ph sz="half" idx="1"/>
          </p:nvPr>
        </p:nvSpPr>
        <p:spPr/>
        <p:txBody>
          <a:bodyPr>
            <a:normAutofit/>
          </a:bodyPr>
          <a:lstStyle/>
          <a:p>
            <a:r>
              <a:rPr lang="en-US" sz="2400" dirty="0"/>
              <a:t>Given the 2D dataset below with two linearly separable classes (blue = +1, red = -1), determine the equation of the optimal SVM hyperplane (L2) that maximizes the margin between classes.</a:t>
            </a:r>
          </a:p>
        </p:txBody>
      </p:sp>
      <p:graphicFrame>
        <p:nvGraphicFramePr>
          <p:cNvPr id="17" name="Content Placeholder 11">
            <a:extLst>
              <a:ext uri="{FF2B5EF4-FFF2-40B4-BE49-F238E27FC236}">
                <a16:creationId xmlns:a16="http://schemas.microsoft.com/office/drawing/2014/main" id="{1561AB4D-0BA7-DDC0-BC48-AE76235DA1DD}"/>
              </a:ext>
            </a:extLst>
          </p:cNvPr>
          <p:cNvGraphicFramePr>
            <a:graphicFrameLocks noGrp="1"/>
          </p:cNvGraphicFramePr>
          <p:nvPr>
            <p:ph sz="half" idx="2"/>
          </p:nvPr>
        </p:nvGraphicFramePr>
        <p:xfrm>
          <a:off x="6172200" y="1825625"/>
          <a:ext cx="5181600" cy="4114800"/>
        </p:xfrm>
        <a:graphic>
          <a:graphicData uri="http://schemas.openxmlformats.org/drawingml/2006/table">
            <a:tbl>
              <a:tblPr firstRow="1" bandRow="1">
                <a:tableStyleId>{5C22544A-7EE6-4342-B048-85BDC9FD1C3A}</a:tableStyleId>
              </a:tblPr>
              <a:tblGrid>
                <a:gridCol w="1295400">
                  <a:extLst>
                    <a:ext uri="{9D8B030D-6E8A-4147-A177-3AD203B41FA5}">
                      <a16:colId xmlns:a16="http://schemas.microsoft.com/office/drawing/2014/main" val="2419566287"/>
                    </a:ext>
                  </a:extLst>
                </a:gridCol>
                <a:gridCol w="1295400">
                  <a:extLst>
                    <a:ext uri="{9D8B030D-6E8A-4147-A177-3AD203B41FA5}">
                      <a16:colId xmlns:a16="http://schemas.microsoft.com/office/drawing/2014/main" val="1575800855"/>
                    </a:ext>
                  </a:extLst>
                </a:gridCol>
                <a:gridCol w="1295400">
                  <a:extLst>
                    <a:ext uri="{9D8B030D-6E8A-4147-A177-3AD203B41FA5}">
                      <a16:colId xmlns:a16="http://schemas.microsoft.com/office/drawing/2014/main" val="483391425"/>
                    </a:ext>
                  </a:extLst>
                </a:gridCol>
                <a:gridCol w="1295400">
                  <a:extLst>
                    <a:ext uri="{9D8B030D-6E8A-4147-A177-3AD203B41FA5}">
                      <a16:colId xmlns:a16="http://schemas.microsoft.com/office/drawing/2014/main" val="376950109"/>
                    </a:ext>
                  </a:extLst>
                </a:gridCol>
              </a:tblGrid>
              <a:tr h="370840">
                <a:tc>
                  <a:txBody>
                    <a:bodyPr/>
                    <a:lstStyle/>
                    <a:p>
                      <a:r>
                        <a:rPr lang="en-IN" sz="2400" dirty="0"/>
                        <a:t>POINT</a:t>
                      </a:r>
                    </a:p>
                  </a:txBody>
                  <a:tcPr/>
                </a:tc>
                <a:tc>
                  <a:txBody>
                    <a:bodyPr/>
                    <a:lstStyle/>
                    <a:p>
                      <a:pPr algn="ctr"/>
                      <a:r>
                        <a:rPr lang="en-IN" sz="2400" dirty="0"/>
                        <a:t>X1</a:t>
                      </a:r>
                    </a:p>
                  </a:txBody>
                  <a:tcPr/>
                </a:tc>
                <a:tc>
                  <a:txBody>
                    <a:bodyPr/>
                    <a:lstStyle/>
                    <a:p>
                      <a:pPr algn="ctr"/>
                      <a:r>
                        <a:rPr lang="en-IN" sz="2400" dirty="0"/>
                        <a:t>X2</a:t>
                      </a:r>
                    </a:p>
                  </a:txBody>
                  <a:tcPr/>
                </a:tc>
                <a:tc>
                  <a:txBody>
                    <a:bodyPr/>
                    <a:lstStyle/>
                    <a:p>
                      <a:pPr algn="ctr"/>
                      <a:r>
                        <a:rPr lang="en-IN" sz="2400" dirty="0"/>
                        <a:t>CLASS</a:t>
                      </a:r>
                    </a:p>
                  </a:txBody>
                  <a:tcPr/>
                </a:tc>
                <a:extLst>
                  <a:ext uri="{0D108BD9-81ED-4DB2-BD59-A6C34878D82A}">
                    <a16:rowId xmlns:a16="http://schemas.microsoft.com/office/drawing/2014/main" val="2885850289"/>
                  </a:ext>
                </a:extLst>
              </a:tr>
              <a:tr h="370840">
                <a:tc>
                  <a:txBody>
                    <a:bodyPr/>
                    <a:lstStyle/>
                    <a:p>
                      <a:r>
                        <a:rPr lang="en-IN" sz="2400" dirty="0"/>
                        <a:t>1</a:t>
                      </a:r>
                    </a:p>
                  </a:txBody>
                  <a:tcPr/>
                </a:tc>
                <a:tc>
                  <a:txBody>
                    <a:bodyPr/>
                    <a:lstStyle/>
                    <a:p>
                      <a:r>
                        <a:rPr lang="en-IN" sz="2400" dirty="0"/>
                        <a:t>0.5</a:t>
                      </a:r>
                    </a:p>
                  </a:txBody>
                  <a:tcPr/>
                </a:tc>
                <a:tc>
                  <a:txBody>
                    <a:bodyPr/>
                    <a:lstStyle/>
                    <a:p>
                      <a:r>
                        <a:rPr lang="en-IN" sz="2400" dirty="0"/>
                        <a:t>2.5</a:t>
                      </a:r>
                    </a:p>
                  </a:txBody>
                  <a:tcPr/>
                </a:tc>
                <a:tc>
                  <a:txBody>
                    <a:bodyPr/>
                    <a:lstStyle/>
                    <a:p>
                      <a:r>
                        <a:rPr lang="en-IN" sz="2400" dirty="0"/>
                        <a:t>1</a:t>
                      </a:r>
                    </a:p>
                  </a:txBody>
                  <a:tcPr/>
                </a:tc>
                <a:extLst>
                  <a:ext uri="{0D108BD9-81ED-4DB2-BD59-A6C34878D82A}">
                    <a16:rowId xmlns:a16="http://schemas.microsoft.com/office/drawing/2014/main" val="2589094444"/>
                  </a:ext>
                </a:extLst>
              </a:tr>
              <a:tr h="370840">
                <a:tc>
                  <a:txBody>
                    <a:bodyPr/>
                    <a:lstStyle/>
                    <a:p>
                      <a:r>
                        <a:rPr lang="en-IN" sz="2400" dirty="0"/>
                        <a:t>2</a:t>
                      </a:r>
                    </a:p>
                  </a:txBody>
                  <a:tcPr/>
                </a:tc>
                <a:tc>
                  <a:txBody>
                    <a:bodyPr/>
                    <a:lstStyle/>
                    <a:p>
                      <a:r>
                        <a:rPr lang="en-IN" sz="2400" dirty="0"/>
                        <a:t>1.8</a:t>
                      </a:r>
                    </a:p>
                  </a:txBody>
                  <a:tcPr/>
                </a:tc>
                <a:tc>
                  <a:txBody>
                    <a:bodyPr/>
                    <a:lstStyle/>
                    <a:p>
                      <a:r>
                        <a:rPr lang="en-IN" sz="2400" dirty="0"/>
                        <a:t>2.2</a:t>
                      </a:r>
                    </a:p>
                  </a:txBody>
                  <a:tcPr/>
                </a:tc>
                <a:tc>
                  <a:txBody>
                    <a:bodyPr/>
                    <a:lstStyle/>
                    <a:p>
                      <a:r>
                        <a:rPr lang="en-IN" sz="2400" dirty="0"/>
                        <a:t>1</a:t>
                      </a:r>
                    </a:p>
                  </a:txBody>
                  <a:tcPr/>
                </a:tc>
                <a:extLst>
                  <a:ext uri="{0D108BD9-81ED-4DB2-BD59-A6C34878D82A}">
                    <a16:rowId xmlns:a16="http://schemas.microsoft.com/office/drawing/2014/main" val="1855308574"/>
                  </a:ext>
                </a:extLst>
              </a:tr>
              <a:tr h="370840">
                <a:tc>
                  <a:txBody>
                    <a:bodyPr/>
                    <a:lstStyle/>
                    <a:p>
                      <a:r>
                        <a:rPr lang="en-IN" sz="2400" dirty="0"/>
                        <a:t>3</a:t>
                      </a:r>
                    </a:p>
                  </a:txBody>
                  <a:tcPr/>
                </a:tc>
                <a:tc>
                  <a:txBody>
                    <a:bodyPr/>
                    <a:lstStyle/>
                    <a:p>
                      <a:r>
                        <a:rPr lang="en-IN" sz="2400" dirty="0"/>
                        <a:t>1.0</a:t>
                      </a:r>
                    </a:p>
                  </a:txBody>
                  <a:tcPr/>
                </a:tc>
                <a:tc>
                  <a:txBody>
                    <a:bodyPr/>
                    <a:lstStyle/>
                    <a:p>
                      <a:r>
                        <a:rPr lang="en-IN" sz="2400" dirty="0"/>
                        <a:t>1.6</a:t>
                      </a:r>
                    </a:p>
                  </a:txBody>
                  <a:tcPr/>
                </a:tc>
                <a:tc>
                  <a:txBody>
                    <a:bodyPr/>
                    <a:lstStyle/>
                    <a:p>
                      <a:r>
                        <a:rPr lang="en-IN" sz="2400" dirty="0"/>
                        <a:t>1</a:t>
                      </a:r>
                    </a:p>
                  </a:txBody>
                  <a:tcPr/>
                </a:tc>
                <a:extLst>
                  <a:ext uri="{0D108BD9-81ED-4DB2-BD59-A6C34878D82A}">
                    <a16:rowId xmlns:a16="http://schemas.microsoft.com/office/drawing/2014/main" val="51625524"/>
                  </a:ext>
                </a:extLst>
              </a:tr>
              <a:tr h="370840">
                <a:tc>
                  <a:txBody>
                    <a:bodyPr/>
                    <a:lstStyle/>
                    <a:p>
                      <a:r>
                        <a:rPr lang="en-IN" sz="2400" dirty="0"/>
                        <a:t>4</a:t>
                      </a:r>
                    </a:p>
                  </a:txBody>
                  <a:tcPr/>
                </a:tc>
                <a:tc>
                  <a:txBody>
                    <a:bodyPr/>
                    <a:lstStyle/>
                    <a:p>
                      <a:r>
                        <a:rPr lang="en-IN" sz="2400" dirty="0"/>
                        <a:t>0.8</a:t>
                      </a:r>
                    </a:p>
                  </a:txBody>
                  <a:tcPr/>
                </a:tc>
                <a:tc>
                  <a:txBody>
                    <a:bodyPr/>
                    <a:lstStyle/>
                    <a:p>
                      <a:r>
                        <a:rPr lang="en-IN" sz="2400" dirty="0"/>
                        <a:t>2.0</a:t>
                      </a:r>
                    </a:p>
                  </a:txBody>
                  <a:tcPr/>
                </a:tc>
                <a:tc>
                  <a:txBody>
                    <a:bodyPr/>
                    <a:lstStyle/>
                    <a:p>
                      <a:r>
                        <a:rPr lang="en-IN" sz="2400" dirty="0"/>
                        <a:t>1</a:t>
                      </a:r>
                    </a:p>
                  </a:txBody>
                  <a:tcPr/>
                </a:tc>
                <a:extLst>
                  <a:ext uri="{0D108BD9-81ED-4DB2-BD59-A6C34878D82A}">
                    <a16:rowId xmlns:a16="http://schemas.microsoft.com/office/drawing/2014/main" val="610382886"/>
                  </a:ext>
                </a:extLst>
              </a:tr>
              <a:tr h="370840">
                <a:tc>
                  <a:txBody>
                    <a:bodyPr/>
                    <a:lstStyle/>
                    <a:p>
                      <a:r>
                        <a:rPr lang="en-IN" sz="2400" dirty="0"/>
                        <a:t>5</a:t>
                      </a:r>
                    </a:p>
                  </a:txBody>
                  <a:tcPr/>
                </a:tc>
                <a:tc>
                  <a:txBody>
                    <a:bodyPr/>
                    <a:lstStyle/>
                    <a:p>
                      <a:r>
                        <a:rPr lang="en-IN" sz="2400" dirty="0"/>
                        <a:t>2.5</a:t>
                      </a:r>
                    </a:p>
                  </a:txBody>
                  <a:tcPr/>
                </a:tc>
                <a:tc>
                  <a:txBody>
                    <a:bodyPr/>
                    <a:lstStyle/>
                    <a:p>
                      <a:r>
                        <a:rPr lang="en-IN" sz="2400" dirty="0"/>
                        <a:t>1.2</a:t>
                      </a:r>
                    </a:p>
                  </a:txBody>
                  <a:tcPr/>
                </a:tc>
                <a:tc>
                  <a:txBody>
                    <a:bodyPr/>
                    <a:lstStyle/>
                    <a:p>
                      <a:r>
                        <a:rPr lang="en-IN" sz="2400" dirty="0"/>
                        <a:t>-1</a:t>
                      </a:r>
                    </a:p>
                  </a:txBody>
                  <a:tcPr/>
                </a:tc>
                <a:extLst>
                  <a:ext uri="{0D108BD9-81ED-4DB2-BD59-A6C34878D82A}">
                    <a16:rowId xmlns:a16="http://schemas.microsoft.com/office/drawing/2014/main" val="673841853"/>
                  </a:ext>
                </a:extLst>
              </a:tr>
              <a:tr h="370840">
                <a:tc>
                  <a:txBody>
                    <a:bodyPr/>
                    <a:lstStyle/>
                    <a:p>
                      <a:r>
                        <a:rPr lang="en-IN" sz="2400" dirty="0"/>
                        <a:t>6</a:t>
                      </a:r>
                    </a:p>
                  </a:txBody>
                  <a:tcPr/>
                </a:tc>
                <a:tc>
                  <a:txBody>
                    <a:bodyPr/>
                    <a:lstStyle/>
                    <a:p>
                      <a:r>
                        <a:rPr lang="en-IN" sz="2400" dirty="0"/>
                        <a:t>3.0</a:t>
                      </a:r>
                    </a:p>
                  </a:txBody>
                  <a:tcPr/>
                </a:tc>
                <a:tc>
                  <a:txBody>
                    <a:bodyPr/>
                    <a:lstStyle/>
                    <a:p>
                      <a:r>
                        <a:rPr lang="en-IN" sz="2400" dirty="0"/>
                        <a:t>0.8</a:t>
                      </a:r>
                    </a:p>
                  </a:txBody>
                  <a:tcPr/>
                </a:tc>
                <a:tc>
                  <a:txBody>
                    <a:bodyPr/>
                    <a:lstStyle/>
                    <a:p>
                      <a:r>
                        <a:rPr lang="en-IN" sz="2400" dirty="0"/>
                        <a:t>-1</a:t>
                      </a:r>
                    </a:p>
                  </a:txBody>
                  <a:tcPr/>
                </a:tc>
                <a:extLst>
                  <a:ext uri="{0D108BD9-81ED-4DB2-BD59-A6C34878D82A}">
                    <a16:rowId xmlns:a16="http://schemas.microsoft.com/office/drawing/2014/main" val="544540129"/>
                  </a:ext>
                </a:extLst>
              </a:tr>
              <a:tr h="370840">
                <a:tc>
                  <a:txBody>
                    <a:bodyPr/>
                    <a:lstStyle/>
                    <a:p>
                      <a:r>
                        <a:rPr lang="en-IN" sz="2400" dirty="0"/>
                        <a:t>7</a:t>
                      </a:r>
                    </a:p>
                  </a:txBody>
                  <a:tcPr/>
                </a:tc>
                <a:tc>
                  <a:txBody>
                    <a:bodyPr/>
                    <a:lstStyle/>
                    <a:p>
                      <a:r>
                        <a:rPr lang="en-IN" sz="2400" dirty="0"/>
                        <a:t>2.8</a:t>
                      </a:r>
                    </a:p>
                  </a:txBody>
                  <a:tcPr/>
                </a:tc>
                <a:tc>
                  <a:txBody>
                    <a:bodyPr/>
                    <a:lstStyle/>
                    <a:p>
                      <a:r>
                        <a:rPr lang="en-IN" sz="2400" dirty="0"/>
                        <a:t>0.5</a:t>
                      </a:r>
                    </a:p>
                  </a:txBody>
                  <a:tcPr/>
                </a:tc>
                <a:tc>
                  <a:txBody>
                    <a:bodyPr/>
                    <a:lstStyle/>
                    <a:p>
                      <a:r>
                        <a:rPr lang="en-IN" sz="2400" dirty="0"/>
                        <a:t>-1</a:t>
                      </a:r>
                    </a:p>
                  </a:txBody>
                  <a:tcPr/>
                </a:tc>
                <a:extLst>
                  <a:ext uri="{0D108BD9-81ED-4DB2-BD59-A6C34878D82A}">
                    <a16:rowId xmlns:a16="http://schemas.microsoft.com/office/drawing/2014/main" val="173936336"/>
                  </a:ext>
                </a:extLst>
              </a:tr>
              <a:tr h="370840">
                <a:tc>
                  <a:txBody>
                    <a:bodyPr/>
                    <a:lstStyle/>
                    <a:p>
                      <a:r>
                        <a:rPr lang="en-IN" sz="2400" dirty="0"/>
                        <a:t>8</a:t>
                      </a:r>
                    </a:p>
                  </a:txBody>
                  <a:tcPr/>
                </a:tc>
                <a:tc>
                  <a:txBody>
                    <a:bodyPr/>
                    <a:lstStyle/>
                    <a:p>
                      <a:r>
                        <a:rPr lang="en-IN" sz="2400" dirty="0"/>
                        <a:t>2.2</a:t>
                      </a:r>
                    </a:p>
                  </a:txBody>
                  <a:tcPr/>
                </a:tc>
                <a:tc>
                  <a:txBody>
                    <a:bodyPr/>
                    <a:lstStyle/>
                    <a:p>
                      <a:r>
                        <a:rPr lang="en-IN" sz="2400" dirty="0"/>
                        <a:t>1.0</a:t>
                      </a:r>
                    </a:p>
                  </a:txBody>
                  <a:tcPr/>
                </a:tc>
                <a:tc>
                  <a:txBody>
                    <a:bodyPr/>
                    <a:lstStyle/>
                    <a:p>
                      <a:r>
                        <a:rPr lang="en-IN" sz="2400" dirty="0"/>
                        <a:t>-1</a:t>
                      </a:r>
                    </a:p>
                  </a:txBody>
                  <a:tcPr/>
                </a:tc>
                <a:extLst>
                  <a:ext uri="{0D108BD9-81ED-4DB2-BD59-A6C34878D82A}">
                    <a16:rowId xmlns:a16="http://schemas.microsoft.com/office/drawing/2014/main" val="352843187"/>
                  </a:ext>
                </a:extLst>
              </a:tr>
            </a:tbl>
          </a:graphicData>
        </a:graphic>
      </p:graphicFrame>
    </p:spTree>
    <p:extLst>
      <p:ext uri="{BB962C8B-B14F-4D97-AF65-F5344CB8AC3E}">
        <p14:creationId xmlns:p14="http://schemas.microsoft.com/office/powerpoint/2010/main" val="16211988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8" name="Picture 10">
            <a:extLst>
              <a:ext uri="{FF2B5EF4-FFF2-40B4-BE49-F238E27FC236}">
                <a16:creationId xmlns:a16="http://schemas.microsoft.com/office/drawing/2014/main" id="{930D87E7-2715-E1EC-30B7-16B8932F96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03400" y="0"/>
            <a:ext cx="8585200" cy="6858000"/>
          </a:xfrm>
          <a:prstGeom prst="rect">
            <a:avLst/>
          </a:prstGeom>
          <a:noFill/>
          <a:extLst>
            <a:ext uri="{909E8E84-426E-40DD-AFC4-6F175D3DCCD1}">
              <a14:hiddenFill xmlns:a14="http://schemas.microsoft.com/office/drawing/2010/main">
                <a:solidFill>
                  <a:srgbClr val="FFFFFF"/>
                </a:solidFill>
              </a14:hiddenFill>
            </a:ext>
          </a:extLst>
        </p:spPr>
      </p:pic>
      <p:sp>
        <p:nvSpPr>
          <p:cNvPr id="6" name="Oval 5">
            <a:extLst>
              <a:ext uri="{FF2B5EF4-FFF2-40B4-BE49-F238E27FC236}">
                <a16:creationId xmlns:a16="http://schemas.microsoft.com/office/drawing/2014/main" id="{CBD2B959-EF92-B0F6-A6FB-D294AF9CDF2D}"/>
              </a:ext>
            </a:extLst>
          </p:cNvPr>
          <p:cNvSpPr/>
          <p:nvPr/>
        </p:nvSpPr>
        <p:spPr>
          <a:xfrm>
            <a:off x="4035287" y="2773017"/>
            <a:ext cx="964096" cy="725557"/>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Oval 6">
            <a:extLst>
              <a:ext uri="{FF2B5EF4-FFF2-40B4-BE49-F238E27FC236}">
                <a16:creationId xmlns:a16="http://schemas.microsoft.com/office/drawing/2014/main" id="{131C39D0-40DB-EA0D-3188-6AAEF61CB1A9}"/>
              </a:ext>
            </a:extLst>
          </p:cNvPr>
          <p:cNvSpPr/>
          <p:nvPr/>
        </p:nvSpPr>
        <p:spPr>
          <a:xfrm>
            <a:off x="6334540" y="4008782"/>
            <a:ext cx="964096" cy="725557"/>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5175635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9737D7-0916-425C-1EA4-21ECC5B67A8C}"/>
              </a:ext>
            </a:extLst>
          </p:cNvPr>
          <p:cNvSpPr>
            <a:spLocks noGrp="1"/>
          </p:cNvSpPr>
          <p:nvPr>
            <p:ph type="title"/>
          </p:nvPr>
        </p:nvSpPr>
        <p:spPr/>
        <p:txBody>
          <a:bodyPr/>
          <a:lstStyle/>
          <a:p>
            <a:r>
              <a:rPr lang="en-IN" dirty="0"/>
              <a:t>Linear SVM Classification</a:t>
            </a:r>
          </a:p>
        </p:txBody>
      </p:sp>
      <p:sp>
        <p:nvSpPr>
          <p:cNvPr id="3" name="Content Placeholder 2">
            <a:extLst>
              <a:ext uri="{FF2B5EF4-FFF2-40B4-BE49-F238E27FC236}">
                <a16:creationId xmlns:a16="http://schemas.microsoft.com/office/drawing/2014/main" id="{15E92392-899D-4657-D275-6F4FAA1D8D8E}"/>
              </a:ext>
            </a:extLst>
          </p:cNvPr>
          <p:cNvSpPr>
            <a:spLocks noGrp="1"/>
          </p:cNvSpPr>
          <p:nvPr>
            <p:ph idx="1"/>
          </p:nvPr>
        </p:nvSpPr>
        <p:spPr>
          <a:xfrm>
            <a:off x="838200" y="1690688"/>
            <a:ext cx="10515600" cy="4802187"/>
          </a:xfrm>
        </p:spPr>
        <p:txBody>
          <a:bodyPr>
            <a:noAutofit/>
          </a:bodyPr>
          <a:lstStyle/>
          <a:p>
            <a:pPr marL="457200" indent="-457200">
              <a:buFont typeface="+mj-lt"/>
              <a:buAutoNum type="arabicPeriod"/>
            </a:pPr>
            <a:r>
              <a:rPr lang="en-IN" sz="2400" b="1" dirty="0"/>
              <a:t>Visual Understanding</a:t>
            </a:r>
          </a:p>
          <a:p>
            <a:pPr marL="457200" indent="-457200">
              <a:buFont typeface="+mj-lt"/>
              <a:buAutoNum type="arabicPeriod"/>
            </a:pPr>
            <a:r>
              <a:rPr lang="en-IN" sz="2400" b="1" dirty="0"/>
              <a:t>SVM Optimization Problem </a:t>
            </a:r>
            <a:r>
              <a:rPr lang="en-IN" sz="2400" dirty="0"/>
              <a:t>SVM solves:                               Subject to:</a:t>
            </a:r>
          </a:p>
          <a:p>
            <a:pPr lvl="1"/>
            <a:r>
              <a:rPr lang="en-IN" sz="2000" dirty="0"/>
              <a:t>This is a </a:t>
            </a:r>
            <a:r>
              <a:rPr lang="en-IN" sz="2000" b="1" dirty="0"/>
              <a:t>quadratic optimization problem</a:t>
            </a:r>
            <a:r>
              <a:rPr lang="en-IN" sz="2000" dirty="0"/>
              <a:t>.</a:t>
            </a:r>
          </a:p>
          <a:p>
            <a:pPr marL="457200" indent="-457200">
              <a:buFont typeface="+mj-lt"/>
              <a:buAutoNum type="arabicPeriod"/>
            </a:pPr>
            <a:r>
              <a:rPr lang="en-US" sz="2400" b="1" dirty="0"/>
              <a:t>Identify Support Vectors (Closest Points)</a:t>
            </a:r>
          </a:p>
          <a:p>
            <a:pPr marL="457200" indent="-457200">
              <a:buFont typeface="+mj-lt"/>
              <a:buAutoNum type="arabicPeriod"/>
            </a:pPr>
            <a:r>
              <a:rPr lang="en-IN" sz="2400" b="1" dirty="0"/>
              <a:t>Compute Direction of Hyperplane, find W</a:t>
            </a:r>
          </a:p>
          <a:p>
            <a:pPr lvl="1"/>
            <a:endParaRPr lang="en-IN" sz="2000" dirty="0"/>
          </a:p>
          <a:p>
            <a:pPr marL="514350" indent="-514350">
              <a:buFont typeface="+mj-lt"/>
              <a:buAutoNum type="arabicPeriod"/>
            </a:pPr>
            <a:endParaRPr lang="en-IN" sz="2000" dirty="0"/>
          </a:p>
        </p:txBody>
      </p:sp>
      <p:pic>
        <p:nvPicPr>
          <p:cNvPr id="5" name="Picture 4">
            <a:extLst>
              <a:ext uri="{FF2B5EF4-FFF2-40B4-BE49-F238E27FC236}">
                <a16:creationId xmlns:a16="http://schemas.microsoft.com/office/drawing/2014/main" id="{5F859728-6819-7692-838B-500CF4CFDC8D}"/>
              </a:ext>
            </a:extLst>
          </p:cNvPr>
          <p:cNvPicPr>
            <a:picLocks noChangeAspect="1"/>
          </p:cNvPicPr>
          <p:nvPr/>
        </p:nvPicPr>
        <p:blipFill>
          <a:blip r:embed="rId2"/>
          <a:stretch>
            <a:fillRect/>
          </a:stretch>
        </p:blipFill>
        <p:spPr>
          <a:xfrm>
            <a:off x="6519984" y="2055907"/>
            <a:ext cx="1686170" cy="856258"/>
          </a:xfrm>
          <a:prstGeom prst="rect">
            <a:avLst/>
          </a:prstGeom>
        </p:spPr>
      </p:pic>
      <p:pic>
        <p:nvPicPr>
          <p:cNvPr id="7" name="Picture 6">
            <a:extLst>
              <a:ext uri="{FF2B5EF4-FFF2-40B4-BE49-F238E27FC236}">
                <a16:creationId xmlns:a16="http://schemas.microsoft.com/office/drawing/2014/main" id="{DDB11B2C-0E4A-1735-1341-89A5644DF4BD}"/>
              </a:ext>
            </a:extLst>
          </p:cNvPr>
          <p:cNvPicPr>
            <a:picLocks noChangeAspect="1"/>
          </p:cNvPicPr>
          <p:nvPr/>
        </p:nvPicPr>
        <p:blipFill>
          <a:blip r:embed="rId3"/>
          <a:stretch>
            <a:fillRect/>
          </a:stretch>
        </p:blipFill>
        <p:spPr>
          <a:xfrm>
            <a:off x="9767348" y="2191196"/>
            <a:ext cx="2237295" cy="442673"/>
          </a:xfrm>
          <a:prstGeom prst="rect">
            <a:avLst/>
          </a:prstGeom>
        </p:spPr>
      </p:pic>
      <p:pic>
        <p:nvPicPr>
          <p:cNvPr id="9" name="Picture 8">
            <a:extLst>
              <a:ext uri="{FF2B5EF4-FFF2-40B4-BE49-F238E27FC236}">
                <a16:creationId xmlns:a16="http://schemas.microsoft.com/office/drawing/2014/main" id="{E7C53375-F56A-3407-4A8C-ECB1DB81C45C}"/>
              </a:ext>
            </a:extLst>
          </p:cNvPr>
          <p:cNvPicPr>
            <a:picLocks noChangeAspect="1"/>
          </p:cNvPicPr>
          <p:nvPr/>
        </p:nvPicPr>
        <p:blipFill>
          <a:blip r:embed="rId4"/>
          <a:stretch>
            <a:fillRect/>
          </a:stretch>
        </p:blipFill>
        <p:spPr>
          <a:xfrm>
            <a:off x="838200" y="3945836"/>
            <a:ext cx="5696745" cy="2648320"/>
          </a:xfrm>
          <a:prstGeom prst="rect">
            <a:avLst/>
          </a:prstGeom>
        </p:spPr>
      </p:pic>
      <p:pic>
        <p:nvPicPr>
          <p:cNvPr id="11" name="Picture 10">
            <a:extLst>
              <a:ext uri="{FF2B5EF4-FFF2-40B4-BE49-F238E27FC236}">
                <a16:creationId xmlns:a16="http://schemas.microsoft.com/office/drawing/2014/main" id="{EDC6BB9E-0A16-798D-AE6D-DE0384D5C69D}"/>
              </a:ext>
            </a:extLst>
          </p:cNvPr>
          <p:cNvPicPr>
            <a:picLocks noChangeAspect="1"/>
          </p:cNvPicPr>
          <p:nvPr/>
        </p:nvPicPr>
        <p:blipFill>
          <a:blip r:embed="rId5"/>
          <a:stretch>
            <a:fillRect/>
          </a:stretch>
        </p:blipFill>
        <p:spPr>
          <a:xfrm>
            <a:off x="6820794" y="3959432"/>
            <a:ext cx="4858428" cy="1119464"/>
          </a:xfrm>
          <a:prstGeom prst="rect">
            <a:avLst/>
          </a:prstGeom>
        </p:spPr>
      </p:pic>
      <p:sp>
        <p:nvSpPr>
          <p:cNvPr id="4" name="TextBox 3">
            <a:extLst>
              <a:ext uri="{FF2B5EF4-FFF2-40B4-BE49-F238E27FC236}">
                <a16:creationId xmlns:a16="http://schemas.microsoft.com/office/drawing/2014/main" id="{4F631AC5-4E06-6FFA-5BEC-C81CBB9F17FF}"/>
              </a:ext>
            </a:extLst>
          </p:cNvPr>
          <p:cNvSpPr txBox="1"/>
          <p:nvPr/>
        </p:nvSpPr>
        <p:spPr>
          <a:xfrm>
            <a:off x="8510048" y="3339548"/>
            <a:ext cx="2514600" cy="400110"/>
          </a:xfrm>
          <a:prstGeom prst="rect">
            <a:avLst/>
          </a:prstGeom>
          <a:noFill/>
        </p:spPr>
        <p:txBody>
          <a:bodyPr wrap="square" rtlCol="0">
            <a:spAutoFit/>
          </a:bodyPr>
          <a:lstStyle/>
          <a:p>
            <a:r>
              <a:rPr lang="en-US" sz="2000" dirty="0"/>
              <a:t>(2) –(1) </a:t>
            </a:r>
            <a:endParaRPr lang="en-IN" sz="2000" dirty="0"/>
          </a:p>
        </p:txBody>
      </p:sp>
    </p:spTree>
    <p:extLst>
      <p:ext uri="{BB962C8B-B14F-4D97-AF65-F5344CB8AC3E}">
        <p14:creationId xmlns:p14="http://schemas.microsoft.com/office/powerpoint/2010/main" val="7738733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EF6D02-A4C8-C819-E06E-7D1D7B932584}"/>
              </a:ext>
            </a:extLst>
          </p:cNvPr>
          <p:cNvSpPr>
            <a:spLocks noGrp="1"/>
          </p:cNvSpPr>
          <p:nvPr>
            <p:ph type="title"/>
          </p:nvPr>
        </p:nvSpPr>
        <p:spPr/>
        <p:txBody>
          <a:bodyPr/>
          <a:lstStyle/>
          <a:p>
            <a:r>
              <a:rPr lang="en-IN" dirty="0"/>
              <a:t>Linear SVM Classification</a:t>
            </a:r>
          </a:p>
        </p:txBody>
      </p:sp>
      <p:pic>
        <p:nvPicPr>
          <p:cNvPr id="5" name="Content Placeholder 4">
            <a:extLst>
              <a:ext uri="{FF2B5EF4-FFF2-40B4-BE49-F238E27FC236}">
                <a16:creationId xmlns:a16="http://schemas.microsoft.com/office/drawing/2014/main" id="{A3044BA9-0888-8275-3F58-46034590342B}"/>
              </a:ext>
            </a:extLst>
          </p:cNvPr>
          <p:cNvPicPr>
            <a:picLocks noGrp="1" noChangeAspect="1"/>
          </p:cNvPicPr>
          <p:nvPr>
            <p:ph idx="1"/>
          </p:nvPr>
        </p:nvPicPr>
        <p:blipFill>
          <a:blip r:embed="rId2"/>
          <a:stretch>
            <a:fillRect/>
          </a:stretch>
        </p:blipFill>
        <p:spPr>
          <a:xfrm>
            <a:off x="933618" y="1532133"/>
            <a:ext cx="7792939" cy="1797476"/>
          </a:xfrm>
          <a:prstGeom prst="rect">
            <a:avLst/>
          </a:prstGeom>
        </p:spPr>
      </p:pic>
      <p:pic>
        <p:nvPicPr>
          <p:cNvPr id="7" name="Picture 6">
            <a:extLst>
              <a:ext uri="{FF2B5EF4-FFF2-40B4-BE49-F238E27FC236}">
                <a16:creationId xmlns:a16="http://schemas.microsoft.com/office/drawing/2014/main" id="{4C31CE6F-6A73-648C-140D-C762C1DCFAD4}"/>
              </a:ext>
            </a:extLst>
          </p:cNvPr>
          <p:cNvPicPr>
            <a:picLocks noChangeAspect="1"/>
          </p:cNvPicPr>
          <p:nvPr/>
        </p:nvPicPr>
        <p:blipFill>
          <a:blip r:embed="rId3"/>
          <a:stretch>
            <a:fillRect/>
          </a:stretch>
        </p:blipFill>
        <p:spPr>
          <a:xfrm>
            <a:off x="1107158" y="3884948"/>
            <a:ext cx="3994123" cy="2607927"/>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68F3C751-2337-6FE6-A7C5-4B1A87DA2E58}"/>
                  </a:ext>
                </a:extLst>
              </p:cNvPr>
              <p:cNvSpPr txBox="1"/>
              <p:nvPr/>
            </p:nvSpPr>
            <p:spPr>
              <a:xfrm>
                <a:off x="1083365" y="3429000"/>
                <a:ext cx="3796748" cy="400110"/>
              </a:xfrm>
              <a:prstGeom prst="rect">
                <a:avLst/>
              </a:prstGeom>
              <a:noFill/>
            </p:spPr>
            <p:txBody>
              <a:bodyPr wrap="square" rtlCol="0">
                <a:spAutoFit/>
              </a:bodyPr>
              <a:lstStyle/>
              <a:p>
                <a:r>
                  <a:rPr lang="en-IN" sz="2000" b="1" dirty="0"/>
                  <a:t>Find scale </a:t>
                </a:r>
                <a14:m>
                  <m:oMath xmlns:m="http://schemas.openxmlformats.org/officeDocument/2006/math">
                    <m:r>
                      <a:rPr lang="en-IN" sz="2000" b="1" i="1">
                        <a:latin typeface="Cambria Math" panose="02040503050406030204" pitchFamily="18" charset="0"/>
                      </a:rPr>
                      <m:t>𝒌</m:t>
                    </m:r>
                  </m:oMath>
                </a14:m>
                <a:endParaRPr lang="en-IN" sz="2000" b="1" dirty="0"/>
              </a:p>
            </p:txBody>
          </p:sp>
        </mc:Choice>
        <mc:Fallback xmlns="">
          <p:sp>
            <p:nvSpPr>
              <p:cNvPr id="8" name="TextBox 7">
                <a:extLst>
                  <a:ext uri="{FF2B5EF4-FFF2-40B4-BE49-F238E27FC236}">
                    <a16:creationId xmlns:a16="http://schemas.microsoft.com/office/drawing/2014/main" id="{68F3C751-2337-6FE6-A7C5-4B1A87DA2E58}"/>
                  </a:ext>
                </a:extLst>
              </p:cNvPr>
              <p:cNvSpPr txBox="1">
                <a:spLocks noRot="1" noChangeAspect="1" noMove="1" noResize="1" noEditPoints="1" noAdjustHandles="1" noChangeArrowheads="1" noChangeShapeType="1" noTextEdit="1"/>
              </p:cNvSpPr>
              <p:nvPr/>
            </p:nvSpPr>
            <p:spPr>
              <a:xfrm>
                <a:off x="1083365" y="3429000"/>
                <a:ext cx="3796748" cy="400110"/>
              </a:xfrm>
              <a:prstGeom prst="rect">
                <a:avLst/>
              </a:prstGeom>
              <a:blipFill>
                <a:blip r:embed="rId4"/>
                <a:stretch>
                  <a:fillRect l="-1766" t="-9231" b="-26154"/>
                </a:stretch>
              </a:blipFill>
            </p:spPr>
            <p:txBody>
              <a:bodyPr/>
              <a:lstStyle/>
              <a:p>
                <a:r>
                  <a:rPr lang="en-IN">
                    <a:noFill/>
                  </a:rPr>
                  <a:t> </a:t>
                </a:r>
              </a:p>
            </p:txBody>
          </p:sp>
        </mc:Fallback>
      </mc:AlternateContent>
      <p:pic>
        <p:nvPicPr>
          <p:cNvPr id="10" name="Picture 9">
            <a:extLst>
              <a:ext uri="{FF2B5EF4-FFF2-40B4-BE49-F238E27FC236}">
                <a16:creationId xmlns:a16="http://schemas.microsoft.com/office/drawing/2014/main" id="{0A576A67-3506-AD04-0DEB-7D9637FFD8ED}"/>
              </a:ext>
            </a:extLst>
          </p:cNvPr>
          <p:cNvPicPr>
            <a:picLocks noChangeAspect="1"/>
          </p:cNvPicPr>
          <p:nvPr/>
        </p:nvPicPr>
        <p:blipFill>
          <a:blip r:embed="rId5"/>
          <a:stretch>
            <a:fillRect/>
          </a:stretch>
        </p:blipFill>
        <p:spPr>
          <a:xfrm>
            <a:off x="6746680" y="4178022"/>
            <a:ext cx="4607120" cy="1797475"/>
          </a:xfrm>
          <a:prstGeom prst="rect">
            <a:avLst/>
          </a:prstGeom>
        </p:spPr>
      </p:pic>
    </p:spTree>
    <p:extLst>
      <p:ext uri="{BB962C8B-B14F-4D97-AF65-F5344CB8AC3E}">
        <p14:creationId xmlns:p14="http://schemas.microsoft.com/office/powerpoint/2010/main" val="5906122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1806E2-14AF-E2CB-3CCD-036C220079C6}"/>
              </a:ext>
            </a:extLst>
          </p:cNvPr>
          <p:cNvSpPr>
            <a:spLocks noGrp="1"/>
          </p:cNvSpPr>
          <p:nvPr>
            <p:ph type="title"/>
          </p:nvPr>
        </p:nvSpPr>
        <p:spPr/>
        <p:txBody>
          <a:bodyPr/>
          <a:lstStyle/>
          <a:p>
            <a:r>
              <a:rPr lang="en-IN" dirty="0"/>
              <a:t>Linear SVM Classification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6A6ED09-2167-1AA7-2B91-8A42C9CD0D13}"/>
                  </a:ext>
                </a:extLst>
              </p:cNvPr>
              <p:cNvSpPr>
                <a:spLocks noGrp="1"/>
              </p:cNvSpPr>
              <p:nvPr>
                <p:ph idx="1"/>
              </p:nvPr>
            </p:nvSpPr>
            <p:spPr/>
            <p:txBody>
              <a:bodyPr/>
              <a:lstStyle/>
              <a:p>
                <a:pPr marL="514350" indent="-514350">
                  <a:buFont typeface="+mj-lt"/>
                  <a:buAutoNum type="arabicPeriod" startAt="5"/>
                </a:pPr>
                <a:r>
                  <a:rPr lang="en-IN" sz="2400" b="1" dirty="0"/>
                  <a:t>Find Bias </a:t>
                </a:r>
                <a14:m>
                  <m:oMath xmlns:m="http://schemas.openxmlformats.org/officeDocument/2006/math">
                    <m:r>
                      <a:rPr lang="en-IN" sz="2400" b="1" i="0">
                        <a:latin typeface="Cambria Math" panose="02040503050406030204" pitchFamily="18" charset="0"/>
                      </a:rPr>
                      <m:t>𝐛</m:t>
                    </m:r>
                  </m:oMath>
                </a14:m>
                <a:endParaRPr lang="en-IN" sz="2400" b="1" dirty="0"/>
              </a:p>
              <a:p>
                <a:endParaRPr lang="en-IN" dirty="0"/>
              </a:p>
            </p:txBody>
          </p:sp>
        </mc:Choice>
        <mc:Fallback xmlns="">
          <p:sp>
            <p:nvSpPr>
              <p:cNvPr id="3" name="Content Placeholder 2">
                <a:extLst>
                  <a:ext uri="{FF2B5EF4-FFF2-40B4-BE49-F238E27FC236}">
                    <a16:creationId xmlns:a16="http://schemas.microsoft.com/office/drawing/2014/main" id="{E6A6ED09-2167-1AA7-2B91-8A42C9CD0D13}"/>
                  </a:ext>
                </a:extLst>
              </p:cNvPr>
              <p:cNvSpPr>
                <a:spLocks noGrp="1" noRot="1" noChangeAspect="1" noMove="1" noResize="1" noEditPoints="1" noAdjustHandles="1" noChangeArrowheads="1" noChangeShapeType="1" noTextEdit="1"/>
              </p:cNvSpPr>
              <p:nvPr>
                <p:ph idx="1"/>
              </p:nvPr>
            </p:nvSpPr>
            <p:spPr>
              <a:blipFill>
                <a:blip r:embed="rId2"/>
                <a:stretch>
                  <a:fillRect l="-928" t="-2101"/>
                </a:stretch>
              </a:blipFill>
            </p:spPr>
            <p:txBody>
              <a:bodyPr/>
              <a:lstStyle/>
              <a:p>
                <a:r>
                  <a:rPr lang="en-IN">
                    <a:noFill/>
                  </a:rPr>
                  <a:t> </a:t>
                </a:r>
              </a:p>
            </p:txBody>
          </p:sp>
        </mc:Fallback>
      </mc:AlternateContent>
      <p:pic>
        <p:nvPicPr>
          <p:cNvPr id="5" name="Picture 4">
            <a:extLst>
              <a:ext uri="{FF2B5EF4-FFF2-40B4-BE49-F238E27FC236}">
                <a16:creationId xmlns:a16="http://schemas.microsoft.com/office/drawing/2014/main" id="{B3320EB8-2584-101E-3B31-20589B567571}"/>
              </a:ext>
            </a:extLst>
          </p:cNvPr>
          <p:cNvPicPr>
            <a:picLocks noChangeAspect="1"/>
          </p:cNvPicPr>
          <p:nvPr/>
        </p:nvPicPr>
        <p:blipFill>
          <a:blip r:embed="rId3"/>
          <a:stretch>
            <a:fillRect/>
          </a:stretch>
        </p:blipFill>
        <p:spPr>
          <a:xfrm>
            <a:off x="3915994" y="2034382"/>
            <a:ext cx="4778765" cy="1966912"/>
          </a:xfrm>
          <a:prstGeom prst="rect">
            <a:avLst/>
          </a:prstGeom>
        </p:spPr>
      </p:pic>
      <p:pic>
        <p:nvPicPr>
          <p:cNvPr id="7" name="Picture 6">
            <a:extLst>
              <a:ext uri="{FF2B5EF4-FFF2-40B4-BE49-F238E27FC236}">
                <a16:creationId xmlns:a16="http://schemas.microsoft.com/office/drawing/2014/main" id="{0074D72C-70F7-9CA4-C102-26E3E63D5504}"/>
              </a:ext>
            </a:extLst>
          </p:cNvPr>
          <p:cNvPicPr>
            <a:picLocks noChangeAspect="1"/>
          </p:cNvPicPr>
          <p:nvPr/>
        </p:nvPicPr>
        <p:blipFill>
          <a:blip r:embed="rId4"/>
          <a:stretch>
            <a:fillRect/>
          </a:stretch>
        </p:blipFill>
        <p:spPr>
          <a:xfrm>
            <a:off x="4102104" y="3812849"/>
            <a:ext cx="4992200" cy="2952375"/>
          </a:xfrm>
          <a:prstGeom prst="rect">
            <a:avLst/>
          </a:prstGeom>
        </p:spPr>
      </p:pic>
    </p:spTree>
    <p:extLst>
      <p:ext uri="{BB962C8B-B14F-4D97-AF65-F5344CB8AC3E}">
        <p14:creationId xmlns:p14="http://schemas.microsoft.com/office/powerpoint/2010/main" val="29550254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AD371C-0719-E9AE-0C4A-4B578AC4B196}"/>
              </a:ext>
            </a:extLst>
          </p:cNvPr>
          <p:cNvSpPr>
            <a:spLocks noGrp="1"/>
          </p:cNvSpPr>
          <p:nvPr>
            <p:ph type="title"/>
          </p:nvPr>
        </p:nvSpPr>
        <p:spPr/>
        <p:txBody>
          <a:bodyPr/>
          <a:lstStyle/>
          <a:p>
            <a:r>
              <a:rPr lang="en-IN" dirty="0"/>
              <a:t>Linear SVM Classification</a:t>
            </a:r>
          </a:p>
        </p:txBody>
      </p:sp>
      <p:sp>
        <p:nvSpPr>
          <p:cNvPr id="3" name="Content Placeholder 2">
            <a:extLst>
              <a:ext uri="{FF2B5EF4-FFF2-40B4-BE49-F238E27FC236}">
                <a16:creationId xmlns:a16="http://schemas.microsoft.com/office/drawing/2014/main" id="{4CB083B8-8894-A471-81DF-9A21E43C2969}"/>
              </a:ext>
            </a:extLst>
          </p:cNvPr>
          <p:cNvSpPr>
            <a:spLocks noGrp="1"/>
          </p:cNvSpPr>
          <p:nvPr>
            <p:ph idx="1"/>
          </p:nvPr>
        </p:nvSpPr>
        <p:spPr/>
        <p:txBody>
          <a:bodyPr/>
          <a:lstStyle/>
          <a:p>
            <a:pPr marL="514350" indent="-514350">
              <a:buFont typeface="+mj-lt"/>
              <a:buAutoNum type="arabicPeriod" startAt="6"/>
            </a:pPr>
            <a:r>
              <a:rPr lang="en-IN" b="1" dirty="0"/>
              <a:t>Find Margin</a:t>
            </a:r>
          </a:p>
          <a:p>
            <a:endParaRPr lang="en-IN" dirty="0"/>
          </a:p>
        </p:txBody>
      </p:sp>
      <p:pic>
        <p:nvPicPr>
          <p:cNvPr id="5" name="Picture 4">
            <a:extLst>
              <a:ext uri="{FF2B5EF4-FFF2-40B4-BE49-F238E27FC236}">
                <a16:creationId xmlns:a16="http://schemas.microsoft.com/office/drawing/2014/main" id="{3B14C87B-CAA1-C627-65B6-D56EDBB7FA18}"/>
              </a:ext>
            </a:extLst>
          </p:cNvPr>
          <p:cNvPicPr>
            <a:picLocks noChangeAspect="1"/>
          </p:cNvPicPr>
          <p:nvPr/>
        </p:nvPicPr>
        <p:blipFill>
          <a:blip r:embed="rId2"/>
          <a:stretch>
            <a:fillRect/>
          </a:stretch>
        </p:blipFill>
        <p:spPr>
          <a:xfrm>
            <a:off x="838200" y="2654445"/>
            <a:ext cx="2771683" cy="2662990"/>
          </a:xfrm>
          <a:prstGeom prst="rect">
            <a:avLst/>
          </a:prstGeom>
        </p:spPr>
      </p:pic>
      <p:pic>
        <p:nvPicPr>
          <p:cNvPr id="7" name="Picture 6">
            <a:extLst>
              <a:ext uri="{FF2B5EF4-FFF2-40B4-BE49-F238E27FC236}">
                <a16:creationId xmlns:a16="http://schemas.microsoft.com/office/drawing/2014/main" id="{EA1522AD-1A32-B4B2-4472-8A0B4815EA53}"/>
              </a:ext>
            </a:extLst>
          </p:cNvPr>
          <p:cNvPicPr>
            <a:picLocks noChangeAspect="1"/>
          </p:cNvPicPr>
          <p:nvPr/>
        </p:nvPicPr>
        <p:blipFill>
          <a:blip r:embed="rId3"/>
          <a:stretch>
            <a:fillRect/>
          </a:stretch>
        </p:blipFill>
        <p:spPr>
          <a:xfrm>
            <a:off x="3573440" y="2547973"/>
            <a:ext cx="4507402" cy="2906642"/>
          </a:xfrm>
          <a:prstGeom prst="rect">
            <a:avLst/>
          </a:prstGeom>
        </p:spPr>
      </p:pic>
      <p:pic>
        <p:nvPicPr>
          <p:cNvPr id="9" name="Picture 8">
            <a:extLst>
              <a:ext uri="{FF2B5EF4-FFF2-40B4-BE49-F238E27FC236}">
                <a16:creationId xmlns:a16="http://schemas.microsoft.com/office/drawing/2014/main" id="{64D23384-4694-EBA8-7D7A-582FA44DBE19}"/>
              </a:ext>
            </a:extLst>
          </p:cNvPr>
          <p:cNvPicPr>
            <a:picLocks noChangeAspect="1"/>
          </p:cNvPicPr>
          <p:nvPr/>
        </p:nvPicPr>
        <p:blipFill>
          <a:blip r:embed="rId4"/>
          <a:stretch>
            <a:fillRect/>
          </a:stretch>
        </p:blipFill>
        <p:spPr>
          <a:xfrm>
            <a:off x="8519974" y="2547973"/>
            <a:ext cx="3672026" cy="3193066"/>
          </a:xfrm>
          <a:prstGeom prst="rect">
            <a:avLst/>
          </a:prstGeom>
        </p:spPr>
      </p:pic>
      <p:pic>
        <p:nvPicPr>
          <p:cNvPr id="11" name="Picture 10">
            <a:extLst>
              <a:ext uri="{FF2B5EF4-FFF2-40B4-BE49-F238E27FC236}">
                <a16:creationId xmlns:a16="http://schemas.microsoft.com/office/drawing/2014/main" id="{8E2227FF-4BFA-9945-63FD-55CEDEB218AE}"/>
              </a:ext>
            </a:extLst>
          </p:cNvPr>
          <p:cNvPicPr>
            <a:picLocks noChangeAspect="1"/>
          </p:cNvPicPr>
          <p:nvPr/>
        </p:nvPicPr>
        <p:blipFill>
          <a:blip r:embed="rId5"/>
          <a:stretch>
            <a:fillRect/>
          </a:stretch>
        </p:blipFill>
        <p:spPr>
          <a:xfrm>
            <a:off x="655198" y="5949409"/>
            <a:ext cx="5315692" cy="657317"/>
          </a:xfrm>
          <a:prstGeom prst="rect">
            <a:avLst/>
          </a:prstGeom>
          <a:ln>
            <a:solidFill>
              <a:schemeClr val="tx1"/>
            </a:solidFill>
          </a:ln>
        </p:spPr>
      </p:pic>
    </p:spTree>
    <p:extLst>
      <p:ext uri="{BB962C8B-B14F-4D97-AF65-F5344CB8AC3E}">
        <p14:creationId xmlns:p14="http://schemas.microsoft.com/office/powerpoint/2010/main" val="10165806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7D4AB4-5561-BDD9-1DF4-1F2AA457F0C5}"/>
              </a:ext>
            </a:extLst>
          </p:cNvPr>
          <p:cNvSpPr>
            <a:spLocks noGrp="1"/>
          </p:cNvSpPr>
          <p:nvPr>
            <p:ph type="title"/>
          </p:nvPr>
        </p:nvSpPr>
        <p:spPr/>
        <p:txBody>
          <a:bodyPr/>
          <a:lstStyle/>
          <a:p>
            <a:r>
              <a:rPr lang="en-IN" dirty="0"/>
              <a:t>SVM Regression</a:t>
            </a:r>
          </a:p>
        </p:txBody>
      </p:sp>
      <p:sp>
        <p:nvSpPr>
          <p:cNvPr id="3" name="Content Placeholder 2">
            <a:extLst>
              <a:ext uri="{FF2B5EF4-FFF2-40B4-BE49-F238E27FC236}">
                <a16:creationId xmlns:a16="http://schemas.microsoft.com/office/drawing/2014/main" id="{F8799ABF-34B4-D3E3-FF78-C979B6B970B5}"/>
              </a:ext>
            </a:extLst>
          </p:cNvPr>
          <p:cNvSpPr>
            <a:spLocks noGrp="1"/>
          </p:cNvSpPr>
          <p:nvPr>
            <p:ph idx="1"/>
          </p:nvPr>
        </p:nvSpPr>
        <p:spPr/>
        <p:txBody>
          <a:bodyPr>
            <a:normAutofit/>
          </a:bodyPr>
          <a:lstStyle/>
          <a:p>
            <a:r>
              <a:rPr lang="en-US" sz="2400" dirty="0"/>
              <a:t>Support Vector Regression (SVR) is a powerful machine learning technique, derived from Support Vector Machines (SVM), used for predicting continuous outcomes by finding a function (hyperplane) that best fits data within a specified error tolerance (epsilon), aiming for a flat model that minimizes errors outside this margin, effectively handling complex patterns with linear or non-linear kernels</a:t>
            </a:r>
          </a:p>
          <a:p>
            <a:r>
              <a:rPr lang="en-IN" sz="2400" dirty="0"/>
              <a:t>The width of the </a:t>
            </a:r>
            <a:r>
              <a:rPr lang="en-US" sz="2400" dirty="0"/>
              <a:t>street is controlled by a hyperparameter, ϵ</a:t>
            </a:r>
            <a:endParaRPr lang="en-IN" sz="2400" dirty="0"/>
          </a:p>
        </p:txBody>
      </p:sp>
    </p:spTree>
    <p:extLst>
      <p:ext uri="{BB962C8B-B14F-4D97-AF65-F5344CB8AC3E}">
        <p14:creationId xmlns:p14="http://schemas.microsoft.com/office/powerpoint/2010/main" val="253660219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E9F94A-991E-38B2-0C6C-AE7A0C4D459D}"/>
              </a:ext>
            </a:extLst>
          </p:cNvPr>
          <p:cNvSpPr>
            <a:spLocks noGrp="1"/>
          </p:cNvSpPr>
          <p:nvPr>
            <p:ph type="title"/>
          </p:nvPr>
        </p:nvSpPr>
        <p:spPr/>
        <p:txBody>
          <a:bodyPr/>
          <a:lstStyle/>
          <a:p>
            <a:r>
              <a:rPr lang="en-IN" b="1" dirty="0"/>
              <a:t>Linear SVM Regression</a:t>
            </a:r>
          </a:p>
        </p:txBody>
      </p:sp>
      <p:pic>
        <p:nvPicPr>
          <p:cNvPr id="5" name="Content Placeholder 4">
            <a:extLst>
              <a:ext uri="{FF2B5EF4-FFF2-40B4-BE49-F238E27FC236}">
                <a16:creationId xmlns:a16="http://schemas.microsoft.com/office/drawing/2014/main" id="{E6895127-DAEF-3A95-8723-7938F3345A8D}"/>
              </a:ext>
            </a:extLst>
          </p:cNvPr>
          <p:cNvPicPr>
            <a:picLocks noGrp="1" noChangeAspect="1"/>
          </p:cNvPicPr>
          <p:nvPr>
            <p:ph idx="1"/>
          </p:nvPr>
        </p:nvPicPr>
        <p:blipFill>
          <a:blip r:embed="rId2"/>
          <a:stretch>
            <a:fillRect/>
          </a:stretch>
        </p:blipFill>
        <p:spPr>
          <a:xfrm>
            <a:off x="705918" y="1338607"/>
            <a:ext cx="10283207" cy="4351338"/>
          </a:xfrm>
          <a:prstGeom prst="rect">
            <a:avLst/>
          </a:prstGeom>
        </p:spPr>
      </p:pic>
      <p:sp>
        <p:nvSpPr>
          <p:cNvPr id="7" name="TextBox 6">
            <a:extLst>
              <a:ext uri="{FF2B5EF4-FFF2-40B4-BE49-F238E27FC236}">
                <a16:creationId xmlns:a16="http://schemas.microsoft.com/office/drawing/2014/main" id="{21D148AE-0189-68BD-74C9-1E7CEE609C55}"/>
              </a:ext>
            </a:extLst>
          </p:cNvPr>
          <p:cNvSpPr txBox="1"/>
          <p:nvPr/>
        </p:nvSpPr>
        <p:spPr>
          <a:xfrm>
            <a:off x="838200" y="5938877"/>
            <a:ext cx="11353800" cy="707886"/>
          </a:xfrm>
          <a:prstGeom prst="rect">
            <a:avLst/>
          </a:prstGeom>
          <a:noFill/>
        </p:spPr>
        <p:txBody>
          <a:bodyPr wrap="square">
            <a:spAutoFit/>
          </a:bodyPr>
          <a:lstStyle/>
          <a:p>
            <a:pPr algn="l"/>
            <a:r>
              <a:rPr lang="en-US" sz="2000" b="0" i="0" u="none" strike="noStrike" baseline="0" dirty="0"/>
              <a:t>Regression models trained on some random linear data, one with a large margin (ϵ = 1.5) and the other with a small margin (ϵ = 0.5).</a:t>
            </a:r>
            <a:endParaRPr lang="en-IN" sz="2000" dirty="0"/>
          </a:p>
        </p:txBody>
      </p:sp>
    </p:spTree>
    <p:extLst>
      <p:ext uri="{BB962C8B-B14F-4D97-AF65-F5344CB8AC3E}">
        <p14:creationId xmlns:p14="http://schemas.microsoft.com/office/powerpoint/2010/main" val="318123479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6161E-151C-5A4C-4207-ADCED226AD08}"/>
              </a:ext>
            </a:extLst>
          </p:cNvPr>
          <p:cNvSpPr>
            <a:spLocks noGrp="1"/>
          </p:cNvSpPr>
          <p:nvPr>
            <p:ph type="title"/>
          </p:nvPr>
        </p:nvSpPr>
        <p:spPr/>
        <p:txBody>
          <a:bodyPr/>
          <a:lstStyle/>
          <a:p>
            <a:r>
              <a:rPr lang="en-IN" b="1" dirty="0"/>
              <a:t>Linear SVM Regression</a:t>
            </a:r>
            <a:endParaRPr lang="en-IN" dirty="0"/>
          </a:p>
        </p:txBody>
      </p:sp>
      <p:pic>
        <p:nvPicPr>
          <p:cNvPr id="5" name="Content Placeholder 4">
            <a:extLst>
              <a:ext uri="{FF2B5EF4-FFF2-40B4-BE49-F238E27FC236}">
                <a16:creationId xmlns:a16="http://schemas.microsoft.com/office/drawing/2014/main" id="{6C537ABB-B43B-FC4A-B2A8-86628EAE9827}"/>
              </a:ext>
            </a:extLst>
          </p:cNvPr>
          <p:cNvPicPr>
            <a:picLocks noGrp="1" noChangeAspect="1"/>
          </p:cNvPicPr>
          <p:nvPr>
            <p:ph idx="1"/>
          </p:nvPr>
        </p:nvPicPr>
        <p:blipFill>
          <a:blip r:embed="rId2"/>
          <a:stretch>
            <a:fillRect/>
          </a:stretch>
        </p:blipFill>
        <p:spPr>
          <a:xfrm>
            <a:off x="351183" y="1632640"/>
            <a:ext cx="7858539" cy="4860235"/>
          </a:xfrm>
          <a:prstGeom prst="rect">
            <a:avLst/>
          </a:prstGeom>
        </p:spPr>
      </p:pic>
      <p:pic>
        <p:nvPicPr>
          <p:cNvPr id="7" name="Picture 6">
            <a:extLst>
              <a:ext uri="{FF2B5EF4-FFF2-40B4-BE49-F238E27FC236}">
                <a16:creationId xmlns:a16="http://schemas.microsoft.com/office/drawing/2014/main" id="{B070E4A6-7074-C0CA-0033-B467F100E099}"/>
              </a:ext>
            </a:extLst>
          </p:cNvPr>
          <p:cNvPicPr>
            <a:picLocks noChangeAspect="1"/>
          </p:cNvPicPr>
          <p:nvPr/>
        </p:nvPicPr>
        <p:blipFill>
          <a:blip r:embed="rId3"/>
          <a:stretch>
            <a:fillRect/>
          </a:stretch>
        </p:blipFill>
        <p:spPr>
          <a:xfrm>
            <a:off x="8209722" y="1632640"/>
            <a:ext cx="3846443" cy="4553585"/>
          </a:xfrm>
          <a:prstGeom prst="rect">
            <a:avLst/>
          </a:prstGeom>
        </p:spPr>
      </p:pic>
    </p:spTree>
    <p:extLst>
      <p:ext uri="{BB962C8B-B14F-4D97-AF65-F5344CB8AC3E}">
        <p14:creationId xmlns:p14="http://schemas.microsoft.com/office/powerpoint/2010/main" val="131057652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85FE0A-E090-0BD3-EF28-864ACE7DF6F7}"/>
              </a:ext>
            </a:extLst>
          </p:cNvPr>
          <p:cNvSpPr>
            <a:spLocks noGrp="1"/>
          </p:cNvSpPr>
          <p:nvPr>
            <p:ph type="title"/>
          </p:nvPr>
        </p:nvSpPr>
        <p:spPr/>
        <p:txBody>
          <a:bodyPr/>
          <a:lstStyle/>
          <a:p>
            <a:r>
              <a:rPr lang="en-IN" b="1" dirty="0"/>
              <a:t>Linear SVM Regression</a:t>
            </a:r>
            <a:endParaRPr lang="en-IN" dirty="0"/>
          </a:p>
        </p:txBody>
      </p:sp>
      <p:pic>
        <p:nvPicPr>
          <p:cNvPr id="5" name="Content Placeholder 4">
            <a:extLst>
              <a:ext uri="{FF2B5EF4-FFF2-40B4-BE49-F238E27FC236}">
                <a16:creationId xmlns:a16="http://schemas.microsoft.com/office/drawing/2014/main" id="{216A84F5-E48F-707D-62B4-784A70E0A30C}"/>
              </a:ext>
            </a:extLst>
          </p:cNvPr>
          <p:cNvPicPr>
            <a:picLocks noGrp="1" noChangeAspect="1"/>
          </p:cNvPicPr>
          <p:nvPr>
            <p:ph idx="1"/>
          </p:nvPr>
        </p:nvPicPr>
        <p:blipFill>
          <a:blip r:embed="rId2"/>
          <a:stretch>
            <a:fillRect/>
          </a:stretch>
        </p:blipFill>
        <p:spPr>
          <a:xfrm>
            <a:off x="978338" y="1378363"/>
            <a:ext cx="10375461" cy="5114511"/>
          </a:xfrm>
          <a:prstGeom prst="rect">
            <a:avLst/>
          </a:prstGeom>
        </p:spPr>
      </p:pic>
    </p:spTree>
    <p:extLst>
      <p:ext uri="{BB962C8B-B14F-4D97-AF65-F5344CB8AC3E}">
        <p14:creationId xmlns:p14="http://schemas.microsoft.com/office/powerpoint/2010/main" val="93090827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58B07C-0BD8-1B82-5E20-58889B2F5B2E}"/>
              </a:ext>
            </a:extLst>
          </p:cNvPr>
          <p:cNvSpPr>
            <a:spLocks noGrp="1"/>
          </p:cNvSpPr>
          <p:nvPr>
            <p:ph type="title"/>
          </p:nvPr>
        </p:nvSpPr>
        <p:spPr/>
        <p:txBody>
          <a:bodyPr/>
          <a:lstStyle/>
          <a:p>
            <a:r>
              <a:rPr lang="en-IN" b="1" dirty="0"/>
              <a:t>Linear SVM Regression</a:t>
            </a:r>
            <a:endParaRPr lang="en-IN" dirty="0"/>
          </a:p>
        </p:txBody>
      </p:sp>
      <p:pic>
        <p:nvPicPr>
          <p:cNvPr id="5" name="Content Placeholder 4">
            <a:extLst>
              <a:ext uri="{FF2B5EF4-FFF2-40B4-BE49-F238E27FC236}">
                <a16:creationId xmlns:a16="http://schemas.microsoft.com/office/drawing/2014/main" id="{6A971DBE-DDE5-6E25-1730-A0529B0DCA8E}"/>
              </a:ext>
            </a:extLst>
          </p:cNvPr>
          <p:cNvPicPr>
            <a:picLocks noGrp="1" noChangeAspect="1"/>
          </p:cNvPicPr>
          <p:nvPr>
            <p:ph idx="1"/>
          </p:nvPr>
        </p:nvPicPr>
        <p:blipFill>
          <a:blip r:embed="rId2"/>
          <a:stretch>
            <a:fillRect/>
          </a:stretch>
        </p:blipFill>
        <p:spPr>
          <a:xfrm>
            <a:off x="1011816" y="1487694"/>
            <a:ext cx="9891410" cy="4863409"/>
          </a:xfrm>
          <a:prstGeom prst="rect">
            <a:avLst/>
          </a:prstGeom>
        </p:spPr>
      </p:pic>
    </p:spTree>
    <p:extLst>
      <p:ext uri="{BB962C8B-B14F-4D97-AF65-F5344CB8AC3E}">
        <p14:creationId xmlns:p14="http://schemas.microsoft.com/office/powerpoint/2010/main" val="16194727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02D03-9D52-49E4-D94D-606256F404BE}"/>
              </a:ext>
            </a:extLst>
          </p:cNvPr>
          <p:cNvSpPr>
            <a:spLocks noGrp="1"/>
          </p:cNvSpPr>
          <p:nvPr>
            <p:ph type="title"/>
          </p:nvPr>
        </p:nvSpPr>
        <p:spPr/>
        <p:txBody>
          <a:bodyPr>
            <a:normAutofit/>
          </a:bodyPr>
          <a:lstStyle/>
          <a:p>
            <a:r>
              <a:rPr lang="en-IN" b="1" dirty="0"/>
              <a:t>Non Linear </a:t>
            </a:r>
            <a:r>
              <a:rPr lang="en-US" b="1" dirty="0"/>
              <a:t>SVM Regression</a:t>
            </a:r>
            <a:endParaRPr lang="en-IN" b="1" dirty="0"/>
          </a:p>
        </p:txBody>
      </p:sp>
      <p:pic>
        <p:nvPicPr>
          <p:cNvPr id="5" name="Content Placeholder 4">
            <a:extLst>
              <a:ext uri="{FF2B5EF4-FFF2-40B4-BE49-F238E27FC236}">
                <a16:creationId xmlns:a16="http://schemas.microsoft.com/office/drawing/2014/main" id="{E8973E98-C8FB-5B89-917E-D836D8DF0C6C}"/>
              </a:ext>
            </a:extLst>
          </p:cNvPr>
          <p:cNvPicPr>
            <a:picLocks noGrp="1" noChangeAspect="1"/>
          </p:cNvPicPr>
          <p:nvPr>
            <p:ph idx="1"/>
          </p:nvPr>
        </p:nvPicPr>
        <p:blipFill>
          <a:blip r:embed="rId2"/>
          <a:stretch>
            <a:fillRect/>
          </a:stretch>
        </p:blipFill>
        <p:spPr>
          <a:xfrm>
            <a:off x="954085" y="1825625"/>
            <a:ext cx="10283830" cy="4351338"/>
          </a:xfrm>
          <a:prstGeom prst="rect">
            <a:avLst/>
          </a:prstGeom>
        </p:spPr>
      </p:pic>
      <p:sp>
        <p:nvSpPr>
          <p:cNvPr id="7" name="TextBox 6">
            <a:extLst>
              <a:ext uri="{FF2B5EF4-FFF2-40B4-BE49-F238E27FC236}">
                <a16:creationId xmlns:a16="http://schemas.microsoft.com/office/drawing/2014/main" id="{41A4DE1F-34C2-06E7-25FC-7BED4F5456C4}"/>
              </a:ext>
            </a:extLst>
          </p:cNvPr>
          <p:cNvSpPr txBox="1"/>
          <p:nvPr/>
        </p:nvSpPr>
        <p:spPr>
          <a:xfrm>
            <a:off x="2800350" y="6308209"/>
            <a:ext cx="6097656" cy="461665"/>
          </a:xfrm>
          <a:prstGeom prst="rect">
            <a:avLst/>
          </a:prstGeom>
          <a:noFill/>
        </p:spPr>
        <p:txBody>
          <a:bodyPr wrap="square">
            <a:spAutoFit/>
          </a:bodyPr>
          <a:lstStyle/>
          <a:p>
            <a:r>
              <a:rPr lang="en-US" sz="2400" dirty="0"/>
              <a:t>using a second-degree polynomial kernel</a:t>
            </a:r>
            <a:endParaRPr lang="en-IN" sz="2400" dirty="0"/>
          </a:p>
        </p:txBody>
      </p:sp>
    </p:spTree>
    <p:extLst>
      <p:ext uri="{BB962C8B-B14F-4D97-AF65-F5344CB8AC3E}">
        <p14:creationId xmlns:p14="http://schemas.microsoft.com/office/powerpoint/2010/main" val="154197249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DC6E46-8B98-A819-C628-549961F51244}"/>
              </a:ext>
            </a:extLst>
          </p:cNvPr>
          <p:cNvSpPr>
            <a:spLocks noGrp="1"/>
          </p:cNvSpPr>
          <p:nvPr>
            <p:ph type="title"/>
          </p:nvPr>
        </p:nvSpPr>
        <p:spPr/>
        <p:txBody>
          <a:bodyPr/>
          <a:lstStyle/>
          <a:p>
            <a:r>
              <a:rPr lang="en-IN" b="1" dirty="0"/>
              <a:t>Non Linear </a:t>
            </a:r>
            <a:r>
              <a:rPr lang="en-US" b="1" dirty="0"/>
              <a:t>SVM Regression</a:t>
            </a:r>
            <a:endParaRPr lang="en-IN" dirty="0"/>
          </a:p>
        </p:txBody>
      </p:sp>
      <p:pic>
        <p:nvPicPr>
          <p:cNvPr id="5" name="Content Placeholder 4">
            <a:extLst>
              <a:ext uri="{FF2B5EF4-FFF2-40B4-BE49-F238E27FC236}">
                <a16:creationId xmlns:a16="http://schemas.microsoft.com/office/drawing/2014/main" id="{C1A6654F-F6FF-BF0C-C821-9CCF4FAD6C73}"/>
              </a:ext>
            </a:extLst>
          </p:cNvPr>
          <p:cNvPicPr>
            <a:picLocks noGrp="1" noChangeAspect="1"/>
          </p:cNvPicPr>
          <p:nvPr>
            <p:ph idx="1"/>
          </p:nvPr>
        </p:nvPicPr>
        <p:blipFill>
          <a:blip r:embed="rId2"/>
          <a:stretch>
            <a:fillRect/>
          </a:stretch>
        </p:blipFill>
        <p:spPr>
          <a:xfrm>
            <a:off x="851731" y="1825625"/>
            <a:ext cx="10488537" cy="4351338"/>
          </a:xfrm>
          <a:prstGeom prst="rect">
            <a:avLst/>
          </a:prstGeom>
        </p:spPr>
      </p:pic>
    </p:spTree>
    <p:extLst>
      <p:ext uri="{BB962C8B-B14F-4D97-AF65-F5344CB8AC3E}">
        <p14:creationId xmlns:p14="http://schemas.microsoft.com/office/powerpoint/2010/main" val="419062588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80A6C-8FAC-E9F4-3F24-35D76005A370}"/>
              </a:ext>
            </a:extLst>
          </p:cNvPr>
          <p:cNvSpPr>
            <a:spLocks noGrp="1"/>
          </p:cNvSpPr>
          <p:nvPr>
            <p:ph type="title"/>
          </p:nvPr>
        </p:nvSpPr>
        <p:spPr/>
        <p:txBody>
          <a:bodyPr/>
          <a:lstStyle/>
          <a:p>
            <a:r>
              <a:rPr lang="en-IN" b="1" dirty="0"/>
              <a:t>Non Linear </a:t>
            </a:r>
            <a:r>
              <a:rPr lang="en-US" b="1" dirty="0"/>
              <a:t>SVM Regression</a:t>
            </a:r>
            <a:endParaRPr lang="en-IN" dirty="0"/>
          </a:p>
        </p:txBody>
      </p:sp>
      <p:pic>
        <p:nvPicPr>
          <p:cNvPr id="5" name="Content Placeholder 4">
            <a:extLst>
              <a:ext uri="{FF2B5EF4-FFF2-40B4-BE49-F238E27FC236}">
                <a16:creationId xmlns:a16="http://schemas.microsoft.com/office/drawing/2014/main" id="{65E96F57-93FB-4DD0-61C6-D6B019C59882}"/>
              </a:ext>
            </a:extLst>
          </p:cNvPr>
          <p:cNvPicPr>
            <a:picLocks noGrp="1" noChangeAspect="1"/>
          </p:cNvPicPr>
          <p:nvPr>
            <p:ph idx="1"/>
          </p:nvPr>
        </p:nvPicPr>
        <p:blipFill>
          <a:blip r:embed="rId2"/>
          <a:stretch>
            <a:fillRect/>
          </a:stretch>
        </p:blipFill>
        <p:spPr>
          <a:xfrm>
            <a:off x="1955075" y="1825625"/>
            <a:ext cx="8281850" cy="4351338"/>
          </a:xfrm>
          <a:prstGeom prst="rect">
            <a:avLst/>
          </a:prstGeom>
        </p:spPr>
      </p:pic>
    </p:spTree>
    <p:extLst>
      <p:ext uri="{BB962C8B-B14F-4D97-AF65-F5344CB8AC3E}">
        <p14:creationId xmlns:p14="http://schemas.microsoft.com/office/powerpoint/2010/main" val="16323183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1744</Words>
  <Application>Microsoft Office PowerPoint</Application>
  <PresentationFormat>Widescreen</PresentationFormat>
  <Paragraphs>150</Paragraphs>
  <Slides>42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42</vt:i4>
      </vt:variant>
    </vt:vector>
  </HeadingPairs>
  <TitlesOfParts>
    <vt:vector size="47" baseType="lpstr">
      <vt:lpstr>Arial</vt:lpstr>
      <vt:lpstr>Calibri</vt:lpstr>
      <vt:lpstr>Calibri Light</vt:lpstr>
      <vt:lpstr>Cambria Math</vt:lpstr>
      <vt:lpstr>Office Theme</vt:lpstr>
      <vt:lpstr>Support Vector machines</vt:lpstr>
      <vt:lpstr>Support Vector machines</vt:lpstr>
      <vt:lpstr>Types of Support Vector Machine</vt:lpstr>
      <vt:lpstr>Linear SVM Classification</vt:lpstr>
      <vt:lpstr>How does Support Vector Machine Algorithm Work?</vt:lpstr>
      <vt:lpstr>How does Support Vector Machine Algorithm Work?</vt:lpstr>
      <vt:lpstr>Hard Margin Classification</vt:lpstr>
      <vt:lpstr>How does Support Vector Machine Algorithm Work?</vt:lpstr>
      <vt:lpstr>Soft Margin Classification</vt:lpstr>
      <vt:lpstr>PowerPoint Presentation</vt:lpstr>
      <vt:lpstr>PowerPoint Presentation</vt:lpstr>
      <vt:lpstr>PowerPoint Presentation</vt:lpstr>
      <vt:lpstr>PowerPoint Presentation</vt:lpstr>
      <vt:lpstr>Linear SVM classifier cost function</vt:lpstr>
      <vt:lpstr>Hinge Loss</vt:lpstr>
      <vt:lpstr>Nonlinear SVM Classification – non linearly separable</vt:lpstr>
      <vt:lpstr>Nonlinear SVM Classification – non linearly separable</vt:lpstr>
      <vt:lpstr>Nonlinear SVM Classification – non linearly separable</vt:lpstr>
      <vt:lpstr>Nonlinear SVM Classification – non linearly separable</vt:lpstr>
      <vt:lpstr>Nonlinear SVM Classification – non linearly separable</vt:lpstr>
      <vt:lpstr>Nonlinear SVM Classification – non linearly separable</vt:lpstr>
      <vt:lpstr>Nonlinear SVM Classification – non linearly separable</vt:lpstr>
      <vt:lpstr>Nonlinear SVM Classification – non linearly separable</vt:lpstr>
      <vt:lpstr>Key Concepts of Support Vector Machine</vt:lpstr>
      <vt:lpstr>Key Concepts of Support Vector Machine</vt:lpstr>
      <vt:lpstr>Advantages of Support Vector Machine (SVM)</vt:lpstr>
      <vt:lpstr>Disadvantages of Support Vector Machine (SVM)</vt:lpstr>
      <vt:lpstr>Feature Scaling Sensitivity</vt:lpstr>
      <vt:lpstr>Linear SVM Classification</vt:lpstr>
      <vt:lpstr>PowerPoint Presentation</vt:lpstr>
      <vt:lpstr>Linear SVM Classification</vt:lpstr>
      <vt:lpstr>Linear SVM Classification</vt:lpstr>
      <vt:lpstr>Linear SVM Classification</vt:lpstr>
      <vt:lpstr>Linear SVM Classification</vt:lpstr>
      <vt:lpstr>SVM Regression</vt:lpstr>
      <vt:lpstr>Linear SVM Regression</vt:lpstr>
      <vt:lpstr>Linear SVM Regression</vt:lpstr>
      <vt:lpstr>Linear SVM Regression</vt:lpstr>
      <vt:lpstr>Linear SVM Regression</vt:lpstr>
      <vt:lpstr>Non Linear SVM Regression</vt:lpstr>
      <vt:lpstr>Non Linear SVM Regression</vt:lpstr>
      <vt:lpstr>Non Linear SVM Regression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Neethu Suman</dc:creator>
  <cp:lastModifiedBy>Neethu Suman</cp:lastModifiedBy>
  <cp:revision>1</cp:revision>
  <dcterms:created xsi:type="dcterms:W3CDTF">2026-01-22T06:53:37Z</dcterms:created>
  <dcterms:modified xsi:type="dcterms:W3CDTF">2026-01-22T06:54:07Z</dcterms:modified>
</cp:coreProperties>
</file>