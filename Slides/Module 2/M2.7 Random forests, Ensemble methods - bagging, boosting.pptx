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8" r:id="rId2"/>
    <p:sldId id="439" r:id="rId3"/>
    <p:sldId id="440" r:id="rId4"/>
    <p:sldId id="441" r:id="rId5"/>
    <p:sldId id="442" r:id="rId6"/>
    <p:sldId id="443" r:id="rId7"/>
    <p:sldId id="265" r:id="rId8"/>
    <p:sldId id="444" r:id="rId9"/>
    <p:sldId id="445" r:id="rId10"/>
    <p:sldId id="446" r:id="rId11"/>
    <p:sldId id="447" r:id="rId12"/>
    <p:sldId id="448" r:id="rId13"/>
    <p:sldId id="449" r:id="rId14"/>
    <p:sldId id="450" r:id="rId15"/>
    <p:sldId id="451" r:id="rId16"/>
    <p:sldId id="452" r:id="rId17"/>
    <p:sldId id="45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8E934-E01D-FB33-A5AA-1DD5EFED9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8FC1B5-0A55-DC82-D877-771A1FC68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0FEB34-1BCD-D017-A377-E726A33B19AC}"/>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5" name="Footer Placeholder 4">
            <a:extLst>
              <a:ext uri="{FF2B5EF4-FFF2-40B4-BE49-F238E27FC236}">
                <a16:creationId xmlns:a16="http://schemas.microsoft.com/office/drawing/2014/main" id="{3F0579B4-598E-BBF0-CB6B-C08802B77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CECA7B-04F7-1792-384B-767ECFA1E3B5}"/>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802327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55CA-EDD8-643C-4FD2-627C287D3A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3D202D-6D28-A20A-2C72-DF0CD92CD9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6E544-DDB4-93D4-C94F-CFCAFCBD0D9B}"/>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5" name="Footer Placeholder 4">
            <a:extLst>
              <a:ext uri="{FF2B5EF4-FFF2-40B4-BE49-F238E27FC236}">
                <a16:creationId xmlns:a16="http://schemas.microsoft.com/office/drawing/2014/main" id="{D66A45E5-B035-9AAD-790B-63701C8A4F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A06AE3-6778-0834-9673-794E3CD383BF}"/>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3114206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49BF-5193-CE83-576B-0705A36A3C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A5B4C1-5482-705B-61F1-680046FF9D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EB391B-EE74-2F39-6B01-41C80095A698}"/>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5" name="Footer Placeholder 4">
            <a:extLst>
              <a:ext uri="{FF2B5EF4-FFF2-40B4-BE49-F238E27FC236}">
                <a16:creationId xmlns:a16="http://schemas.microsoft.com/office/drawing/2014/main" id="{19FDD837-B036-21D3-7BBC-095067EF7E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BF115E-140D-8FA3-7B4B-BE5DEB9DDDEE}"/>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3399703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D8DFD-ABD9-CAC8-5B67-D7F1258C45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485A65-757A-F03D-5873-66109CD32A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6D6D61-D140-3B3D-CC9C-EF0D4F2BA3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8CD3CB-589E-8647-5DD0-A1AC19F0CC40}"/>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6" name="Footer Placeholder 5">
            <a:extLst>
              <a:ext uri="{FF2B5EF4-FFF2-40B4-BE49-F238E27FC236}">
                <a16:creationId xmlns:a16="http://schemas.microsoft.com/office/drawing/2014/main" id="{0FC34C53-2116-53E7-B6ED-8594B47F44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5314F4-73CD-67C1-0306-AC8710FC7D88}"/>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1636361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0EB3C-861B-88CD-ABD8-AC8DD30DB7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212A30-3285-5CB9-362E-BB3C333DAE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4FAA9E-649D-8174-BCCD-91B895DC5E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137FFE-36EF-739E-0629-6B4AF412A7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B95882-9B10-E8C9-C9A8-8652C4E328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442F67-0602-7F60-7C6E-4BAE262AD219}"/>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8" name="Footer Placeholder 7">
            <a:extLst>
              <a:ext uri="{FF2B5EF4-FFF2-40B4-BE49-F238E27FC236}">
                <a16:creationId xmlns:a16="http://schemas.microsoft.com/office/drawing/2014/main" id="{83BEF323-1188-384C-2388-96D5D9ACA9C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DEE988-2488-4BFB-DB36-DF3481DC0BF4}"/>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1023666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3379F-ACDA-E947-E9C5-55FEA16AE3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A8573-8390-BCA8-0094-A19A6136B62C}"/>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4" name="Footer Placeholder 3">
            <a:extLst>
              <a:ext uri="{FF2B5EF4-FFF2-40B4-BE49-F238E27FC236}">
                <a16:creationId xmlns:a16="http://schemas.microsoft.com/office/drawing/2014/main" id="{0BA0B85E-55AC-71A7-3434-A072AEB9BA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6A5A27-6573-A08B-CC4E-FFB346C2600F}"/>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124172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F89432-55A5-E5DB-8972-D3D73FC26D0D}"/>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3" name="Footer Placeholder 2">
            <a:extLst>
              <a:ext uri="{FF2B5EF4-FFF2-40B4-BE49-F238E27FC236}">
                <a16:creationId xmlns:a16="http://schemas.microsoft.com/office/drawing/2014/main" id="{B08FB367-55D6-238C-FF83-CF3F15ECCF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B9E3F0-E305-D67E-52FD-B781264BDE78}"/>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4200061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4D2E-4386-653B-CE2B-39AB2360BD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EC6502-9E5A-C48A-DA1E-029025E35E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16DBA94-75C2-CBC8-70B6-8ED503DDB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F0B0FD-E9EC-75FE-BA1D-41A164D01827}"/>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6" name="Footer Placeholder 5">
            <a:extLst>
              <a:ext uri="{FF2B5EF4-FFF2-40B4-BE49-F238E27FC236}">
                <a16:creationId xmlns:a16="http://schemas.microsoft.com/office/drawing/2014/main" id="{C8CD8B13-C1FC-9C30-4121-2404613F15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370336-CC06-7259-3262-A6295D3D857B}"/>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3583645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6727-9ABC-60FE-BF25-FB2B968738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DFC271-CE6F-AD55-DB3A-CB0DD32D03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1CC5E9-516D-1AD8-964E-6F5C9D103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7ABAFC-8951-DCF5-0155-89D4E03293B3}"/>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6" name="Footer Placeholder 5">
            <a:extLst>
              <a:ext uri="{FF2B5EF4-FFF2-40B4-BE49-F238E27FC236}">
                <a16:creationId xmlns:a16="http://schemas.microsoft.com/office/drawing/2014/main" id="{502B6B11-3E0A-B12A-2F6F-B017ACE052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E2D623-D328-C59F-B201-903D281D3CE9}"/>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2187686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95087-F7EF-8352-B0BA-7333B642F5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8D64E5-5F49-F43C-1AAC-3E778404B2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65E270-B561-6408-0D00-D4F6C22F69F8}"/>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5" name="Footer Placeholder 4">
            <a:extLst>
              <a:ext uri="{FF2B5EF4-FFF2-40B4-BE49-F238E27FC236}">
                <a16:creationId xmlns:a16="http://schemas.microsoft.com/office/drawing/2014/main" id="{9C2AEB13-70A2-45D2-DCEF-259F38ED0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8564C4-ECA2-ED75-52FA-0C304CC3FF00}"/>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372927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978102-841C-9C04-42E2-C8003E640C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9F94A-7FD6-C6D6-30E5-3AC7965930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101615-0BF6-D00A-1638-68ABBFCA8FDC}"/>
              </a:ext>
            </a:extLst>
          </p:cNvPr>
          <p:cNvSpPr>
            <a:spLocks noGrp="1"/>
          </p:cNvSpPr>
          <p:nvPr>
            <p:ph type="dt" sz="half" idx="10"/>
          </p:nvPr>
        </p:nvSpPr>
        <p:spPr/>
        <p:txBody>
          <a:bodyPr/>
          <a:lstStyle/>
          <a:p>
            <a:fld id="{A5BE56DA-F91C-4A00-A1AF-327D7B259456}" type="datetimeFigureOut">
              <a:rPr lang="en-IN" smtClean="0"/>
              <a:t>22-01-2026</a:t>
            </a:fld>
            <a:endParaRPr lang="en-IN"/>
          </a:p>
        </p:txBody>
      </p:sp>
      <p:sp>
        <p:nvSpPr>
          <p:cNvPr id="5" name="Footer Placeholder 4">
            <a:extLst>
              <a:ext uri="{FF2B5EF4-FFF2-40B4-BE49-F238E27FC236}">
                <a16:creationId xmlns:a16="http://schemas.microsoft.com/office/drawing/2014/main" id="{6100C5FF-B99E-C31F-ACC5-E60F811EC3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0FE0E2-9824-0025-3076-9C511F1A4E5A}"/>
              </a:ext>
            </a:extLst>
          </p:cNvPr>
          <p:cNvSpPr>
            <a:spLocks noGrp="1"/>
          </p:cNvSpPr>
          <p:nvPr>
            <p:ph type="sldNum" sz="quarter" idx="12"/>
          </p:nvPr>
        </p:nvSpPr>
        <p:spPr/>
        <p:txBody>
          <a:bodyPr/>
          <a:lstStyle/>
          <a:p>
            <a:fld id="{081B5F95-8E45-4823-80B9-334F27C60B21}" type="slidenum">
              <a:rPr lang="en-IN" smtClean="0"/>
              <a:t>‹#›</a:t>
            </a:fld>
            <a:endParaRPr lang="en-IN"/>
          </a:p>
        </p:txBody>
      </p:sp>
    </p:spTree>
    <p:extLst>
      <p:ext uri="{BB962C8B-B14F-4D97-AF65-F5344CB8AC3E}">
        <p14:creationId xmlns:p14="http://schemas.microsoft.com/office/powerpoint/2010/main" val="358008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E729DF-A0C9-AA13-6E22-E4B5793D4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AE9C61-8C1C-604E-634F-76ABDCD330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72A6D6-D021-970D-E999-626BDA1596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BE56DA-F91C-4A00-A1AF-327D7B259456}" type="datetimeFigureOut">
              <a:rPr lang="en-IN" smtClean="0"/>
              <a:t>22-01-2026</a:t>
            </a:fld>
            <a:endParaRPr lang="en-IN"/>
          </a:p>
        </p:txBody>
      </p:sp>
      <p:sp>
        <p:nvSpPr>
          <p:cNvPr id="5" name="Footer Placeholder 4">
            <a:extLst>
              <a:ext uri="{FF2B5EF4-FFF2-40B4-BE49-F238E27FC236}">
                <a16:creationId xmlns:a16="http://schemas.microsoft.com/office/drawing/2014/main" id="{ABB3951E-9FD1-D7B1-C3BD-46753C4302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417DC0-2DE6-FDB6-009E-9C8273C1E8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1B5F95-8E45-4823-80B9-334F27C60B21}" type="slidenum">
              <a:rPr lang="en-IN" smtClean="0"/>
              <a:t>‹#›</a:t>
            </a:fld>
            <a:endParaRPr lang="en-IN"/>
          </a:p>
        </p:txBody>
      </p:sp>
    </p:spTree>
    <p:extLst>
      <p:ext uri="{BB962C8B-B14F-4D97-AF65-F5344CB8AC3E}">
        <p14:creationId xmlns:p14="http://schemas.microsoft.com/office/powerpoint/2010/main" val="2052942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machine-learning/decision-tre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DC5D-89FE-99AD-6FE3-7854136A96F1}"/>
              </a:ext>
            </a:extLst>
          </p:cNvPr>
          <p:cNvSpPr>
            <a:spLocks noGrp="1"/>
          </p:cNvSpPr>
          <p:nvPr>
            <p:ph type="title"/>
          </p:nvPr>
        </p:nvSpPr>
        <p:spPr/>
        <p:txBody>
          <a:bodyPr/>
          <a:lstStyle/>
          <a:p>
            <a:r>
              <a:rPr lang="en-US" dirty="0"/>
              <a:t>Random forests</a:t>
            </a:r>
            <a:endParaRPr lang="en-IN" dirty="0"/>
          </a:p>
        </p:txBody>
      </p:sp>
      <p:sp>
        <p:nvSpPr>
          <p:cNvPr id="3" name="Content Placeholder 2">
            <a:extLst>
              <a:ext uri="{FF2B5EF4-FFF2-40B4-BE49-F238E27FC236}">
                <a16:creationId xmlns:a16="http://schemas.microsoft.com/office/drawing/2014/main" id="{E5F2613E-AFAD-DE76-C65F-617572775A2E}"/>
              </a:ext>
            </a:extLst>
          </p:cNvPr>
          <p:cNvSpPr>
            <a:spLocks noGrp="1"/>
          </p:cNvSpPr>
          <p:nvPr>
            <p:ph idx="1"/>
          </p:nvPr>
        </p:nvSpPr>
        <p:spPr/>
        <p:txBody>
          <a:bodyPr/>
          <a:lstStyle/>
          <a:p>
            <a:r>
              <a:rPr lang="en-US" dirty="0"/>
              <a:t>Random Forest is a machine learning algorithm that uses many decision trees to make better predictions. Each tree looks at different random parts of the data and their results are combined by voting for classification or averaging for regression which makes it as ensemble learning technique. This helps in improving accuracy and reducing errors.</a:t>
            </a:r>
          </a:p>
          <a:p>
            <a:endParaRPr lang="en-IN" dirty="0"/>
          </a:p>
        </p:txBody>
      </p:sp>
    </p:spTree>
    <p:extLst>
      <p:ext uri="{BB962C8B-B14F-4D97-AF65-F5344CB8AC3E}">
        <p14:creationId xmlns:p14="http://schemas.microsoft.com/office/powerpoint/2010/main" val="981089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DED99-A00D-036F-ECDA-3283727ABA85}"/>
              </a:ext>
            </a:extLst>
          </p:cNvPr>
          <p:cNvSpPr>
            <a:spLocks noGrp="1"/>
          </p:cNvSpPr>
          <p:nvPr>
            <p:ph type="title"/>
          </p:nvPr>
        </p:nvSpPr>
        <p:spPr/>
        <p:txBody>
          <a:bodyPr/>
          <a:lstStyle/>
          <a:p>
            <a:r>
              <a:rPr lang="en-US" dirty="0"/>
              <a:t>Random forests</a:t>
            </a:r>
            <a:endParaRPr lang="en-IN" dirty="0"/>
          </a:p>
        </p:txBody>
      </p:sp>
      <p:pic>
        <p:nvPicPr>
          <p:cNvPr id="5" name="Content Placeholder 4">
            <a:extLst>
              <a:ext uri="{FF2B5EF4-FFF2-40B4-BE49-F238E27FC236}">
                <a16:creationId xmlns:a16="http://schemas.microsoft.com/office/drawing/2014/main" id="{CB334253-E8D0-444C-A0DD-8C156712FBC0}"/>
              </a:ext>
            </a:extLst>
          </p:cNvPr>
          <p:cNvPicPr>
            <a:picLocks noGrp="1" noChangeAspect="1"/>
          </p:cNvPicPr>
          <p:nvPr>
            <p:ph idx="1"/>
          </p:nvPr>
        </p:nvPicPr>
        <p:blipFill>
          <a:blip r:embed="rId2"/>
          <a:stretch>
            <a:fillRect/>
          </a:stretch>
        </p:blipFill>
        <p:spPr>
          <a:xfrm>
            <a:off x="1730442" y="1825625"/>
            <a:ext cx="8731116" cy="4351338"/>
          </a:xfrm>
          <a:prstGeom prst="rect">
            <a:avLst/>
          </a:prstGeom>
        </p:spPr>
      </p:pic>
    </p:spTree>
    <p:extLst>
      <p:ext uri="{BB962C8B-B14F-4D97-AF65-F5344CB8AC3E}">
        <p14:creationId xmlns:p14="http://schemas.microsoft.com/office/powerpoint/2010/main" val="3661583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322E-C163-CAEB-7B7C-0F2D757793AC}"/>
              </a:ext>
            </a:extLst>
          </p:cNvPr>
          <p:cNvSpPr>
            <a:spLocks noGrp="1"/>
          </p:cNvSpPr>
          <p:nvPr>
            <p:ph type="title"/>
          </p:nvPr>
        </p:nvSpPr>
        <p:spPr/>
        <p:txBody>
          <a:bodyPr/>
          <a:lstStyle/>
          <a:p>
            <a:r>
              <a:rPr lang="en-US" b="1" dirty="0"/>
              <a:t>Working of Random Forest Algorithm</a:t>
            </a:r>
            <a:endParaRPr lang="en-IN" dirty="0"/>
          </a:p>
        </p:txBody>
      </p:sp>
      <p:sp>
        <p:nvSpPr>
          <p:cNvPr id="3" name="Content Placeholder 2">
            <a:extLst>
              <a:ext uri="{FF2B5EF4-FFF2-40B4-BE49-F238E27FC236}">
                <a16:creationId xmlns:a16="http://schemas.microsoft.com/office/drawing/2014/main" id="{7D8DA48A-0001-0FC7-827D-20C37AF8557B}"/>
              </a:ext>
            </a:extLst>
          </p:cNvPr>
          <p:cNvSpPr>
            <a:spLocks noGrp="1"/>
          </p:cNvSpPr>
          <p:nvPr>
            <p:ph idx="1"/>
          </p:nvPr>
        </p:nvSpPr>
        <p:spPr/>
        <p:txBody>
          <a:bodyPr>
            <a:normAutofit/>
          </a:bodyPr>
          <a:lstStyle/>
          <a:p>
            <a:pPr fontAlgn="base"/>
            <a:r>
              <a:rPr lang="en-US" sz="2400" b="1" dirty="0"/>
              <a:t>Create Many Decision Trees:</a:t>
            </a:r>
            <a:r>
              <a:rPr lang="en-US" sz="2400" dirty="0"/>
              <a:t> The algorithm makes many decision trees each using a random part of the data. So, every tree is a bit different.</a:t>
            </a:r>
          </a:p>
          <a:p>
            <a:pPr fontAlgn="base"/>
            <a:r>
              <a:rPr lang="en-US" sz="2400" b="1" dirty="0"/>
              <a:t>Pick Random Features:</a:t>
            </a:r>
            <a:r>
              <a:rPr lang="en-US" sz="2400" dirty="0"/>
              <a:t> When building each tree it doesn’t look at all the features (columns) at once. It picks a few at random to decide how to split the data. This helps the trees stay different from each other.</a:t>
            </a:r>
          </a:p>
          <a:p>
            <a:pPr fontAlgn="base"/>
            <a:r>
              <a:rPr lang="en-US" sz="2400" b="1" dirty="0"/>
              <a:t>Each Tree Makes a Prediction:</a:t>
            </a:r>
            <a:r>
              <a:rPr lang="en-US" sz="2400" dirty="0"/>
              <a:t> Every tree gives its own answer or prediction based on what it learned from its part of the data.</a:t>
            </a:r>
          </a:p>
          <a:p>
            <a:pPr fontAlgn="base"/>
            <a:r>
              <a:rPr lang="en-US" sz="2400" b="1" dirty="0"/>
              <a:t>Combine the Predictions:</a:t>
            </a:r>
            <a:r>
              <a:rPr lang="en-US" sz="2400" dirty="0"/>
              <a:t> For </a:t>
            </a:r>
            <a:r>
              <a:rPr lang="en-US" sz="2400" b="1" dirty="0"/>
              <a:t>classification</a:t>
            </a:r>
            <a:r>
              <a:rPr lang="en-US" sz="2400" dirty="0"/>
              <a:t> we choose a category as the final answer is the one that most trees agree on </a:t>
            </a:r>
            <a:r>
              <a:rPr lang="en-US" sz="2400" dirty="0" err="1"/>
              <a:t>i.e</a:t>
            </a:r>
            <a:r>
              <a:rPr lang="en-US" sz="2400" dirty="0"/>
              <a:t> majority voting and for </a:t>
            </a:r>
            <a:r>
              <a:rPr lang="en-US" sz="2400" b="1" dirty="0"/>
              <a:t>regression</a:t>
            </a:r>
            <a:r>
              <a:rPr lang="en-US" sz="2400" dirty="0"/>
              <a:t> we predict a number as the final answer is the average of all the trees predictions.</a:t>
            </a:r>
          </a:p>
        </p:txBody>
      </p:sp>
    </p:spTree>
    <p:extLst>
      <p:ext uri="{BB962C8B-B14F-4D97-AF65-F5344CB8AC3E}">
        <p14:creationId xmlns:p14="http://schemas.microsoft.com/office/powerpoint/2010/main" val="1374633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DB9B0-D430-7BBC-8564-BB79667CCEC3}"/>
              </a:ext>
            </a:extLst>
          </p:cNvPr>
          <p:cNvSpPr>
            <a:spLocks noGrp="1"/>
          </p:cNvSpPr>
          <p:nvPr>
            <p:ph type="title"/>
          </p:nvPr>
        </p:nvSpPr>
        <p:spPr/>
        <p:txBody>
          <a:bodyPr/>
          <a:lstStyle/>
          <a:p>
            <a:r>
              <a:rPr lang="en-US" b="1" dirty="0"/>
              <a:t>Key Features of Random Forest</a:t>
            </a:r>
            <a:endParaRPr lang="en-IN" dirty="0"/>
          </a:p>
        </p:txBody>
      </p:sp>
      <p:sp>
        <p:nvSpPr>
          <p:cNvPr id="3" name="Content Placeholder 2">
            <a:extLst>
              <a:ext uri="{FF2B5EF4-FFF2-40B4-BE49-F238E27FC236}">
                <a16:creationId xmlns:a16="http://schemas.microsoft.com/office/drawing/2014/main" id="{2C554A3F-7062-AC57-3246-A76523FA2A88}"/>
              </a:ext>
            </a:extLst>
          </p:cNvPr>
          <p:cNvSpPr>
            <a:spLocks noGrp="1"/>
          </p:cNvSpPr>
          <p:nvPr>
            <p:ph idx="1"/>
          </p:nvPr>
        </p:nvSpPr>
        <p:spPr/>
        <p:txBody>
          <a:bodyPr>
            <a:normAutofit/>
          </a:bodyPr>
          <a:lstStyle/>
          <a:p>
            <a:pPr fontAlgn="base"/>
            <a:r>
              <a:rPr lang="en-US" sz="2400" b="1" dirty="0"/>
              <a:t>Handles Missing Data:</a:t>
            </a:r>
            <a:r>
              <a:rPr lang="en-US" sz="2400" dirty="0"/>
              <a:t> It can work even if some data is missing so you don’t always need to fill in the gaps yourself.</a:t>
            </a:r>
          </a:p>
          <a:p>
            <a:pPr fontAlgn="base"/>
            <a:r>
              <a:rPr lang="en-US" sz="2400" b="1" dirty="0"/>
              <a:t>Shows Feature Importance:</a:t>
            </a:r>
            <a:r>
              <a:rPr lang="en-US" sz="2400" dirty="0"/>
              <a:t> It tells you which features (columns) are most useful for making predictions which helps you understand your data better.</a:t>
            </a:r>
          </a:p>
          <a:p>
            <a:pPr fontAlgn="base"/>
            <a:r>
              <a:rPr lang="en-US" sz="2400" b="1" dirty="0"/>
              <a:t>Works Well with Big and Complex Data:</a:t>
            </a:r>
            <a:r>
              <a:rPr lang="en-US" sz="2400" dirty="0"/>
              <a:t> It can handle large datasets with many features without slowing down or losing accuracy.</a:t>
            </a:r>
          </a:p>
          <a:p>
            <a:pPr fontAlgn="base"/>
            <a:r>
              <a:rPr lang="en-US" sz="2400" b="1" dirty="0"/>
              <a:t>Used for Different Tasks:</a:t>
            </a:r>
            <a:r>
              <a:rPr lang="en-US" sz="2400" dirty="0"/>
              <a:t> You can use it for both </a:t>
            </a:r>
            <a:r>
              <a:rPr lang="en-US" sz="2400" b="1" dirty="0"/>
              <a:t>classification</a:t>
            </a:r>
            <a:r>
              <a:rPr lang="en-US" sz="2400" dirty="0"/>
              <a:t> like predicting types or labels and </a:t>
            </a:r>
            <a:r>
              <a:rPr lang="en-US" sz="2400" b="1" dirty="0"/>
              <a:t>regression</a:t>
            </a:r>
            <a:r>
              <a:rPr lang="en-US" sz="2400" dirty="0"/>
              <a:t> like predicting numbers or amounts.</a:t>
            </a:r>
          </a:p>
        </p:txBody>
      </p:sp>
    </p:spTree>
    <p:extLst>
      <p:ext uri="{BB962C8B-B14F-4D97-AF65-F5344CB8AC3E}">
        <p14:creationId xmlns:p14="http://schemas.microsoft.com/office/powerpoint/2010/main" val="3428491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A49F4-ECEE-F2B3-CC01-3FCB22B443E8}"/>
              </a:ext>
            </a:extLst>
          </p:cNvPr>
          <p:cNvSpPr>
            <a:spLocks noGrp="1"/>
          </p:cNvSpPr>
          <p:nvPr>
            <p:ph type="title"/>
          </p:nvPr>
        </p:nvSpPr>
        <p:spPr/>
        <p:txBody>
          <a:bodyPr/>
          <a:lstStyle/>
          <a:p>
            <a:r>
              <a:rPr lang="en-US" b="1" dirty="0"/>
              <a:t>Assumptions of Random Forest</a:t>
            </a:r>
            <a:endParaRPr lang="en-IN" dirty="0"/>
          </a:p>
        </p:txBody>
      </p:sp>
      <p:sp>
        <p:nvSpPr>
          <p:cNvPr id="3" name="Content Placeholder 2">
            <a:extLst>
              <a:ext uri="{FF2B5EF4-FFF2-40B4-BE49-F238E27FC236}">
                <a16:creationId xmlns:a16="http://schemas.microsoft.com/office/drawing/2014/main" id="{01DA0C86-8297-F3D0-3151-C376FA193AA3}"/>
              </a:ext>
            </a:extLst>
          </p:cNvPr>
          <p:cNvSpPr>
            <a:spLocks noGrp="1"/>
          </p:cNvSpPr>
          <p:nvPr>
            <p:ph idx="1"/>
          </p:nvPr>
        </p:nvSpPr>
        <p:spPr/>
        <p:txBody>
          <a:bodyPr>
            <a:normAutofit/>
          </a:bodyPr>
          <a:lstStyle/>
          <a:p>
            <a:pPr fontAlgn="base"/>
            <a:r>
              <a:rPr lang="en-US" sz="2400" b="1" dirty="0"/>
              <a:t>Each tree makes its own decisions</a:t>
            </a:r>
            <a:r>
              <a:rPr lang="en-US" sz="2400" dirty="0"/>
              <a:t>: Every tree in the forest makes its own predictions without relying on others.</a:t>
            </a:r>
          </a:p>
          <a:p>
            <a:pPr fontAlgn="base"/>
            <a:r>
              <a:rPr lang="en-US" sz="2400" b="1" dirty="0"/>
              <a:t>Random parts of the data are used</a:t>
            </a:r>
            <a:r>
              <a:rPr lang="en-US" sz="2400" dirty="0"/>
              <a:t>: Each tree is built using random samples and features to reduce mistakes.</a:t>
            </a:r>
          </a:p>
          <a:p>
            <a:pPr fontAlgn="base"/>
            <a:r>
              <a:rPr lang="en-US" sz="2400" b="1" dirty="0"/>
              <a:t>Enough data is needed</a:t>
            </a:r>
            <a:r>
              <a:rPr lang="en-US" sz="2400" dirty="0"/>
              <a:t>: Sufficient data ensures the trees are different and learn unique patterns and variety.</a:t>
            </a:r>
          </a:p>
          <a:p>
            <a:pPr fontAlgn="base"/>
            <a:r>
              <a:rPr lang="en-US" sz="2400" b="1" dirty="0"/>
              <a:t>Different predictions improve accuracy</a:t>
            </a:r>
            <a:r>
              <a:rPr lang="en-US" sz="2400" dirty="0"/>
              <a:t>: Combining the predictions from different trees leads to a more accurate final result.</a:t>
            </a:r>
          </a:p>
          <a:p>
            <a:endParaRPr lang="en-IN" sz="2400" dirty="0"/>
          </a:p>
        </p:txBody>
      </p:sp>
    </p:spTree>
    <p:extLst>
      <p:ext uri="{BB962C8B-B14F-4D97-AF65-F5344CB8AC3E}">
        <p14:creationId xmlns:p14="http://schemas.microsoft.com/office/powerpoint/2010/main" val="3298138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2AD6-184B-1463-7113-1B012A3D19FB}"/>
              </a:ext>
            </a:extLst>
          </p:cNvPr>
          <p:cNvSpPr>
            <a:spLocks noGrp="1"/>
          </p:cNvSpPr>
          <p:nvPr>
            <p:ph type="title"/>
          </p:nvPr>
        </p:nvSpPr>
        <p:spPr/>
        <p:txBody>
          <a:bodyPr/>
          <a:lstStyle/>
          <a:p>
            <a:r>
              <a:rPr lang="en-US" b="1" dirty="0"/>
              <a:t>Random Forest</a:t>
            </a:r>
            <a:endParaRPr lang="en-IN" dirty="0"/>
          </a:p>
        </p:txBody>
      </p:sp>
      <p:sp>
        <p:nvSpPr>
          <p:cNvPr id="4" name="Text Placeholder 3">
            <a:extLst>
              <a:ext uri="{FF2B5EF4-FFF2-40B4-BE49-F238E27FC236}">
                <a16:creationId xmlns:a16="http://schemas.microsoft.com/office/drawing/2014/main" id="{AE32641B-6BC9-7D3C-66E6-7D9B2A59898F}"/>
              </a:ext>
            </a:extLst>
          </p:cNvPr>
          <p:cNvSpPr>
            <a:spLocks noGrp="1"/>
          </p:cNvSpPr>
          <p:nvPr>
            <p:ph type="body" idx="1"/>
          </p:nvPr>
        </p:nvSpPr>
        <p:spPr>
          <a:xfrm>
            <a:off x="839788" y="1681163"/>
            <a:ext cx="5157787" cy="495507"/>
          </a:xfrm>
        </p:spPr>
        <p:txBody>
          <a:bodyPr/>
          <a:lstStyle/>
          <a:p>
            <a:r>
              <a:rPr lang="en-US" dirty="0"/>
              <a:t>Advantages</a:t>
            </a:r>
            <a:endParaRPr lang="en-IN" dirty="0"/>
          </a:p>
        </p:txBody>
      </p:sp>
      <p:sp>
        <p:nvSpPr>
          <p:cNvPr id="3" name="Content Placeholder 2">
            <a:extLst>
              <a:ext uri="{FF2B5EF4-FFF2-40B4-BE49-F238E27FC236}">
                <a16:creationId xmlns:a16="http://schemas.microsoft.com/office/drawing/2014/main" id="{8B7476CB-45B6-938E-BB08-78C55720F093}"/>
              </a:ext>
            </a:extLst>
          </p:cNvPr>
          <p:cNvSpPr>
            <a:spLocks noGrp="1"/>
          </p:cNvSpPr>
          <p:nvPr>
            <p:ph sz="half" idx="2"/>
          </p:nvPr>
        </p:nvSpPr>
        <p:spPr>
          <a:xfrm>
            <a:off x="839788" y="2335696"/>
            <a:ext cx="5157787" cy="3853967"/>
          </a:xfrm>
        </p:spPr>
        <p:txBody>
          <a:bodyPr>
            <a:normAutofit/>
          </a:bodyPr>
          <a:lstStyle/>
          <a:p>
            <a:pPr fontAlgn="base"/>
            <a:r>
              <a:rPr lang="en-US" sz="2400" dirty="0"/>
              <a:t>Random Forest provides very accurate predictions even with large datasets.</a:t>
            </a:r>
          </a:p>
          <a:p>
            <a:pPr fontAlgn="base"/>
            <a:r>
              <a:rPr lang="en-US" sz="2400" dirty="0"/>
              <a:t>Random Forest can handle missing data well without compromising with accuracy.</a:t>
            </a:r>
          </a:p>
          <a:p>
            <a:pPr fontAlgn="base"/>
            <a:r>
              <a:rPr lang="en-US" sz="2400" dirty="0"/>
              <a:t>It doesn’t require normalization or standardization on dataset.</a:t>
            </a:r>
          </a:p>
          <a:p>
            <a:pPr fontAlgn="base"/>
            <a:r>
              <a:rPr lang="en-US" sz="2400" dirty="0"/>
              <a:t>When we combine multiple decision trees it reduces the risk of overfitting of the model.</a:t>
            </a:r>
            <a:endParaRPr lang="en-IN" sz="2400" dirty="0"/>
          </a:p>
        </p:txBody>
      </p:sp>
      <p:sp>
        <p:nvSpPr>
          <p:cNvPr id="5" name="Text Placeholder 4">
            <a:extLst>
              <a:ext uri="{FF2B5EF4-FFF2-40B4-BE49-F238E27FC236}">
                <a16:creationId xmlns:a16="http://schemas.microsoft.com/office/drawing/2014/main" id="{12E45920-3004-CD9E-8D59-AF42253319A2}"/>
              </a:ext>
            </a:extLst>
          </p:cNvPr>
          <p:cNvSpPr>
            <a:spLocks noGrp="1"/>
          </p:cNvSpPr>
          <p:nvPr>
            <p:ph type="body" sz="quarter" idx="3"/>
          </p:nvPr>
        </p:nvSpPr>
        <p:spPr/>
        <p:txBody>
          <a:bodyPr/>
          <a:lstStyle/>
          <a:p>
            <a:r>
              <a:rPr lang="en-US" dirty="0"/>
              <a:t>Disadvantages</a:t>
            </a:r>
            <a:endParaRPr lang="en-IN" dirty="0"/>
          </a:p>
          <a:p>
            <a:endParaRPr lang="en-IN" dirty="0"/>
          </a:p>
        </p:txBody>
      </p:sp>
      <p:sp>
        <p:nvSpPr>
          <p:cNvPr id="6" name="Content Placeholder 5">
            <a:extLst>
              <a:ext uri="{FF2B5EF4-FFF2-40B4-BE49-F238E27FC236}">
                <a16:creationId xmlns:a16="http://schemas.microsoft.com/office/drawing/2014/main" id="{7C139629-2416-8D8B-8321-05DD59255F16}"/>
              </a:ext>
            </a:extLst>
          </p:cNvPr>
          <p:cNvSpPr>
            <a:spLocks noGrp="1"/>
          </p:cNvSpPr>
          <p:nvPr>
            <p:ph sz="quarter" idx="4"/>
          </p:nvPr>
        </p:nvSpPr>
        <p:spPr/>
        <p:txBody>
          <a:bodyPr>
            <a:normAutofit/>
          </a:bodyPr>
          <a:lstStyle/>
          <a:p>
            <a:pPr fontAlgn="base"/>
            <a:r>
              <a:rPr lang="en-US" sz="2400" dirty="0"/>
              <a:t>It can be computationally expensive especially with a large number of trees.</a:t>
            </a:r>
          </a:p>
          <a:p>
            <a:pPr fontAlgn="base"/>
            <a:r>
              <a:rPr lang="en-US" sz="2400" dirty="0"/>
              <a:t>It’s harder to interpret the model compared to simpler models like decision trees.</a:t>
            </a:r>
          </a:p>
          <a:p>
            <a:endParaRPr lang="en-IN" sz="2400" dirty="0"/>
          </a:p>
        </p:txBody>
      </p:sp>
    </p:spTree>
    <p:extLst>
      <p:ext uri="{BB962C8B-B14F-4D97-AF65-F5344CB8AC3E}">
        <p14:creationId xmlns:p14="http://schemas.microsoft.com/office/powerpoint/2010/main" val="2383378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51BEE-A3D5-8184-7731-5B5E2B3A2ECC}"/>
              </a:ext>
            </a:extLst>
          </p:cNvPr>
          <p:cNvSpPr>
            <a:spLocks noGrp="1"/>
          </p:cNvSpPr>
          <p:nvPr>
            <p:ph type="title"/>
          </p:nvPr>
        </p:nvSpPr>
        <p:spPr/>
        <p:txBody>
          <a:bodyPr/>
          <a:lstStyle/>
          <a:p>
            <a:r>
              <a:rPr lang="en-US" dirty="0"/>
              <a:t>Ensemble methods: boosting, bagging.</a:t>
            </a:r>
            <a:endParaRPr lang="en-IN" dirty="0"/>
          </a:p>
        </p:txBody>
      </p:sp>
      <p:sp>
        <p:nvSpPr>
          <p:cNvPr id="3" name="Content Placeholder 2">
            <a:extLst>
              <a:ext uri="{FF2B5EF4-FFF2-40B4-BE49-F238E27FC236}">
                <a16:creationId xmlns:a16="http://schemas.microsoft.com/office/drawing/2014/main" id="{3CECE2FB-082E-78BD-34F8-2C66908A9EF6}"/>
              </a:ext>
            </a:extLst>
          </p:cNvPr>
          <p:cNvSpPr>
            <a:spLocks noGrp="1"/>
          </p:cNvSpPr>
          <p:nvPr>
            <p:ph idx="1"/>
          </p:nvPr>
        </p:nvSpPr>
        <p:spPr/>
        <p:txBody>
          <a:bodyPr>
            <a:normAutofit/>
          </a:bodyPr>
          <a:lstStyle/>
          <a:p>
            <a:r>
              <a:rPr lang="en-US" sz="2400" dirty="0"/>
              <a:t>Ensemble learning helps improve machine learning results by combining several models. This approach allows the production of better predictive performance compared to a single model. </a:t>
            </a:r>
          </a:p>
          <a:p>
            <a:r>
              <a:rPr lang="en-US" sz="2400" dirty="0"/>
              <a:t>Basic idea is to learn a set of classifiers (experts) and to allow them to vote. </a:t>
            </a:r>
          </a:p>
          <a:p>
            <a:pPr marL="914400" lvl="1" indent="-457200">
              <a:buFont typeface="+mj-lt"/>
              <a:buAutoNum type="arabicPeriod"/>
            </a:pPr>
            <a:r>
              <a:rPr lang="en-US" sz="2000" b="1" dirty="0"/>
              <a:t>Bagging</a:t>
            </a:r>
            <a:r>
              <a:rPr lang="en-US" sz="2000" dirty="0"/>
              <a:t>: It is a homogeneous weak learners’ model that learns from each other independently in parallel and combines them for determining the model average.</a:t>
            </a:r>
          </a:p>
          <a:p>
            <a:pPr marL="914400" lvl="1" indent="-457200" fontAlgn="base">
              <a:buFont typeface="+mj-lt"/>
              <a:buAutoNum type="arabicPeriod"/>
            </a:pPr>
            <a:r>
              <a:rPr lang="en-US" sz="2000" b="1" dirty="0"/>
              <a:t>Boosting</a:t>
            </a:r>
            <a:r>
              <a:rPr lang="en-US" sz="2000" dirty="0"/>
              <a:t>: It is also a homogeneous weak learners’ model but works differently from Bagging. In this model, learners learn sequentially and adaptively to improve model predictions of a learning algorithm.</a:t>
            </a:r>
          </a:p>
          <a:p>
            <a:r>
              <a:rPr lang="en-US" sz="2400" dirty="0"/>
              <a:t>These two decrease the variance of a single estimate as they combine several estimates from different models. So, the result may be a model with higher stability.</a:t>
            </a:r>
          </a:p>
        </p:txBody>
      </p:sp>
    </p:spTree>
    <p:extLst>
      <p:ext uri="{BB962C8B-B14F-4D97-AF65-F5344CB8AC3E}">
        <p14:creationId xmlns:p14="http://schemas.microsoft.com/office/powerpoint/2010/main" val="66835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A0223-2C89-DC57-7BF2-1CC3DED9DAFF}"/>
              </a:ext>
            </a:extLst>
          </p:cNvPr>
          <p:cNvSpPr>
            <a:spLocks noGrp="1"/>
          </p:cNvSpPr>
          <p:nvPr>
            <p:ph type="title"/>
          </p:nvPr>
        </p:nvSpPr>
        <p:spPr/>
        <p:txBody>
          <a:bodyPr/>
          <a:lstStyle/>
          <a:p>
            <a:pPr fontAlgn="base"/>
            <a:r>
              <a:rPr lang="en-IN" b="1" dirty="0"/>
              <a:t>Bagging</a:t>
            </a:r>
          </a:p>
        </p:txBody>
      </p:sp>
      <p:sp>
        <p:nvSpPr>
          <p:cNvPr id="3" name="Content Placeholder 2">
            <a:extLst>
              <a:ext uri="{FF2B5EF4-FFF2-40B4-BE49-F238E27FC236}">
                <a16:creationId xmlns:a16="http://schemas.microsoft.com/office/drawing/2014/main" id="{799E7C18-48FC-8558-2B31-C2C1E75D2981}"/>
              </a:ext>
            </a:extLst>
          </p:cNvPr>
          <p:cNvSpPr>
            <a:spLocks noGrp="1"/>
          </p:cNvSpPr>
          <p:nvPr>
            <p:ph idx="1"/>
          </p:nvPr>
        </p:nvSpPr>
        <p:spPr/>
        <p:txBody>
          <a:bodyPr>
            <a:normAutofit/>
          </a:bodyPr>
          <a:lstStyle/>
          <a:p>
            <a:pPr fontAlgn="base"/>
            <a:r>
              <a:rPr lang="en-US" sz="2400" b="1" dirty="0"/>
              <a:t>B</a:t>
            </a:r>
            <a:r>
              <a:rPr lang="en-US" sz="2400" dirty="0"/>
              <a:t>ootstrap </a:t>
            </a:r>
            <a:r>
              <a:rPr lang="en-US" sz="2400" b="1" dirty="0"/>
              <a:t>A</a:t>
            </a:r>
            <a:r>
              <a:rPr lang="en-US" sz="2400" dirty="0"/>
              <a:t>ggregating, also known as bagging, is a machine learning ensemble meta-algorithm designed to improve the stability and accuracy of machine learning algorithms used in statistical classification and regression. It decreases the variance and helps to avoid overfitting. It is usually applied to decision tree</a:t>
            </a:r>
            <a:r>
              <a:rPr lang="en-US" sz="2400" dirty="0">
                <a:hlinkClick r:id="rId2"/>
              </a:rPr>
              <a:t> </a:t>
            </a:r>
            <a:r>
              <a:rPr lang="en-US" sz="2400" dirty="0"/>
              <a:t>methods. Bagging is a special case of the model averaging approach. </a:t>
            </a:r>
          </a:p>
          <a:p>
            <a:pPr fontAlgn="base"/>
            <a:r>
              <a:rPr lang="en-US" sz="2400" b="1" dirty="0"/>
              <a:t>Description of the Technique</a:t>
            </a:r>
            <a:endParaRPr lang="en-US" sz="2400" dirty="0"/>
          </a:p>
          <a:p>
            <a:pPr lvl="1" fontAlgn="base"/>
            <a:r>
              <a:rPr lang="en-US" sz="2000" dirty="0"/>
              <a:t>Suppose a set D of d tuples, at each iteration </a:t>
            </a:r>
            <a:r>
              <a:rPr lang="en-US" sz="2000" dirty="0" err="1"/>
              <a:t>i</a:t>
            </a:r>
            <a:r>
              <a:rPr lang="en-US" sz="2000" dirty="0"/>
              <a:t>, a training set D</a:t>
            </a:r>
            <a:r>
              <a:rPr lang="en-US" sz="2000" baseline="-25000" dirty="0"/>
              <a:t>i</a:t>
            </a:r>
            <a:r>
              <a:rPr lang="en-US" sz="2000" dirty="0"/>
              <a:t> of d tuples is selected via row sampling with a replacement method (i.e., there can be repetitive elements from different d tuples) from D (i.e., bootstrap). Then a classifier model Mi is learned for each training set D &lt; </a:t>
            </a:r>
            <a:r>
              <a:rPr lang="en-US" sz="2000" dirty="0" err="1"/>
              <a:t>i</a:t>
            </a:r>
            <a:r>
              <a:rPr lang="en-US" sz="2000" dirty="0"/>
              <a:t>. Each classifier M</a:t>
            </a:r>
            <a:r>
              <a:rPr lang="en-US" sz="2000" baseline="-25000" dirty="0"/>
              <a:t>i</a:t>
            </a:r>
            <a:r>
              <a:rPr lang="en-US" sz="2000" dirty="0"/>
              <a:t> returns its class prediction. The bagged classifier M* counts the votes and assigns the class with the most votes to X (unknown sample).</a:t>
            </a:r>
          </a:p>
        </p:txBody>
      </p:sp>
    </p:spTree>
    <p:extLst>
      <p:ext uri="{BB962C8B-B14F-4D97-AF65-F5344CB8AC3E}">
        <p14:creationId xmlns:p14="http://schemas.microsoft.com/office/powerpoint/2010/main" val="1156918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F4A77-DE07-CE7F-4743-19AAEB5725CB}"/>
              </a:ext>
            </a:extLst>
          </p:cNvPr>
          <p:cNvSpPr>
            <a:spLocks noGrp="1"/>
          </p:cNvSpPr>
          <p:nvPr>
            <p:ph type="title"/>
          </p:nvPr>
        </p:nvSpPr>
        <p:spPr/>
        <p:txBody>
          <a:bodyPr/>
          <a:lstStyle/>
          <a:p>
            <a:r>
              <a:rPr lang="en-IN" b="1" dirty="0"/>
              <a:t>Bagging</a:t>
            </a:r>
            <a:endParaRPr lang="en-IN" dirty="0"/>
          </a:p>
        </p:txBody>
      </p:sp>
      <p:sp>
        <p:nvSpPr>
          <p:cNvPr id="3" name="Content Placeholder 2">
            <a:extLst>
              <a:ext uri="{FF2B5EF4-FFF2-40B4-BE49-F238E27FC236}">
                <a16:creationId xmlns:a16="http://schemas.microsoft.com/office/drawing/2014/main" id="{48C61B7B-E8EA-7294-09DB-5A9F64FD7FF9}"/>
              </a:ext>
            </a:extLst>
          </p:cNvPr>
          <p:cNvSpPr>
            <a:spLocks noGrp="1"/>
          </p:cNvSpPr>
          <p:nvPr>
            <p:ph idx="1"/>
          </p:nvPr>
        </p:nvSpPr>
        <p:spPr>
          <a:xfrm>
            <a:off x="947530" y="1511784"/>
            <a:ext cx="10515600" cy="4640538"/>
          </a:xfrm>
        </p:spPr>
        <p:txBody>
          <a:bodyPr>
            <a:normAutofit/>
          </a:bodyPr>
          <a:lstStyle/>
          <a:p>
            <a:pPr fontAlgn="base"/>
            <a:r>
              <a:rPr lang="en-US" b="1" dirty="0"/>
              <a:t>Implementation Steps of Bagging</a:t>
            </a:r>
            <a:endParaRPr lang="en-US" dirty="0"/>
          </a:p>
          <a:p>
            <a:pPr lvl="1" fontAlgn="base"/>
            <a:r>
              <a:rPr lang="en-US" b="1" dirty="0"/>
              <a:t>Step 1:</a:t>
            </a:r>
            <a:r>
              <a:rPr lang="en-US" dirty="0"/>
              <a:t> Multiple subsets are created from the original data set with equal tuples, selecting observations with replacement.</a:t>
            </a:r>
          </a:p>
          <a:p>
            <a:pPr lvl="1" fontAlgn="base"/>
            <a:r>
              <a:rPr lang="en-US" b="1" dirty="0"/>
              <a:t>Step 2:</a:t>
            </a:r>
            <a:r>
              <a:rPr lang="en-US" dirty="0"/>
              <a:t> A base model is created on each of these subsets.</a:t>
            </a:r>
          </a:p>
          <a:p>
            <a:pPr lvl="1" fontAlgn="base"/>
            <a:r>
              <a:rPr lang="en-US" b="1" dirty="0"/>
              <a:t>Step 3: </a:t>
            </a:r>
            <a:r>
              <a:rPr lang="en-US" dirty="0"/>
              <a:t>Each model is learned in parallel with each training set and independent of each other.</a:t>
            </a:r>
          </a:p>
          <a:p>
            <a:pPr lvl="1" fontAlgn="base"/>
            <a:r>
              <a:rPr lang="en-US" b="1" dirty="0"/>
              <a:t>Step 4: </a:t>
            </a:r>
            <a:r>
              <a:rPr lang="en-US" dirty="0"/>
              <a:t>The final predictions are determined by combining the predictions from all the models.</a:t>
            </a:r>
          </a:p>
          <a:p>
            <a:pPr fontAlgn="base"/>
            <a:r>
              <a:rPr lang="en-US" b="1" dirty="0"/>
              <a:t>Example of Bagging</a:t>
            </a:r>
            <a:endParaRPr lang="en-US" dirty="0"/>
          </a:p>
          <a:p>
            <a:pPr lvl="1" fontAlgn="base"/>
            <a:r>
              <a:rPr lang="en-US" dirty="0"/>
              <a:t>The Random Forest model uses Bagging, where decision tree models with higher variance are present. It makes random feature selection to grow trees. Several random trees make a Random Forest.</a:t>
            </a:r>
          </a:p>
          <a:p>
            <a:pPr lvl="1" fontAlgn="base"/>
            <a:endParaRPr lang="en-US" dirty="0"/>
          </a:p>
          <a:p>
            <a:endParaRPr lang="en-IN" dirty="0"/>
          </a:p>
        </p:txBody>
      </p:sp>
    </p:spTree>
    <p:extLst>
      <p:ext uri="{BB962C8B-B14F-4D97-AF65-F5344CB8AC3E}">
        <p14:creationId xmlns:p14="http://schemas.microsoft.com/office/powerpoint/2010/main" val="3860348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9BE56E8-54B6-9D1B-AF32-010EA506EEDC}"/>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387626" y="265181"/>
            <a:ext cx="11131826" cy="6288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665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C5922-A66D-25CD-5026-7D9274324F3B}"/>
              </a:ext>
            </a:extLst>
          </p:cNvPr>
          <p:cNvSpPr>
            <a:spLocks noGrp="1"/>
          </p:cNvSpPr>
          <p:nvPr>
            <p:ph type="title"/>
          </p:nvPr>
        </p:nvSpPr>
        <p:spPr/>
        <p:txBody>
          <a:bodyPr/>
          <a:lstStyle/>
          <a:p>
            <a:r>
              <a:rPr lang="en-IN" b="1"/>
              <a:t>Boosting</a:t>
            </a:r>
            <a:endParaRPr lang="en-IN"/>
          </a:p>
        </p:txBody>
      </p:sp>
      <p:sp>
        <p:nvSpPr>
          <p:cNvPr id="3" name="Content Placeholder 2">
            <a:extLst>
              <a:ext uri="{FF2B5EF4-FFF2-40B4-BE49-F238E27FC236}">
                <a16:creationId xmlns:a16="http://schemas.microsoft.com/office/drawing/2014/main" id="{96F9E0E4-987A-A2AB-A01D-AEC1E24AF189}"/>
              </a:ext>
            </a:extLst>
          </p:cNvPr>
          <p:cNvSpPr>
            <a:spLocks noGrp="1"/>
          </p:cNvSpPr>
          <p:nvPr>
            <p:ph idx="1"/>
          </p:nvPr>
        </p:nvSpPr>
        <p:spPr/>
        <p:txBody>
          <a:bodyPr>
            <a:normAutofit/>
          </a:bodyPr>
          <a:lstStyle/>
          <a:p>
            <a:pPr fontAlgn="base"/>
            <a:r>
              <a:rPr lang="en-US" sz="2400" dirty="0"/>
              <a:t>Boosting is an ensemble modeling technique designed to create a strong classifier by combining multiple weak classifiers. </a:t>
            </a:r>
          </a:p>
          <a:p>
            <a:pPr fontAlgn="base"/>
            <a:r>
              <a:rPr lang="en-US" sz="2400" dirty="0"/>
              <a:t>The process involves building models sequentially, where each new model aims to correct the errors made by the previous ones.</a:t>
            </a:r>
          </a:p>
          <a:p>
            <a:pPr lvl="1" fontAlgn="base"/>
            <a:r>
              <a:rPr lang="en-US" sz="2000" dirty="0"/>
              <a:t>Initially, a model is built using the training data.</a:t>
            </a:r>
          </a:p>
          <a:p>
            <a:pPr lvl="1" fontAlgn="base"/>
            <a:r>
              <a:rPr lang="en-US" sz="2000" dirty="0"/>
              <a:t>Subsequent models are then trained to address the mistakes of their predecessors.</a:t>
            </a:r>
          </a:p>
          <a:p>
            <a:pPr lvl="1" fontAlgn="base"/>
            <a:r>
              <a:rPr lang="en-US" sz="2000" dirty="0"/>
              <a:t>Boosting assigns weights to the data points in the original dataset.</a:t>
            </a:r>
          </a:p>
          <a:p>
            <a:pPr lvl="1" fontAlgn="base"/>
            <a:r>
              <a:rPr lang="en-US" sz="2000" dirty="0"/>
              <a:t>Higher weights: Instances that were misclassified by the previous model receive higher weights.</a:t>
            </a:r>
          </a:p>
          <a:p>
            <a:pPr lvl="1" fontAlgn="base"/>
            <a:r>
              <a:rPr lang="en-US" sz="2000" dirty="0"/>
              <a:t>Lower weights: Instances that were correctly classified receive lower weights.</a:t>
            </a:r>
          </a:p>
          <a:p>
            <a:pPr lvl="1" fontAlgn="base"/>
            <a:r>
              <a:rPr lang="en-US" sz="2000" dirty="0"/>
              <a:t>Training on weighted data: The subsequent model learns from the weighted dataset, focusing its attention on harder-to-learn examples (those with higher weights).</a:t>
            </a:r>
          </a:p>
          <a:p>
            <a:pPr lvl="1" fontAlgn="base"/>
            <a:endParaRPr lang="en-US" sz="2000" dirty="0"/>
          </a:p>
        </p:txBody>
      </p:sp>
    </p:spTree>
    <p:extLst>
      <p:ext uri="{BB962C8B-B14F-4D97-AF65-F5344CB8AC3E}">
        <p14:creationId xmlns:p14="http://schemas.microsoft.com/office/powerpoint/2010/main" val="3701822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C5922-A66D-25CD-5026-7D9274324F3B}"/>
              </a:ext>
            </a:extLst>
          </p:cNvPr>
          <p:cNvSpPr>
            <a:spLocks noGrp="1"/>
          </p:cNvSpPr>
          <p:nvPr>
            <p:ph type="title"/>
          </p:nvPr>
        </p:nvSpPr>
        <p:spPr/>
        <p:txBody>
          <a:bodyPr/>
          <a:lstStyle/>
          <a:p>
            <a:r>
              <a:rPr lang="en-IN" b="1"/>
              <a:t>Boosting</a:t>
            </a:r>
            <a:endParaRPr lang="en-IN"/>
          </a:p>
        </p:txBody>
      </p:sp>
      <p:sp>
        <p:nvSpPr>
          <p:cNvPr id="3" name="Content Placeholder 2">
            <a:extLst>
              <a:ext uri="{FF2B5EF4-FFF2-40B4-BE49-F238E27FC236}">
                <a16:creationId xmlns:a16="http://schemas.microsoft.com/office/drawing/2014/main" id="{96F9E0E4-987A-A2AB-A01D-AEC1E24AF189}"/>
              </a:ext>
            </a:extLst>
          </p:cNvPr>
          <p:cNvSpPr>
            <a:spLocks noGrp="1"/>
          </p:cNvSpPr>
          <p:nvPr>
            <p:ph idx="1"/>
          </p:nvPr>
        </p:nvSpPr>
        <p:spPr/>
        <p:txBody>
          <a:bodyPr>
            <a:normAutofit/>
          </a:bodyPr>
          <a:lstStyle/>
          <a:p>
            <a:pPr fontAlgn="base"/>
            <a:r>
              <a:rPr lang="en-US" sz="2400" dirty="0"/>
              <a:t>This iterative process continues until:</a:t>
            </a:r>
          </a:p>
          <a:p>
            <a:pPr lvl="1" fontAlgn="base"/>
            <a:r>
              <a:rPr lang="en-US" sz="2000" dirty="0"/>
              <a:t>The entire training dataset is accurately predicted, or</a:t>
            </a:r>
          </a:p>
          <a:p>
            <a:pPr lvl="1" fontAlgn="base"/>
            <a:r>
              <a:rPr lang="en-US" sz="2000" dirty="0"/>
              <a:t>A predefined maximum number of models is reached.</a:t>
            </a:r>
          </a:p>
          <a:p>
            <a:pPr fontAlgn="base"/>
            <a:r>
              <a:rPr lang="en-US" sz="2400" dirty="0"/>
              <a:t>AdaBoost was the first really successful boosting algorithm developed for the purpose of binary classification. AdaBoost is short for Adaptive Boosting and is a very popular boosting technique that combines multiple “weak classifiers” into a single “strong classifier”.</a:t>
            </a:r>
          </a:p>
          <a:p>
            <a:endParaRPr lang="en-IN" sz="2400" dirty="0"/>
          </a:p>
        </p:txBody>
      </p:sp>
    </p:spTree>
    <p:extLst>
      <p:ext uri="{BB962C8B-B14F-4D97-AF65-F5344CB8AC3E}">
        <p14:creationId xmlns:p14="http://schemas.microsoft.com/office/powerpoint/2010/main" val="429436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0367B-0658-FC83-2697-95D05A844228}"/>
              </a:ext>
            </a:extLst>
          </p:cNvPr>
          <p:cNvSpPr>
            <a:spLocks noGrp="1"/>
          </p:cNvSpPr>
          <p:nvPr>
            <p:ph type="title"/>
          </p:nvPr>
        </p:nvSpPr>
        <p:spPr/>
        <p:txBody>
          <a:bodyPr/>
          <a:lstStyle/>
          <a:p>
            <a:r>
              <a:rPr lang="en-IN" b="1" dirty="0"/>
              <a:t>Boosting Algorithms</a:t>
            </a:r>
            <a:endParaRPr lang="en-IN" dirty="0"/>
          </a:p>
        </p:txBody>
      </p:sp>
      <p:sp>
        <p:nvSpPr>
          <p:cNvPr id="3" name="Content Placeholder 2">
            <a:extLst>
              <a:ext uri="{FF2B5EF4-FFF2-40B4-BE49-F238E27FC236}">
                <a16:creationId xmlns:a16="http://schemas.microsoft.com/office/drawing/2014/main" id="{E152C153-07D9-CB9B-EEBC-E80F5CBB5AB6}"/>
              </a:ext>
            </a:extLst>
          </p:cNvPr>
          <p:cNvSpPr>
            <a:spLocks noGrp="1"/>
          </p:cNvSpPr>
          <p:nvPr>
            <p:ph idx="1"/>
          </p:nvPr>
        </p:nvSpPr>
        <p:spPr/>
        <p:txBody>
          <a:bodyPr>
            <a:normAutofit/>
          </a:bodyPr>
          <a:lstStyle/>
          <a:p>
            <a:pPr marL="457200" indent="-457200" fontAlgn="base">
              <a:buFont typeface="+mj-lt"/>
              <a:buAutoNum type="arabicPeriod"/>
            </a:pPr>
            <a:r>
              <a:rPr lang="en-US" sz="2400" i="1" dirty="0" err="1"/>
              <a:t>Initialise</a:t>
            </a:r>
            <a:r>
              <a:rPr lang="en-US" sz="2400" i="1" dirty="0"/>
              <a:t> the dataset and assign equal weight to each of the data point.</a:t>
            </a:r>
          </a:p>
          <a:p>
            <a:pPr marL="457200" indent="-457200" fontAlgn="base">
              <a:buFont typeface="+mj-lt"/>
              <a:buAutoNum type="arabicPeriod"/>
            </a:pPr>
            <a:r>
              <a:rPr lang="en-US" sz="2400" i="1" dirty="0"/>
              <a:t>Provide this as input to the model and identify the wrongly classified data points.</a:t>
            </a:r>
          </a:p>
          <a:p>
            <a:pPr marL="457200" indent="-457200" fontAlgn="base">
              <a:buFont typeface="+mj-lt"/>
              <a:buAutoNum type="arabicPeriod"/>
            </a:pPr>
            <a:r>
              <a:rPr lang="en-US" sz="2400" i="1" dirty="0"/>
              <a:t>Increase the weight of the wrongly classified data points and decrease the weights of correctly classified data points. And then normalize the weights of all data points.</a:t>
            </a:r>
          </a:p>
          <a:p>
            <a:pPr marL="457200" indent="-457200" fontAlgn="base">
              <a:buFont typeface="+mj-lt"/>
              <a:buAutoNum type="arabicPeriod"/>
            </a:pPr>
            <a:r>
              <a:rPr lang="en-US" sz="2400" i="1" dirty="0"/>
              <a:t>if (got required results)</a:t>
            </a:r>
            <a:br>
              <a:rPr lang="en-US" sz="2400" i="1" dirty="0"/>
            </a:br>
            <a:r>
              <a:rPr lang="en-US" sz="2400" i="1" dirty="0"/>
              <a:t>  Goto step 5</a:t>
            </a:r>
            <a:br>
              <a:rPr lang="en-US" sz="2400" i="1" dirty="0"/>
            </a:br>
            <a:r>
              <a:rPr lang="en-US" sz="2400" i="1" dirty="0"/>
              <a:t>else</a:t>
            </a:r>
            <a:br>
              <a:rPr lang="en-US" sz="2400" i="1" dirty="0"/>
            </a:br>
            <a:r>
              <a:rPr lang="en-US" sz="2400" i="1" dirty="0"/>
              <a:t>  Goto step 2</a:t>
            </a:r>
          </a:p>
          <a:p>
            <a:pPr marL="457200" indent="-457200" fontAlgn="base">
              <a:buFont typeface="+mj-lt"/>
              <a:buAutoNum type="arabicPeriod"/>
            </a:pPr>
            <a:r>
              <a:rPr lang="en-US" sz="2400" i="1" dirty="0"/>
              <a:t>End</a:t>
            </a:r>
          </a:p>
        </p:txBody>
      </p:sp>
    </p:spTree>
    <p:extLst>
      <p:ext uri="{BB962C8B-B14F-4D97-AF65-F5344CB8AC3E}">
        <p14:creationId xmlns:p14="http://schemas.microsoft.com/office/powerpoint/2010/main" val="761864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705A445-B0A9-CFA1-B8DE-B069DD5999A3}"/>
              </a:ext>
            </a:extLst>
          </p:cNvPr>
          <p:cNvPicPr>
            <a:picLocks noGrp="1" noChangeAspect="1"/>
          </p:cNvPicPr>
          <p:nvPr>
            <p:ph idx="4294967295"/>
          </p:nvPr>
        </p:nvPicPr>
        <p:blipFill>
          <a:blip r:embed="rId2"/>
          <a:stretch>
            <a:fillRect/>
          </a:stretch>
        </p:blipFill>
        <p:spPr>
          <a:xfrm>
            <a:off x="119269" y="116093"/>
            <a:ext cx="11993216" cy="6314523"/>
          </a:xfrm>
          <a:prstGeom prst="rect">
            <a:avLst/>
          </a:prstGeom>
        </p:spPr>
      </p:pic>
    </p:spTree>
    <p:extLst>
      <p:ext uri="{BB962C8B-B14F-4D97-AF65-F5344CB8AC3E}">
        <p14:creationId xmlns:p14="http://schemas.microsoft.com/office/powerpoint/2010/main" val="262735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4CAD5-1D78-9758-26B7-C2D15C7C72C0}"/>
              </a:ext>
            </a:extLst>
          </p:cNvPr>
          <p:cNvSpPr>
            <a:spLocks noGrp="1"/>
          </p:cNvSpPr>
          <p:nvPr>
            <p:ph type="title"/>
          </p:nvPr>
        </p:nvSpPr>
        <p:spPr/>
        <p:txBody>
          <a:bodyPr/>
          <a:lstStyle/>
          <a:p>
            <a:r>
              <a:rPr lang="en-US" b="1" dirty="0"/>
              <a:t>Similarities Between Bagging and Boosting</a:t>
            </a:r>
            <a:endParaRPr lang="en-IN" dirty="0"/>
          </a:p>
        </p:txBody>
      </p:sp>
      <p:sp>
        <p:nvSpPr>
          <p:cNvPr id="3" name="Content Placeholder 2">
            <a:extLst>
              <a:ext uri="{FF2B5EF4-FFF2-40B4-BE49-F238E27FC236}">
                <a16:creationId xmlns:a16="http://schemas.microsoft.com/office/drawing/2014/main" id="{4FCF3805-C2B3-48D0-5EF1-4DF26D0027AE}"/>
              </a:ext>
            </a:extLst>
          </p:cNvPr>
          <p:cNvSpPr>
            <a:spLocks noGrp="1"/>
          </p:cNvSpPr>
          <p:nvPr>
            <p:ph idx="1"/>
          </p:nvPr>
        </p:nvSpPr>
        <p:spPr/>
        <p:txBody>
          <a:bodyPr>
            <a:normAutofit/>
          </a:bodyPr>
          <a:lstStyle/>
          <a:p>
            <a:pPr marL="514350" indent="-514350" fontAlgn="base">
              <a:buFont typeface="+mj-lt"/>
              <a:buAutoNum type="arabicPeriod"/>
            </a:pPr>
            <a:r>
              <a:rPr lang="en-US" sz="2400" dirty="0"/>
              <a:t>Both are ensemble methods to get N learners from 1 learner.</a:t>
            </a:r>
          </a:p>
          <a:p>
            <a:pPr marL="514350" indent="-514350" fontAlgn="base">
              <a:buFont typeface="+mj-lt"/>
              <a:buAutoNum type="arabicPeriod"/>
            </a:pPr>
            <a:r>
              <a:rPr lang="en-US" sz="2400" dirty="0"/>
              <a:t>Both generate several training data sets by random sampling.</a:t>
            </a:r>
          </a:p>
          <a:p>
            <a:pPr marL="514350" indent="-514350" fontAlgn="base">
              <a:buFont typeface="+mj-lt"/>
              <a:buAutoNum type="arabicPeriod"/>
            </a:pPr>
            <a:r>
              <a:rPr lang="en-US" sz="2400" dirty="0"/>
              <a:t>In Bagging, the final decision is made by averaging predictions or majority voting. In Boosting, new models focus on correcting previous errors, and the final decision is made by a weighted majority vote.</a:t>
            </a:r>
          </a:p>
          <a:p>
            <a:pPr marL="514350" indent="-514350" fontAlgn="base">
              <a:buFont typeface="+mj-lt"/>
              <a:buAutoNum type="arabicPeriod"/>
            </a:pPr>
            <a:r>
              <a:rPr lang="en-US" sz="2400" dirty="0"/>
              <a:t>Both are good at reducing variance and provide higher stability.</a:t>
            </a:r>
          </a:p>
          <a:p>
            <a:pPr marL="514350" indent="-514350">
              <a:buFont typeface="+mj-lt"/>
              <a:buAutoNum type="arabicPeriod"/>
            </a:pPr>
            <a:endParaRPr lang="en-IN" sz="2400" dirty="0"/>
          </a:p>
        </p:txBody>
      </p:sp>
    </p:spTree>
    <p:extLst>
      <p:ext uri="{BB962C8B-B14F-4D97-AF65-F5344CB8AC3E}">
        <p14:creationId xmlns:p14="http://schemas.microsoft.com/office/powerpoint/2010/main" val="295617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836C8F-C5E5-69C2-EA1F-34E70FB3FD03}"/>
              </a:ext>
            </a:extLst>
          </p:cNvPr>
          <p:cNvPicPr>
            <a:picLocks noGrp="1" noChangeAspect="1"/>
          </p:cNvPicPr>
          <p:nvPr>
            <p:ph idx="4294967295"/>
          </p:nvPr>
        </p:nvPicPr>
        <p:blipFill>
          <a:blip r:embed="rId2"/>
          <a:stretch>
            <a:fillRect/>
          </a:stretch>
        </p:blipFill>
        <p:spPr>
          <a:xfrm>
            <a:off x="298172" y="145911"/>
            <a:ext cx="11748053" cy="6543123"/>
          </a:xfrm>
          <a:prstGeom prst="rect">
            <a:avLst/>
          </a:prstGeom>
        </p:spPr>
      </p:pic>
    </p:spTree>
    <p:extLst>
      <p:ext uri="{BB962C8B-B14F-4D97-AF65-F5344CB8AC3E}">
        <p14:creationId xmlns:p14="http://schemas.microsoft.com/office/powerpoint/2010/main" val="4247145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E61CE-284A-B98A-7691-B64851203396}"/>
              </a:ext>
            </a:extLst>
          </p:cNvPr>
          <p:cNvPicPr>
            <a:picLocks noChangeAspect="1"/>
          </p:cNvPicPr>
          <p:nvPr/>
        </p:nvPicPr>
        <p:blipFill>
          <a:blip r:embed="rId2"/>
          <a:stretch>
            <a:fillRect/>
          </a:stretch>
        </p:blipFill>
        <p:spPr>
          <a:xfrm>
            <a:off x="255104" y="1418944"/>
            <a:ext cx="11698356" cy="4020111"/>
          </a:xfrm>
          <a:prstGeom prst="rect">
            <a:avLst/>
          </a:prstGeom>
        </p:spPr>
      </p:pic>
      <p:pic>
        <p:nvPicPr>
          <p:cNvPr id="5" name="Picture 4">
            <a:extLst>
              <a:ext uri="{FF2B5EF4-FFF2-40B4-BE49-F238E27FC236}">
                <a16:creationId xmlns:a16="http://schemas.microsoft.com/office/drawing/2014/main" id="{9009410D-383E-7B20-D3D3-7971B81726AA}"/>
              </a:ext>
            </a:extLst>
          </p:cNvPr>
          <p:cNvPicPr>
            <a:picLocks noChangeAspect="1"/>
          </p:cNvPicPr>
          <p:nvPr/>
        </p:nvPicPr>
        <p:blipFill>
          <a:blip r:embed="rId3"/>
          <a:stretch>
            <a:fillRect/>
          </a:stretch>
        </p:blipFill>
        <p:spPr>
          <a:xfrm>
            <a:off x="238539" y="518422"/>
            <a:ext cx="11698357" cy="990738"/>
          </a:xfrm>
          <a:prstGeom prst="rect">
            <a:avLst/>
          </a:prstGeom>
        </p:spPr>
      </p:pic>
    </p:spTree>
    <p:extLst>
      <p:ext uri="{BB962C8B-B14F-4D97-AF65-F5344CB8AC3E}">
        <p14:creationId xmlns:p14="http://schemas.microsoft.com/office/powerpoint/2010/main" val="3772118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1256</Words>
  <Application>Microsoft Office PowerPoint</Application>
  <PresentationFormat>Widescreen</PresentationFormat>
  <Paragraphs>70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Random forests</vt:lpstr>
      <vt:lpstr>Random forests</vt:lpstr>
      <vt:lpstr>Working of Random Forest Algorithm</vt:lpstr>
      <vt:lpstr>Key Features of Random Forest</vt:lpstr>
      <vt:lpstr>Assumptions of Random Forest</vt:lpstr>
      <vt:lpstr>Random Forest</vt:lpstr>
      <vt:lpstr>Ensemble methods: boosting, bagging.</vt:lpstr>
      <vt:lpstr>Bagging</vt:lpstr>
      <vt:lpstr>Bagging</vt:lpstr>
      <vt:lpstr>PowerPoint Presentation</vt:lpstr>
      <vt:lpstr>Boosting</vt:lpstr>
      <vt:lpstr>Boosting</vt:lpstr>
      <vt:lpstr>Boosting Algorithms</vt:lpstr>
      <vt:lpstr>PowerPoint Presentation</vt:lpstr>
      <vt:lpstr>Similarities Between Bagging and Boosting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2</cp:revision>
  <dcterms:created xsi:type="dcterms:W3CDTF">2026-01-22T06:54:32Z</dcterms:created>
  <dcterms:modified xsi:type="dcterms:W3CDTF">2026-01-22T08:55:33Z</dcterms:modified>
</cp:coreProperties>
</file>