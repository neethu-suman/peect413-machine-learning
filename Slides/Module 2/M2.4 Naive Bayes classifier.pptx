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356" r:id="rId3"/>
    <p:sldId id="371" r:id="rId4"/>
    <p:sldId id="374" r:id="rId5"/>
    <p:sldId id="375" r:id="rId6"/>
    <p:sldId id="373" r:id="rId7"/>
    <p:sldId id="372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3081-9399-1F1C-39B2-1060AF1BE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D17B1-6222-A92F-BB53-0CFF119D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13F49-A0EF-1D66-C89B-8E475600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5BECD-31F2-EE2D-39E3-7CDD1E63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8519-32AB-8F4D-4824-8D390BDC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53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4FAB-BD06-4FD5-D97E-3FD0C14B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7948-3E20-AE71-7A26-4B4AAA094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82E3E-D0A1-1B01-32F6-0EE45AD4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7C2D-52FF-61FA-25F3-85C012C2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93E19-1D9A-3A6D-EC45-4D649113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08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2B7E-013B-CDA0-27EB-91C0AD98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3B648-84D5-20A3-3DD4-29FABC72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C981F-99E6-F5A1-12D7-03DE004F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08B2F-4ADC-C2C6-6CAF-C0ED2C0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1CE5-EAF4-55A7-555C-6B49D6C5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20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A00F-D4CB-C489-8D27-D023D137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B0E9-6BBA-594A-034D-046A43B9C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3C1F2-1FF7-1E6D-4EC2-B9CA54904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F7247-E8AB-9130-6BC3-737889A5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D711-D8A5-E4FD-DCA8-C5082AF4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2567F-3D8A-3217-7C8B-304BD2E2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92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D3C3-9338-0F25-F0E5-D8341945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9778B-FA57-6790-9785-F67D2530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014CA-FBBF-C692-48D2-FB288338A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7EC09-94E6-767B-4BC5-4C83D3B4D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F3BFB-B5EC-95D7-89FF-D3029A4B6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ECB2AC-6B69-2D73-E3EC-BFCA1C45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2BCF5-3827-6B7C-4E8B-16724FE5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E1EE2-71DD-35E5-A1F2-40231BBE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84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4407-ADB5-5920-668D-EE347BEC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13569-EB7D-183E-396B-355E1F93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163CF-B936-F8F3-4380-9E28DD12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AC6D8-E4E2-80F8-1391-534D94C5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5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01FBD-E4AC-107F-4D0D-580A0F2F8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4CDE2-54B7-F099-54E9-DB39EF3F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E978B-5D72-43DF-255D-E355E0FE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2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4539-B9FF-7F81-A015-ABD2DC6D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77661-0FDD-55D9-C0DA-3A8CAD63D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77F17-B952-D82B-74FC-0EFE8CF92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8FE62-FF27-121D-AADC-380FCD44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CA044-1E55-D0E8-E4AD-5E9C4E26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E30DB-D813-0EC6-4DCF-279DD48D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04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66E9-903F-F1B6-34FE-A360BBFF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D54D3-7C2C-1791-CA07-EA5BC6DA7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EF265-D9EA-0D47-AB2A-BBF45F941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2179B-DB4C-70D9-75F4-80DE7954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B236E-EFF8-71AB-73DD-3426F29A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2CA33-5B47-F761-675C-D73BF3FE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31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95E4-7F08-89D9-2CFC-037727DD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AF9E6-7C28-DB95-8005-B246E422D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A7E0D-B818-E7DE-71F8-705C3BC2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7E3C0-02D3-AD16-A1FD-2277FC38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1A60-C228-DA48-9968-886230E7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12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044D1-5DDA-80D2-7658-39C199F13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9EEA3-49C4-26A6-9C41-591C23C80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0334-9130-6817-BFD5-7228A23C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2A53A-5D64-868F-BDD2-3BA69052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A6E98-2FFB-A7ED-B4DD-0C647120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2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EF0C0-5857-47BB-E3BC-D8C7339A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692DF-0B67-C4B8-6E09-A61C5B4D8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204CE-66F9-9889-4C2B-CC7B2FF0F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26B41-D54D-471A-908D-8EB18626192E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06297-BD9E-EBB8-EDEA-5954672F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2E131-650D-99A7-A1F2-92C6BBD15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76751-1F18-4099-AC01-24115F565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EC5F-1E57-5333-FB33-31AA1C86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Naive</a:t>
            </a:r>
            <a:r>
              <a:rPr lang="fr-FR" dirty="0"/>
              <a:t> Bayes classifier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58059-7413-0FFE-D482-FBD91466A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Naive Bayes is a machine learning classification algorithm that predicts the category of a data point using probability. </a:t>
            </a:r>
          </a:p>
          <a:p>
            <a:r>
              <a:rPr lang="en-US" sz="2400" dirty="0"/>
              <a:t>It assumes that all features are independent of each other. </a:t>
            </a:r>
          </a:p>
          <a:p>
            <a:r>
              <a:rPr lang="en-US" sz="2400" dirty="0"/>
              <a:t>Naive Bayes performs well in many real-world applications such as spam filtering, document </a:t>
            </a:r>
            <a:r>
              <a:rPr lang="en-US" sz="2400" dirty="0" err="1"/>
              <a:t>categorisation</a:t>
            </a:r>
            <a:r>
              <a:rPr lang="en-US" sz="2400" dirty="0"/>
              <a:t> and sentiment analysis.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912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91C1-0439-B56B-3BBF-913BB8B95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78"/>
            <a:ext cx="10515600" cy="519458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Naive</a:t>
            </a:r>
            <a:r>
              <a:rPr lang="fr-FR" dirty="0"/>
              <a:t> Bayes classifier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9B26CC-103D-EE18-4ACA-0E2D7220B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90090"/>
            <a:ext cx="4556297" cy="2896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C8CF8-56BC-D95C-F3E5-EF389FF52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470" y="890089"/>
            <a:ext cx="4294386" cy="2896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9BF5D8-9D59-5CD5-727C-3EE3E06CD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87" y="3903683"/>
            <a:ext cx="4957783" cy="2728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7C139B-1E36-91DC-4DD9-D974A2B39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608" y="3903683"/>
            <a:ext cx="4506755" cy="289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9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E67E-AAB4-342E-0B3F-2865C2B4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 of Naive Bayes Classifiers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204A1-79C0-3E52-14FE-D4A15F8A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b="1" dirty="0"/>
              <a:t>Use Bayes' Theorem </a:t>
            </a:r>
            <a:r>
              <a:rPr lang="en-US" sz="2400" dirty="0"/>
              <a:t>to classify data based on the probabilities of different classes given the features of the data. It is used mostly in high-dimensional text classification</a:t>
            </a:r>
          </a:p>
          <a:p>
            <a:pPr fontAlgn="base"/>
            <a:r>
              <a:rPr lang="en-US" sz="2400" dirty="0"/>
              <a:t>The Naive Bayes Classifier is a </a:t>
            </a:r>
            <a:r>
              <a:rPr lang="en-US" sz="2400" b="1" dirty="0"/>
              <a:t>simple probabilistic classifier </a:t>
            </a:r>
            <a:r>
              <a:rPr lang="en-US" sz="2400" dirty="0"/>
              <a:t>and it has very few number of parameters which are used to build the ML models that can predict at a faster speed than other classification algorithms.</a:t>
            </a:r>
          </a:p>
          <a:p>
            <a:pPr fontAlgn="base"/>
            <a:r>
              <a:rPr lang="en-US" sz="2400" dirty="0"/>
              <a:t>It is a probabilistic classifier because it assumes that one feature in the model is </a:t>
            </a:r>
            <a:r>
              <a:rPr lang="en-US" sz="2400" b="1" dirty="0"/>
              <a:t>independent of existence of another feature</a:t>
            </a:r>
            <a:r>
              <a:rPr lang="en-US" sz="2400" dirty="0"/>
              <a:t>. In other words, each feature contributes to the predictions with no relation between each other.</a:t>
            </a:r>
          </a:p>
          <a:p>
            <a:pPr fontAlgn="base"/>
            <a:r>
              <a:rPr lang="en-US" sz="2400" dirty="0"/>
              <a:t>Naive Bayes Algorithm is used in spam filtration, Sentimental analysis, classifying articles and many more.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471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CA56-8BB8-E8A9-C1EF-FDC37ADA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Assumption of Naive Bayes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A23F-7E3C-C087-67BC-2A2893A4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9852" cy="435133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 fundamental Naive Bayes assumption is that each feature makes:</a:t>
            </a:r>
          </a:p>
          <a:p>
            <a:pPr lvl="1" fontAlgn="base"/>
            <a:r>
              <a:rPr lang="en-US" b="1" dirty="0"/>
              <a:t>Feature independence:</a:t>
            </a:r>
            <a:r>
              <a:rPr lang="en-US" dirty="0"/>
              <a:t> This means that when we are trying to classify something, we assume that each feature (or piece of information) in the data does not affect any other feature.</a:t>
            </a:r>
          </a:p>
          <a:p>
            <a:pPr lvl="1" fontAlgn="base"/>
            <a:r>
              <a:rPr lang="en-US" b="1" dirty="0"/>
              <a:t>Continuous features are normally distributed:</a:t>
            </a:r>
            <a:r>
              <a:rPr lang="en-US" dirty="0"/>
              <a:t> If a feature is continuous, then it is assumed to be normally distributed within each class.</a:t>
            </a:r>
          </a:p>
          <a:p>
            <a:pPr lvl="1" fontAlgn="base"/>
            <a:r>
              <a:rPr lang="en-US" b="1" dirty="0"/>
              <a:t>Discrete features have multinomial distributions:</a:t>
            </a:r>
            <a:r>
              <a:rPr lang="en-US" dirty="0"/>
              <a:t> If a feature is discrete, then it is assumed to have a multinomial distribution within each class.</a:t>
            </a:r>
          </a:p>
          <a:p>
            <a:pPr lvl="1" fontAlgn="base"/>
            <a:r>
              <a:rPr lang="en-US" b="1" dirty="0"/>
              <a:t>Features are equally important:</a:t>
            </a:r>
            <a:r>
              <a:rPr lang="en-US" dirty="0"/>
              <a:t> All features are assumed to contribute equally to the prediction of the class label.</a:t>
            </a:r>
          </a:p>
          <a:p>
            <a:pPr lvl="1" fontAlgn="base"/>
            <a:r>
              <a:rPr lang="en-US" b="1" dirty="0"/>
              <a:t>No missing data:</a:t>
            </a:r>
            <a:r>
              <a:rPr lang="en-US" dirty="0"/>
              <a:t> The data should not contain any missing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94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23346C-D648-D19D-8252-0369954D3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07" y="594187"/>
            <a:ext cx="11703785" cy="52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7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9C7F-F3FB-590E-CE36-794CC649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50343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n-lt"/>
              </a:rPr>
              <a:t>Consider a fictional dataset that describes the weather conditions for playing a game of golf. Given the weather conditions, each tuple classifies the conditions as fit(“Yes”) or unfit(“No”) for playing golf. </a:t>
            </a:r>
            <a:endParaRPr lang="en-IN" sz="2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2923-D23F-DE31-4B26-D3313F156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90963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/>
              <a:t>The dataset is divided into two parts </a:t>
            </a:r>
            <a:r>
              <a:rPr lang="en-US" sz="2400" dirty="0" err="1"/>
              <a:t>i.e</a:t>
            </a:r>
            <a:r>
              <a:rPr lang="en-US" sz="2400" dirty="0"/>
              <a:t> feature matrix and the response vector.</a:t>
            </a:r>
          </a:p>
          <a:p>
            <a:pPr fontAlgn="base"/>
            <a:r>
              <a:rPr lang="en-US" sz="2400" dirty="0"/>
              <a:t>Feature matrix contains all the vectors(rows) of dataset in which each vector consists of the value of dependent features. In above dataset, features are ‘Outlook’, ‘Temperature’, ‘Humidity’ and ‘Windy’.</a:t>
            </a:r>
          </a:p>
          <a:p>
            <a:pPr fontAlgn="base"/>
            <a:r>
              <a:rPr lang="en-US" sz="2400" dirty="0"/>
              <a:t>Response vector contains the value of class variable (prediction or output) for each row of feature matrix. In above dataset, the class variable name is ‘Play golf’.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9872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16D00B-C29F-721E-60AE-FA6054967D9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872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8AD1D-4733-E9C9-EE59-6132E47EC240}"/>
              </a:ext>
            </a:extLst>
          </p:cNvPr>
          <p:cNvSpPr txBox="1"/>
          <p:nvPr/>
        </p:nvSpPr>
        <p:spPr>
          <a:xfrm>
            <a:off x="10366512" y="1441174"/>
            <a:ext cx="12722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319586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16150-E831-D35D-E40F-07B84DA9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34" y="227264"/>
            <a:ext cx="11618131" cy="522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3E341-1C4F-DE71-BA5F-ABEC3331B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2" y="207957"/>
            <a:ext cx="11215588" cy="62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5BE310-35EA-F9F6-5C81-ACA7B3B0E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37" y="636547"/>
            <a:ext cx="11488129" cy="337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27B0F-E744-02AB-D274-240FB728C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8" y="461993"/>
            <a:ext cx="10500996" cy="392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0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D0908A-4434-BEC4-15B6-A13638E8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22713"/>
            <a:ext cx="5984084" cy="3047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55DBB-ED5E-1E0C-8562-BB760B4A7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871" y="0"/>
            <a:ext cx="6229128" cy="2943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66B2C-9690-7BCA-1E2F-496BE7A67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830" y="2893339"/>
            <a:ext cx="6448424" cy="302723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FEA04B-60A3-DA6B-50D4-DA5A78C46FEE}"/>
              </a:ext>
            </a:extLst>
          </p:cNvPr>
          <p:cNvGraphicFramePr>
            <a:graphicFrameLocks noGrp="1"/>
          </p:cNvGraphicFramePr>
          <p:nvPr/>
        </p:nvGraphicFramePr>
        <p:xfrm>
          <a:off x="0" y="35139"/>
          <a:ext cx="5984085" cy="2846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817">
                  <a:extLst>
                    <a:ext uri="{9D8B030D-6E8A-4147-A177-3AD203B41FA5}">
                      <a16:colId xmlns:a16="http://schemas.microsoft.com/office/drawing/2014/main" val="2052749144"/>
                    </a:ext>
                  </a:extLst>
                </a:gridCol>
                <a:gridCol w="1196817">
                  <a:extLst>
                    <a:ext uri="{9D8B030D-6E8A-4147-A177-3AD203B41FA5}">
                      <a16:colId xmlns:a16="http://schemas.microsoft.com/office/drawing/2014/main" val="272610711"/>
                    </a:ext>
                  </a:extLst>
                </a:gridCol>
                <a:gridCol w="1196817">
                  <a:extLst>
                    <a:ext uri="{9D8B030D-6E8A-4147-A177-3AD203B41FA5}">
                      <a16:colId xmlns:a16="http://schemas.microsoft.com/office/drawing/2014/main" val="3406054672"/>
                    </a:ext>
                  </a:extLst>
                </a:gridCol>
                <a:gridCol w="1196817">
                  <a:extLst>
                    <a:ext uri="{9D8B030D-6E8A-4147-A177-3AD203B41FA5}">
                      <a16:colId xmlns:a16="http://schemas.microsoft.com/office/drawing/2014/main" val="316555292"/>
                    </a:ext>
                  </a:extLst>
                </a:gridCol>
                <a:gridCol w="1196817">
                  <a:extLst>
                    <a:ext uri="{9D8B030D-6E8A-4147-A177-3AD203B41FA5}">
                      <a16:colId xmlns:a16="http://schemas.microsoft.com/office/drawing/2014/main" val="3389864667"/>
                    </a:ext>
                  </a:extLst>
                </a:gridCol>
              </a:tblGrid>
              <a:tr h="459280">
                <a:tc gridSpan="5"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Outlook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431678"/>
                  </a:ext>
                </a:extLst>
              </a:tr>
              <a:tr h="465659"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P(yes)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P(no)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9691"/>
                  </a:ext>
                </a:extLst>
              </a:tr>
              <a:tr h="46565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2/9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678994"/>
                  </a:ext>
                </a:extLst>
              </a:tr>
              <a:tr h="46565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4/9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95724"/>
                  </a:ext>
                </a:extLst>
              </a:tr>
              <a:tr h="46565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Rainy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3/9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673848"/>
                  </a:ext>
                </a:extLst>
              </a:tr>
              <a:tr h="46565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6412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348D70-BED0-C998-B863-FABFDCA23F8C}"/>
              </a:ext>
            </a:extLst>
          </p:cNvPr>
          <p:cNvSpPr txBox="1"/>
          <p:nvPr/>
        </p:nvSpPr>
        <p:spPr>
          <a:xfrm>
            <a:off x="6479821" y="1216751"/>
            <a:ext cx="105354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500320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C21346-D0CD-B6EC-6560-0D39BD409F5F}"/>
              </a:ext>
            </a:extLst>
          </p:cNvPr>
          <p:cNvGraphicFramePr>
            <a:graphicFrameLocks noGrp="1"/>
          </p:cNvGraphicFramePr>
          <p:nvPr/>
        </p:nvGraphicFramePr>
        <p:xfrm>
          <a:off x="1674191" y="1475039"/>
          <a:ext cx="8354391" cy="2580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4797">
                  <a:extLst>
                    <a:ext uri="{9D8B030D-6E8A-4147-A177-3AD203B41FA5}">
                      <a16:colId xmlns:a16="http://schemas.microsoft.com/office/drawing/2014/main" val="3628440187"/>
                    </a:ext>
                  </a:extLst>
                </a:gridCol>
                <a:gridCol w="2784797">
                  <a:extLst>
                    <a:ext uri="{9D8B030D-6E8A-4147-A177-3AD203B41FA5}">
                      <a16:colId xmlns:a16="http://schemas.microsoft.com/office/drawing/2014/main" val="1602942328"/>
                    </a:ext>
                  </a:extLst>
                </a:gridCol>
                <a:gridCol w="2784797">
                  <a:extLst>
                    <a:ext uri="{9D8B030D-6E8A-4147-A177-3AD203B41FA5}">
                      <a16:colId xmlns:a16="http://schemas.microsoft.com/office/drawing/2014/main" val="2096456370"/>
                    </a:ext>
                  </a:extLst>
                </a:gridCol>
              </a:tblGrid>
              <a:tr h="645031">
                <a:tc gridSpan="2"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Play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P(Yes)/P(Play)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823906"/>
                  </a:ext>
                </a:extLst>
              </a:tr>
              <a:tr h="64503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433913"/>
                  </a:ext>
                </a:extLst>
              </a:tr>
              <a:tr h="64503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803965"/>
                  </a:ext>
                </a:extLst>
              </a:tr>
              <a:tr h="64503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344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242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F9E3B5-3B5A-96B7-F543-FA8FDFAB8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72217" cy="4025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E5F867-2A3D-8644-7766-9257603D1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296" y="2846115"/>
            <a:ext cx="6321502" cy="340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0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8C6B6-6857-5945-AA05-71F8B452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506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579E7-7001-7528-F12B-77ECAC0C5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-1"/>
            <a:ext cx="6172200" cy="67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6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2DFD9-7B04-9333-C0C0-BF10B716C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25" y="261845"/>
            <a:ext cx="9075879" cy="651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44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16A9-55A4-4FD0-0E89-1C447E399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388"/>
          </a:xfrm>
        </p:spPr>
        <p:txBody>
          <a:bodyPr/>
          <a:lstStyle/>
          <a:p>
            <a:r>
              <a:rPr lang="en-US" b="1" dirty="0"/>
              <a:t>Three Types of Naive Bayes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99DEA-D707-AF4C-9313-74E855234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139"/>
            <a:ext cx="10515600" cy="456682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/>
              <a:t>1. Gaussian Naive Bayes</a:t>
            </a:r>
          </a:p>
          <a:p>
            <a:pPr lvl="1" fontAlgn="base"/>
            <a:r>
              <a:rPr lang="en-US" sz="2000" dirty="0"/>
              <a:t>Continuous values associated with each feature are assumed to be distributed according to a Gaussian distribution. </a:t>
            </a:r>
          </a:p>
          <a:p>
            <a:pPr marL="0" indent="0" fontAlgn="base">
              <a:buNone/>
            </a:pPr>
            <a:r>
              <a:rPr lang="en-US" sz="2400" b="1" dirty="0"/>
              <a:t>2. Multinomial Naive Bayes</a:t>
            </a:r>
          </a:p>
          <a:p>
            <a:pPr lvl="1" fontAlgn="base"/>
            <a:r>
              <a:rPr lang="en-US" sz="2000" dirty="0"/>
              <a:t>Multinomial Naive Bayes is used when features represent the frequency of terms (such as word counts) in a document. It is commonly applied in text classification, where term frequencies are important.</a:t>
            </a:r>
          </a:p>
          <a:p>
            <a:pPr marL="0" indent="0" fontAlgn="base">
              <a:buNone/>
            </a:pPr>
            <a:r>
              <a:rPr lang="en-US" sz="2400" b="1" dirty="0"/>
              <a:t>3. Bernoulli Naive Bayes</a:t>
            </a:r>
          </a:p>
          <a:p>
            <a:pPr lvl="1" fontAlgn="base"/>
            <a:r>
              <a:rPr lang="en-US" sz="2000" dirty="0"/>
              <a:t>Bernoulli Naive Bayes deals with binary features, where each feature indicates whether a word appears or not in a document. </a:t>
            </a:r>
          </a:p>
          <a:p>
            <a:pPr lvl="1" fontAlgn="base"/>
            <a:r>
              <a:rPr lang="en-US" sz="2000" dirty="0"/>
              <a:t>It is suited for scenarios where the presence or absence of terms is more relevant than their frequency. Both models are widely used in document 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394428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1BC4-36F6-B209-3130-1796B6D7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Naive Bayes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93FD-C35C-01CA-524D-B1E180F57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Advantages</a:t>
            </a:r>
          </a:p>
          <a:p>
            <a:pPr lvl="1" fontAlgn="base"/>
            <a:r>
              <a:rPr lang="en-US" dirty="0"/>
              <a:t>Easy to implement and computationally efficient.</a:t>
            </a:r>
          </a:p>
          <a:p>
            <a:pPr lvl="1" fontAlgn="base"/>
            <a:r>
              <a:rPr lang="en-US" dirty="0"/>
              <a:t>Effective in cases with a large number of features.</a:t>
            </a:r>
          </a:p>
          <a:p>
            <a:pPr lvl="1" fontAlgn="base"/>
            <a:r>
              <a:rPr lang="en-US" dirty="0"/>
              <a:t>Performs well even with limited training data.</a:t>
            </a:r>
          </a:p>
          <a:p>
            <a:pPr lvl="1" fontAlgn="base"/>
            <a:r>
              <a:rPr lang="en-US" dirty="0"/>
              <a:t>It performs well in the presence of categorical features.</a:t>
            </a:r>
          </a:p>
          <a:p>
            <a:pPr lvl="1" fontAlgn="base"/>
            <a:r>
              <a:rPr lang="en-US" dirty="0"/>
              <a:t>For numerical features data is assumed to come from normal distributions</a:t>
            </a:r>
          </a:p>
          <a:p>
            <a:pPr fontAlgn="base"/>
            <a:r>
              <a:rPr lang="en-US" b="1" dirty="0"/>
              <a:t>Disadvantages</a:t>
            </a:r>
          </a:p>
          <a:p>
            <a:pPr lvl="1" fontAlgn="base"/>
            <a:r>
              <a:rPr lang="en-US" dirty="0"/>
              <a:t>Assumes that features are independent, which may not always hold in real-world data.</a:t>
            </a:r>
          </a:p>
          <a:p>
            <a:pPr lvl="1" fontAlgn="base"/>
            <a:r>
              <a:rPr lang="en-US" dirty="0"/>
              <a:t>Can be influenced by irrelevant attributes.</a:t>
            </a:r>
          </a:p>
          <a:p>
            <a:pPr lvl="1" fontAlgn="base"/>
            <a:r>
              <a:rPr lang="en-US" dirty="0"/>
              <a:t>May assign zero probability to unseen events, leading to poor generalization.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936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9FBA-6EC0-7C42-EFA9-70455202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Naive Bayes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1410-4D9B-8BC0-4D92-C0D1CC948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Applications</a:t>
            </a:r>
          </a:p>
          <a:p>
            <a:pPr lvl="1" fontAlgn="base"/>
            <a:r>
              <a:rPr lang="en-US" b="1" dirty="0"/>
              <a:t>Spam Email Filtering</a:t>
            </a:r>
            <a:r>
              <a:rPr lang="en-US" dirty="0"/>
              <a:t>: Classifies emails as spam or non-spam based on features.</a:t>
            </a:r>
          </a:p>
          <a:p>
            <a:pPr lvl="1" fontAlgn="base"/>
            <a:r>
              <a:rPr lang="en-US" b="1" dirty="0"/>
              <a:t>Text Classification</a:t>
            </a:r>
            <a:r>
              <a:rPr lang="en-US" dirty="0"/>
              <a:t>: Used in sentiment analysis, document categorization and topic classification.</a:t>
            </a:r>
          </a:p>
          <a:p>
            <a:pPr lvl="1" fontAlgn="base"/>
            <a:r>
              <a:rPr lang="en-US" b="1" dirty="0"/>
              <a:t>Medical Diagnosis:</a:t>
            </a:r>
            <a:r>
              <a:rPr lang="en-US" dirty="0"/>
              <a:t> Helps in predicting the likelihood of a disease based on symptoms.</a:t>
            </a:r>
          </a:p>
          <a:p>
            <a:pPr lvl="1" fontAlgn="base"/>
            <a:r>
              <a:rPr lang="en-US" b="1" dirty="0"/>
              <a:t>Credit Scoring:</a:t>
            </a:r>
            <a:r>
              <a:rPr lang="en-US" dirty="0"/>
              <a:t> Evaluates creditworthiness of individuals for loan approval.</a:t>
            </a:r>
          </a:p>
          <a:p>
            <a:pPr lvl="1" fontAlgn="base"/>
            <a:r>
              <a:rPr lang="en-US" b="1" dirty="0"/>
              <a:t>Weather Prediction</a:t>
            </a:r>
            <a:r>
              <a:rPr lang="en-US" dirty="0"/>
              <a:t>: Classifies weather conditions based on various factors.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879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Microsoft Office PowerPoint</Application>
  <PresentationFormat>Widescreen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Naive Bayes classifier</vt:lpstr>
      <vt:lpstr>Naive Bayes classifier</vt:lpstr>
      <vt:lpstr>Key Features of Naive Bayes Classifiers</vt:lpstr>
      <vt:lpstr>Assumption of Naive Bayes</vt:lpstr>
      <vt:lpstr>PowerPoint Presentation</vt:lpstr>
      <vt:lpstr>Consider a fictional dataset that describes the weather conditions for playing a game of golf. Given the weather conditions, each tuple classifies the conditions as fit(“Yes”) or unfit(“No”) for playing golf.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Three Types of Naive Bayes Model</vt:lpstr>
      <vt:lpstr>Naive Bayes Model</vt:lpstr>
      <vt:lpstr>Naive Bayes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2026-01-22T06:52:31Z</dcterms:created>
  <dcterms:modified xsi:type="dcterms:W3CDTF">2026-01-22T06:53:08Z</dcterms:modified>
</cp:coreProperties>
</file>