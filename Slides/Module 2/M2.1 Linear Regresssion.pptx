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8" r:id="rId2"/>
    <p:sldId id="277" r:id="rId3"/>
    <p:sldId id="284" r:id="rId4"/>
    <p:sldId id="285" r:id="rId5"/>
    <p:sldId id="286" r:id="rId6"/>
    <p:sldId id="289" r:id="rId7"/>
    <p:sldId id="290" r:id="rId8"/>
    <p:sldId id="287" r:id="rId9"/>
    <p:sldId id="288" r:id="rId10"/>
    <p:sldId id="292" r:id="rId11"/>
    <p:sldId id="294" r:id="rId12"/>
    <p:sldId id="293" r:id="rId13"/>
    <p:sldId id="267" r:id="rId14"/>
    <p:sldId id="283" r:id="rId15"/>
    <p:sldId id="295" r:id="rId16"/>
    <p:sldId id="296" r:id="rId17"/>
    <p:sldId id="280" r:id="rId18"/>
    <p:sldId id="281" r:id="rId19"/>
    <p:sldId id="291" r:id="rId20"/>
    <p:sldId id="297" r:id="rId21"/>
    <p:sldId id="298" r:id="rId22"/>
    <p:sldId id="299" r:id="rId23"/>
    <p:sldId id="313" r:id="rId24"/>
    <p:sldId id="314" r:id="rId25"/>
    <p:sldId id="315" r:id="rId26"/>
    <p:sldId id="316" r:id="rId27"/>
    <p:sldId id="317" r:id="rId28"/>
    <p:sldId id="324" r:id="rId29"/>
    <p:sldId id="319" r:id="rId30"/>
    <p:sldId id="318" r:id="rId31"/>
    <p:sldId id="322" r:id="rId32"/>
    <p:sldId id="323" r:id="rId33"/>
    <p:sldId id="320" r:id="rId34"/>
    <p:sldId id="325" r:id="rId35"/>
    <p:sldId id="327" r:id="rId36"/>
    <p:sldId id="328" r:id="rId37"/>
    <p:sldId id="329" r:id="rId38"/>
    <p:sldId id="330" r:id="rId39"/>
    <p:sldId id="300" r:id="rId40"/>
    <p:sldId id="301" r:id="rId41"/>
    <p:sldId id="302" r:id="rId42"/>
    <p:sldId id="303" r:id="rId43"/>
    <p:sldId id="282" r:id="rId44"/>
    <p:sldId id="304" r:id="rId45"/>
    <p:sldId id="305" r:id="rId46"/>
    <p:sldId id="306" r:id="rId47"/>
    <p:sldId id="335" r:id="rId48"/>
    <p:sldId id="307" r:id="rId49"/>
    <p:sldId id="336" r:id="rId50"/>
    <p:sldId id="308" r:id="rId51"/>
    <p:sldId id="309" r:id="rId52"/>
    <p:sldId id="310" r:id="rId53"/>
    <p:sldId id="273" r:id="rId54"/>
    <p:sldId id="348" r:id="rId55"/>
    <p:sldId id="349" r:id="rId56"/>
    <p:sldId id="350" r:id="rId57"/>
    <p:sldId id="331" r:id="rId58"/>
    <p:sldId id="334" r:id="rId59"/>
    <p:sldId id="33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61FFB-237A-48C9-B60B-2F10A39C3E6E}" type="datetimeFigureOut">
              <a:rPr lang="en-IN" smtClean="0"/>
              <a:t>15-01-2026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F6D819-1192-4899-A688-4AE1244016A5}" type="slidenum">
              <a:rPr lang="en-IN" smtClean="0"/>
              <a:t>‹#›</a:t>
            </a:fld>
            <a:endParaRPr lang="en-IN"/>
          </a:p>
        </p:txBody>
      </p:sp>
    </p:spTree>
    <p:extLst>
      <p:ext uri="{BB962C8B-B14F-4D97-AF65-F5344CB8AC3E}">
        <p14:creationId xmlns:p14="http://schemas.microsoft.com/office/powerpoint/2010/main" val="2174421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DC54-FB2B-2A55-136E-D1260BD92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B3CFF-7E1A-727E-A31E-DB188AAFB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3C0C5-A040-1F36-2DE2-440078DE9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F5417C-5AE4-C885-0CDC-663E725509E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67420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3999-EE2F-C2A8-B81C-E43188993A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3EBAEE-9369-7B5E-67A1-2D6CEA7D90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1EA9AC-13FA-BAFE-B6D3-731E71BF15F5}"/>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47F5EAEF-E523-8AAF-52B3-5DDF6B50D7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9506D6-ED21-1D8B-7B9A-4671E9E39663}"/>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2170213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2F7E3-588C-BD3B-9B28-BF84DC8C5E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BBD619-096D-2FDF-8CA7-AB49EA7D4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02D41-A5D4-BC42-4FC2-59C754652BFD}"/>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0A89D769-E098-C021-5F4F-954A4EE94E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DF7B12-6171-F013-AD67-EF6D537F3FE2}"/>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1435068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B6D3-3340-F43A-B44B-03778C3133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38C9E7-BCB9-603B-680E-03481475E4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962682-46D4-3F52-17F6-78B924F45126}"/>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E9F06B9B-46A0-A514-8417-830E9D8699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46FEEB-F81C-83B6-2764-7A89836C45A4}"/>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3862201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7430-DE70-2E1C-6D4B-B32992E7C7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B20C9C-ED5A-E96A-E47B-4663617771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F5FD0F-E9CC-710A-180C-CAEA91FC60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5CC75C-B023-45C8-8A50-1E9E04613CF5}"/>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6" name="Footer Placeholder 5">
            <a:extLst>
              <a:ext uri="{FF2B5EF4-FFF2-40B4-BE49-F238E27FC236}">
                <a16:creationId xmlns:a16="http://schemas.microsoft.com/office/drawing/2014/main" id="{423B43E9-C9C4-9923-B341-A3B5C9A3A3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46E0C3-054F-0F44-C7F6-001D81A8B18D}"/>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632393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98A6-BAA7-B229-B4A8-9838CC4D8B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36AF2-6EC4-A2AE-9F74-5C57BC07D5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27B5C1-0846-2020-2173-2B38F3B5CD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665DF6-E5E9-88C1-D25E-E2E82DC91B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7B5F94-A766-6FEC-5EB9-694A5D32D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B4835D-6F76-7F35-238E-6B067F26C466}"/>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8" name="Footer Placeholder 7">
            <a:extLst>
              <a:ext uri="{FF2B5EF4-FFF2-40B4-BE49-F238E27FC236}">
                <a16:creationId xmlns:a16="http://schemas.microsoft.com/office/drawing/2014/main" id="{AD0EF000-4C87-5525-27F9-87F7736C11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AF9D5E-397F-E4E1-A96B-CA99D31414A5}"/>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1375338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88E7-78A0-1820-6A82-6DC4F9AAC4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F1BBEC-82C8-5218-D8AA-9804DB8BE3FE}"/>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4" name="Footer Placeholder 3">
            <a:extLst>
              <a:ext uri="{FF2B5EF4-FFF2-40B4-BE49-F238E27FC236}">
                <a16:creationId xmlns:a16="http://schemas.microsoft.com/office/drawing/2014/main" id="{A12911A9-021C-AD7F-C558-4042E464A6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F3D41F-A337-4A8A-13CE-2B2E19DEA248}"/>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336760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1A52BB-E649-5F21-CAD9-F9F4005D209F}"/>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3" name="Footer Placeholder 2">
            <a:extLst>
              <a:ext uri="{FF2B5EF4-FFF2-40B4-BE49-F238E27FC236}">
                <a16:creationId xmlns:a16="http://schemas.microsoft.com/office/drawing/2014/main" id="{97F36A72-C74D-693B-A3DB-99EB16527B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BAF01B-76F5-EC0C-7171-FEC5D80D553F}"/>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1606579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E52E-10B2-370E-6A4B-130537D57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3D50AC-2748-0423-AE13-729101116B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91924D-7E3A-0102-B7B7-BE3DD3A86E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983EFB-C1AE-8CFA-7115-9FDAFB1EB944}"/>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6" name="Footer Placeholder 5">
            <a:extLst>
              <a:ext uri="{FF2B5EF4-FFF2-40B4-BE49-F238E27FC236}">
                <a16:creationId xmlns:a16="http://schemas.microsoft.com/office/drawing/2014/main" id="{6E91975A-E40B-C291-2ACD-392BC6376C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DB8AC5-D718-642C-AA65-DD50670547B8}"/>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321414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5E91-16B0-319B-8E00-4AA545052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78FD39-EE36-BCB0-A40E-C2BD5DE1B6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3E2A8D-E85F-658A-B689-3BA2D4439D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A0CC3-EFD5-65F1-9B6D-5581500C5B2E}"/>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6" name="Footer Placeholder 5">
            <a:extLst>
              <a:ext uri="{FF2B5EF4-FFF2-40B4-BE49-F238E27FC236}">
                <a16:creationId xmlns:a16="http://schemas.microsoft.com/office/drawing/2014/main" id="{4E7DB82D-34D6-F1FA-D101-1530902BCC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A5D99C-68B7-BDA5-A705-A186CCA6FC59}"/>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1797138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4A79-54DB-53AE-19C0-36403328C6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6BD94C-D571-7EB0-8C86-A96014AEE2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2AC52-F884-3E9B-5ACB-EF1EEE6700D2}"/>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F0191F4A-307D-A6AD-3FAD-A175017F1A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039928-D311-2C0D-5C0C-1F0C906CB9DE}"/>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797940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4E20DE-9652-DBA8-AFDA-76FBC4852A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EC1769-44CB-3379-D552-19B3D36CE9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A00668-0370-15D3-F973-63E8366F1C0F}"/>
              </a:ext>
            </a:extLst>
          </p:cNvPr>
          <p:cNvSpPr>
            <a:spLocks noGrp="1"/>
          </p:cNvSpPr>
          <p:nvPr>
            <p:ph type="dt" sz="half" idx="10"/>
          </p:nvPr>
        </p:nvSpPr>
        <p:spPr/>
        <p:txBody>
          <a:body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0AD8C2C4-00ED-32A9-505C-9EB201226F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A83F55-47D5-D64F-DE69-E3951C0D67BD}"/>
              </a:ext>
            </a:extLst>
          </p:cNvPr>
          <p:cNvSpPr>
            <a:spLocks noGrp="1"/>
          </p:cNvSpPr>
          <p:nvPr>
            <p:ph type="sldNum" sz="quarter" idx="12"/>
          </p:nvPr>
        </p:nvSpPr>
        <p:spPr/>
        <p:txBody>
          <a:bodyPr/>
          <a:lstStyle/>
          <a:p>
            <a:fld id="{D14F51AC-22AC-43A0-AA82-58AEC4A96D7B}" type="slidenum">
              <a:rPr lang="en-IN" smtClean="0"/>
              <a:t>‹#›</a:t>
            </a:fld>
            <a:endParaRPr lang="en-IN"/>
          </a:p>
        </p:txBody>
      </p:sp>
    </p:spTree>
    <p:extLst>
      <p:ext uri="{BB962C8B-B14F-4D97-AF65-F5344CB8AC3E}">
        <p14:creationId xmlns:p14="http://schemas.microsoft.com/office/powerpoint/2010/main" val="1974395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236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3CD6AC-BF75-3CD9-B19B-A176D05543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B7E9B5-00D8-21A4-31EF-09EE71FD4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73059A-17EB-01FB-1EEF-083A5D1DA5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5D4EEB-5274-4EA7-BBC2-5C5B50089EA4}" type="datetimeFigureOut">
              <a:rPr lang="en-IN" smtClean="0"/>
              <a:t>15-01-2026</a:t>
            </a:fld>
            <a:endParaRPr lang="en-IN"/>
          </a:p>
        </p:txBody>
      </p:sp>
      <p:sp>
        <p:nvSpPr>
          <p:cNvPr id="5" name="Footer Placeholder 4">
            <a:extLst>
              <a:ext uri="{FF2B5EF4-FFF2-40B4-BE49-F238E27FC236}">
                <a16:creationId xmlns:a16="http://schemas.microsoft.com/office/drawing/2014/main" id="{59B726D9-5AA2-22A8-C071-0639FA1D3B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AE4002-C2B2-A103-5BB0-57200DC07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F51AC-22AC-43A0-AA82-58AEC4A96D7B}" type="slidenum">
              <a:rPr lang="en-IN" smtClean="0"/>
              <a:t>‹#›</a:t>
            </a:fld>
            <a:endParaRPr lang="en-IN"/>
          </a:p>
        </p:txBody>
      </p:sp>
    </p:spTree>
    <p:extLst>
      <p:ext uri="{BB962C8B-B14F-4D97-AF65-F5344CB8AC3E}">
        <p14:creationId xmlns:p14="http://schemas.microsoft.com/office/powerpoint/2010/main" val="790691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2021-C498-0708-6101-6EEE690B6129}"/>
              </a:ext>
            </a:extLst>
          </p:cNvPr>
          <p:cNvSpPr>
            <a:spLocks noGrp="1"/>
          </p:cNvSpPr>
          <p:nvPr>
            <p:ph type="title"/>
          </p:nvPr>
        </p:nvSpPr>
        <p:spPr/>
        <p:txBody>
          <a:bodyPr/>
          <a:lstStyle/>
          <a:p>
            <a:pPr algn="ctr"/>
            <a:r>
              <a:rPr lang="en-IN" dirty="0"/>
              <a:t>Module 2</a:t>
            </a:r>
          </a:p>
        </p:txBody>
      </p:sp>
      <p:sp>
        <p:nvSpPr>
          <p:cNvPr id="3" name="Content Placeholder 2">
            <a:extLst>
              <a:ext uri="{FF2B5EF4-FFF2-40B4-BE49-F238E27FC236}">
                <a16:creationId xmlns:a16="http://schemas.microsoft.com/office/drawing/2014/main" id="{28C7CA51-C4A9-773E-008B-14F1E4EF09FA}"/>
              </a:ext>
            </a:extLst>
          </p:cNvPr>
          <p:cNvSpPr>
            <a:spLocks noGrp="1"/>
          </p:cNvSpPr>
          <p:nvPr>
            <p:ph idx="1"/>
          </p:nvPr>
        </p:nvSpPr>
        <p:spPr/>
        <p:txBody>
          <a:bodyPr/>
          <a:lstStyle/>
          <a:p>
            <a:r>
              <a:rPr lang="en-US" dirty="0"/>
              <a:t>Regression: linear regression, logistic regression </a:t>
            </a:r>
          </a:p>
          <a:p>
            <a:r>
              <a:rPr lang="en-US" dirty="0"/>
              <a:t>Error functions in </a:t>
            </a:r>
            <a:r>
              <a:rPr lang="en-IN" dirty="0"/>
              <a:t>regression, MSE, L1, L2</a:t>
            </a:r>
          </a:p>
          <a:p>
            <a:r>
              <a:rPr lang="en-IN" dirty="0"/>
              <a:t>Cross entropy multivariate regression.</a:t>
            </a:r>
          </a:p>
          <a:p>
            <a:r>
              <a:rPr lang="fr-FR" dirty="0"/>
              <a:t>Classification: </a:t>
            </a:r>
            <a:r>
              <a:rPr lang="fr-FR" dirty="0" err="1"/>
              <a:t>Naive</a:t>
            </a:r>
            <a:r>
              <a:rPr lang="fr-FR" dirty="0"/>
              <a:t> Bayes classifier, Support </a:t>
            </a:r>
            <a:r>
              <a:rPr lang="fr-FR" dirty="0" err="1"/>
              <a:t>Vector</a:t>
            </a:r>
            <a:r>
              <a:rPr lang="fr-FR" dirty="0"/>
              <a:t> machines, </a:t>
            </a:r>
            <a:r>
              <a:rPr lang="en-US" dirty="0"/>
              <a:t>Decision trees -random forests, </a:t>
            </a:r>
          </a:p>
          <a:p>
            <a:r>
              <a:rPr lang="en-US" dirty="0"/>
              <a:t>Ensemble methods: boosting, bagging.</a:t>
            </a:r>
            <a:endParaRPr lang="en-IN" dirty="0"/>
          </a:p>
        </p:txBody>
      </p:sp>
    </p:spTree>
    <p:extLst>
      <p:ext uri="{BB962C8B-B14F-4D97-AF65-F5344CB8AC3E}">
        <p14:creationId xmlns:p14="http://schemas.microsoft.com/office/powerpoint/2010/main" val="3627267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6F6C-F6F6-9C65-2B1B-3F88E63789C8}"/>
              </a:ext>
            </a:extLst>
          </p:cNvPr>
          <p:cNvSpPr>
            <a:spLocks noGrp="1"/>
          </p:cNvSpPr>
          <p:nvPr>
            <p:ph type="title"/>
          </p:nvPr>
        </p:nvSpPr>
        <p:spPr/>
        <p:txBody>
          <a:bodyPr/>
          <a:lstStyle/>
          <a:p>
            <a:r>
              <a:rPr lang="en-US" b="1" dirty="0">
                <a:latin typeface="+mn-lt"/>
                <a:ea typeface="Arial" pitchFamily="34" charset="-122"/>
                <a:cs typeface="Arial" pitchFamily="34" charset="-120"/>
              </a:rPr>
              <a:t>Linear Regression</a:t>
            </a:r>
            <a:endParaRPr lang="en-IN" b="1" dirty="0">
              <a:latin typeface="+mn-lt"/>
            </a:endParaRPr>
          </a:p>
        </p:txBody>
      </p:sp>
      <p:sp>
        <p:nvSpPr>
          <p:cNvPr id="3" name="Content Placeholder 2">
            <a:extLst>
              <a:ext uri="{FF2B5EF4-FFF2-40B4-BE49-F238E27FC236}">
                <a16:creationId xmlns:a16="http://schemas.microsoft.com/office/drawing/2014/main" id="{313A7FD3-C5D8-B35D-50CF-2B40E4CDF8F7}"/>
              </a:ext>
            </a:extLst>
          </p:cNvPr>
          <p:cNvSpPr>
            <a:spLocks noGrp="1"/>
          </p:cNvSpPr>
          <p:nvPr>
            <p:ph idx="1"/>
          </p:nvPr>
        </p:nvSpPr>
        <p:spPr>
          <a:xfrm>
            <a:off x="838200" y="1580322"/>
            <a:ext cx="10515600" cy="4840356"/>
          </a:xfrm>
        </p:spPr>
        <p:txBody>
          <a:bodyPr>
            <a:normAutofit/>
          </a:bodyPr>
          <a:lstStyle/>
          <a:p>
            <a:pPr marL="457189" indent="-457189">
              <a:lnSpc>
                <a:spcPts val="3240"/>
              </a:lnSpc>
              <a:buSzPct val="100000"/>
            </a:pPr>
            <a:r>
              <a:rPr lang="en-US" sz="2000" dirty="0"/>
              <a:t>Linear regression is a type of supervised machine-learning algorithm that learns from the labelled datasets and maps the data points with most optimized linear functions which can be used for prediction on new datasets. </a:t>
            </a:r>
          </a:p>
          <a:p>
            <a:pPr marL="457189" indent="-457189">
              <a:lnSpc>
                <a:spcPts val="3240"/>
              </a:lnSpc>
              <a:buSzPct val="100000"/>
            </a:pPr>
            <a:r>
              <a:rPr lang="en-US" sz="2000" dirty="0"/>
              <a:t>It assumes that there is a linear relationship between the input and output, meaning the output changes at a constant rate as the input changes. This relationship is represented by a straight line.</a:t>
            </a:r>
            <a:endParaRPr lang="en-US" sz="2000" dirty="0">
              <a:ea typeface="Arial" pitchFamily="34" charset="-122"/>
              <a:cs typeface="Arial" pitchFamily="34" charset="-120"/>
            </a:endParaRPr>
          </a:p>
          <a:p>
            <a:pPr marL="457189" indent="-457189">
              <a:lnSpc>
                <a:spcPts val="3240"/>
              </a:lnSpc>
              <a:buSzPct val="100000"/>
            </a:pPr>
            <a:r>
              <a:rPr lang="en-US" sz="2000" dirty="0">
                <a:ea typeface="Arial" pitchFamily="34" charset="-122"/>
                <a:cs typeface="Arial" pitchFamily="34" charset="-120"/>
              </a:rPr>
              <a:t>Models relationship between dependent variable (Y) and independent variable(s) (X)</a:t>
            </a:r>
            <a:endParaRPr lang="en-US" sz="2000" dirty="0"/>
          </a:p>
          <a:p>
            <a:pPr marL="457189" indent="-457189">
              <a:lnSpc>
                <a:spcPts val="3240"/>
              </a:lnSpc>
              <a:buSzPct val="100000"/>
            </a:pPr>
            <a:r>
              <a:rPr lang="en-US" sz="2000" dirty="0">
                <a:ea typeface="Arial" pitchFamily="34" charset="-122"/>
                <a:cs typeface="Arial" pitchFamily="34" charset="-120"/>
              </a:rPr>
              <a:t>Goal: minimize the error between observed and predicted values</a:t>
            </a:r>
            <a:endParaRPr lang="en-US" sz="2000" dirty="0"/>
          </a:p>
          <a:p>
            <a:pPr marL="457189" indent="-457189">
              <a:lnSpc>
                <a:spcPts val="3240"/>
              </a:lnSpc>
              <a:buSzPct val="100000"/>
            </a:pPr>
            <a:r>
              <a:rPr lang="en-US" sz="2000" dirty="0">
                <a:ea typeface="Arial" pitchFamily="34" charset="-122"/>
                <a:cs typeface="Arial" pitchFamily="34" charset="-120"/>
              </a:rPr>
              <a:t>Foundation for understanding advanced machine learning models</a:t>
            </a:r>
            <a:endParaRPr lang="en-US" sz="2000" dirty="0"/>
          </a:p>
          <a:p>
            <a:endParaRPr lang="en-IN" sz="2000" dirty="0"/>
          </a:p>
        </p:txBody>
      </p:sp>
    </p:spTree>
    <p:extLst>
      <p:ext uri="{BB962C8B-B14F-4D97-AF65-F5344CB8AC3E}">
        <p14:creationId xmlns:p14="http://schemas.microsoft.com/office/powerpoint/2010/main" val="1966656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8458-F7FB-C6F8-E3B0-F27FF86002C4}"/>
              </a:ext>
            </a:extLst>
          </p:cNvPr>
          <p:cNvSpPr>
            <a:spLocks noGrp="1"/>
          </p:cNvSpPr>
          <p:nvPr>
            <p:ph type="title"/>
          </p:nvPr>
        </p:nvSpPr>
        <p:spPr/>
        <p:txBody>
          <a:bodyPr/>
          <a:lstStyle/>
          <a:p>
            <a:r>
              <a:rPr lang="en-US" b="1" dirty="0">
                <a:ea typeface="Arial" pitchFamily="34" charset="-122"/>
                <a:cs typeface="Arial" pitchFamily="34" charset="-120"/>
              </a:rPr>
              <a:t>Linear Regression</a:t>
            </a:r>
            <a:endParaRPr lang="en-IN" b="1" dirty="0"/>
          </a:p>
        </p:txBody>
      </p:sp>
      <p:sp>
        <p:nvSpPr>
          <p:cNvPr id="3" name="Content Placeholder 2">
            <a:extLst>
              <a:ext uri="{FF2B5EF4-FFF2-40B4-BE49-F238E27FC236}">
                <a16:creationId xmlns:a16="http://schemas.microsoft.com/office/drawing/2014/main" id="{400F88EF-4F61-8144-B3C6-CDE7BC39C803}"/>
              </a:ext>
            </a:extLst>
          </p:cNvPr>
          <p:cNvSpPr>
            <a:spLocks noGrp="1"/>
          </p:cNvSpPr>
          <p:nvPr>
            <p:ph idx="1"/>
          </p:nvPr>
        </p:nvSpPr>
        <p:spPr/>
        <p:txBody>
          <a:bodyPr>
            <a:normAutofit/>
          </a:bodyPr>
          <a:lstStyle/>
          <a:p>
            <a:pPr fontAlgn="base"/>
            <a:r>
              <a:rPr lang="en-US" sz="2400" b="1" dirty="0"/>
              <a:t>For example,</a:t>
            </a:r>
            <a:r>
              <a:rPr lang="en-US" sz="2400" dirty="0"/>
              <a:t> we want to predict a student's exam score based on how many hours they studied. </a:t>
            </a:r>
          </a:p>
          <a:p>
            <a:pPr lvl="1" fontAlgn="base"/>
            <a:r>
              <a:rPr lang="en-US" sz="2000" dirty="0"/>
              <a:t>We observe that as students study more hours, their scores go up. </a:t>
            </a:r>
          </a:p>
          <a:p>
            <a:pPr lvl="1" fontAlgn="base"/>
            <a:r>
              <a:rPr lang="en-US" sz="2000" dirty="0"/>
              <a:t>In the example of predicting exam scores based on hours studied. </a:t>
            </a:r>
          </a:p>
          <a:p>
            <a:pPr lvl="1" fontAlgn="base"/>
            <a:r>
              <a:rPr lang="en-US" sz="2000" b="1" dirty="0"/>
              <a:t>Independent variable (input):</a:t>
            </a:r>
            <a:r>
              <a:rPr lang="en-US" sz="2000" dirty="0"/>
              <a:t> Hours studied because it's the factor we control or observe.</a:t>
            </a:r>
          </a:p>
          <a:p>
            <a:pPr lvl="1" fontAlgn="base"/>
            <a:r>
              <a:rPr lang="en-US" sz="2000" b="1" dirty="0"/>
              <a:t>Dependent variable (output): </a:t>
            </a:r>
            <a:r>
              <a:rPr lang="en-US" sz="2000" dirty="0"/>
              <a:t>Exam score because it depends on how many hours were studied.</a:t>
            </a:r>
          </a:p>
          <a:p>
            <a:pPr fontAlgn="base"/>
            <a:r>
              <a:rPr lang="en-US" sz="2400" dirty="0"/>
              <a:t>We use the independent variable to predict the dependent variable.</a:t>
            </a:r>
          </a:p>
          <a:p>
            <a:endParaRPr lang="en-IN" sz="2400" dirty="0"/>
          </a:p>
        </p:txBody>
      </p:sp>
    </p:spTree>
    <p:extLst>
      <p:ext uri="{BB962C8B-B14F-4D97-AF65-F5344CB8AC3E}">
        <p14:creationId xmlns:p14="http://schemas.microsoft.com/office/powerpoint/2010/main" val="2188791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1262-FCEC-ECC4-BE9A-B8885DBAC104}"/>
              </a:ext>
            </a:extLst>
          </p:cNvPr>
          <p:cNvSpPr>
            <a:spLocks noGrp="1"/>
          </p:cNvSpPr>
          <p:nvPr>
            <p:ph type="title"/>
          </p:nvPr>
        </p:nvSpPr>
        <p:spPr/>
        <p:txBody>
          <a:bodyPr/>
          <a:lstStyle/>
          <a:p>
            <a:r>
              <a:rPr lang="en-US" b="1" dirty="0"/>
              <a:t>Best Fit Line in Linear Regression</a:t>
            </a:r>
            <a:endParaRPr lang="en-IN" dirty="0"/>
          </a:p>
        </p:txBody>
      </p:sp>
      <p:sp>
        <p:nvSpPr>
          <p:cNvPr id="3" name="Content Placeholder 2">
            <a:extLst>
              <a:ext uri="{FF2B5EF4-FFF2-40B4-BE49-F238E27FC236}">
                <a16:creationId xmlns:a16="http://schemas.microsoft.com/office/drawing/2014/main" id="{624B6D9C-10C8-6FAB-75A8-65B2ABBCB478}"/>
              </a:ext>
            </a:extLst>
          </p:cNvPr>
          <p:cNvSpPr>
            <a:spLocks noGrp="1"/>
          </p:cNvSpPr>
          <p:nvPr>
            <p:ph idx="1"/>
          </p:nvPr>
        </p:nvSpPr>
        <p:spPr/>
        <p:txBody>
          <a:bodyPr/>
          <a:lstStyle/>
          <a:p>
            <a:r>
              <a:rPr lang="en-US" dirty="0"/>
              <a:t>In linear regression, the best-fit line is the straight line that most accurately represents the relationship between the independent variable (input) and the dependent variable (output). </a:t>
            </a:r>
          </a:p>
          <a:p>
            <a:r>
              <a:rPr lang="en-US" dirty="0"/>
              <a:t>It is the line that minimizes the difference between the actual data points and the predicted values from the model.</a:t>
            </a:r>
          </a:p>
          <a:p>
            <a:pPr fontAlgn="base"/>
            <a:r>
              <a:rPr lang="en-US" b="1" dirty="0"/>
              <a:t>Goal of the Best-Fit Line</a:t>
            </a:r>
          </a:p>
          <a:p>
            <a:pPr lvl="1" fontAlgn="base"/>
            <a:r>
              <a:rPr lang="en-US" dirty="0"/>
              <a:t>The goal of linear regression is to find a straight line that minimizes the error (the difference) between the observed data points and the predicted values. This line helps us predict the dependent variable for new, unseen data.</a:t>
            </a:r>
          </a:p>
          <a:p>
            <a:endParaRPr lang="en-IN" dirty="0"/>
          </a:p>
        </p:txBody>
      </p:sp>
    </p:spTree>
    <p:extLst>
      <p:ext uri="{BB962C8B-B14F-4D97-AF65-F5344CB8AC3E}">
        <p14:creationId xmlns:p14="http://schemas.microsoft.com/office/powerpoint/2010/main" val="1442948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22C8-6F0E-A9F3-C699-EEC987742D46}"/>
              </a:ext>
            </a:extLst>
          </p:cNvPr>
          <p:cNvSpPr>
            <a:spLocks noGrp="1"/>
          </p:cNvSpPr>
          <p:nvPr>
            <p:ph type="title"/>
          </p:nvPr>
        </p:nvSpPr>
        <p:spPr/>
        <p:txBody>
          <a:bodyPr/>
          <a:lstStyle/>
          <a:p>
            <a:r>
              <a:rPr lang="en-US" b="1" dirty="0"/>
              <a:t>Best Fit Line in Linear Regression</a:t>
            </a:r>
            <a:endParaRPr lang="en-IN" dirty="0"/>
          </a:p>
        </p:txBody>
      </p:sp>
      <p:pic>
        <p:nvPicPr>
          <p:cNvPr id="8" name="Content Placeholder 7">
            <a:extLst>
              <a:ext uri="{FF2B5EF4-FFF2-40B4-BE49-F238E27FC236}">
                <a16:creationId xmlns:a16="http://schemas.microsoft.com/office/drawing/2014/main" id="{B5F38C48-CD1F-8246-AB4F-4C5A8966B058}"/>
              </a:ext>
            </a:extLst>
          </p:cNvPr>
          <p:cNvPicPr>
            <a:picLocks noGrp="1" noChangeAspect="1"/>
          </p:cNvPicPr>
          <p:nvPr>
            <p:ph idx="1"/>
          </p:nvPr>
        </p:nvPicPr>
        <p:blipFill>
          <a:blip r:embed="rId2"/>
          <a:stretch>
            <a:fillRect/>
          </a:stretch>
        </p:blipFill>
        <p:spPr bwMode="auto">
          <a:xfrm>
            <a:off x="1037336" y="1398241"/>
            <a:ext cx="8812342" cy="4972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31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8D94A-EAE7-0058-5CFF-1F434CA2C69E}"/>
              </a:ext>
            </a:extLst>
          </p:cNvPr>
          <p:cNvSpPr>
            <a:spLocks noGrp="1"/>
          </p:cNvSpPr>
          <p:nvPr>
            <p:ph type="title"/>
          </p:nvPr>
        </p:nvSpPr>
        <p:spPr/>
        <p:txBody>
          <a:bodyPr/>
          <a:lstStyle/>
          <a:p>
            <a:r>
              <a:rPr lang="en-US" b="1" dirty="0"/>
              <a:t>Best Fit Line in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591BB-DF94-6507-4BF5-3C3147E382B3}"/>
                  </a:ext>
                </a:extLst>
              </p:cNvPr>
              <p:cNvSpPr>
                <a:spLocks noGrp="1"/>
              </p:cNvSpPr>
              <p:nvPr>
                <p:ph idx="1"/>
              </p:nvPr>
            </p:nvSpPr>
            <p:spPr>
              <a:xfrm>
                <a:off x="838200" y="1590260"/>
                <a:ext cx="10515600" cy="4810539"/>
              </a:xfrm>
            </p:spPr>
            <p:txBody>
              <a:bodyPr>
                <a:normAutofit/>
              </a:bodyPr>
              <a:lstStyle/>
              <a:p>
                <a:r>
                  <a:rPr lang="en-IN" dirty="0"/>
                  <a:t>Main equation</a:t>
                </a:r>
              </a:p>
              <a:p>
                <a:pPr lvl="1"/>
                <a:r>
                  <a:rPr lang="en-IN" dirty="0"/>
                  <a:t>The straight line is written as </a:t>
                </a:r>
                <a14:m>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𝒙</m:t>
                    </m:r>
                  </m:oMath>
                </a14:m>
                <a:endParaRPr lang="ar-AE" b="1" dirty="0"/>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is the intercept where the line cuts the y‑axis, 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oMath>
                </a14:m>
                <a:r>
                  <a:rPr lang="ar-AE" dirty="0"/>
                  <a:t> </a:t>
                </a:r>
                <a:r>
                  <a:rPr lang="en-IN" dirty="0"/>
                  <a:t>is the slope of the line.</a:t>
                </a:r>
              </a:p>
              <a:p>
                <a:r>
                  <a:rPr lang="en-IN" b="1" dirty="0"/>
                  <a:t>Intercept and slope</a:t>
                </a:r>
              </a:p>
              <a:p>
                <a:pPr lvl="1"/>
                <a:r>
                  <a:rPr lang="en-IN" dirty="0"/>
                  <a:t>The </a:t>
                </a:r>
                <a:r>
                  <a:rPr lang="en-IN" b="1" dirty="0"/>
                  <a:t>intercept</a:t>
                </a:r>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is marked at the point where the regression line crosses the vertical axis when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a:latin typeface="Cambria Math" panose="02040503050406030204" pitchFamily="18" charset="0"/>
                      </a:rPr>
                      <m:t>0</m:t>
                    </m:r>
                  </m:oMath>
                </a14:m>
                <a:r>
                  <a:rPr lang="en-IN" dirty="0"/>
                  <a:t>.</a:t>
                </a:r>
              </a:p>
              <a:p>
                <a:pPr lvl="1"/>
                <a:r>
                  <a:rPr lang="en-IN" dirty="0"/>
                  <a:t>The </a:t>
                </a:r>
                <a:r>
                  <a:rPr lang="en-IN" b="1" dirty="0"/>
                  <a:t>slope</a:t>
                </a:r>
                <a:r>
                  <a:rPr lang="en-IN" dirty="0"/>
                  <a:t> is shown as </a:t>
                </a:r>
                <a14:m>
                  <m:oMath xmlns:m="http://schemas.openxmlformats.org/officeDocument/2006/math">
                    <m:r>
                      <m:rPr>
                        <m:nor/>
                      </m:rPr>
                      <a:rPr lang="en-IN" b="0"/>
                      <m:t>slope</m:t>
                    </m:r>
                    <m:r>
                      <a:rPr lang="en-IN">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tan</m:t>
                        </m:r>
                      </m:fName>
                      <m:e>
                        <m:r>
                          <a:rPr lang="ar-AE" i="1">
                            <a:latin typeface="Cambria Math" panose="02040503050406030204" pitchFamily="18" charset="0"/>
                          </a:rPr>
                          <m:t>𝜃</m:t>
                        </m:r>
                      </m:e>
                    </m:fun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in the figure’s label, but conceptually it represents how much </a:t>
                </a:r>
                <a14:m>
                  <m:oMath xmlns:m="http://schemas.openxmlformats.org/officeDocument/2006/math">
                    <m:r>
                      <a:rPr lang="en-IN" i="1">
                        <a:latin typeface="Cambria Math" panose="02040503050406030204" pitchFamily="18" charset="0"/>
                      </a:rPr>
                      <m:t>𝑦</m:t>
                    </m:r>
                  </m:oMath>
                </a14:m>
                <a:r>
                  <a:rPr lang="en-IN" dirty="0"/>
                  <a:t> changes when </a:t>
                </a:r>
                <a14:m>
                  <m:oMath xmlns:m="http://schemas.openxmlformats.org/officeDocument/2006/math">
                    <m:r>
                      <a:rPr lang="en-IN" i="1">
                        <a:latin typeface="Cambria Math" panose="02040503050406030204" pitchFamily="18" charset="0"/>
                      </a:rPr>
                      <m:t>𝑥</m:t>
                    </m:r>
                  </m:oMath>
                </a14:m>
                <a:r>
                  <a:rPr lang="en-IN" dirty="0"/>
                  <a:t> increases by 1 unit (usually denoted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oMath>
                </a14:m>
                <a:r>
                  <a:rPr lang="en-IN" dirty="0"/>
                  <a:t>)</a:t>
                </a:r>
              </a:p>
              <a:p>
                <a:pPr lvl="1" fontAlgn="base"/>
                <a:r>
                  <a:rPr lang="en-US" dirty="0"/>
                  <a:t>For example, if the slope is 5, it means that for every 1-unit increase in x, the value of y increases by 5 units.</a:t>
                </a:r>
              </a:p>
              <a:p>
                <a:pPr lvl="1"/>
                <a:endParaRPr lang="ar-AE" dirty="0"/>
              </a:p>
            </p:txBody>
          </p:sp>
        </mc:Choice>
        <mc:Fallback xmlns="">
          <p:sp>
            <p:nvSpPr>
              <p:cNvPr id="3" name="Content Placeholder 2">
                <a:extLst>
                  <a:ext uri="{FF2B5EF4-FFF2-40B4-BE49-F238E27FC236}">
                    <a16:creationId xmlns:a16="http://schemas.microsoft.com/office/drawing/2014/main" id="{695591BB-DF94-6507-4BF5-3C3147E382B3}"/>
                  </a:ext>
                </a:extLst>
              </p:cNvPr>
              <p:cNvSpPr>
                <a:spLocks noGrp="1" noRot="1" noChangeAspect="1" noMove="1" noResize="1" noEditPoints="1" noAdjustHandles="1" noChangeArrowheads="1" noChangeShapeType="1" noTextEdit="1"/>
              </p:cNvSpPr>
              <p:nvPr>
                <p:ph idx="1"/>
              </p:nvPr>
            </p:nvSpPr>
            <p:spPr>
              <a:xfrm>
                <a:off x="838200" y="1590260"/>
                <a:ext cx="10515600" cy="4810539"/>
              </a:xfrm>
              <a:blipFill>
                <a:blip r:embed="rId2"/>
                <a:stretch>
                  <a:fillRect l="-1043" t="-2155" r="-58"/>
                </a:stretch>
              </a:blipFill>
            </p:spPr>
            <p:txBody>
              <a:bodyPr/>
              <a:lstStyle/>
              <a:p>
                <a:r>
                  <a:rPr lang="en-IN">
                    <a:noFill/>
                  </a:rPr>
                  <a:t> </a:t>
                </a:r>
              </a:p>
            </p:txBody>
          </p:sp>
        </mc:Fallback>
      </mc:AlternateContent>
    </p:spTree>
    <p:extLst>
      <p:ext uri="{BB962C8B-B14F-4D97-AF65-F5344CB8AC3E}">
        <p14:creationId xmlns:p14="http://schemas.microsoft.com/office/powerpoint/2010/main" val="290655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8D94A-EAE7-0058-5CFF-1F434CA2C69E}"/>
              </a:ext>
            </a:extLst>
          </p:cNvPr>
          <p:cNvSpPr>
            <a:spLocks noGrp="1"/>
          </p:cNvSpPr>
          <p:nvPr>
            <p:ph type="title"/>
          </p:nvPr>
        </p:nvSpPr>
        <p:spPr/>
        <p:txBody>
          <a:bodyPr/>
          <a:lstStyle/>
          <a:p>
            <a:r>
              <a:rPr lang="en-US" b="1" dirty="0"/>
              <a:t>Best Fit Line in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591BB-DF94-6507-4BF5-3C3147E382B3}"/>
                  </a:ext>
                </a:extLst>
              </p:cNvPr>
              <p:cNvSpPr>
                <a:spLocks noGrp="1"/>
              </p:cNvSpPr>
              <p:nvPr>
                <p:ph idx="1"/>
              </p:nvPr>
            </p:nvSpPr>
            <p:spPr>
              <a:xfrm>
                <a:off x="838200" y="1825625"/>
                <a:ext cx="10515600" cy="4667250"/>
              </a:xfrm>
            </p:spPr>
            <p:txBody>
              <a:bodyPr>
                <a:normAutofit/>
              </a:bodyPr>
              <a:lstStyle/>
              <a:p>
                <a:r>
                  <a:rPr lang="en-IN" b="1" dirty="0"/>
                  <a:t>Observed vs predicted value</a:t>
                </a:r>
              </a:p>
              <a:p>
                <a:pPr lvl="1"/>
                <a:r>
                  <a:rPr lang="en-IN" dirty="0"/>
                  <a:t>Each green dot represents an observed data point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d>
                  </m:oMath>
                </a14:m>
                <a:r>
                  <a:rPr lang="ar-AE" dirty="0"/>
                  <a:t>, </a:t>
                </a:r>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a:t>
                </a:r>
                <a:r>
                  <a:rPr lang="en-IN" dirty="0"/>
                  <a:t>is the actual (observed) value for a given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a:t>
                </a:r>
              </a:p>
              <a:p>
                <a:pPr lvl="1"/>
                <a:r>
                  <a:rPr lang="en-IN" dirty="0"/>
                  <a:t>The black point on the line at the same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is the predicted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sub>
                    </m:sSub>
                  </m:oMath>
                </a14:m>
                <a:r>
                  <a:rPr lang="ar-AE" dirty="0"/>
                  <a:t> </a:t>
                </a:r>
                <a:r>
                  <a:rPr lang="en-IN" dirty="0"/>
                  <a:t>given by the regression line.</a:t>
                </a:r>
              </a:p>
              <a:p>
                <a:r>
                  <a:rPr lang="en-IN" b="1" dirty="0"/>
                  <a:t>Random error</a:t>
                </a:r>
              </a:p>
              <a:p>
                <a:pPr lvl="1"/>
                <a:r>
                  <a:rPr lang="en-IN" dirty="0"/>
                  <a:t>The vertical distance between the observed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a:t>
                </a:r>
                <a:r>
                  <a:rPr lang="en-IN" dirty="0"/>
                  <a:t>(green dot) and the predicted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sub>
                    </m:sSub>
                  </m:oMath>
                </a14:m>
                <a:r>
                  <a:rPr lang="ar-AE" dirty="0"/>
                  <a:t> </a:t>
                </a:r>
                <a:r>
                  <a:rPr lang="en-IN" dirty="0"/>
                  <a:t>(black point on the line) is the random error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𝜖</m:t>
                        </m:r>
                      </m:e>
                      <m:sub>
                        <m:r>
                          <a:rPr lang="ar-AE" i="1">
                            <a:latin typeface="Cambria Math" panose="02040503050406030204" pitchFamily="18" charset="0"/>
                          </a:rPr>
                          <m:t>𝑖</m:t>
                        </m:r>
                      </m:sub>
                    </m:sSub>
                  </m:oMath>
                </a14:m>
                <a:r>
                  <a:rPr lang="ar-AE" dirty="0"/>
                  <a:t>.</a:t>
                </a:r>
              </a:p>
              <a:p>
                <a:r>
                  <a:rPr lang="en-IN" dirty="0"/>
                  <a:t>Linear regression chooses the line so that these vertical errors are as small as possible overall (least squares), giving the best‑fit line for prediction.</a:t>
                </a:r>
              </a:p>
            </p:txBody>
          </p:sp>
        </mc:Choice>
        <mc:Fallback xmlns="">
          <p:sp>
            <p:nvSpPr>
              <p:cNvPr id="3" name="Content Placeholder 2">
                <a:extLst>
                  <a:ext uri="{FF2B5EF4-FFF2-40B4-BE49-F238E27FC236}">
                    <a16:creationId xmlns:a16="http://schemas.microsoft.com/office/drawing/2014/main" id="{695591BB-DF94-6507-4BF5-3C3147E382B3}"/>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089"/>
                </a:stretch>
              </a:blipFill>
            </p:spPr>
            <p:txBody>
              <a:bodyPr/>
              <a:lstStyle/>
              <a:p>
                <a:r>
                  <a:rPr lang="en-IN">
                    <a:noFill/>
                  </a:rPr>
                  <a:t> </a:t>
                </a:r>
              </a:p>
            </p:txBody>
          </p:sp>
        </mc:Fallback>
      </mc:AlternateContent>
    </p:spTree>
    <p:extLst>
      <p:ext uri="{BB962C8B-B14F-4D97-AF65-F5344CB8AC3E}">
        <p14:creationId xmlns:p14="http://schemas.microsoft.com/office/powerpoint/2010/main" val="267652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6A26-4733-3E3F-E24E-2DBAD87E3272}"/>
              </a:ext>
            </a:extLst>
          </p:cNvPr>
          <p:cNvSpPr>
            <a:spLocks noGrp="1"/>
          </p:cNvSpPr>
          <p:nvPr>
            <p:ph type="title"/>
          </p:nvPr>
        </p:nvSpPr>
        <p:spPr/>
        <p:txBody>
          <a:bodyPr/>
          <a:lstStyle/>
          <a:p>
            <a:r>
              <a:rPr lang="en-US" b="1"/>
              <a:t>Best Fit Line in Linear Regression</a:t>
            </a:r>
            <a:endParaRPr lang="en-IN"/>
          </a:p>
        </p:txBody>
      </p:sp>
      <p:sp>
        <p:nvSpPr>
          <p:cNvPr id="3" name="Content Placeholder 2">
            <a:extLst>
              <a:ext uri="{FF2B5EF4-FFF2-40B4-BE49-F238E27FC236}">
                <a16:creationId xmlns:a16="http://schemas.microsoft.com/office/drawing/2014/main" id="{D20FFEFC-3303-5E02-F17E-233CD70FC9F9}"/>
              </a:ext>
            </a:extLst>
          </p:cNvPr>
          <p:cNvSpPr>
            <a:spLocks noGrp="1"/>
          </p:cNvSpPr>
          <p:nvPr>
            <p:ph idx="1"/>
          </p:nvPr>
        </p:nvSpPr>
        <p:spPr/>
        <p:txBody>
          <a:bodyPr/>
          <a:lstStyle/>
          <a:p>
            <a:r>
              <a:rPr lang="en-US" dirty="0"/>
              <a:t>Y is called a dependent or target variable </a:t>
            </a:r>
          </a:p>
          <a:p>
            <a:r>
              <a:rPr lang="en-US" dirty="0"/>
              <a:t>X is called an independent variable also known as the predictor of Y. </a:t>
            </a:r>
          </a:p>
          <a:p>
            <a:r>
              <a:rPr lang="en-US" dirty="0"/>
              <a:t>There are many types of functions or modules that can be used for regression. </a:t>
            </a:r>
          </a:p>
          <a:p>
            <a:r>
              <a:rPr lang="en-US" dirty="0"/>
              <a:t>A linear function is the simplest type of function. Here, X may be a single feature or multiple features representing the problem.</a:t>
            </a:r>
            <a:endParaRPr lang="en-IN" dirty="0"/>
          </a:p>
        </p:txBody>
      </p:sp>
    </p:spTree>
    <p:extLst>
      <p:ext uri="{BB962C8B-B14F-4D97-AF65-F5344CB8AC3E}">
        <p14:creationId xmlns:p14="http://schemas.microsoft.com/office/powerpoint/2010/main" val="2301523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F471B-50DC-F77D-53BC-95C5D11E667A}"/>
              </a:ext>
            </a:extLst>
          </p:cNvPr>
          <p:cNvSpPr>
            <a:spLocks noGrp="1"/>
          </p:cNvSpPr>
          <p:nvPr>
            <p:ph type="title"/>
          </p:nvPr>
        </p:nvSpPr>
        <p:spPr/>
        <p:txBody>
          <a:bodyPr/>
          <a:lstStyle/>
          <a:p>
            <a:r>
              <a:rPr lang="en-US" b="1" dirty="0"/>
              <a:t>Equation of the Best-Fit Line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5CA371-DFE3-3ED7-3B7A-B4112C8A7923}"/>
                  </a:ext>
                </a:extLst>
              </p:cNvPr>
              <p:cNvSpPr>
                <a:spLocks noGrp="1"/>
              </p:cNvSpPr>
              <p:nvPr>
                <p:ph idx="1"/>
              </p:nvPr>
            </p:nvSpPr>
            <p:spPr>
              <a:xfrm>
                <a:off x="838200" y="1825625"/>
                <a:ext cx="10515600" cy="4667250"/>
              </a:xfrm>
            </p:spPr>
            <p:txBody>
              <a:bodyPr>
                <a:normAutofit/>
              </a:bodyPr>
              <a:lstStyle/>
              <a:p>
                <a:pPr fontAlgn="base"/>
                <a:r>
                  <a:rPr lang="en-US" dirty="0"/>
                  <a:t>For simple linear regression (with one independent variable), the best-fit line is represented by the equation</a:t>
                </a:r>
              </a:p>
              <a:p>
                <a:pPr marL="0" indent="0" fontAlgn="base">
                  <a:buNone/>
                </a:pPr>
                <a14:m>
                  <m:oMathPara xmlns:m="http://schemas.openxmlformats.org/officeDocument/2006/math">
                    <m:oMathParaPr>
                      <m:jc m:val="centerGroup"/>
                    </m:oMathParaPr>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𝒙</m:t>
                      </m:r>
                    </m:oMath>
                  </m:oMathPara>
                </a14:m>
                <a:endParaRPr lang="ar-AE" b="1" dirty="0"/>
              </a:p>
              <a:p>
                <a:pPr fontAlgn="base"/>
                <a:r>
                  <a:rPr lang="en-US" dirty="0"/>
                  <a:t>Where:</a:t>
                </a:r>
              </a:p>
              <a:p>
                <a:pPr lvl="1" fontAlgn="base"/>
                <a:r>
                  <a:rPr lang="en-US" b="1" dirty="0"/>
                  <a:t>y</a:t>
                </a:r>
                <a:r>
                  <a:rPr lang="en-US" dirty="0"/>
                  <a:t> is the predicted value (dependent variable)</a:t>
                </a:r>
              </a:p>
              <a:p>
                <a:pPr lvl="1" fontAlgn="base"/>
                <a:r>
                  <a:rPr lang="en-US" b="1" dirty="0"/>
                  <a:t>x</a:t>
                </a:r>
                <a:r>
                  <a:rPr lang="en-US" dirty="0"/>
                  <a:t> is the input (independent variable)</a:t>
                </a:r>
              </a:p>
              <a:p>
                <a:pPr lvl="1" fontAlgn="base"/>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 </m:t>
                    </m:r>
                  </m:oMath>
                </a14:m>
                <a:r>
                  <a:rPr lang="en-US" dirty="0"/>
                  <a:t> is the slope of the line (how much y changes when x changes)</a:t>
                </a:r>
              </a:p>
              <a:p>
                <a:pPr lvl="1" fontAlgn="base"/>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i="1">
                        <a:latin typeface="Cambria Math" panose="02040503050406030204" pitchFamily="18" charset="0"/>
                      </a:rPr>
                      <m:t> </m:t>
                    </m:r>
                  </m:oMath>
                </a14:m>
                <a:r>
                  <a:rPr lang="en-US" dirty="0"/>
                  <a:t> is the intercept (the value of y when x = 0)</a:t>
                </a:r>
              </a:p>
              <a:p>
                <a:r>
                  <a:rPr lang="en-US" dirty="0"/>
                  <a:t>The best-fit line will be the one that optimizes the values of slope and intercept so that the predicted y values are as close as possible to the actual data points.</a:t>
                </a:r>
                <a:endParaRPr lang="en-IN" dirty="0"/>
              </a:p>
            </p:txBody>
          </p:sp>
        </mc:Choice>
        <mc:Fallback xmlns="">
          <p:sp>
            <p:nvSpPr>
              <p:cNvPr id="3" name="Content Placeholder 2">
                <a:extLst>
                  <a:ext uri="{FF2B5EF4-FFF2-40B4-BE49-F238E27FC236}">
                    <a16:creationId xmlns:a16="http://schemas.microsoft.com/office/drawing/2014/main" id="{755CA371-DFE3-3ED7-3B7A-B4112C8A7923}"/>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089" r="-1217" b="-2350"/>
                </a:stretch>
              </a:blipFill>
            </p:spPr>
            <p:txBody>
              <a:bodyPr/>
              <a:lstStyle/>
              <a:p>
                <a:r>
                  <a:rPr lang="en-IN">
                    <a:noFill/>
                  </a:rPr>
                  <a:t> </a:t>
                </a:r>
              </a:p>
            </p:txBody>
          </p:sp>
        </mc:Fallback>
      </mc:AlternateContent>
    </p:spTree>
    <p:extLst>
      <p:ext uri="{BB962C8B-B14F-4D97-AF65-F5344CB8AC3E}">
        <p14:creationId xmlns:p14="http://schemas.microsoft.com/office/powerpoint/2010/main" val="68324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AD1D-B7EE-A2EE-A5AF-326D0EA93C14}"/>
              </a:ext>
            </a:extLst>
          </p:cNvPr>
          <p:cNvSpPr>
            <a:spLocks noGrp="1"/>
          </p:cNvSpPr>
          <p:nvPr>
            <p:ph type="title"/>
          </p:nvPr>
        </p:nvSpPr>
        <p:spPr/>
        <p:txBody>
          <a:bodyPr/>
          <a:lstStyle/>
          <a:p>
            <a:r>
              <a:rPr lang="en-US" b="1" dirty="0"/>
              <a:t>Assumptions of the Linear Regression</a:t>
            </a:r>
            <a:endParaRPr lang="en-IN" dirty="0"/>
          </a:p>
        </p:txBody>
      </p:sp>
      <p:sp>
        <p:nvSpPr>
          <p:cNvPr id="3" name="Content Placeholder 2">
            <a:extLst>
              <a:ext uri="{FF2B5EF4-FFF2-40B4-BE49-F238E27FC236}">
                <a16:creationId xmlns:a16="http://schemas.microsoft.com/office/drawing/2014/main" id="{6E58F679-C621-1A04-3836-ED8DCC42515B}"/>
              </a:ext>
            </a:extLst>
          </p:cNvPr>
          <p:cNvSpPr>
            <a:spLocks noGrp="1"/>
          </p:cNvSpPr>
          <p:nvPr>
            <p:ph idx="1"/>
          </p:nvPr>
        </p:nvSpPr>
        <p:spPr>
          <a:xfrm>
            <a:off x="838200" y="1690688"/>
            <a:ext cx="10515600" cy="4802187"/>
          </a:xfrm>
        </p:spPr>
        <p:txBody>
          <a:bodyPr>
            <a:normAutofit fontScale="85000" lnSpcReduction="20000"/>
          </a:bodyPr>
          <a:lstStyle/>
          <a:p>
            <a:pPr marL="514350" indent="-514350">
              <a:buFont typeface="+mj-lt"/>
              <a:buAutoNum type="arabicPeriod"/>
            </a:pPr>
            <a:r>
              <a:rPr lang="en-US" b="1" dirty="0"/>
              <a:t>Linearity</a:t>
            </a:r>
            <a:r>
              <a:rPr lang="en-US" dirty="0"/>
              <a:t>: The relationship between inputs (X) and the output (Y) is a straight line.</a:t>
            </a:r>
          </a:p>
          <a:p>
            <a:pPr marL="514350" indent="-514350" fontAlgn="base">
              <a:buFont typeface="+mj-lt"/>
              <a:buAutoNum type="arabicPeriod"/>
            </a:pPr>
            <a:r>
              <a:rPr lang="en-US" b="1" dirty="0"/>
              <a:t>Independence of Errors</a:t>
            </a:r>
            <a:r>
              <a:rPr lang="en-US" dirty="0"/>
              <a:t>: The errors in predictions should not affect each other.</a:t>
            </a:r>
          </a:p>
          <a:p>
            <a:pPr marL="514350" indent="-514350" fontAlgn="base">
              <a:buFont typeface="+mj-lt"/>
              <a:buAutoNum type="arabicPeriod"/>
            </a:pPr>
            <a:r>
              <a:rPr lang="en-US" b="1" dirty="0"/>
              <a:t>Constant Variance (Homoscedasticity): </a:t>
            </a:r>
            <a:r>
              <a:rPr lang="en-US" dirty="0"/>
              <a:t>The errors should have equal spread across all values of the input. If the spread changes (like fans out or shrinks), it's called heteroscedasticity and it's a problem for the model.</a:t>
            </a:r>
          </a:p>
          <a:p>
            <a:pPr marL="514350" indent="-514350" fontAlgn="base">
              <a:buFont typeface="+mj-lt"/>
              <a:buAutoNum type="arabicPeriod"/>
            </a:pPr>
            <a:r>
              <a:rPr lang="en-US" b="1" dirty="0"/>
              <a:t>Normality of Errors</a:t>
            </a:r>
            <a:r>
              <a:rPr lang="en-US" dirty="0"/>
              <a:t>: The errors should follow a normal (bell-shaped) distribution.</a:t>
            </a:r>
          </a:p>
          <a:p>
            <a:pPr marL="514350" indent="-514350" fontAlgn="base">
              <a:buFont typeface="+mj-lt"/>
              <a:buAutoNum type="arabicPeriod"/>
            </a:pPr>
            <a:r>
              <a:rPr lang="en-US" b="1" dirty="0"/>
              <a:t>No Multicollinearity</a:t>
            </a:r>
            <a:r>
              <a:rPr lang="en-US" b="1" i="1" dirty="0"/>
              <a:t>(</a:t>
            </a:r>
            <a:r>
              <a:rPr lang="en-US" b="1" dirty="0"/>
              <a:t>for multiple regression)</a:t>
            </a:r>
            <a:r>
              <a:rPr lang="en-US" dirty="0"/>
              <a:t>: Input variables shouldn’t be too closely related to each other.</a:t>
            </a:r>
          </a:p>
          <a:p>
            <a:pPr marL="514350" indent="-514350" fontAlgn="base">
              <a:buFont typeface="+mj-lt"/>
              <a:buAutoNum type="arabicPeriod"/>
            </a:pPr>
            <a:r>
              <a:rPr lang="en-US" b="1" dirty="0"/>
              <a:t>No Autocorrelation</a:t>
            </a:r>
            <a:r>
              <a:rPr lang="en-US" dirty="0"/>
              <a:t>: Errors shouldn't show repeating patterns, especially in time-based data.</a:t>
            </a:r>
          </a:p>
          <a:p>
            <a:pPr marL="514350" indent="-514350" fontAlgn="base">
              <a:buFont typeface="+mj-lt"/>
              <a:buAutoNum type="arabicPeriod"/>
            </a:pPr>
            <a:r>
              <a:rPr lang="en-US" b="1" dirty="0"/>
              <a:t>Additivity</a:t>
            </a:r>
            <a:r>
              <a:rPr lang="en-US" dirty="0"/>
              <a:t>: The total effect on Y is just the sum of effects from each X, no mixing or interaction between them.</a:t>
            </a:r>
          </a:p>
          <a:p>
            <a:pPr marL="514350" indent="-514350" fontAlgn="base">
              <a:buFont typeface="+mj-lt"/>
              <a:buAutoNum type="arabicPeriod"/>
            </a:pPr>
            <a:endParaRPr lang="en-US" dirty="0"/>
          </a:p>
          <a:p>
            <a:pPr marL="514350" indent="-514350">
              <a:buFont typeface="+mj-lt"/>
              <a:buAutoNum type="arabicPeriod"/>
            </a:pPr>
            <a:endParaRPr lang="en-IN" dirty="0"/>
          </a:p>
        </p:txBody>
      </p:sp>
    </p:spTree>
    <p:extLst>
      <p:ext uri="{BB962C8B-B14F-4D97-AF65-F5344CB8AC3E}">
        <p14:creationId xmlns:p14="http://schemas.microsoft.com/office/powerpoint/2010/main" val="347487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5BE5C-235E-2C49-9182-254E83D031F9}"/>
              </a:ext>
            </a:extLst>
          </p:cNvPr>
          <p:cNvSpPr>
            <a:spLocks noGrp="1"/>
          </p:cNvSpPr>
          <p:nvPr>
            <p:ph type="title"/>
          </p:nvPr>
        </p:nvSpPr>
        <p:spPr/>
        <p:txBody>
          <a:bodyPr/>
          <a:lstStyle/>
          <a:p>
            <a:r>
              <a:rPr lang="en-US" b="1" dirty="0"/>
              <a:t>Assumptions of the Linear Regression</a:t>
            </a:r>
            <a:endParaRPr lang="en-IN" dirty="0"/>
          </a:p>
        </p:txBody>
      </p:sp>
      <p:pic>
        <p:nvPicPr>
          <p:cNvPr id="5" name="Content Placeholder 4">
            <a:extLst>
              <a:ext uri="{FF2B5EF4-FFF2-40B4-BE49-F238E27FC236}">
                <a16:creationId xmlns:a16="http://schemas.microsoft.com/office/drawing/2014/main" id="{7B2E7525-1AD6-8C69-1BF4-5473083180ED}"/>
              </a:ext>
            </a:extLst>
          </p:cNvPr>
          <p:cNvPicPr>
            <a:picLocks noGrp="1" noChangeAspect="1"/>
          </p:cNvPicPr>
          <p:nvPr>
            <p:ph idx="1"/>
          </p:nvPr>
        </p:nvPicPr>
        <p:blipFill>
          <a:blip r:embed="rId2"/>
          <a:stretch>
            <a:fillRect/>
          </a:stretch>
        </p:blipFill>
        <p:spPr>
          <a:xfrm>
            <a:off x="1651967" y="2277028"/>
            <a:ext cx="8888065" cy="3448531"/>
          </a:xfrm>
          <a:prstGeom prst="rect">
            <a:avLst/>
          </a:prstGeom>
        </p:spPr>
      </p:pic>
    </p:spTree>
    <p:extLst>
      <p:ext uri="{BB962C8B-B14F-4D97-AF65-F5344CB8AC3E}">
        <p14:creationId xmlns:p14="http://schemas.microsoft.com/office/powerpoint/2010/main" val="267512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045C7-AE4E-1C15-6F57-1D2684BA02DA}"/>
              </a:ext>
            </a:extLst>
          </p:cNvPr>
          <p:cNvSpPr>
            <a:spLocks noGrp="1"/>
          </p:cNvSpPr>
          <p:nvPr>
            <p:ph type="title"/>
          </p:nvPr>
        </p:nvSpPr>
        <p:spPr/>
        <p:txBody>
          <a:bodyPr/>
          <a:lstStyle/>
          <a:p>
            <a:r>
              <a:rPr lang="en-US" b="1" dirty="0"/>
              <a:t>Assumptions of the Linear Regression</a:t>
            </a:r>
            <a:endParaRPr lang="en-IN" dirty="0"/>
          </a:p>
        </p:txBody>
      </p:sp>
      <p:pic>
        <p:nvPicPr>
          <p:cNvPr id="5" name="Content Placeholder 4">
            <a:extLst>
              <a:ext uri="{FF2B5EF4-FFF2-40B4-BE49-F238E27FC236}">
                <a16:creationId xmlns:a16="http://schemas.microsoft.com/office/drawing/2014/main" id="{7A5D610F-27C1-C5F3-A1A2-DBA2ADE3AD68}"/>
              </a:ext>
            </a:extLst>
          </p:cNvPr>
          <p:cNvPicPr>
            <a:picLocks noGrp="1" noChangeAspect="1"/>
          </p:cNvPicPr>
          <p:nvPr>
            <p:ph idx="1"/>
          </p:nvPr>
        </p:nvPicPr>
        <p:blipFill>
          <a:blip r:embed="rId2"/>
          <a:stretch>
            <a:fillRect/>
          </a:stretch>
        </p:blipFill>
        <p:spPr>
          <a:xfrm>
            <a:off x="1942520" y="2091265"/>
            <a:ext cx="8306959" cy="3820058"/>
          </a:xfrm>
          <a:prstGeom prst="rect">
            <a:avLst/>
          </a:prstGeom>
        </p:spPr>
      </p:pic>
    </p:spTree>
    <p:extLst>
      <p:ext uri="{BB962C8B-B14F-4D97-AF65-F5344CB8AC3E}">
        <p14:creationId xmlns:p14="http://schemas.microsoft.com/office/powerpoint/2010/main" val="238972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BD666-6BDA-AC7C-FFA2-17ADBE71AA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563422-5FA4-EE56-A0C4-15F01FE954F7}"/>
              </a:ext>
            </a:extLst>
          </p:cNvPr>
          <p:cNvSpPr/>
          <p:nvPr/>
        </p:nvSpPr>
        <p:spPr>
          <a:xfrm>
            <a:off x="812800" y="1666241"/>
            <a:ext cx="10566400" cy="2037080"/>
          </a:xfrm>
          <a:prstGeom prst="rect">
            <a:avLst/>
          </a:prstGeom>
          <a:solidFill>
            <a:srgbClr val="F1F5F9"/>
          </a:solidFill>
          <a:ln/>
          <a:effectLst>
            <a:outerShdw blurRad="152400" dist="76200" dir="5400000" algn="bl" rotWithShape="0">
              <a:srgbClr val="000000">
                <a:alpha val="10000"/>
              </a:srgbClr>
            </a:outerShdw>
          </a:effectLst>
        </p:spPr>
        <p:txBody>
          <a:bodyPr wrap="none" lIns="0" tIns="0" rIns="0" bIns="0" rtlCol="0" anchor="ctr">
            <a:normAutofit/>
          </a:bodyPr>
          <a:lstStyle/>
          <a:p>
            <a:endParaRPr lang="en-US" sz="2400" dirty="0"/>
          </a:p>
        </p:txBody>
      </p:sp>
      <p:sp>
        <p:nvSpPr>
          <p:cNvPr id="3" name="Text 1">
            <a:extLst>
              <a:ext uri="{FF2B5EF4-FFF2-40B4-BE49-F238E27FC236}">
                <a16:creationId xmlns:a16="http://schemas.microsoft.com/office/drawing/2014/main" id="{156A8E3B-4319-7188-8C28-087611BE84E7}"/>
              </a:ext>
            </a:extLst>
          </p:cNvPr>
          <p:cNvSpPr/>
          <p:nvPr/>
        </p:nvSpPr>
        <p:spPr>
          <a:xfrm>
            <a:off x="812800" y="4008120"/>
            <a:ext cx="10566400" cy="2037080"/>
          </a:xfrm>
          <a:prstGeom prst="rect">
            <a:avLst/>
          </a:prstGeom>
          <a:solidFill>
            <a:srgbClr val="F1F5F9"/>
          </a:solidFill>
          <a:ln/>
          <a:effectLst>
            <a:outerShdw blurRad="152400" dist="76200" dir="5400000" algn="bl" rotWithShape="0">
              <a:srgbClr val="000000">
                <a:alpha val="10000"/>
              </a:srgbClr>
            </a:outerShdw>
          </a:effectLst>
        </p:spPr>
        <p:txBody>
          <a:bodyPr wrap="none" lIns="0" tIns="0" rIns="0" bIns="0" rtlCol="0" anchor="ctr">
            <a:normAutofit/>
          </a:bodyPr>
          <a:lstStyle/>
          <a:p>
            <a:endParaRPr lang="en-US" sz="2400" dirty="0"/>
          </a:p>
        </p:txBody>
      </p:sp>
      <p:sp>
        <p:nvSpPr>
          <p:cNvPr id="4" name="Text 2">
            <a:extLst>
              <a:ext uri="{FF2B5EF4-FFF2-40B4-BE49-F238E27FC236}">
                <a16:creationId xmlns:a16="http://schemas.microsoft.com/office/drawing/2014/main" id="{4F0288C4-1FE7-1728-F026-E034CCAC84D5}"/>
              </a:ext>
            </a:extLst>
          </p:cNvPr>
          <p:cNvSpPr/>
          <p:nvPr/>
        </p:nvSpPr>
        <p:spPr>
          <a:xfrm>
            <a:off x="812800" y="812800"/>
            <a:ext cx="10777728" cy="548640"/>
          </a:xfrm>
          <a:prstGeom prst="rect">
            <a:avLst/>
          </a:prstGeom>
          <a:noFill/>
          <a:ln/>
        </p:spPr>
        <p:txBody>
          <a:bodyPr wrap="square" lIns="0" tIns="0" rIns="0" bIns="0" rtlCol="0" anchor="t"/>
          <a:lstStyle/>
          <a:p>
            <a:pPr>
              <a:lnSpc>
                <a:spcPts val="4320"/>
              </a:lnSpc>
            </a:pPr>
            <a:r>
              <a:rPr lang="en-US" sz="3600" b="1" dirty="0">
                <a:latin typeface="Arial" pitchFamily="34" charset="0"/>
                <a:ea typeface="Arial" pitchFamily="34" charset="-122"/>
                <a:cs typeface="Arial" pitchFamily="34" charset="-120"/>
              </a:rPr>
              <a:t>Types of Linear Regression</a:t>
            </a:r>
            <a:endParaRPr lang="en-US" sz="3600" dirty="0"/>
          </a:p>
        </p:txBody>
      </p:sp>
      <p:sp>
        <p:nvSpPr>
          <p:cNvPr id="5" name="Text 3">
            <a:extLst>
              <a:ext uri="{FF2B5EF4-FFF2-40B4-BE49-F238E27FC236}">
                <a16:creationId xmlns:a16="http://schemas.microsoft.com/office/drawing/2014/main" id="{499ABA89-D545-F1B3-94D9-7A7609E5F574}"/>
              </a:ext>
            </a:extLst>
          </p:cNvPr>
          <p:cNvSpPr/>
          <p:nvPr/>
        </p:nvSpPr>
        <p:spPr>
          <a:xfrm>
            <a:off x="1219200" y="2072641"/>
            <a:ext cx="9948672" cy="365760"/>
          </a:xfrm>
          <a:prstGeom prst="rect">
            <a:avLst/>
          </a:prstGeom>
          <a:noFill/>
          <a:ln/>
        </p:spPr>
        <p:txBody>
          <a:bodyPr wrap="square" lIns="0" tIns="0" rIns="0" bIns="0" rtlCol="0" anchor="t"/>
          <a:lstStyle/>
          <a:p>
            <a:pPr>
              <a:lnSpc>
                <a:spcPts val="2880"/>
              </a:lnSpc>
            </a:pPr>
            <a:r>
              <a:rPr lang="en-US" sz="2400" b="1" dirty="0">
                <a:latin typeface="Arial" pitchFamily="34" charset="0"/>
                <a:ea typeface="Arial" pitchFamily="34" charset="-122"/>
                <a:cs typeface="Arial" pitchFamily="34" charset="-120"/>
              </a:rPr>
              <a:t>Simple Linear Regression</a:t>
            </a:r>
            <a:endParaRPr lang="en-US" sz="2400" dirty="0"/>
          </a:p>
        </p:txBody>
      </p:sp>
      <p:sp>
        <p:nvSpPr>
          <p:cNvPr id="6" name="Text 4">
            <a:extLst>
              <a:ext uri="{FF2B5EF4-FFF2-40B4-BE49-F238E27FC236}">
                <a16:creationId xmlns:a16="http://schemas.microsoft.com/office/drawing/2014/main" id="{A602FB47-765D-7CB6-3629-A37FDEB5F4AA}"/>
              </a:ext>
            </a:extLst>
          </p:cNvPr>
          <p:cNvSpPr/>
          <p:nvPr/>
        </p:nvSpPr>
        <p:spPr>
          <a:xfrm>
            <a:off x="1219200" y="2641600"/>
            <a:ext cx="9948672" cy="284480"/>
          </a:xfrm>
          <a:prstGeom prst="rect">
            <a:avLst/>
          </a:prstGeom>
          <a:noFill/>
          <a:ln/>
        </p:spPr>
        <p:txBody>
          <a:bodyPr wrap="square" lIns="0" tIns="0" rIns="0" bIns="0" rtlCol="0" anchor="t"/>
          <a:lstStyle/>
          <a:p>
            <a:pPr>
              <a:lnSpc>
                <a:spcPts val="2240"/>
              </a:lnSpc>
            </a:pPr>
            <a:r>
              <a:rPr lang="en-US" sz="1600" dirty="0">
                <a:solidFill>
                  <a:srgbClr val="475569"/>
                </a:solidFill>
                <a:latin typeface="Arial" pitchFamily="34" charset="0"/>
                <a:ea typeface="Arial" pitchFamily="34" charset="-122"/>
                <a:cs typeface="Arial" pitchFamily="34" charset="-120"/>
              </a:rPr>
              <a:t>One independent variable (X) predicting one dependent variable (Y)</a:t>
            </a:r>
            <a:endParaRPr lang="en-US" sz="1600" dirty="0"/>
          </a:p>
        </p:txBody>
      </p:sp>
      <p:sp>
        <p:nvSpPr>
          <p:cNvPr id="7" name="Text 5">
            <a:extLst>
              <a:ext uri="{FF2B5EF4-FFF2-40B4-BE49-F238E27FC236}">
                <a16:creationId xmlns:a16="http://schemas.microsoft.com/office/drawing/2014/main" id="{8EBD4D2E-2EAF-DBAA-B595-A6ADC34CD4ED}"/>
              </a:ext>
            </a:extLst>
          </p:cNvPr>
          <p:cNvSpPr/>
          <p:nvPr/>
        </p:nvSpPr>
        <p:spPr>
          <a:xfrm>
            <a:off x="1219200" y="4414520"/>
            <a:ext cx="9948672" cy="365760"/>
          </a:xfrm>
          <a:prstGeom prst="rect">
            <a:avLst/>
          </a:prstGeom>
          <a:noFill/>
          <a:ln/>
        </p:spPr>
        <p:txBody>
          <a:bodyPr wrap="square" lIns="0" tIns="0" rIns="0" bIns="0" rtlCol="0" anchor="t"/>
          <a:lstStyle/>
          <a:p>
            <a:pPr>
              <a:lnSpc>
                <a:spcPts val="2880"/>
              </a:lnSpc>
            </a:pPr>
            <a:r>
              <a:rPr lang="en-US" sz="2400" b="1" dirty="0">
                <a:latin typeface="Arial" pitchFamily="34" charset="0"/>
                <a:ea typeface="Arial" pitchFamily="34" charset="-122"/>
                <a:cs typeface="Arial" pitchFamily="34" charset="-120"/>
              </a:rPr>
              <a:t>Multiple Linear Regression</a:t>
            </a:r>
            <a:endParaRPr lang="en-US" sz="2400" dirty="0"/>
          </a:p>
        </p:txBody>
      </p:sp>
      <p:sp>
        <p:nvSpPr>
          <p:cNvPr id="8" name="Text 6">
            <a:extLst>
              <a:ext uri="{FF2B5EF4-FFF2-40B4-BE49-F238E27FC236}">
                <a16:creationId xmlns:a16="http://schemas.microsoft.com/office/drawing/2014/main" id="{F1152EFA-EAD8-95A4-3E71-8F9D1B5094BA}"/>
              </a:ext>
            </a:extLst>
          </p:cNvPr>
          <p:cNvSpPr/>
          <p:nvPr/>
        </p:nvSpPr>
        <p:spPr>
          <a:xfrm>
            <a:off x="1219200" y="4983481"/>
            <a:ext cx="9948672" cy="284480"/>
          </a:xfrm>
          <a:prstGeom prst="rect">
            <a:avLst/>
          </a:prstGeom>
          <a:noFill/>
          <a:ln/>
        </p:spPr>
        <p:txBody>
          <a:bodyPr wrap="square" lIns="0" tIns="0" rIns="0" bIns="0" rtlCol="0" anchor="t"/>
          <a:lstStyle/>
          <a:p>
            <a:pPr>
              <a:lnSpc>
                <a:spcPts val="2240"/>
              </a:lnSpc>
            </a:pPr>
            <a:r>
              <a:rPr lang="en-US" sz="1600" dirty="0">
                <a:solidFill>
                  <a:srgbClr val="475569"/>
                </a:solidFill>
                <a:latin typeface="Arial" pitchFamily="34" charset="0"/>
                <a:ea typeface="Arial" pitchFamily="34" charset="-122"/>
                <a:cs typeface="Arial" pitchFamily="34" charset="-120"/>
              </a:rPr>
              <a:t>Multiple independent variables predicting one dependent variable</a:t>
            </a:r>
            <a:endParaRPr lang="en-US" sz="1600" dirty="0"/>
          </a:p>
        </p:txBody>
      </p:sp>
    </p:spTree>
    <p:extLst>
      <p:ext uri="{BB962C8B-B14F-4D97-AF65-F5344CB8AC3E}">
        <p14:creationId xmlns:p14="http://schemas.microsoft.com/office/powerpoint/2010/main" val="269004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1233-E0EC-37DA-9AF0-023B38F732B7}"/>
              </a:ext>
            </a:extLst>
          </p:cNvPr>
          <p:cNvSpPr>
            <a:spLocks noGrp="1"/>
          </p:cNvSpPr>
          <p:nvPr>
            <p:ph type="title"/>
          </p:nvPr>
        </p:nvSpPr>
        <p:spPr/>
        <p:txBody>
          <a:bodyPr/>
          <a:lstStyle/>
          <a:p>
            <a:r>
              <a:rPr lang="en-US" dirty="0"/>
              <a:t>Type of </a:t>
            </a:r>
            <a:r>
              <a:rPr lang="en-US" dirty="0">
                <a:ea typeface="Arial" pitchFamily="34" charset="-122"/>
                <a:cs typeface="Arial" pitchFamily="34" charset="-120"/>
              </a:rPr>
              <a:t>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37DF51-40EF-AC17-7B7F-10D269A0E9AF}"/>
                  </a:ext>
                </a:extLst>
              </p:cNvPr>
              <p:cNvSpPr>
                <a:spLocks noGrp="1"/>
              </p:cNvSpPr>
              <p:nvPr>
                <p:ph idx="1"/>
              </p:nvPr>
            </p:nvSpPr>
            <p:spPr>
              <a:xfrm>
                <a:off x="838199" y="1825625"/>
                <a:ext cx="10790583" cy="4351338"/>
              </a:xfrm>
            </p:spPr>
            <p:txBody>
              <a:bodyPr>
                <a:normAutofit/>
              </a:bodyPr>
              <a:lstStyle/>
              <a:p>
                <a:pPr marL="514350" indent="-514350">
                  <a:buFont typeface="+mj-lt"/>
                  <a:buAutoNum type="arabicPeriod"/>
                </a:pPr>
                <a:r>
                  <a:rPr lang="en-IN" b="1" dirty="0"/>
                  <a:t>Simple Linear Regression</a:t>
                </a:r>
              </a:p>
              <a:p>
                <a:pPr lvl="1" fontAlgn="base"/>
                <a:r>
                  <a:rPr lang="en-IN" dirty="0"/>
                  <a:t>Simple linear regression is used when we want to predict a target value (dependent variable) using only one input feature (independent variable). </a:t>
                </a:r>
              </a:p>
              <a:p>
                <a:pPr lvl="1" fontAlgn="base"/>
                <a:r>
                  <a:rPr lang="en-IN" dirty="0"/>
                  <a:t>It assumes a straight-line relationship between the two.</a:t>
                </a:r>
              </a:p>
              <a:p>
                <a:pPr lvl="1" fontAlgn="base"/>
                <a:r>
                  <a:rPr lang="en-IN" b="1" dirty="0"/>
                  <a:t>Formula : </a:t>
                </a:r>
                <a14:m>
                  <m:oMath xmlns:m="http://schemas.openxmlformats.org/officeDocument/2006/math">
                    <m:r>
                      <a:rPr lang="en-IN" b="1" i="0" smtClean="0">
                        <a:latin typeface="Cambria Math" panose="02040503050406030204" pitchFamily="18" charset="0"/>
                      </a:rPr>
                      <m:t>  </m:t>
                    </m:r>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r>
                      <a:rPr lang="ar-AE" i="1">
                        <a:latin typeface="Cambria Math" panose="02040503050406030204" pitchFamily="18" charset="0"/>
                      </a:rPr>
                      <m:t>𝑥</m:t>
                    </m:r>
                  </m:oMath>
                </a14:m>
                <a:endParaRPr lang="ar-AE" i="1" dirty="0"/>
              </a:p>
              <a:p>
                <a:pPr lvl="1" fontAlgn="base"/>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oMath>
                </a14:m>
                <a:r>
                  <a:rPr lang="ar-AE" dirty="0"/>
                  <a:t>​ </a:t>
                </a:r>
                <a:r>
                  <a:rPr lang="en-IN" dirty="0"/>
                  <a:t>is the predicted value</a:t>
                </a:r>
              </a:p>
              <a:p>
                <a:pPr lvl="1" fontAlgn="base"/>
                <a14:m>
                  <m:oMath xmlns:m="http://schemas.openxmlformats.org/officeDocument/2006/math">
                    <m:r>
                      <a:rPr lang="en-IN" i="1">
                        <a:latin typeface="Cambria Math" panose="02040503050406030204" pitchFamily="18" charset="0"/>
                      </a:rPr>
                      <m:t>𝑥</m:t>
                    </m:r>
                  </m:oMath>
                </a14:m>
                <a:r>
                  <a:rPr lang="en-IN" dirty="0"/>
                  <a:t> is the input (independent variable)</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oMath>
                </a14:m>
                <a:r>
                  <a:rPr lang="ar-AE" dirty="0"/>
                  <a:t> </a:t>
                </a:r>
                <a:r>
                  <a:rPr lang="en-IN" dirty="0"/>
                  <a:t>is the intercept (value of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m:rPr>
                        <m:nor/>
                      </m:rPr>
                      <a:rPr lang="ar-AE" i="1"/>
                      <m:t>​</m:t>
                    </m:r>
                  </m:oMath>
                </a14:m>
                <a:r>
                  <a:rPr lang="ar-AE" dirty="0"/>
                  <a:t> </a:t>
                </a:r>
                <a:r>
                  <a:rPr lang="en-IN" dirty="0"/>
                  <a:t>when x=0)</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is the slope or coefficient (how much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oMath>
                </a14:m>
                <a:r>
                  <a:rPr lang="ar-AE" dirty="0"/>
                  <a:t>​ </a:t>
                </a:r>
                <a:r>
                  <a:rPr lang="en-IN" dirty="0"/>
                  <a:t>changes with one unit of x)</a:t>
                </a:r>
              </a:p>
              <a:p>
                <a:pPr lvl="1" fontAlgn="base"/>
                <a:r>
                  <a:rPr lang="en-IN" b="1" dirty="0"/>
                  <a:t>Example: </a:t>
                </a:r>
                <a:r>
                  <a:rPr lang="en-IN" dirty="0"/>
                  <a:t>Predicting a person’s salary (y) based on their years of experience (x).</a:t>
                </a:r>
              </a:p>
              <a:p>
                <a:pPr marL="514350" indent="-514350">
                  <a:buFont typeface="+mj-lt"/>
                  <a:buAutoNum type="arabicPeriod"/>
                </a:pPr>
                <a:endParaRPr lang="en-IN" b="1" dirty="0"/>
              </a:p>
              <a:p>
                <a:endParaRPr lang="en-IN" dirty="0"/>
              </a:p>
            </p:txBody>
          </p:sp>
        </mc:Choice>
        <mc:Fallback xmlns="">
          <p:sp>
            <p:nvSpPr>
              <p:cNvPr id="3" name="Content Placeholder 2">
                <a:extLst>
                  <a:ext uri="{FF2B5EF4-FFF2-40B4-BE49-F238E27FC236}">
                    <a16:creationId xmlns:a16="http://schemas.microsoft.com/office/drawing/2014/main" id="{2D37DF51-40EF-AC17-7B7F-10D269A0E9AF}"/>
                  </a:ext>
                </a:extLst>
              </p:cNvPr>
              <p:cNvSpPr>
                <a:spLocks noGrp="1" noRot="1" noChangeAspect="1" noMove="1" noResize="1" noEditPoints="1" noAdjustHandles="1" noChangeArrowheads="1" noChangeShapeType="1" noTextEdit="1"/>
              </p:cNvSpPr>
              <p:nvPr>
                <p:ph idx="1"/>
              </p:nvPr>
            </p:nvSpPr>
            <p:spPr>
              <a:xfrm>
                <a:off x="838199" y="1825625"/>
                <a:ext cx="10790583" cy="4351338"/>
              </a:xfrm>
              <a:blipFill>
                <a:blip r:embed="rId2"/>
                <a:stretch>
                  <a:fillRect l="-1129" t="-2381"/>
                </a:stretch>
              </a:blipFill>
            </p:spPr>
            <p:txBody>
              <a:bodyPr/>
              <a:lstStyle/>
              <a:p>
                <a:r>
                  <a:rPr lang="en-IN">
                    <a:noFill/>
                  </a:rPr>
                  <a:t> </a:t>
                </a:r>
              </a:p>
            </p:txBody>
          </p:sp>
        </mc:Fallback>
      </mc:AlternateContent>
    </p:spTree>
    <p:extLst>
      <p:ext uri="{BB962C8B-B14F-4D97-AF65-F5344CB8AC3E}">
        <p14:creationId xmlns:p14="http://schemas.microsoft.com/office/powerpoint/2010/main" val="3521410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35BB3-E9EC-CA8D-DEB5-C77A59154672}"/>
              </a:ext>
            </a:extLst>
          </p:cNvPr>
          <p:cNvSpPr>
            <a:spLocks noGrp="1"/>
          </p:cNvSpPr>
          <p:nvPr>
            <p:ph type="title"/>
          </p:nvPr>
        </p:nvSpPr>
        <p:spPr/>
        <p:txBody>
          <a:bodyPr/>
          <a:lstStyle/>
          <a:p>
            <a:r>
              <a:rPr lang="en-US" dirty="0"/>
              <a:t>Type of </a:t>
            </a:r>
            <a:r>
              <a:rPr lang="en-US" dirty="0">
                <a:ea typeface="Arial" pitchFamily="34" charset="-122"/>
                <a:cs typeface="Arial" pitchFamily="34" charset="-120"/>
              </a:rPr>
              <a:t>Linear Regression</a:t>
            </a:r>
            <a:endParaRPr lang="en-IN" dirty="0"/>
          </a:p>
        </p:txBody>
      </p:sp>
      <p:sp>
        <p:nvSpPr>
          <p:cNvPr id="3" name="Content Placeholder 2">
            <a:extLst>
              <a:ext uri="{FF2B5EF4-FFF2-40B4-BE49-F238E27FC236}">
                <a16:creationId xmlns:a16="http://schemas.microsoft.com/office/drawing/2014/main" id="{B7253BBE-A483-76DD-0607-8C207EAF5BEC}"/>
              </a:ext>
            </a:extLst>
          </p:cNvPr>
          <p:cNvSpPr>
            <a:spLocks noGrp="1"/>
          </p:cNvSpPr>
          <p:nvPr>
            <p:ph idx="1"/>
          </p:nvPr>
        </p:nvSpPr>
        <p:spPr>
          <a:xfrm>
            <a:off x="838200" y="1690688"/>
            <a:ext cx="10515600" cy="4908895"/>
          </a:xfrm>
        </p:spPr>
        <p:txBody>
          <a:bodyPr>
            <a:normAutofit/>
          </a:bodyPr>
          <a:lstStyle/>
          <a:p>
            <a:pPr marL="0" indent="0" fontAlgn="base">
              <a:buNone/>
            </a:pPr>
            <a:r>
              <a:rPr lang="en-IN" b="1" dirty="0"/>
              <a:t>2. Multiple Linear Regression</a:t>
            </a:r>
          </a:p>
          <a:p>
            <a:pPr lvl="1" fontAlgn="base"/>
            <a:r>
              <a:rPr lang="en-IN" dirty="0"/>
              <a:t>Multiple linear regression involves more than one independent variable and one dependent variable. </a:t>
            </a:r>
          </a:p>
          <a:p>
            <a:pPr lvl="1" fontAlgn="base"/>
            <a:r>
              <a:rPr lang="en-US" dirty="0"/>
              <a:t>A linear model makes a prediction by simply computing a weighted sum of the input features, plus a constant called the </a:t>
            </a:r>
            <a:r>
              <a:rPr lang="en-US" i="1" dirty="0"/>
              <a:t>bias term </a:t>
            </a:r>
            <a:r>
              <a:rPr lang="en-US" dirty="0"/>
              <a:t>(also called the </a:t>
            </a:r>
            <a:r>
              <a:rPr lang="en-US" i="1" dirty="0"/>
              <a:t>intercept </a:t>
            </a:r>
            <a:r>
              <a:rPr lang="en-IN" i="1" dirty="0"/>
              <a:t>term</a:t>
            </a:r>
            <a:r>
              <a:rPr lang="en-IN" dirty="0"/>
              <a:t>)</a:t>
            </a:r>
          </a:p>
          <a:p>
            <a:pPr lvl="1"/>
            <a:r>
              <a:rPr lang="en-IN" dirty="0"/>
              <a:t>Example : </a:t>
            </a:r>
            <a:r>
              <a:rPr lang="en-US" b="1" dirty="0"/>
              <a:t>Real Estate:</a:t>
            </a:r>
            <a:r>
              <a:rPr lang="en-US" dirty="0"/>
              <a:t> Predict property prices using location, size and other factors.</a:t>
            </a:r>
          </a:p>
        </p:txBody>
      </p:sp>
    </p:spTree>
    <p:extLst>
      <p:ext uri="{BB962C8B-B14F-4D97-AF65-F5344CB8AC3E}">
        <p14:creationId xmlns:p14="http://schemas.microsoft.com/office/powerpoint/2010/main" val="2084107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9E9F6-F567-FE30-2D81-C907E3AB6ABC}"/>
              </a:ext>
            </a:extLst>
          </p:cNvPr>
          <p:cNvSpPr>
            <a:spLocks noGrp="1"/>
          </p:cNvSpPr>
          <p:nvPr>
            <p:ph type="title"/>
          </p:nvPr>
        </p:nvSpPr>
        <p:spPr/>
        <p:txBody>
          <a:bodyPr/>
          <a:lstStyle/>
          <a:p>
            <a:r>
              <a:rPr lang="en-IN" b="1" dirty="0"/>
              <a:t>Multiple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57C6C6-1E28-6CC8-30AD-7F5E1E0E8EEC}"/>
                  </a:ext>
                </a:extLst>
              </p:cNvPr>
              <p:cNvSpPr>
                <a:spLocks noGrp="1"/>
              </p:cNvSpPr>
              <p:nvPr>
                <p:ph idx="1"/>
              </p:nvPr>
            </p:nvSpPr>
            <p:spPr/>
            <p:txBody>
              <a:bodyPr/>
              <a:lstStyle/>
              <a:p>
                <a:pPr fontAlgn="base"/>
                <a:r>
                  <a:rPr lang="en-IN" dirty="0"/>
                  <a:t>The equation for multiple linear regression is:</a:t>
                </a:r>
              </a:p>
              <a:p>
                <a:pPr marL="457200" lvl="1" indent="0" fontAlgn="base">
                  <a:buNone/>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𝑛</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oMath>
                  </m:oMathPara>
                </a14:m>
                <a:endParaRPr lang="en-IN" i="1" dirty="0"/>
              </a:p>
              <a:p>
                <a:pPr marL="457200" lvl="1" indent="0" fontAlgn="base">
                  <a:buNone/>
                </a:pPr>
                <a:endParaRPr lang="ar-AE" i="1" dirty="0"/>
              </a:p>
              <a:p>
                <a:pPr lvl="1" fontAlgn="base"/>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oMath>
                </a14:m>
                <a:r>
                  <a:rPr lang="ar-AE" dirty="0"/>
                  <a:t>​ </a:t>
                </a:r>
                <a:r>
                  <a:rPr lang="en-IN" dirty="0"/>
                  <a:t>is the predicted value</a:t>
                </a:r>
              </a:p>
              <a:p>
                <a:pPr lvl="1" fontAlgn="base"/>
                <a:r>
                  <a:rPr lang="en-IN" dirty="0"/>
                  <a:t>n is the number of features or independent variable </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ar-AE">
                        <a:latin typeface="Cambria Math" panose="02040503050406030204" pitchFamily="18" charset="0"/>
                      </a:rPr>
                      <m:t> </m:t>
                    </m:r>
                  </m:oMath>
                </a14:m>
                <a:r>
                  <a:rPr lang="ar-AE" dirty="0"/>
                  <a:t> </a:t>
                </a:r>
                <a:r>
                  <a:rPr lang="en-IN" dirty="0"/>
                  <a:t>are the independent variables or feature values</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𝑛</m:t>
                        </m:r>
                      </m:sub>
                    </m:sSub>
                    <m:r>
                      <a:rPr lang="ar-AE">
                        <a:latin typeface="Cambria Math" panose="02040503050406030204" pitchFamily="18" charset="0"/>
                      </a:rPr>
                      <m:t> </m:t>
                    </m:r>
                  </m:oMath>
                </a14:m>
                <a:r>
                  <a:rPr lang="ar-AE" dirty="0"/>
                  <a:t> </a:t>
                </a:r>
                <a:r>
                  <a:rPr lang="en-IN" dirty="0"/>
                  <a:t>are the coefficients (feature weights) corresponding to each predictor.</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r>
                      <a:rPr lang="ar-AE">
                        <a:latin typeface="Cambria Math" panose="02040503050406030204" pitchFamily="18" charset="0"/>
                      </a:rPr>
                      <m:t> </m:t>
                    </m:r>
                  </m:oMath>
                </a14:m>
                <a:r>
                  <a:rPr lang="ar-AE" dirty="0"/>
                  <a:t> </a:t>
                </a:r>
                <a:r>
                  <a:rPr lang="en-IN" dirty="0"/>
                  <a:t>is the intercept or bias.</a:t>
                </a:r>
              </a:p>
              <a:p>
                <a:pPr lvl="1" fontAlgn="base"/>
                <a:r>
                  <a:rPr lang="en-IN" dirty="0"/>
                  <a:t>The goal is to find the best-fit line that predicts Y accurately for given inputs X.</a:t>
                </a:r>
              </a:p>
            </p:txBody>
          </p:sp>
        </mc:Choice>
        <mc:Fallback xmlns="">
          <p:sp>
            <p:nvSpPr>
              <p:cNvPr id="3" name="Content Placeholder 2">
                <a:extLst>
                  <a:ext uri="{FF2B5EF4-FFF2-40B4-BE49-F238E27FC236}">
                    <a16:creationId xmlns:a16="http://schemas.microsoft.com/office/drawing/2014/main" id="{C457C6C6-1E28-6CC8-30AD-7F5E1E0E8EEC}"/>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n-IN">
                    <a:noFill/>
                  </a:rPr>
                  <a:t> </a:t>
                </a:r>
              </a:p>
            </p:txBody>
          </p:sp>
        </mc:Fallback>
      </mc:AlternateContent>
    </p:spTree>
    <p:extLst>
      <p:ext uri="{BB962C8B-B14F-4D97-AF65-F5344CB8AC3E}">
        <p14:creationId xmlns:p14="http://schemas.microsoft.com/office/powerpoint/2010/main" val="1947007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8A8F-24E8-1D17-768F-1A361867789C}"/>
              </a:ext>
            </a:extLst>
          </p:cNvPr>
          <p:cNvSpPr>
            <a:spLocks noGrp="1"/>
          </p:cNvSpPr>
          <p:nvPr>
            <p:ph type="title"/>
          </p:nvPr>
        </p:nvSpPr>
        <p:spPr/>
        <p:txBody>
          <a:bodyPr/>
          <a:lstStyle/>
          <a:p>
            <a:r>
              <a:rPr lang="en-US" dirty="0"/>
              <a:t>Linear Regression model prediction (vectorized form)</a:t>
            </a:r>
            <a:endParaRPr lang="en-IN" dirty="0"/>
          </a:p>
        </p:txBody>
      </p:sp>
      <p:pic>
        <p:nvPicPr>
          <p:cNvPr id="5" name="Content Placeholder 4">
            <a:extLst>
              <a:ext uri="{FF2B5EF4-FFF2-40B4-BE49-F238E27FC236}">
                <a16:creationId xmlns:a16="http://schemas.microsoft.com/office/drawing/2014/main" id="{5C348530-E252-8690-59BE-9876B719C5C8}"/>
              </a:ext>
            </a:extLst>
          </p:cNvPr>
          <p:cNvPicPr>
            <a:picLocks noGrp="1" noChangeAspect="1"/>
          </p:cNvPicPr>
          <p:nvPr>
            <p:ph idx="1"/>
          </p:nvPr>
        </p:nvPicPr>
        <p:blipFill>
          <a:blip r:embed="rId2"/>
          <a:stretch>
            <a:fillRect/>
          </a:stretch>
        </p:blipFill>
        <p:spPr>
          <a:xfrm>
            <a:off x="838200" y="1917084"/>
            <a:ext cx="10515600" cy="4168420"/>
          </a:xfrm>
          <a:prstGeom prst="rect">
            <a:avLst/>
          </a:prstGeom>
        </p:spPr>
      </p:pic>
    </p:spTree>
    <p:extLst>
      <p:ext uri="{BB962C8B-B14F-4D97-AF65-F5344CB8AC3E}">
        <p14:creationId xmlns:p14="http://schemas.microsoft.com/office/powerpoint/2010/main" val="781248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DA3E-7DC1-F8F3-2B34-3EC828FBE4D0}"/>
              </a:ext>
            </a:extLst>
          </p:cNvPr>
          <p:cNvSpPr>
            <a:spLocks noGrp="1"/>
          </p:cNvSpPr>
          <p:nvPr>
            <p:ph type="title"/>
          </p:nvPr>
        </p:nvSpPr>
        <p:spPr/>
        <p:txBody>
          <a:bodyPr/>
          <a:lstStyle/>
          <a:p>
            <a:r>
              <a:rPr lang="en-US" dirty="0"/>
              <a:t>Linear Regression model prediction (vectorized form)</a:t>
            </a:r>
            <a:endParaRPr lang="en-IN" dirty="0"/>
          </a:p>
        </p:txBody>
      </p:sp>
      <p:sp>
        <p:nvSpPr>
          <p:cNvPr id="3" name="Content Placeholder 2">
            <a:extLst>
              <a:ext uri="{FF2B5EF4-FFF2-40B4-BE49-F238E27FC236}">
                <a16:creationId xmlns:a16="http://schemas.microsoft.com/office/drawing/2014/main" id="{42921230-1F23-A2EC-3ACE-C83D2E93A101}"/>
              </a:ext>
            </a:extLst>
          </p:cNvPr>
          <p:cNvSpPr>
            <a:spLocks noGrp="1"/>
          </p:cNvSpPr>
          <p:nvPr>
            <p:ph idx="1"/>
          </p:nvPr>
        </p:nvSpPr>
        <p:spPr>
          <a:xfrm>
            <a:off x="838199" y="1825625"/>
            <a:ext cx="10760765" cy="4351338"/>
          </a:xfrm>
        </p:spPr>
        <p:txBody>
          <a:bodyPr>
            <a:normAutofit/>
          </a:bodyPr>
          <a:lstStyle/>
          <a:p>
            <a:r>
              <a:rPr lang="en-US" sz="2400" dirty="0"/>
              <a:t>In Machine Learning, vectors are often represented as column vectors, which are 2D arrays with a single column. </a:t>
            </a:r>
          </a:p>
          <a:p>
            <a:r>
              <a:rPr lang="en-US" sz="2400" dirty="0"/>
              <a:t>If </a:t>
            </a:r>
            <a:r>
              <a:rPr lang="en-US" sz="2400" b="1" dirty="0"/>
              <a:t>θ </a:t>
            </a:r>
            <a:r>
              <a:rPr lang="en-US" sz="2400" dirty="0"/>
              <a:t>and </a:t>
            </a:r>
            <a:r>
              <a:rPr lang="en-US" sz="2400" b="1" dirty="0"/>
              <a:t>x </a:t>
            </a:r>
            <a:r>
              <a:rPr lang="en-US" sz="2400" dirty="0"/>
              <a:t>are column vectors, then the prediction is y = </a:t>
            </a:r>
            <a:r>
              <a:rPr lang="en-US" sz="2400" b="1" dirty="0" err="1"/>
              <a:t>θ</a:t>
            </a:r>
            <a:r>
              <a:rPr lang="en-US" sz="2400" baseline="30000" dirty="0" err="1"/>
              <a:t>⊺</a:t>
            </a:r>
            <a:r>
              <a:rPr lang="en-US" sz="2400" b="1" dirty="0" err="1"/>
              <a:t>x</a:t>
            </a:r>
            <a:r>
              <a:rPr lang="en-US" sz="2400" dirty="0"/>
              <a:t>, where </a:t>
            </a:r>
            <a:r>
              <a:rPr lang="en-US" sz="2400" b="1" dirty="0"/>
              <a:t>θ</a:t>
            </a:r>
            <a:r>
              <a:rPr lang="en-US" sz="2400" baseline="30000" dirty="0"/>
              <a:t>⊺</a:t>
            </a:r>
            <a:r>
              <a:rPr lang="en-US" sz="2400" dirty="0"/>
              <a:t> is the transpose of </a:t>
            </a:r>
            <a:r>
              <a:rPr lang="en-US" sz="2400" b="1" dirty="0"/>
              <a:t>θ </a:t>
            </a:r>
            <a:r>
              <a:rPr lang="en-US" sz="2400" dirty="0"/>
              <a:t>(a row vector instead of a column vector) and </a:t>
            </a:r>
            <a:r>
              <a:rPr lang="en-US" sz="2400" b="1" dirty="0" err="1"/>
              <a:t>θ</a:t>
            </a:r>
            <a:r>
              <a:rPr lang="en-US" sz="2400" baseline="30000" dirty="0" err="1"/>
              <a:t>⊺</a:t>
            </a:r>
            <a:r>
              <a:rPr lang="en-US" sz="2400" b="1" dirty="0" err="1"/>
              <a:t>x</a:t>
            </a:r>
            <a:r>
              <a:rPr lang="en-US" sz="2400" b="1" dirty="0"/>
              <a:t> </a:t>
            </a:r>
            <a:r>
              <a:rPr lang="en-US" sz="2400" dirty="0"/>
              <a:t>is the matrix multiplication of </a:t>
            </a:r>
            <a:r>
              <a:rPr lang="en-US" sz="2400" b="1" dirty="0"/>
              <a:t>θ</a:t>
            </a:r>
            <a:r>
              <a:rPr lang="en-US" sz="2400" baseline="30000" dirty="0"/>
              <a:t>⊺</a:t>
            </a:r>
            <a:r>
              <a:rPr lang="en-US" sz="2400" dirty="0"/>
              <a:t> and </a:t>
            </a:r>
            <a:r>
              <a:rPr lang="en-US" sz="2400" b="1" dirty="0"/>
              <a:t>x</a:t>
            </a:r>
            <a:r>
              <a:rPr lang="en-US" sz="2400" dirty="0"/>
              <a:t>.</a:t>
            </a:r>
          </a:p>
          <a:p>
            <a:r>
              <a:rPr lang="en-US" sz="2400" dirty="0"/>
              <a:t>MSE cost function for a Linear Regression model</a:t>
            </a:r>
            <a:endParaRPr lang="en-IN" sz="2000" dirty="0"/>
          </a:p>
        </p:txBody>
      </p:sp>
      <p:pic>
        <p:nvPicPr>
          <p:cNvPr id="7" name="Picture 6">
            <a:extLst>
              <a:ext uri="{FF2B5EF4-FFF2-40B4-BE49-F238E27FC236}">
                <a16:creationId xmlns:a16="http://schemas.microsoft.com/office/drawing/2014/main" id="{366B26A5-034F-ACB2-D436-AA9C448D9799}"/>
              </a:ext>
            </a:extLst>
          </p:cNvPr>
          <p:cNvPicPr>
            <a:picLocks noChangeAspect="1"/>
          </p:cNvPicPr>
          <p:nvPr/>
        </p:nvPicPr>
        <p:blipFill>
          <a:blip r:embed="rId2"/>
          <a:stretch>
            <a:fillRect/>
          </a:stretch>
        </p:blipFill>
        <p:spPr>
          <a:xfrm>
            <a:off x="1533811" y="4358452"/>
            <a:ext cx="4562189" cy="876302"/>
          </a:xfrm>
          <a:prstGeom prst="rect">
            <a:avLst/>
          </a:prstGeom>
        </p:spPr>
      </p:pic>
    </p:spTree>
    <p:extLst>
      <p:ext uri="{BB962C8B-B14F-4D97-AF65-F5344CB8AC3E}">
        <p14:creationId xmlns:p14="http://schemas.microsoft.com/office/powerpoint/2010/main" val="2784256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5567-0802-ADD0-3E74-C66B5D711FD9}"/>
              </a:ext>
            </a:extLst>
          </p:cNvPr>
          <p:cNvSpPr>
            <a:spLocks noGrp="1"/>
          </p:cNvSpPr>
          <p:nvPr>
            <p:ph type="title"/>
          </p:nvPr>
        </p:nvSpPr>
        <p:spPr>
          <a:xfrm>
            <a:off x="838200" y="365126"/>
            <a:ext cx="10515600" cy="1066110"/>
          </a:xfrm>
        </p:spPr>
        <p:txBody>
          <a:bodyPr>
            <a:normAutofit/>
          </a:bodyPr>
          <a:lstStyle/>
          <a:p>
            <a:r>
              <a:rPr lang="en-IN" sz="4000" b="1" dirty="0"/>
              <a:t>Minimizing the Error: The Least Squares Method</a:t>
            </a:r>
            <a:endParaRPr lang="en-IN"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E9B9FF-D121-61D5-3524-2A278E853016}"/>
                  </a:ext>
                </a:extLst>
              </p:cNvPr>
              <p:cNvSpPr>
                <a:spLocks noGrp="1"/>
              </p:cNvSpPr>
              <p:nvPr>
                <p:ph idx="1"/>
              </p:nvPr>
            </p:nvSpPr>
            <p:spPr>
              <a:xfrm>
                <a:off x="838200" y="1709530"/>
                <a:ext cx="10681252" cy="4691269"/>
              </a:xfrm>
            </p:spPr>
            <p:txBody>
              <a:bodyPr>
                <a:normAutofit fontScale="92500" lnSpcReduction="10000"/>
              </a:bodyPr>
              <a:lstStyle/>
              <a:p>
                <a:pPr fontAlgn="base"/>
                <a:r>
                  <a:rPr lang="en-IN" dirty="0"/>
                  <a:t>To find the best-fit line, we use a method called </a:t>
                </a:r>
                <a:r>
                  <a:rPr lang="en-IN" u="sng" dirty="0"/>
                  <a:t>Least Squares</a:t>
                </a:r>
                <a:r>
                  <a:rPr lang="en-IN" dirty="0"/>
                  <a:t>. </a:t>
                </a:r>
              </a:p>
              <a:p>
                <a:pPr fontAlgn="base"/>
                <a:r>
                  <a:rPr lang="en-IN" dirty="0"/>
                  <a:t>The idea behind this method is to minimize the sum of squared differences between the actual values (data points) and the predicted values from the line. These differences are called residuals or </a:t>
                </a:r>
                <a:r>
                  <a:rPr lang="en-US" dirty="0"/>
                  <a:t>Error functions</a:t>
                </a:r>
                <a:r>
                  <a:rPr lang="en-IN" dirty="0"/>
                  <a:t>.</a:t>
                </a:r>
              </a:p>
              <a:p>
                <a:pPr fontAlgn="base"/>
                <a:r>
                  <a:rPr lang="en-IN" dirty="0"/>
                  <a:t>The formula for residuals is:	 </a:t>
                </a:r>
                <a14:m>
                  <m:oMath xmlns:m="http://schemas.openxmlformats.org/officeDocument/2006/math">
                    <m:r>
                      <a:rPr lang="en-IN" b="0" i="0" smtClean="0">
                        <a:latin typeface="Cambria Math" panose="02040503050406030204" pitchFamily="18" charset="0"/>
                      </a:rPr>
                      <m:t>        </m:t>
                    </m:r>
                    <m:r>
                      <a:rPr lang="en-IN" b="1" i="1">
                        <a:latin typeface="Cambria Math" panose="02040503050406030204" pitchFamily="18" charset="0"/>
                      </a:rPr>
                      <m:t>𝑹𝒆𝒔𝒊𝒅𝒖𝒂𝒍</m:t>
                    </m:r>
                    <m:r>
                      <a:rPr lang="en-IN" b="1">
                        <a:latin typeface="Cambria Math" panose="02040503050406030204" pitchFamily="18" charset="0"/>
                      </a:rPr>
                      <m:t>=</m:t>
                    </m:r>
                    <m:r>
                      <a:rPr lang="en-IN" b="1" i="1">
                        <a:latin typeface="Cambria Math" panose="02040503050406030204" pitchFamily="18" charset="0"/>
                      </a:rPr>
                      <m:t>𝒚</m:t>
                    </m:r>
                    <m:r>
                      <m:rPr>
                        <m:nor/>
                      </m:rPr>
                      <a:rPr lang="en-IN" b="1" i="1"/>
                      <m:t>ᵢ</m:t>
                    </m:r>
                    <m:r>
                      <a:rPr lang="en-IN" b="1">
                        <a:latin typeface="Cambria Math" panose="02040503050406030204" pitchFamily="18" charset="0"/>
                      </a:rPr>
                      <m:t>−</m:t>
                    </m:r>
                    <m:acc>
                      <m:accPr>
                        <m:chr m:val="̂"/>
                        <m:ctrlPr>
                          <a:rPr lang="ar-AE" b="1" i="1">
                            <a:latin typeface="Cambria Math" panose="02040503050406030204" pitchFamily="18" charset="0"/>
                          </a:rPr>
                        </m:ctrlPr>
                      </m:accPr>
                      <m:e>
                        <m:r>
                          <a:rPr lang="ar-AE" b="1" i="1">
                            <a:latin typeface="Cambria Math" panose="02040503050406030204" pitchFamily="18" charset="0"/>
                          </a:rPr>
                          <m:t>𝒚</m:t>
                        </m:r>
                      </m:e>
                    </m:acc>
                    <m:r>
                      <m:rPr>
                        <m:nor/>
                      </m:rPr>
                      <a:rPr lang="en-IN" b="1" i="1"/>
                      <m:t>ᵢ</m:t>
                    </m:r>
                  </m:oMath>
                </a14:m>
                <a:endParaRPr lang="en-IN" b="1" i="1" dirty="0"/>
              </a:p>
              <a:p>
                <a:pPr lvl="1" fontAlgn="base"/>
                <a14:m>
                  <m:oMath xmlns:m="http://schemas.openxmlformats.org/officeDocument/2006/math">
                    <m:r>
                      <a:rPr lang="en-IN" i="1">
                        <a:latin typeface="Cambria Math" panose="02040503050406030204" pitchFamily="18" charset="0"/>
                      </a:rPr>
                      <m:t>𝑦</m:t>
                    </m:r>
                    <m:r>
                      <m:rPr>
                        <m:nor/>
                      </m:rPr>
                      <a:rPr lang="en-IN" i="1"/>
                      <m:t>ᵢ</m:t>
                    </m:r>
                  </m:oMath>
                </a14:m>
                <a:r>
                  <a:rPr lang="en-IN" dirty="0"/>
                  <a:t> is the actual observed value</a:t>
                </a:r>
              </a:p>
              <a:p>
                <a:pPr lvl="1" fontAlgn="base"/>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m:rPr>
                        <m:nor/>
                      </m:rPr>
                      <a:rPr lang="en-IN" i="1"/>
                      <m:t>ᵢ</m:t>
                    </m:r>
                  </m:oMath>
                </a14:m>
                <a:r>
                  <a:rPr lang="en-IN" dirty="0"/>
                  <a:t> is the predicted value from the line for that </a:t>
                </a:r>
                <a14:m>
                  <m:oMath xmlns:m="http://schemas.openxmlformats.org/officeDocument/2006/math">
                    <m:r>
                      <a:rPr lang="en-IN" i="1">
                        <a:latin typeface="Cambria Math" panose="02040503050406030204" pitchFamily="18" charset="0"/>
                      </a:rPr>
                      <m:t>𝑥</m:t>
                    </m:r>
                    <m:r>
                      <m:rPr>
                        <m:nor/>
                      </m:rPr>
                      <a:rPr lang="en-IN" i="1"/>
                      <m:t>ᵢ</m:t>
                    </m:r>
                  </m:oMath>
                </a14:m>
                <a:endParaRPr lang="en-IN" dirty="0"/>
              </a:p>
              <a:p>
                <a:pPr fontAlgn="base"/>
                <a:r>
                  <a:rPr lang="en-IN" dirty="0"/>
                  <a:t>The least squares method minimizes the sum of the squared residuals:</a:t>
                </a:r>
              </a:p>
              <a:p>
                <a:pPr marL="457200" lvl="1" indent="0" fontAlgn="base">
                  <a:buNone/>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𝑺𝒖𝒎𝒐𝒇𝒔𝒒𝒖𝒂𝒓𝒆𝒅</m:t>
                      </m:r>
                      <m:r>
                        <a:rPr lang="en-IN" b="1" i="1" smtClean="0">
                          <a:latin typeface="Cambria Math" panose="02040503050406030204" pitchFamily="18" charset="0"/>
                        </a:rPr>
                        <m:t> </m:t>
                      </m:r>
                      <m:r>
                        <a:rPr lang="en-IN" b="1" i="1" smtClean="0">
                          <a:latin typeface="Cambria Math" panose="02040503050406030204" pitchFamily="18" charset="0"/>
                        </a:rPr>
                        <m:t>𝒆𝒓𝒓𝒐𝒓𝒔</m:t>
                      </m:r>
                      <m:d>
                        <m:dPr>
                          <m:ctrlPr>
                            <a:rPr lang="ar-AE" b="1" i="1">
                              <a:latin typeface="Cambria Math" panose="02040503050406030204" pitchFamily="18" charset="0"/>
                            </a:rPr>
                          </m:ctrlPr>
                        </m:dPr>
                        <m:e>
                          <m:r>
                            <a:rPr lang="ar-AE" b="1" i="1">
                              <a:latin typeface="Cambria Math" panose="02040503050406030204" pitchFamily="18" charset="0"/>
                            </a:rPr>
                            <m:t>𝑺𝑺𝑬</m:t>
                          </m:r>
                        </m:e>
                      </m:d>
                      <m:r>
                        <a:rPr lang="ar-AE" b="1">
                          <a:latin typeface="Cambria Math" panose="02040503050406030204" pitchFamily="18" charset="0"/>
                        </a:rPr>
                        <m:t>=</m:t>
                      </m:r>
                      <m:r>
                        <a:rPr lang="el-GR" b="1" i="1">
                          <a:latin typeface="Cambria Math" panose="02040503050406030204" pitchFamily="18" charset="0"/>
                        </a:rPr>
                        <m:t>𝚺</m:t>
                      </m:r>
                      <m:d>
                        <m:dPr>
                          <m:ctrlPr>
                            <a:rPr lang="ar-AE" b="1" i="1">
                              <a:latin typeface="Cambria Math" panose="02040503050406030204" pitchFamily="18" charset="0"/>
                            </a:rPr>
                          </m:ctrlPr>
                        </m:dPr>
                        <m:e>
                          <m:r>
                            <a:rPr lang="ar-AE" b="1" i="1">
                              <a:latin typeface="Cambria Math" panose="02040503050406030204" pitchFamily="18" charset="0"/>
                            </a:rPr>
                            <m:t>𝒚</m:t>
                          </m:r>
                          <m:r>
                            <m:rPr>
                              <m:nor/>
                            </m:rPr>
                            <a:rPr lang="en-IN" b="1" i="1"/>
                            <m:t>ᵢ</m:t>
                          </m:r>
                          <m:r>
                            <a:rPr lang="en-IN" b="1">
                              <a:latin typeface="Cambria Math" panose="02040503050406030204" pitchFamily="18" charset="0"/>
                            </a:rPr>
                            <m:t>−</m:t>
                          </m:r>
                          <m:acc>
                            <m:accPr>
                              <m:chr m:val="̂"/>
                              <m:ctrlPr>
                                <a:rPr lang="ar-AE" b="1" i="1">
                                  <a:latin typeface="Cambria Math" panose="02040503050406030204" pitchFamily="18" charset="0"/>
                                </a:rPr>
                              </m:ctrlPr>
                            </m:accPr>
                            <m:e>
                              <m:r>
                                <a:rPr lang="ar-AE" b="1" i="1">
                                  <a:latin typeface="Cambria Math" panose="02040503050406030204" pitchFamily="18" charset="0"/>
                                </a:rPr>
                                <m:t>𝒚</m:t>
                              </m:r>
                            </m:e>
                          </m:acc>
                          <m:r>
                            <m:rPr>
                              <m:nor/>
                            </m:rPr>
                            <a:rPr lang="en-IN" b="1" i="1"/>
                            <m:t>ᵢ</m:t>
                          </m:r>
                        </m:e>
                      </m:d>
                      <m:r>
                        <m:rPr>
                          <m:nor/>
                        </m:rPr>
                        <a:rPr lang="ar-AE" b="1" i="1"/>
                        <m:t>²</m:t>
                      </m:r>
                    </m:oMath>
                  </m:oMathPara>
                </a14:m>
                <a:endParaRPr lang="ar-AE" b="1" i="1" dirty="0"/>
              </a:p>
              <a:p>
                <a:pPr fontAlgn="base"/>
                <a:r>
                  <a:rPr lang="en-IN" dirty="0"/>
                  <a:t>This method ensures that the line best represents the data where the sum of the squared differences between the predicted values and actual values is as small as possible.</a:t>
                </a:r>
              </a:p>
              <a:p>
                <a:endParaRPr lang="en-IN" dirty="0"/>
              </a:p>
            </p:txBody>
          </p:sp>
        </mc:Choice>
        <mc:Fallback xmlns="">
          <p:sp>
            <p:nvSpPr>
              <p:cNvPr id="3" name="Content Placeholder 2">
                <a:extLst>
                  <a:ext uri="{FF2B5EF4-FFF2-40B4-BE49-F238E27FC236}">
                    <a16:creationId xmlns:a16="http://schemas.microsoft.com/office/drawing/2014/main" id="{3AE9B9FF-D121-61D5-3524-2A278E853016}"/>
                  </a:ext>
                </a:extLst>
              </p:cNvPr>
              <p:cNvSpPr>
                <a:spLocks noGrp="1" noRot="1" noChangeAspect="1" noMove="1" noResize="1" noEditPoints="1" noAdjustHandles="1" noChangeArrowheads="1" noChangeShapeType="1" noTextEdit="1"/>
              </p:cNvSpPr>
              <p:nvPr>
                <p:ph idx="1"/>
              </p:nvPr>
            </p:nvSpPr>
            <p:spPr>
              <a:xfrm>
                <a:off x="838200" y="1709530"/>
                <a:ext cx="10681252" cy="4691269"/>
              </a:xfrm>
              <a:blipFill>
                <a:blip r:embed="rId2"/>
                <a:stretch>
                  <a:fillRect l="-913" t="-2597" r="-1313"/>
                </a:stretch>
              </a:blipFill>
            </p:spPr>
            <p:txBody>
              <a:bodyPr/>
              <a:lstStyle/>
              <a:p>
                <a:r>
                  <a:rPr lang="en-IN">
                    <a:noFill/>
                  </a:rPr>
                  <a:t> </a:t>
                </a:r>
              </a:p>
            </p:txBody>
          </p:sp>
        </mc:Fallback>
      </mc:AlternateContent>
    </p:spTree>
    <p:extLst>
      <p:ext uri="{BB962C8B-B14F-4D97-AF65-F5344CB8AC3E}">
        <p14:creationId xmlns:p14="http://schemas.microsoft.com/office/powerpoint/2010/main" val="4063095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9EE8-3AFD-D215-651F-355E4457F126}"/>
              </a:ext>
            </a:extLst>
          </p:cNvPr>
          <p:cNvSpPr>
            <a:spLocks noGrp="1"/>
          </p:cNvSpPr>
          <p:nvPr>
            <p:ph type="title"/>
          </p:nvPr>
        </p:nvSpPr>
        <p:spPr/>
        <p:txBody>
          <a:bodyPr/>
          <a:lstStyle/>
          <a:p>
            <a:r>
              <a:rPr lang="en-IN" b="1" dirty="0"/>
              <a:t>Cost function for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C892AB-FAE0-C941-88FA-55E79665B250}"/>
                  </a:ext>
                </a:extLst>
              </p:cNvPr>
              <p:cNvSpPr>
                <a:spLocks noGrp="1"/>
              </p:cNvSpPr>
              <p:nvPr>
                <p:ph idx="1"/>
              </p:nvPr>
            </p:nvSpPr>
            <p:spPr/>
            <p:txBody>
              <a:bodyPr>
                <a:noAutofit/>
              </a:bodyPr>
              <a:lstStyle/>
              <a:p>
                <a:pPr fontAlgn="base"/>
                <a:r>
                  <a:rPr lang="en-IN" sz="2400" dirty="0"/>
                  <a:t>In Linear Regression, the cost function measures how far the predicted values (</a:t>
                </a:r>
                <a14:m>
                  <m:oMath xmlns:m="http://schemas.openxmlformats.org/officeDocument/2006/math">
                    <m:acc>
                      <m:accPr>
                        <m:chr m:val="̂"/>
                        <m:ctrlPr>
                          <a:rPr lang="ar-AE" sz="2400" i="1">
                            <a:latin typeface="Cambria Math" panose="02040503050406030204" pitchFamily="18" charset="0"/>
                          </a:rPr>
                        </m:ctrlPr>
                      </m:accPr>
                      <m:e>
                        <m:r>
                          <a:rPr lang="ar-AE" sz="2400" i="1">
                            <a:latin typeface="Cambria Math" panose="02040503050406030204" pitchFamily="18" charset="0"/>
                          </a:rPr>
                          <m:t>𝑌</m:t>
                        </m:r>
                      </m:e>
                    </m:acc>
                    <m:r>
                      <a:rPr lang="en-IN" sz="2400" b="0" i="1" smtClean="0">
                        <a:latin typeface="Cambria Math" panose="02040503050406030204" pitchFamily="18" charset="0"/>
                      </a:rPr>
                      <m:t>)</m:t>
                    </m:r>
                  </m:oMath>
                </a14:m>
                <a:r>
                  <a:rPr lang="ar-AE" sz="2400" dirty="0"/>
                  <a:t> </a:t>
                </a:r>
                <a:r>
                  <a:rPr lang="en-IN" sz="2400" dirty="0"/>
                  <a:t>are from the actual values (Y). It helps identify and reduce errors to find the best-fit line. </a:t>
                </a:r>
              </a:p>
              <a:p>
                <a:pPr fontAlgn="base"/>
                <a:r>
                  <a:rPr lang="en-IN" sz="2400" dirty="0"/>
                  <a:t>The most common cost function used is Mean Squared Error (MSE), which calculates the average of squared differences between actual and predicted values:</a:t>
                </a:r>
              </a:p>
              <a:p>
                <a:pPr marL="0" indent="0" algn="ctr" fontAlgn="base">
                  <a:buNone/>
                </a:pPr>
                <a:r>
                  <a:rPr lang="en-US" sz="2400" dirty="0"/>
                  <a:t>Cost function(</a:t>
                </a:r>
                <a:r>
                  <a:rPr lang="en-US" sz="2400" i="1" dirty="0"/>
                  <a:t>J</a:t>
                </a:r>
                <a:r>
                  <a:rPr lang="en-US" sz="2400" dirty="0"/>
                  <a:t>) = </a:t>
                </a:r>
                <a14:m>
                  <m:oMath xmlns:m="http://schemas.openxmlformats.org/officeDocument/2006/math">
                    <m:f>
                      <m:fPr>
                        <m:ctrlPr>
                          <a:rPr lang="pt-BR" sz="2400" i="1" smtClean="0">
                            <a:latin typeface="Cambria Math" panose="02040503050406030204" pitchFamily="18" charset="0"/>
                          </a:rPr>
                        </m:ctrlPr>
                      </m:fPr>
                      <m:num>
                        <m:r>
                          <a:rPr lang="en-IN" sz="2400" b="0" i="1" smtClean="0">
                            <a:latin typeface="Cambria Math" panose="02040503050406030204" pitchFamily="18" charset="0"/>
                          </a:rPr>
                          <m:t>1</m:t>
                        </m:r>
                      </m:num>
                      <m:den>
                        <m:r>
                          <a:rPr lang="en-IN" sz="2400" b="0" i="1" smtClean="0">
                            <a:latin typeface="Cambria Math" panose="02040503050406030204" pitchFamily="18" charset="0"/>
                          </a:rPr>
                          <m:t>𝑛</m:t>
                        </m:r>
                      </m:den>
                    </m:f>
                    <m:nary>
                      <m:naryPr>
                        <m:chr m:val="∑"/>
                        <m:ctrlPr>
                          <a:rPr lang="pt-BR" sz="2400" i="1" smtClean="0">
                            <a:latin typeface="Cambria Math" panose="02040503050406030204" pitchFamily="18" charset="0"/>
                          </a:rPr>
                        </m:ctrlPr>
                      </m:naryPr>
                      <m:sub>
                        <m:r>
                          <a:rPr lang="en-IN" sz="2400" b="0" i="1" smtClean="0">
                            <a:latin typeface="Cambria Math" panose="02040503050406030204" pitchFamily="18" charset="0"/>
                          </a:rPr>
                          <m:t>𝑖</m:t>
                        </m:r>
                        <m:r>
                          <a:rPr lang="en-IN" sz="2400" b="0" i="1" smtClean="0">
                            <a:latin typeface="Cambria Math" panose="02040503050406030204" pitchFamily="18" charset="0"/>
                          </a:rPr>
                          <m:t>=</m:t>
                        </m:r>
                        <m:r>
                          <a:rPr lang="en-IN" sz="2400" b="0" i="1" smtClean="0">
                            <a:latin typeface="Cambria Math" panose="02040503050406030204" pitchFamily="18" charset="0"/>
                          </a:rPr>
                          <m:t>0</m:t>
                        </m:r>
                      </m:sub>
                      <m:sup>
                        <m:r>
                          <a:rPr lang="en-IN" sz="2400" b="0" i="1" smtClean="0">
                            <a:latin typeface="Cambria Math" panose="02040503050406030204" pitchFamily="18" charset="0"/>
                          </a:rPr>
                          <m:t>𝑛</m:t>
                        </m:r>
                      </m:sup>
                      <m:e>
                        <m:d>
                          <m:dPr>
                            <m:ctrlPr>
                              <a:rPr lang="pt-BR" sz="2400" i="1" smtClean="0">
                                <a:latin typeface="Cambria Math" panose="02040503050406030204" pitchFamily="18" charset="0"/>
                              </a:rPr>
                            </m:ctrlPr>
                          </m:dPr>
                          <m:e>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en-IN" sz="2400" b="0" i="1" smtClean="0">
                                <a:latin typeface="Cambria Math" panose="02040503050406030204" pitchFamily="18" charset="0"/>
                              </a:rPr>
                              <m:t> −</m:t>
                            </m:r>
                            <m:sSub>
                              <m:sSubPr>
                                <m:ctrlPr>
                                  <a:rPr lang="ar-AE" sz="2400" i="1">
                                    <a:latin typeface="Cambria Math" panose="02040503050406030204" pitchFamily="18" charset="0"/>
                                  </a:rPr>
                                </m:ctrlPr>
                              </m:sSubPr>
                              <m:e>
                                <m:r>
                                  <a:rPr lang="en-IN" sz="2400" b="0" i="1" smtClean="0">
                                    <a:latin typeface="Cambria Math" panose="02040503050406030204" pitchFamily="18" charset="0"/>
                                  </a:rPr>
                                  <m:t>𝑦</m:t>
                                </m:r>
                              </m:e>
                              <m:sub>
                                <m:r>
                                  <a:rPr lang="ar-AE" sz="2400" i="1">
                                    <a:latin typeface="Cambria Math" panose="02040503050406030204" pitchFamily="18" charset="0"/>
                                  </a:rPr>
                                  <m:t>𝑖</m:t>
                                </m:r>
                              </m:sub>
                            </m:sSub>
                          </m:e>
                        </m:d>
                      </m:e>
                    </m:nary>
                    <m:r>
                      <a:rPr lang="en-IN" sz="2400" b="0" i="1" baseline="30000" smtClean="0">
                        <a:latin typeface="Cambria Math" panose="02040503050406030204" pitchFamily="18" charset="0"/>
                      </a:rPr>
                      <m:t>2</m:t>
                    </m:r>
                  </m:oMath>
                </a14:m>
                <a:endParaRPr lang="en-IN" sz="2400" baseline="30000" dirty="0"/>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b="0" i="0" smtClean="0">
                            <a:latin typeface="Cambria Math" panose="02040503050406030204" pitchFamily="18" charset="0"/>
                          </a:rPr>
                          <m:t>0</m:t>
                        </m:r>
                      </m:sub>
                    </m:sSub>
                    <m:r>
                      <a:rPr lang="ar-AE" sz="2400">
                        <a:latin typeface="Cambria Math" panose="02040503050406030204" pitchFamily="18" charset="0"/>
                      </a:rPr>
                      <m:t>+</m:t>
                    </m:r>
                    <m:sSub>
                      <m:sSubPr>
                        <m:ctrlPr>
                          <a:rPr lang="ar-AE" sz="2400" i="1" smtClean="0">
                            <a:latin typeface="Cambria Math" panose="02040503050406030204" pitchFamily="18" charset="0"/>
                          </a:rPr>
                        </m:ctrlPr>
                      </m:sSubPr>
                      <m:e>
                        <m:r>
                          <a:rPr lang="ar-AE" sz="2400" i="1">
                            <a:latin typeface="Cambria Math" panose="02040503050406030204" pitchFamily="18" charset="0"/>
                          </a:rPr>
                          <m:t>𝜃</m:t>
                        </m:r>
                      </m:e>
                      <m:sub>
                        <m:r>
                          <a:rPr lang="en-IN" sz="2400" b="0" i="1" smtClean="0">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oMath>
                </a14:m>
                <a:endParaRPr lang="ar-AE" sz="2400" dirty="0"/>
              </a:p>
              <a:p>
                <a:pPr fontAlgn="base"/>
                <a:r>
                  <a:rPr lang="en-IN" sz="2400" dirty="0"/>
                  <a:t>To minimize this cost, we use Gradient Descent, which iteratively updates </a:t>
                </a:r>
                <a:r>
                  <a:rPr lang="el-GR" sz="2400" dirty="0"/>
                  <a:t>θ</a:t>
                </a:r>
                <a:r>
                  <a:rPr lang="en-IN" sz="2400" baseline="-25000" dirty="0"/>
                  <a:t>0</a:t>
                </a:r>
                <a:r>
                  <a:rPr lang="el-GR" sz="2400" baseline="-25000" dirty="0"/>
                  <a:t> </a:t>
                </a:r>
                <a:r>
                  <a:rPr lang="en-IN" sz="2400" dirty="0"/>
                  <a:t>and </a:t>
                </a:r>
                <a:r>
                  <a:rPr lang="el-GR" sz="2400" dirty="0"/>
                  <a:t>θ</a:t>
                </a:r>
                <a:r>
                  <a:rPr lang="en-IN" sz="2400" baseline="-25000" dirty="0"/>
                  <a:t>1</a:t>
                </a:r>
                <a:r>
                  <a:rPr lang="el-GR" sz="2400" dirty="0"/>
                  <a:t> </a:t>
                </a:r>
                <a:r>
                  <a:rPr lang="en-IN" sz="2400" dirty="0"/>
                  <a:t>until the MSE reaches its lowest value. This ensures the line fits the data as accurately as possible.</a:t>
                </a:r>
              </a:p>
            </p:txBody>
          </p:sp>
        </mc:Choice>
        <mc:Fallback xmlns="">
          <p:sp>
            <p:nvSpPr>
              <p:cNvPr id="3" name="Content Placeholder 2">
                <a:extLst>
                  <a:ext uri="{FF2B5EF4-FFF2-40B4-BE49-F238E27FC236}">
                    <a16:creationId xmlns:a16="http://schemas.microsoft.com/office/drawing/2014/main" id="{E1C892AB-FAE0-C941-88FA-55E79665B250}"/>
                  </a:ext>
                </a:extLst>
              </p:cNvPr>
              <p:cNvSpPr>
                <a:spLocks noGrp="1" noRot="1" noChangeAspect="1" noMove="1" noResize="1" noEditPoints="1" noAdjustHandles="1" noChangeArrowheads="1" noChangeShapeType="1" noTextEdit="1"/>
              </p:cNvSpPr>
              <p:nvPr>
                <p:ph idx="1"/>
              </p:nvPr>
            </p:nvSpPr>
            <p:spPr>
              <a:blipFill>
                <a:blip r:embed="rId2"/>
                <a:stretch>
                  <a:fillRect l="-812" t="-1961" b="-3501"/>
                </a:stretch>
              </a:blipFill>
            </p:spPr>
            <p:txBody>
              <a:bodyPr/>
              <a:lstStyle/>
              <a:p>
                <a:r>
                  <a:rPr lang="en-IN">
                    <a:noFill/>
                  </a:rPr>
                  <a:t> </a:t>
                </a:r>
              </a:p>
            </p:txBody>
          </p:sp>
        </mc:Fallback>
      </mc:AlternateContent>
    </p:spTree>
    <p:extLst>
      <p:ext uri="{BB962C8B-B14F-4D97-AF65-F5344CB8AC3E}">
        <p14:creationId xmlns:p14="http://schemas.microsoft.com/office/powerpoint/2010/main" val="1312927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5153-4C04-FBA4-AC11-9ED94DBEAC16}"/>
              </a:ext>
            </a:extLst>
          </p:cNvPr>
          <p:cNvSpPr>
            <a:spLocks noGrp="1"/>
          </p:cNvSpPr>
          <p:nvPr>
            <p:ph type="title"/>
          </p:nvPr>
        </p:nvSpPr>
        <p:spPr/>
        <p:txBody>
          <a:bodyPr/>
          <a:lstStyle/>
          <a:p>
            <a:r>
              <a:rPr lang="en-IN" b="1" dirty="0"/>
              <a:t>Gradient Descent for Linear Regression</a:t>
            </a:r>
            <a:endParaRPr lang="en-IN" dirty="0"/>
          </a:p>
        </p:txBody>
      </p:sp>
      <p:pic>
        <p:nvPicPr>
          <p:cNvPr id="6" name="Content Placeholder 5">
            <a:extLst>
              <a:ext uri="{FF2B5EF4-FFF2-40B4-BE49-F238E27FC236}">
                <a16:creationId xmlns:a16="http://schemas.microsoft.com/office/drawing/2014/main" id="{74F2C0E4-E38F-6CC8-E1CF-85485F11222E}"/>
              </a:ext>
            </a:extLst>
          </p:cNvPr>
          <p:cNvPicPr>
            <a:picLocks noGrp="1" noChangeAspect="1"/>
          </p:cNvPicPr>
          <p:nvPr>
            <p:ph sz="half" idx="1"/>
          </p:nvPr>
        </p:nvPicPr>
        <p:blipFill>
          <a:blip r:embed="rId2"/>
          <a:stretch>
            <a:fillRect/>
          </a:stretch>
        </p:blipFill>
        <p:spPr bwMode="auto">
          <a:xfrm>
            <a:off x="940550" y="1825625"/>
            <a:ext cx="497689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B79EE54F-E976-48C6-93BE-8682C01AEC95}"/>
              </a:ext>
            </a:extLst>
          </p:cNvPr>
          <p:cNvSpPr>
            <a:spLocks noGrp="1"/>
          </p:cNvSpPr>
          <p:nvPr>
            <p:ph sz="half" idx="2"/>
          </p:nvPr>
        </p:nvSpPr>
        <p:spPr/>
        <p:txBody>
          <a:bodyPr>
            <a:normAutofit/>
          </a:bodyPr>
          <a:lstStyle/>
          <a:p>
            <a:r>
              <a:rPr lang="en-US" sz="2400" dirty="0"/>
              <a:t>Gradient descent is an optimization technique used to train a linear regression model by minimizing the prediction error. </a:t>
            </a:r>
          </a:p>
          <a:p>
            <a:r>
              <a:rPr lang="en-US" sz="2400" dirty="0"/>
              <a:t>It works by starting with random model parameters and repeatedly adjusting them to reduce the difference between predicted and actual values.</a:t>
            </a:r>
          </a:p>
          <a:p>
            <a:endParaRPr lang="en-IN" sz="2400" dirty="0"/>
          </a:p>
        </p:txBody>
      </p:sp>
    </p:spTree>
    <p:extLst>
      <p:ext uri="{BB962C8B-B14F-4D97-AF65-F5344CB8AC3E}">
        <p14:creationId xmlns:p14="http://schemas.microsoft.com/office/powerpoint/2010/main" val="1121562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E0CE4B-FC22-3B3D-3055-1D59A0589BF4}"/>
              </a:ext>
            </a:extLst>
          </p:cNvPr>
          <p:cNvSpPr>
            <a:spLocks noGrp="1"/>
          </p:cNvSpPr>
          <p:nvPr>
            <p:ph type="title"/>
          </p:nvPr>
        </p:nvSpPr>
        <p:spPr/>
        <p:txBody>
          <a:bodyPr/>
          <a:lstStyle/>
          <a:p>
            <a:r>
              <a:rPr lang="en-IN" b="1" dirty="0"/>
              <a:t>Gradient Descent for Linear Regression</a:t>
            </a:r>
            <a:endParaRPr lang="en-IN" dirty="0"/>
          </a:p>
        </p:txBody>
      </p:sp>
      <p:sp>
        <p:nvSpPr>
          <p:cNvPr id="6" name="Content Placeholder 5">
            <a:extLst>
              <a:ext uri="{FF2B5EF4-FFF2-40B4-BE49-F238E27FC236}">
                <a16:creationId xmlns:a16="http://schemas.microsoft.com/office/drawing/2014/main" id="{6AA4905E-FB55-70CD-1481-A8942E36B3A6}"/>
              </a:ext>
            </a:extLst>
          </p:cNvPr>
          <p:cNvSpPr>
            <a:spLocks noGrp="1"/>
          </p:cNvSpPr>
          <p:nvPr>
            <p:ph idx="1"/>
          </p:nvPr>
        </p:nvSpPr>
        <p:spPr/>
        <p:txBody>
          <a:bodyPr/>
          <a:lstStyle/>
          <a:p>
            <a:pPr fontAlgn="base"/>
            <a:r>
              <a:rPr lang="en-US" dirty="0"/>
              <a:t>How it works:</a:t>
            </a:r>
          </a:p>
          <a:p>
            <a:pPr marL="514350" indent="-514350" fontAlgn="base">
              <a:buFont typeface="+mj-lt"/>
              <a:buAutoNum type="arabicPeriod"/>
            </a:pPr>
            <a:r>
              <a:rPr lang="en-US" sz="2400" dirty="0"/>
              <a:t>Start with random values for slope and intercept.</a:t>
            </a:r>
          </a:p>
          <a:p>
            <a:pPr marL="514350" indent="-514350" fontAlgn="base">
              <a:buFont typeface="+mj-lt"/>
              <a:buAutoNum type="arabicPeriod"/>
            </a:pPr>
            <a:r>
              <a:rPr lang="en-US" sz="2400" dirty="0"/>
              <a:t>Calculate the error between predicted and actual values.</a:t>
            </a:r>
          </a:p>
          <a:p>
            <a:pPr marL="514350" indent="-514350" fontAlgn="base">
              <a:buFont typeface="+mj-lt"/>
              <a:buAutoNum type="arabicPeriod"/>
            </a:pPr>
            <a:r>
              <a:rPr lang="en-US" sz="2400" dirty="0"/>
              <a:t>Find how much each parameter contributes to the error (gradient).</a:t>
            </a:r>
          </a:p>
          <a:p>
            <a:pPr marL="514350" indent="-514350" fontAlgn="base">
              <a:buFont typeface="+mj-lt"/>
              <a:buAutoNum type="arabicPeriod"/>
            </a:pPr>
            <a:r>
              <a:rPr lang="en-US" sz="2400" dirty="0"/>
              <a:t>Update the parameters in the direction that reduces the error.</a:t>
            </a:r>
          </a:p>
          <a:p>
            <a:pPr marL="514350" indent="-514350" fontAlgn="base">
              <a:buFont typeface="+mj-lt"/>
              <a:buAutoNum type="arabicPeriod"/>
            </a:pPr>
            <a:r>
              <a:rPr lang="en-US" sz="2400" dirty="0"/>
              <a:t>Repeat until the error is as small as possible.</a:t>
            </a:r>
          </a:p>
          <a:p>
            <a:pPr marL="514350" indent="-514350" fontAlgn="base">
              <a:buFont typeface="+mj-lt"/>
              <a:buAutoNum type="arabicPeriod"/>
            </a:pPr>
            <a:r>
              <a:rPr lang="en-US" sz="2400" dirty="0"/>
              <a:t>This helps the model find the best-fit line for the data.</a:t>
            </a:r>
          </a:p>
          <a:p>
            <a:endParaRPr lang="en-IN" dirty="0"/>
          </a:p>
        </p:txBody>
      </p:sp>
    </p:spTree>
    <p:extLst>
      <p:ext uri="{BB962C8B-B14F-4D97-AF65-F5344CB8AC3E}">
        <p14:creationId xmlns:p14="http://schemas.microsoft.com/office/powerpoint/2010/main" val="1484394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C9204-AB85-2BB1-B592-CDDBE3EFC2C5}"/>
              </a:ext>
            </a:extLst>
          </p:cNvPr>
          <p:cNvSpPr>
            <a:spLocks noGrp="1"/>
          </p:cNvSpPr>
          <p:nvPr>
            <p:ph type="title"/>
          </p:nvPr>
        </p:nvSpPr>
        <p:spPr>
          <a:xfrm>
            <a:off x="838200" y="365126"/>
            <a:ext cx="10515600" cy="837510"/>
          </a:xfrm>
        </p:spPr>
        <p:txBody>
          <a:bodyPr/>
          <a:lstStyle/>
          <a:p>
            <a:r>
              <a:rPr lang="en-IN" b="1" dirty="0"/>
              <a:t>Gradient Descent for Linear Regression</a:t>
            </a:r>
            <a:endParaRPr lang="en-IN" dirty="0"/>
          </a:p>
        </p:txBody>
      </p:sp>
      <p:pic>
        <p:nvPicPr>
          <p:cNvPr id="5" name="Content Placeholder 4">
            <a:extLst>
              <a:ext uri="{FF2B5EF4-FFF2-40B4-BE49-F238E27FC236}">
                <a16:creationId xmlns:a16="http://schemas.microsoft.com/office/drawing/2014/main" id="{8358ECE1-56DA-BD26-9938-5F12CB774D8A}"/>
              </a:ext>
            </a:extLst>
          </p:cNvPr>
          <p:cNvPicPr>
            <a:picLocks noGrp="1" noChangeAspect="1"/>
          </p:cNvPicPr>
          <p:nvPr>
            <p:ph idx="1"/>
          </p:nvPr>
        </p:nvPicPr>
        <p:blipFill>
          <a:blip r:embed="rId2"/>
          <a:stretch>
            <a:fillRect/>
          </a:stretch>
        </p:blipFill>
        <p:spPr>
          <a:xfrm>
            <a:off x="2032996" y="1253331"/>
            <a:ext cx="8265155" cy="4351338"/>
          </a:xfrm>
          <a:prstGeom prst="rect">
            <a:avLst/>
          </a:prstGeom>
        </p:spPr>
      </p:pic>
      <p:sp>
        <p:nvSpPr>
          <p:cNvPr id="7" name="TextBox 6">
            <a:extLst>
              <a:ext uri="{FF2B5EF4-FFF2-40B4-BE49-F238E27FC236}">
                <a16:creationId xmlns:a16="http://schemas.microsoft.com/office/drawing/2014/main" id="{B0976ADA-505C-C970-1BE3-4BFBCAE537DF}"/>
              </a:ext>
            </a:extLst>
          </p:cNvPr>
          <p:cNvSpPr txBox="1"/>
          <p:nvPr/>
        </p:nvSpPr>
        <p:spPr>
          <a:xfrm>
            <a:off x="921854" y="5842337"/>
            <a:ext cx="10846076" cy="1015663"/>
          </a:xfrm>
          <a:prstGeom prst="rect">
            <a:avLst/>
          </a:prstGeom>
          <a:noFill/>
        </p:spPr>
        <p:txBody>
          <a:bodyPr wrap="square">
            <a:spAutoFit/>
          </a:bodyPr>
          <a:lstStyle/>
          <a:p>
            <a:pPr algn="l"/>
            <a:r>
              <a:rPr lang="en-US" sz="2000" b="0" u="none" strike="noStrike" baseline="0" dirty="0"/>
              <a:t>In this depiction of Gradient Descent, the model parameters are initialized randomly and get tweaked repeatedly to minimize the cost function; the learning step size is proportional to the slope of the cost function, so the steps gradually get smaller as the parameters approach the minimum</a:t>
            </a:r>
            <a:endParaRPr lang="en-IN" sz="2000" dirty="0"/>
          </a:p>
        </p:txBody>
      </p:sp>
    </p:spTree>
    <p:extLst>
      <p:ext uri="{BB962C8B-B14F-4D97-AF65-F5344CB8AC3E}">
        <p14:creationId xmlns:p14="http://schemas.microsoft.com/office/powerpoint/2010/main" val="483112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DAAF-1475-B631-193C-82A0AB674314}"/>
              </a:ext>
            </a:extLst>
          </p:cNvPr>
          <p:cNvSpPr>
            <a:spLocks noGrp="1"/>
          </p:cNvSpPr>
          <p:nvPr>
            <p:ph type="title"/>
          </p:nvPr>
        </p:nvSpPr>
        <p:spPr/>
        <p:txBody>
          <a:bodyPr/>
          <a:lstStyle/>
          <a:p>
            <a:r>
              <a:rPr lang="en-IN" b="1" dirty="0"/>
              <a:t>Gradient Descent for Linear Regression</a:t>
            </a:r>
            <a:endParaRPr lang="en-IN" dirty="0"/>
          </a:p>
        </p:txBody>
      </p:sp>
      <p:sp>
        <p:nvSpPr>
          <p:cNvPr id="3" name="Content Placeholder 2">
            <a:extLst>
              <a:ext uri="{FF2B5EF4-FFF2-40B4-BE49-F238E27FC236}">
                <a16:creationId xmlns:a16="http://schemas.microsoft.com/office/drawing/2014/main" id="{D756500D-9B76-030B-682F-CE27211FFD53}"/>
              </a:ext>
            </a:extLst>
          </p:cNvPr>
          <p:cNvSpPr>
            <a:spLocks noGrp="1"/>
          </p:cNvSpPr>
          <p:nvPr>
            <p:ph idx="1"/>
          </p:nvPr>
        </p:nvSpPr>
        <p:spPr/>
        <p:txBody>
          <a:bodyPr>
            <a:normAutofit/>
          </a:bodyPr>
          <a:lstStyle/>
          <a:p>
            <a:r>
              <a:rPr lang="en-US" sz="2400" dirty="0"/>
              <a:t>An important parameter in Gradient Descent is the size of the steps, determined by the learning rate hyperparameter. </a:t>
            </a:r>
          </a:p>
          <a:p>
            <a:r>
              <a:rPr lang="en-US" sz="2400" dirty="0"/>
              <a:t>If the learning rate is too small, then the algorithm will have to go through many iterations to converge, which will take a long time</a:t>
            </a:r>
            <a:endParaRPr lang="en-IN" sz="2400" dirty="0"/>
          </a:p>
        </p:txBody>
      </p:sp>
      <p:pic>
        <p:nvPicPr>
          <p:cNvPr id="5" name="Picture 4">
            <a:extLst>
              <a:ext uri="{FF2B5EF4-FFF2-40B4-BE49-F238E27FC236}">
                <a16:creationId xmlns:a16="http://schemas.microsoft.com/office/drawing/2014/main" id="{D2F7A2D9-8900-A6EA-7473-0CBED511A7B2}"/>
              </a:ext>
            </a:extLst>
          </p:cNvPr>
          <p:cNvPicPr>
            <a:picLocks noChangeAspect="1"/>
          </p:cNvPicPr>
          <p:nvPr/>
        </p:nvPicPr>
        <p:blipFill>
          <a:blip r:embed="rId2"/>
          <a:stretch>
            <a:fillRect/>
          </a:stretch>
        </p:blipFill>
        <p:spPr>
          <a:xfrm>
            <a:off x="4568452" y="3331544"/>
            <a:ext cx="6404349" cy="3372433"/>
          </a:xfrm>
          <a:prstGeom prst="rect">
            <a:avLst/>
          </a:prstGeom>
        </p:spPr>
      </p:pic>
    </p:spTree>
    <p:extLst>
      <p:ext uri="{BB962C8B-B14F-4D97-AF65-F5344CB8AC3E}">
        <p14:creationId xmlns:p14="http://schemas.microsoft.com/office/powerpoint/2010/main" val="327888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FF26-5B1C-0A30-359E-651AAF0D44DB}"/>
              </a:ext>
            </a:extLst>
          </p:cNvPr>
          <p:cNvSpPr>
            <a:spLocks noGrp="1"/>
          </p:cNvSpPr>
          <p:nvPr>
            <p:ph type="title"/>
          </p:nvPr>
        </p:nvSpPr>
        <p:spPr/>
        <p:txBody>
          <a:bodyPr/>
          <a:lstStyle/>
          <a:p>
            <a:r>
              <a:rPr lang="en-IN" b="1" dirty="0"/>
              <a:t>Gradient Descent for Linear Regression</a:t>
            </a:r>
            <a:endParaRPr lang="en-IN" dirty="0"/>
          </a:p>
        </p:txBody>
      </p:sp>
      <p:sp>
        <p:nvSpPr>
          <p:cNvPr id="3" name="Content Placeholder 2">
            <a:extLst>
              <a:ext uri="{FF2B5EF4-FFF2-40B4-BE49-F238E27FC236}">
                <a16:creationId xmlns:a16="http://schemas.microsoft.com/office/drawing/2014/main" id="{9B1593AE-6E88-F3E7-CDFE-EE1ED127BCA2}"/>
              </a:ext>
            </a:extLst>
          </p:cNvPr>
          <p:cNvSpPr>
            <a:spLocks noGrp="1"/>
          </p:cNvSpPr>
          <p:nvPr>
            <p:ph idx="1"/>
          </p:nvPr>
        </p:nvSpPr>
        <p:spPr>
          <a:xfrm>
            <a:off x="838200" y="1500809"/>
            <a:ext cx="10515600" cy="4676154"/>
          </a:xfrm>
        </p:spPr>
        <p:txBody>
          <a:bodyPr>
            <a:normAutofit/>
          </a:bodyPr>
          <a:lstStyle/>
          <a:p>
            <a:r>
              <a:rPr lang="en-US" sz="2400" dirty="0"/>
              <a:t>If the learning rate is too high, you might jump across the valley and end up on the other side, possibly even higher up than you were before. This might make the algorithm diverge, with larger and larger values, failing to find a good </a:t>
            </a:r>
            <a:r>
              <a:rPr lang="en-IN" sz="2400" dirty="0"/>
              <a:t>solution</a:t>
            </a:r>
          </a:p>
        </p:txBody>
      </p:sp>
      <p:pic>
        <p:nvPicPr>
          <p:cNvPr id="5" name="Picture 4">
            <a:extLst>
              <a:ext uri="{FF2B5EF4-FFF2-40B4-BE49-F238E27FC236}">
                <a16:creationId xmlns:a16="http://schemas.microsoft.com/office/drawing/2014/main" id="{78D22C43-5A55-3232-EC5B-39AFDFB94F7F}"/>
              </a:ext>
            </a:extLst>
          </p:cNvPr>
          <p:cNvPicPr>
            <a:picLocks noChangeAspect="1"/>
          </p:cNvPicPr>
          <p:nvPr/>
        </p:nvPicPr>
        <p:blipFill>
          <a:blip r:embed="rId2"/>
          <a:stretch>
            <a:fillRect/>
          </a:stretch>
        </p:blipFill>
        <p:spPr>
          <a:xfrm>
            <a:off x="3105112" y="2826372"/>
            <a:ext cx="6588338" cy="3470346"/>
          </a:xfrm>
          <a:prstGeom prst="rect">
            <a:avLst/>
          </a:prstGeom>
        </p:spPr>
      </p:pic>
    </p:spTree>
    <p:extLst>
      <p:ext uri="{BB962C8B-B14F-4D97-AF65-F5344CB8AC3E}">
        <p14:creationId xmlns:p14="http://schemas.microsoft.com/office/powerpoint/2010/main" val="2288557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EB30-786C-E7D6-4202-3C409DB44D1B}"/>
              </a:ext>
            </a:extLst>
          </p:cNvPr>
          <p:cNvSpPr>
            <a:spLocks noGrp="1"/>
          </p:cNvSpPr>
          <p:nvPr>
            <p:ph type="title"/>
          </p:nvPr>
        </p:nvSpPr>
        <p:spPr/>
        <p:txBody>
          <a:bodyPr/>
          <a:lstStyle/>
          <a:p>
            <a:r>
              <a:rPr lang="en-US" b="1" dirty="0"/>
              <a:t>Two main challenges with Gradient Descent</a:t>
            </a:r>
            <a:endParaRPr lang="en-IN" b="1" dirty="0"/>
          </a:p>
        </p:txBody>
      </p:sp>
      <p:sp>
        <p:nvSpPr>
          <p:cNvPr id="3" name="Content Placeholder 2">
            <a:extLst>
              <a:ext uri="{FF2B5EF4-FFF2-40B4-BE49-F238E27FC236}">
                <a16:creationId xmlns:a16="http://schemas.microsoft.com/office/drawing/2014/main" id="{57E4477E-9559-86E4-B79B-68F5FDEC3EAC}"/>
              </a:ext>
            </a:extLst>
          </p:cNvPr>
          <p:cNvSpPr>
            <a:spLocks noGrp="1"/>
          </p:cNvSpPr>
          <p:nvPr>
            <p:ph idx="1"/>
          </p:nvPr>
        </p:nvSpPr>
        <p:spPr>
          <a:xfrm>
            <a:off x="838200" y="1690688"/>
            <a:ext cx="10515600" cy="4486275"/>
          </a:xfrm>
        </p:spPr>
        <p:txBody>
          <a:bodyPr>
            <a:normAutofit/>
          </a:bodyPr>
          <a:lstStyle/>
          <a:p>
            <a:pPr marL="514350" indent="-514350">
              <a:buFont typeface="+mj-lt"/>
              <a:buAutoNum type="arabicPeriod"/>
            </a:pPr>
            <a:r>
              <a:rPr lang="en-IN" sz="2400" dirty="0"/>
              <a:t>If the random </a:t>
            </a:r>
            <a:r>
              <a:rPr lang="en-US" sz="2400" dirty="0"/>
              <a:t>initialization starts the algorithm on the left, then it will converge to a local minimum, which is not as good as the global minimum. </a:t>
            </a:r>
          </a:p>
          <a:p>
            <a:pPr marL="514350" indent="-514350">
              <a:buFont typeface="+mj-lt"/>
              <a:buAutoNum type="arabicPeriod"/>
            </a:pPr>
            <a:r>
              <a:rPr lang="en-US" sz="2400" dirty="0"/>
              <a:t>If it starts on the right, then it will take a very long time to cross the plateau. And if you stop too early, you will never reach the global minimum.</a:t>
            </a:r>
            <a:endParaRPr lang="en-IN" sz="2400" dirty="0"/>
          </a:p>
        </p:txBody>
      </p:sp>
      <p:pic>
        <p:nvPicPr>
          <p:cNvPr id="5" name="Picture 4">
            <a:extLst>
              <a:ext uri="{FF2B5EF4-FFF2-40B4-BE49-F238E27FC236}">
                <a16:creationId xmlns:a16="http://schemas.microsoft.com/office/drawing/2014/main" id="{3F1D93A9-4BA6-826A-6030-77CEDC0884DF}"/>
              </a:ext>
            </a:extLst>
          </p:cNvPr>
          <p:cNvPicPr>
            <a:picLocks noChangeAspect="1"/>
          </p:cNvPicPr>
          <p:nvPr/>
        </p:nvPicPr>
        <p:blipFill>
          <a:blip r:embed="rId2"/>
          <a:stretch>
            <a:fillRect/>
          </a:stretch>
        </p:blipFill>
        <p:spPr>
          <a:xfrm>
            <a:off x="2879625" y="3446432"/>
            <a:ext cx="6145106" cy="3441760"/>
          </a:xfrm>
          <a:prstGeom prst="rect">
            <a:avLst/>
          </a:prstGeom>
        </p:spPr>
      </p:pic>
    </p:spTree>
    <p:extLst>
      <p:ext uri="{BB962C8B-B14F-4D97-AF65-F5344CB8AC3E}">
        <p14:creationId xmlns:p14="http://schemas.microsoft.com/office/powerpoint/2010/main" val="3917320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94AAD-C968-7670-DF6A-959F365FDFD1}"/>
              </a:ext>
            </a:extLst>
          </p:cNvPr>
          <p:cNvSpPr>
            <a:spLocks noGrp="1"/>
          </p:cNvSpPr>
          <p:nvPr>
            <p:ph type="title"/>
          </p:nvPr>
        </p:nvSpPr>
        <p:spPr>
          <a:xfrm>
            <a:off x="838200" y="365125"/>
            <a:ext cx="10515600" cy="986597"/>
          </a:xfrm>
        </p:spPr>
        <p:txBody>
          <a:bodyPr>
            <a:normAutofit fontScale="90000"/>
          </a:bodyPr>
          <a:lstStyle/>
          <a:p>
            <a:r>
              <a:rPr lang="en-US" b="1" dirty="0"/>
              <a:t>Gradient Descent with (left) and without (right) feature scaling</a:t>
            </a:r>
            <a:endParaRPr lang="en-IN" b="1" dirty="0"/>
          </a:p>
        </p:txBody>
      </p:sp>
      <p:pic>
        <p:nvPicPr>
          <p:cNvPr id="7" name="Content Placeholder 6">
            <a:extLst>
              <a:ext uri="{FF2B5EF4-FFF2-40B4-BE49-F238E27FC236}">
                <a16:creationId xmlns:a16="http://schemas.microsoft.com/office/drawing/2014/main" id="{7F6D353C-0751-6A4B-E40D-21F73A478EBA}"/>
              </a:ext>
            </a:extLst>
          </p:cNvPr>
          <p:cNvPicPr>
            <a:picLocks noGrp="1" noChangeAspect="1"/>
          </p:cNvPicPr>
          <p:nvPr>
            <p:ph idx="1"/>
          </p:nvPr>
        </p:nvPicPr>
        <p:blipFill>
          <a:blip r:embed="rId2"/>
          <a:stretch>
            <a:fillRect/>
          </a:stretch>
        </p:blipFill>
        <p:spPr>
          <a:xfrm>
            <a:off x="981488" y="1351722"/>
            <a:ext cx="9412013" cy="3439005"/>
          </a:xfrm>
          <a:prstGeom prst="rect">
            <a:avLst/>
          </a:prstGeom>
        </p:spPr>
      </p:pic>
      <p:sp>
        <p:nvSpPr>
          <p:cNvPr id="9" name="TextBox 8">
            <a:extLst>
              <a:ext uri="{FF2B5EF4-FFF2-40B4-BE49-F238E27FC236}">
                <a16:creationId xmlns:a16="http://schemas.microsoft.com/office/drawing/2014/main" id="{562B9DA9-1783-28EA-F99C-CAEC5DE8F4F6}"/>
              </a:ext>
            </a:extLst>
          </p:cNvPr>
          <p:cNvSpPr txBox="1"/>
          <p:nvPr/>
        </p:nvSpPr>
        <p:spPr>
          <a:xfrm>
            <a:off x="838200" y="4900543"/>
            <a:ext cx="10587659" cy="1938992"/>
          </a:xfrm>
          <a:prstGeom prst="rect">
            <a:avLst/>
          </a:prstGeom>
          <a:noFill/>
        </p:spPr>
        <p:txBody>
          <a:bodyPr wrap="square">
            <a:spAutoFit/>
          </a:bodyPr>
          <a:lstStyle/>
          <a:p>
            <a:pPr marL="342900" indent="-342900" algn="l">
              <a:buFont typeface="Arial" panose="020B0604020202020204" pitchFamily="34" charset="0"/>
              <a:buChar char="•"/>
            </a:pPr>
            <a:r>
              <a:rPr lang="fr-FR" sz="2000" b="0" i="0" u="none" strike="noStrike" baseline="0" dirty="0"/>
              <a:t>Gradient </a:t>
            </a:r>
            <a:r>
              <a:rPr lang="fr-FR" sz="2000" b="0" i="0" u="none" strike="noStrike" baseline="0" dirty="0" err="1"/>
              <a:t>Descent</a:t>
            </a:r>
            <a:r>
              <a:rPr lang="fr-FR" sz="2000" b="0" i="0" u="none" strike="noStrike" baseline="0" dirty="0"/>
              <a:t> on a training </a:t>
            </a:r>
            <a:r>
              <a:rPr lang="en-US" sz="2000" b="0" i="0" u="none" strike="noStrike" baseline="0" dirty="0"/>
              <a:t>set where features 1 and 2 have the same scale (on the left), and on a training set where feature 1 has much smaller values than feature 2 (on the right).</a:t>
            </a:r>
          </a:p>
          <a:p>
            <a:pPr marL="342900" indent="-342900" algn="l">
              <a:buFont typeface="Arial" panose="020B0604020202020204" pitchFamily="34" charset="0"/>
              <a:buChar char="•"/>
            </a:pPr>
            <a:r>
              <a:rPr lang="en-US" sz="2000" dirty="0"/>
              <a:t>On the left the Gradient Descent algorithm goes straight toward the minimum, thereby reaching it quickly, whereas on the right it first goes in a direction almost orthogonal to the direction of the global minimum, and it ends with a long march down an almost flat valley. It will eventually reach the minimum, but it will </a:t>
            </a:r>
            <a:r>
              <a:rPr lang="en-IN" sz="2000" dirty="0"/>
              <a:t>take a long time.</a:t>
            </a:r>
          </a:p>
        </p:txBody>
      </p:sp>
    </p:spTree>
    <p:extLst>
      <p:ext uri="{BB962C8B-B14F-4D97-AF65-F5344CB8AC3E}">
        <p14:creationId xmlns:p14="http://schemas.microsoft.com/office/powerpoint/2010/main" val="1444480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A0649-C779-0B25-D3C3-5910790FA63B}"/>
              </a:ext>
            </a:extLst>
          </p:cNvPr>
          <p:cNvSpPr>
            <a:spLocks noGrp="1"/>
          </p:cNvSpPr>
          <p:nvPr>
            <p:ph type="title"/>
          </p:nvPr>
        </p:nvSpPr>
        <p:spPr/>
        <p:txBody>
          <a:bodyPr/>
          <a:lstStyle/>
          <a:p>
            <a:r>
              <a:rPr lang="en-US" b="1" dirty="0"/>
              <a:t>Gradient Descent with various learning rates</a:t>
            </a:r>
            <a:endParaRPr lang="en-IN" b="1" dirty="0"/>
          </a:p>
        </p:txBody>
      </p:sp>
      <p:pic>
        <p:nvPicPr>
          <p:cNvPr id="5" name="Content Placeholder 4">
            <a:extLst>
              <a:ext uri="{FF2B5EF4-FFF2-40B4-BE49-F238E27FC236}">
                <a16:creationId xmlns:a16="http://schemas.microsoft.com/office/drawing/2014/main" id="{D53F5F47-A2A8-E6E7-CAF0-B9C158400629}"/>
              </a:ext>
            </a:extLst>
          </p:cNvPr>
          <p:cNvPicPr>
            <a:picLocks noGrp="1" noChangeAspect="1"/>
          </p:cNvPicPr>
          <p:nvPr>
            <p:ph idx="1"/>
          </p:nvPr>
        </p:nvPicPr>
        <p:blipFill>
          <a:blip r:embed="rId2"/>
          <a:stretch>
            <a:fillRect/>
          </a:stretch>
        </p:blipFill>
        <p:spPr>
          <a:xfrm>
            <a:off x="738809" y="1413012"/>
            <a:ext cx="10515600" cy="4031976"/>
          </a:xfrm>
          <a:prstGeom prst="rect">
            <a:avLst/>
          </a:prstGeom>
        </p:spPr>
      </p:pic>
      <p:sp>
        <p:nvSpPr>
          <p:cNvPr id="7" name="TextBox 6">
            <a:extLst>
              <a:ext uri="{FF2B5EF4-FFF2-40B4-BE49-F238E27FC236}">
                <a16:creationId xmlns:a16="http://schemas.microsoft.com/office/drawing/2014/main" id="{667E6943-BD1C-C930-1DF9-02FAE2E176CC}"/>
              </a:ext>
            </a:extLst>
          </p:cNvPr>
          <p:cNvSpPr txBox="1"/>
          <p:nvPr/>
        </p:nvSpPr>
        <p:spPr>
          <a:xfrm>
            <a:off x="487017" y="5444988"/>
            <a:ext cx="11261035" cy="1323439"/>
          </a:xfrm>
          <a:prstGeom prst="rect">
            <a:avLst/>
          </a:prstGeom>
          <a:noFill/>
        </p:spPr>
        <p:txBody>
          <a:bodyPr wrap="square">
            <a:spAutoFit/>
          </a:bodyPr>
          <a:lstStyle/>
          <a:p>
            <a:pPr algn="l"/>
            <a:r>
              <a:rPr lang="en-US" sz="2000" b="0" i="0" u="none" strike="noStrike" baseline="0" dirty="0"/>
              <a:t>On the left, the learning rate is too low: the algorithm will eventually reach the solution, but it will take a long time. In the middle, the learning rate looks pretty good: in just a few iterations, it has already converged to the solution. On the right, the learning rate is too high: the algorithm diverges, jumping all over the place and actually getting further and further away from the solution at every step.</a:t>
            </a:r>
            <a:endParaRPr lang="en-IN" sz="2000" dirty="0"/>
          </a:p>
        </p:txBody>
      </p:sp>
    </p:spTree>
    <p:extLst>
      <p:ext uri="{BB962C8B-B14F-4D97-AF65-F5344CB8AC3E}">
        <p14:creationId xmlns:p14="http://schemas.microsoft.com/office/powerpoint/2010/main" val="2226606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B06E-5394-E269-69DB-FBC075213817}"/>
              </a:ext>
            </a:extLst>
          </p:cNvPr>
          <p:cNvSpPr>
            <a:spLocks noGrp="1"/>
          </p:cNvSpPr>
          <p:nvPr>
            <p:ph type="title"/>
          </p:nvPr>
        </p:nvSpPr>
        <p:spPr/>
        <p:txBody>
          <a:bodyPr/>
          <a:lstStyle/>
          <a:p>
            <a:r>
              <a:rPr lang="en-IN" b="1" dirty="0"/>
              <a:t>Type of Gradient Descent</a:t>
            </a:r>
          </a:p>
        </p:txBody>
      </p:sp>
      <p:sp>
        <p:nvSpPr>
          <p:cNvPr id="3" name="Content Placeholder 2">
            <a:extLst>
              <a:ext uri="{FF2B5EF4-FFF2-40B4-BE49-F238E27FC236}">
                <a16:creationId xmlns:a16="http://schemas.microsoft.com/office/drawing/2014/main" id="{B46C3263-D7B1-7060-9952-A69B7509FDC1}"/>
              </a:ext>
            </a:extLst>
          </p:cNvPr>
          <p:cNvSpPr>
            <a:spLocks noGrp="1"/>
          </p:cNvSpPr>
          <p:nvPr>
            <p:ph idx="1"/>
          </p:nvPr>
        </p:nvSpPr>
        <p:spPr/>
        <p:txBody>
          <a:bodyPr/>
          <a:lstStyle/>
          <a:p>
            <a:pPr marL="514350" indent="-514350">
              <a:buFont typeface="+mj-lt"/>
              <a:buAutoNum type="arabicPeriod"/>
            </a:pPr>
            <a:r>
              <a:rPr lang="fr-FR" dirty="0"/>
              <a:t>Batch Gradient </a:t>
            </a:r>
            <a:r>
              <a:rPr lang="fr-FR" dirty="0" err="1"/>
              <a:t>Descent</a:t>
            </a:r>
            <a:endParaRPr lang="fr-FR" dirty="0"/>
          </a:p>
          <a:p>
            <a:pPr marL="514350" indent="-514350">
              <a:buFont typeface="+mj-lt"/>
              <a:buAutoNum type="arabicPeriod"/>
            </a:pPr>
            <a:r>
              <a:rPr lang="fr-FR" dirty="0" err="1"/>
              <a:t>Stochastic</a:t>
            </a:r>
            <a:r>
              <a:rPr lang="fr-FR" dirty="0"/>
              <a:t> Gradient </a:t>
            </a:r>
            <a:r>
              <a:rPr lang="fr-FR" dirty="0" err="1"/>
              <a:t>Descent</a:t>
            </a:r>
            <a:endParaRPr lang="fr-FR" dirty="0"/>
          </a:p>
          <a:p>
            <a:pPr marL="514350" indent="-514350">
              <a:buFont typeface="+mj-lt"/>
              <a:buAutoNum type="arabicPeriod"/>
            </a:pPr>
            <a:r>
              <a:rPr lang="fr-FR" dirty="0"/>
              <a:t>Mini-batch Gradient </a:t>
            </a:r>
            <a:r>
              <a:rPr lang="fr-FR" dirty="0" err="1"/>
              <a:t>Descent</a:t>
            </a:r>
            <a:r>
              <a:rPr lang="fr-FR" dirty="0"/>
              <a:t> </a:t>
            </a:r>
            <a:endParaRPr lang="en-IN" dirty="0"/>
          </a:p>
        </p:txBody>
      </p:sp>
    </p:spTree>
    <p:extLst>
      <p:ext uri="{BB962C8B-B14F-4D97-AF65-F5344CB8AC3E}">
        <p14:creationId xmlns:p14="http://schemas.microsoft.com/office/powerpoint/2010/main" val="1741993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E14E-B4C0-A1FA-CD12-533053C2DFB9}"/>
              </a:ext>
            </a:extLst>
          </p:cNvPr>
          <p:cNvSpPr>
            <a:spLocks noGrp="1"/>
          </p:cNvSpPr>
          <p:nvPr>
            <p:ph type="title"/>
          </p:nvPr>
        </p:nvSpPr>
        <p:spPr/>
        <p:txBody>
          <a:bodyPr/>
          <a:lstStyle/>
          <a:p>
            <a:r>
              <a:rPr lang="en-IN" b="1" dirty="0"/>
              <a:t>Batch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210221-E68E-FC76-7054-30ED07C3F84A}"/>
                  </a:ext>
                </a:extLst>
              </p:cNvPr>
              <p:cNvSpPr>
                <a:spLocks noGrp="1"/>
              </p:cNvSpPr>
              <p:nvPr>
                <p:ph idx="1"/>
              </p:nvPr>
            </p:nvSpPr>
            <p:spPr/>
            <p:txBody>
              <a:bodyPr>
                <a:normAutofit/>
              </a:bodyPr>
              <a:lstStyle/>
              <a:p>
                <a:r>
                  <a:rPr lang="en-US" sz="2400" dirty="0"/>
                  <a:t>Batch Gradient Descent is an optimization algorithm used to minimize a cost (loss) function by updating model parameters using the </a:t>
                </a:r>
                <a:r>
                  <a:rPr lang="en-US" sz="2400" b="1" dirty="0"/>
                  <a:t>entire training dataset</a:t>
                </a:r>
                <a:r>
                  <a:rPr lang="en-US" sz="2400" dirty="0"/>
                  <a:t> in each iteration.</a:t>
                </a:r>
              </a:p>
              <a:p>
                <a:r>
                  <a:rPr lang="en-US" sz="2400" b="1" dirty="0"/>
                  <a:t>How it works:</a:t>
                </a:r>
                <a:endParaRPr lang="en-US" sz="2400" dirty="0"/>
              </a:p>
              <a:p>
                <a:pPr lvl="1"/>
                <a:r>
                  <a:rPr lang="en-US" sz="2000" dirty="0"/>
                  <a:t>Compute the loss over all training examples.</a:t>
                </a:r>
              </a:p>
              <a:p>
                <a:pPr lvl="1"/>
                <a:r>
                  <a:rPr lang="en-US" sz="2000" dirty="0"/>
                  <a:t>Calculate the gradient of the loss with respect to parameters.</a:t>
                </a:r>
              </a:p>
              <a:p>
                <a:pPr lvl="1"/>
                <a:r>
                  <a:rPr lang="en-US" sz="2000" dirty="0"/>
                  <a:t>Update parameters in the opposite direction of the gradient.</a:t>
                </a:r>
              </a:p>
              <a:p>
                <a:pPr lvl="1"/>
                <a:r>
                  <a:rPr lang="en-US" sz="2000" dirty="0"/>
                  <a:t>Repeat until convergence.</a:t>
                </a:r>
              </a:p>
              <a:p>
                <a:r>
                  <a:rPr lang="en-IN" sz="2400" b="1" dirty="0"/>
                  <a:t>Update rule:</a:t>
                </a:r>
                <a:endParaRPr lang="en-IN" sz="2400" dirty="0"/>
              </a:p>
              <a:p>
                <a:pPr marL="0" indent="0">
                  <a:buNone/>
                </a:pPr>
                <a:endParaRPr lang="ar-AE" sz="2400" b="0" dirty="0"/>
              </a:p>
              <a:p>
                <a:r>
                  <a:rPr lang="en-IN" sz="2400" dirty="0"/>
                  <a:t>where </a:t>
                </a:r>
                <a14:m>
                  <m:oMath xmlns:m="http://schemas.openxmlformats.org/officeDocument/2006/math">
                    <m:r>
                      <a:rPr lang="en-IN" sz="2400" i="1">
                        <a:latin typeface="Cambria Math" panose="02040503050406030204" pitchFamily="18" charset="0"/>
                      </a:rPr>
                      <m:t>𝜂</m:t>
                    </m:r>
                  </m:oMath>
                </a14:m>
                <a:r>
                  <a:rPr lang="en-IN" sz="2400" dirty="0"/>
                  <a:t>is the learning rate and </a:t>
                </a:r>
                <a14:m>
                  <m:oMath xmlns:m="http://schemas.openxmlformats.org/officeDocument/2006/math">
                    <m:r>
                      <m:rPr>
                        <m:sty m:val="p"/>
                      </m:rPr>
                      <a:rPr lang="en-IN" sz="2400" b="0" i="0" smtClean="0">
                        <a:latin typeface="Cambria Math" panose="02040503050406030204" pitchFamily="18" charset="0"/>
                      </a:rPr>
                      <m:t>MSE</m:t>
                    </m:r>
                    <m:d>
                      <m:dPr>
                        <m:ctrlPr>
                          <a:rPr lang="ar-AE" sz="2400" i="1">
                            <a:latin typeface="Cambria Math" panose="02040503050406030204" pitchFamily="18" charset="0"/>
                          </a:rPr>
                        </m:ctrlPr>
                      </m:dPr>
                      <m:e>
                        <m:r>
                          <a:rPr lang="ar-AE" sz="2400" i="1">
                            <a:latin typeface="Cambria Math" panose="02040503050406030204" pitchFamily="18" charset="0"/>
                          </a:rPr>
                          <m:t>𝜃</m:t>
                        </m:r>
                      </m:e>
                    </m:d>
                  </m:oMath>
                </a14:m>
                <a:r>
                  <a:rPr lang="en-IN" sz="2400" dirty="0"/>
                  <a:t>is the cost function.</a:t>
                </a:r>
                <a:endParaRPr lang="en-US" dirty="0"/>
              </a:p>
              <a:p>
                <a:endParaRPr lang="en-IN" sz="2400" dirty="0"/>
              </a:p>
            </p:txBody>
          </p:sp>
        </mc:Choice>
        <mc:Fallback xmlns="">
          <p:sp>
            <p:nvSpPr>
              <p:cNvPr id="3" name="Content Placeholder 2">
                <a:extLst>
                  <a:ext uri="{FF2B5EF4-FFF2-40B4-BE49-F238E27FC236}">
                    <a16:creationId xmlns:a16="http://schemas.microsoft.com/office/drawing/2014/main" id="{70210221-E68E-FC76-7054-30ED07C3F84A}"/>
                  </a:ext>
                </a:extLst>
              </p:cNvPr>
              <p:cNvSpPr>
                <a:spLocks noGrp="1" noRot="1" noChangeAspect="1" noMove="1" noResize="1" noEditPoints="1" noAdjustHandles="1" noChangeArrowheads="1" noChangeShapeType="1" noTextEdit="1"/>
              </p:cNvSpPr>
              <p:nvPr>
                <p:ph idx="1"/>
              </p:nvPr>
            </p:nvSpPr>
            <p:spPr>
              <a:blipFill>
                <a:blip r:embed="rId2"/>
                <a:stretch>
                  <a:fillRect l="-812" t="-1961" r="-696" b="-980"/>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8D307451-7B2C-8590-C22F-5077785AEC6D}"/>
              </a:ext>
            </a:extLst>
          </p:cNvPr>
          <p:cNvPicPr>
            <a:picLocks noChangeAspect="1"/>
          </p:cNvPicPr>
          <p:nvPr/>
        </p:nvPicPr>
        <p:blipFill>
          <a:blip r:embed="rId3"/>
          <a:stretch>
            <a:fillRect/>
          </a:stretch>
        </p:blipFill>
        <p:spPr>
          <a:xfrm>
            <a:off x="4611670" y="4698667"/>
            <a:ext cx="4201111" cy="800212"/>
          </a:xfrm>
          <a:prstGeom prst="rect">
            <a:avLst/>
          </a:prstGeom>
        </p:spPr>
      </p:pic>
    </p:spTree>
    <p:extLst>
      <p:ext uri="{BB962C8B-B14F-4D97-AF65-F5344CB8AC3E}">
        <p14:creationId xmlns:p14="http://schemas.microsoft.com/office/powerpoint/2010/main" val="554165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593DF-ADB6-A939-F2C5-35F8BA2BF22E}"/>
              </a:ext>
            </a:extLst>
          </p:cNvPr>
          <p:cNvSpPr>
            <a:spLocks noGrp="1"/>
          </p:cNvSpPr>
          <p:nvPr>
            <p:ph type="title"/>
          </p:nvPr>
        </p:nvSpPr>
        <p:spPr/>
        <p:txBody>
          <a:bodyPr/>
          <a:lstStyle/>
          <a:p>
            <a:r>
              <a:rPr lang="en-IN" b="1" dirty="0"/>
              <a:t>Batch Gradient Descent</a:t>
            </a:r>
            <a:endParaRPr lang="en-IN" dirty="0"/>
          </a:p>
        </p:txBody>
      </p:sp>
      <p:pic>
        <p:nvPicPr>
          <p:cNvPr id="5" name="Content Placeholder 4">
            <a:extLst>
              <a:ext uri="{FF2B5EF4-FFF2-40B4-BE49-F238E27FC236}">
                <a16:creationId xmlns:a16="http://schemas.microsoft.com/office/drawing/2014/main" id="{540EE3BB-C948-C533-E777-61E72B046111}"/>
              </a:ext>
            </a:extLst>
          </p:cNvPr>
          <p:cNvPicPr>
            <a:picLocks noGrp="1" noChangeAspect="1"/>
          </p:cNvPicPr>
          <p:nvPr>
            <p:ph idx="1"/>
          </p:nvPr>
        </p:nvPicPr>
        <p:blipFill>
          <a:blip r:embed="rId2"/>
          <a:stretch>
            <a:fillRect/>
          </a:stretch>
        </p:blipFill>
        <p:spPr>
          <a:xfrm>
            <a:off x="2569425" y="1825625"/>
            <a:ext cx="7053149" cy="4351338"/>
          </a:xfrm>
          <a:prstGeom prst="rect">
            <a:avLst/>
          </a:prstGeom>
        </p:spPr>
      </p:pic>
    </p:spTree>
    <p:extLst>
      <p:ext uri="{BB962C8B-B14F-4D97-AF65-F5344CB8AC3E}">
        <p14:creationId xmlns:p14="http://schemas.microsoft.com/office/powerpoint/2010/main" val="1839851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9D6CE-2B1B-D7A1-D086-B5D13CDE73B1}"/>
              </a:ext>
            </a:extLst>
          </p:cNvPr>
          <p:cNvSpPr>
            <a:spLocks noGrp="1"/>
          </p:cNvSpPr>
          <p:nvPr>
            <p:ph type="title"/>
          </p:nvPr>
        </p:nvSpPr>
        <p:spPr/>
        <p:txBody>
          <a:bodyPr/>
          <a:lstStyle/>
          <a:p>
            <a:r>
              <a:rPr lang="en-IN" b="1" dirty="0"/>
              <a:t>Batch Gradient Descent</a:t>
            </a:r>
            <a:endParaRPr lang="en-IN" dirty="0"/>
          </a:p>
        </p:txBody>
      </p:sp>
      <p:sp>
        <p:nvSpPr>
          <p:cNvPr id="3" name="Content Placeholder 2">
            <a:extLst>
              <a:ext uri="{FF2B5EF4-FFF2-40B4-BE49-F238E27FC236}">
                <a16:creationId xmlns:a16="http://schemas.microsoft.com/office/drawing/2014/main" id="{3575719F-F09F-2FBF-BD3E-99BE2F158DAC}"/>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b="1" dirty="0"/>
              <a:t>Advantages:</a:t>
            </a:r>
            <a:endParaRPr lang="en-US" altLang="en-US" dirty="0"/>
          </a:p>
          <a:p>
            <a:pPr marL="457200" lvl="1" indent="0" eaLnBrk="0" fontAlgn="base" hangingPunct="0">
              <a:lnSpc>
                <a:spcPct val="100000"/>
              </a:lnSpc>
              <a:spcBef>
                <a:spcPct val="0"/>
              </a:spcBef>
              <a:spcAft>
                <a:spcPct val="0"/>
              </a:spcAft>
              <a:buFontTx/>
              <a:buChar char="•"/>
            </a:pPr>
            <a:r>
              <a:rPr lang="en-US" altLang="en-US" dirty="0"/>
              <a:t>Stable and smooth convergence.</a:t>
            </a:r>
          </a:p>
          <a:p>
            <a:pPr marL="457200" lvl="1" indent="0" eaLnBrk="0" fontAlgn="base" hangingPunct="0">
              <a:lnSpc>
                <a:spcPct val="100000"/>
              </a:lnSpc>
              <a:spcBef>
                <a:spcPct val="0"/>
              </a:spcBef>
              <a:spcAft>
                <a:spcPct val="0"/>
              </a:spcAft>
              <a:buFontTx/>
              <a:buChar char="•"/>
            </a:pPr>
            <a:r>
              <a:rPr lang="en-US" altLang="en-US" dirty="0"/>
              <a:t>Deterministic updates (same result for same data and learning rate).</a:t>
            </a:r>
          </a:p>
          <a:p>
            <a:pPr marL="457200" lvl="1" indent="0" eaLnBrk="0" fontAlgn="base" hangingPunct="0">
              <a:lnSpc>
                <a:spcPct val="100000"/>
              </a:lnSpc>
              <a:spcBef>
                <a:spcPct val="0"/>
              </a:spcBef>
              <a:spcAft>
                <a:spcPct val="0"/>
              </a:spcAft>
              <a:buFontTx/>
              <a:buChar char="•"/>
            </a:pPr>
            <a:r>
              <a:rPr lang="en-US" altLang="en-US" dirty="0"/>
              <a:t>Suitable for </a:t>
            </a:r>
            <a:r>
              <a:rPr lang="en-US" altLang="en-US" b="1" dirty="0"/>
              <a:t>small to medium-sized datasets</a:t>
            </a:r>
            <a:r>
              <a:rPr lang="en-US" altLang="en-US" dirty="0"/>
              <a:t>.</a:t>
            </a:r>
          </a:p>
          <a:p>
            <a:pPr marL="0" lvl="0" indent="0" eaLnBrk="0" fontAlgn="base" hangingPunct="0">
              <a:lnSpc>
                <a:spcPct val="100000"/>
              </a:lnSpc>
              <a:spcBef>
                <a:spcPct val="0"/>
              </a:spcBef>
              <a:spcAft>
                <a:spcPct val="0"/>
              </a:spcAft>
              <a:buFontTx/>
              <a:buChar char="•"/>
            </a:pPr>
            <a:r>
              <a:rPr lang="en-US" altLang="en-US" b="1" dirty="0"/>
              <a:t>Disadvantages:</a:t>
            </a:r>
            <a:endParaRPr lang="en-US" altLang="en-US" dirty="0"/>
          </a:p>
          <a:p>
            <a:pPr marL="457200" lvl="1" indent="0" eaLnBrk="0" fontAlgn="base" hangingPunct="0">
              <a:lnSpc>
                <a:spcPct val="100000"/>
              </a:lnSpc>
              <a:spcBef>
                <a:spcPct val="0"/>
              </a:spcBef>
              <a:spcAft>
                <a:spcPct val="0"/>
              </a:spcAft>
              <a:buFontTx/>
              <a:buChar char="•"/>
            </a:pPr>
            <a:r>
              <a:rPr lang="en-US" altLang="en-US" dirty="0"/>
              <a:t>Computationally expensive for large datasets.</a:t>
            </a:r>
          </a:p>
          <a:p>
            <a:pPr marL="457200" lvl="1" indent="0" eaLnBrk="0" fontAlgn="base" hangingPunct="0">
              <a:lnSpc>
                <a:spcPct val="100000"/>
              </a:lnSpc>
              <a:spcBef>
                <a:spcPct val="0"/>
              </a:spcBef>
              <a:spcAft>
                <a:spcPct val="0"/>
              </a:spcAft>
              <a:buFontTx/>
              <a:buChar char="•"/>
            </a:pPr>
            <a:r>
              <a:rPr lang="en-US" altLang="en-US" dirty="0"/>
              <a:t>High memory usage.</a:t>
            </a:r>
          </a:p>
          <a:p>
            <a:pPr marL="457200" lvl="1" indent="0" eaLnBrk="0" fontAlgn="base" hangingPunct="0">
              <a:lnSpc>
                <a:spcPct val="100000"/>
              </a:lnSpc>
              <a:spcBef>
                <a:spcPct val="0"/>
              </a:spcBef>
              <a:spcAft>
                <a:spcPct val="0"/>
              </a:spcAft>
              <a:buFontTx/>
              <a:buChar char="•"/>
            </a:pPr>
            <a:r>
              <a:rPr lang="en-US" altLang="en-US" dirty="0"/>
              <a:t>Slow convergence per iteration compared to stochastic methods.</a:t>
            </a:r>
          </a:p>
          <a:p>
            <a:pPr marL="0" lvl="0" indent="0" eaLnBrk="0" fontAlgn="base" hangingPunct="0">
              <a:lnSpc>
                <a:spcPct val="100000"/>
              </a:lnSpc>
              <a:spcBef>
                <a:spcPct val="0"/>
              </a:spcBef>
              <a:spcAft>
                <a:spcPct val="0"/>
              </a:spcAft>
              <a:buNone/>
            </a:pPr>
            <a:endParaRPr lang="en-US" altLang="en-US" dirty="0"/>
          </a:p>
          <a:p>
            <a:endParaRPr lang="en-IN" dirty="0"/>
          </a:p>
        </p:txBody>
      </p:sp>
    </p:spTree>
    <p:extLst>
      <p:ext uri="{BB962C8B-B14F-4D97-AF65-F5344CB8AC3E}">
        <p14:creationId xmlns:p14="http://schemas.microsoft.com/office/powerpoint/2010/main" val="3401366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F581-E841-1073-CDC8-88693AE6C1A6}"/>
              </a:ext>
            </a:extLst>
          </p:cNvPr>
          <p:cNvSpPr>
            <a:spLocks noGrp="1"/>
          </p:cNvSpPr>
          <p:nvPr>
            <p:ph type="title"/>
          </p:nvPr>
        </p:nvSpPr>
        <p:spPr/>
        <p:txBody>
          <a:bodyPr/>
          <a:lstStyle/>
          <a:p>
            <a:r>
              <a:rPr lang="en-IN" b="1" dirty="0"/>
              <a:t>Stochastic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94ED45-1498-C9E2-16FD-2AB949776D09}"/>
                  </a:ext>
                </a:extLst>
              </p:cNvPr>
              <p:cNvSpPr>
                <a:spLocks noGrp="1"/>
              </p:cNvSpPr>
              <p:nvPr>
                <p:ph idx="1"/>
              </p:nvPr>
            </p:nvSpPr>
            <p:spPr/>
            <p:txBody>
              <a:bodyPr>
                <a:normAutofit/>
              </a:bodyPr>
              <a:lstStyle/>
              <a:p>
                <a:r>
                  <a:rPr lang="en-US" sz="2400" dirty="0"/>
                  <a:t>Stochastic Gradient Descent is an optimization algorithm that updates model parameters using the gradient computed from </a:t>
                </a:r>
                <a:r>
                  <a:rPr lang="en-US" sz="2400" b="1" dirty="0"/>
                  <a:t>one training example at a time</a:t>
                </a:r>
                <a:r>
                  <a:rPr lang="en-US" sz="2400" dirty="0"/>
                  <a:t>.</a:t>
                </a:r>
              </a:p>
              <a:p>
                <a:r>
                  <a:rPr lang="en-US" sz="2400" b="1" dirty="0"/>
                  <a:t>How it works:</a:t>
                </a:r>
                <a:endParaRPr lang="en-US" sz="2400" dirty="0"/>
              </a:p>
              <a:p>
                <a:pPr lvl="1"/>
                <a:r>
                  <a:rPr lang="en-US" dirty="0"/>
                  <a:t>Select one training sample randomly.</a:t>
                </a:r>
              </a:p>
              <a:p>
                <a:pPr lvl="1"/>
                <a:r>
                  <a:rPr lang="en-US" dirty="0"/>
                  <a:t>Compute the loss and its gradient for that sample.</a:t>
                </a:r>
              </a:p>
              <a:p>
                <a:pPr lvl="1"/>
                <a:r>
                  <a:rPr lang="en-US" dirty="0"/>
                  <a:t>Update parameters immediately.</a:t>
                </a:r>
              </a:p>
              <a:p>
                <a:pPr lvl="1"/>
                <a:r>
                  <a:rPr lang="en-US" dirty="0"/>
                  <a:t>Repeat for all samples over multiple epochs.</a:t>
                </a:r>
              </a:p>
              <a:p>
                <a:r>
                  <a:rPr lang="en-IN" sz="2400" b="1" dirty="0"/>
                  <a:t>Update rule:</a:t>
                </a:r>
                <a:endParaRPr lang="en-IN" sz="2400" dirty="0"/>
              </a:p>
              <a:p>
                <a:endParaRPr lang="ar-AE" sz="2400" b="0" dirty="0"/>
              </a:p>
              <a:p>
                <a:r>
                  <a:rPr lang="en-IN" sz="2400" dirty="0"/>
                  <a:t>where </a:t>
                </a:r>
                <a14:m>
                  <m:oMath xmlns:m="http://schemas.openxmlformats.org/officeDocument/2006/math">
                    <m:r>
                      <a:rPr lang="en-IN" sz="2400" i="1">
                        <a:latin typeface="Cambria Math" panose="02040503050406030204" pitchFamily="18" charset="0"/>
                      </a:rPr>
                      <m:t>𝜂</m:t>
                    </m:r>
                  </m:oMath>
                </a14:m>
                <a:r>
                  <a:rPr lang="en-IN" sz="2400" dirty="0"/>
                  <a:t>is the learning rate.</a:t>
                </a:r>
              </a:p>
              <a:p>
                <a:pPr lvl="1"/>
                <a:endParaRPr lang="en-US" dirty="0"/>
              </a:p>
              <a:p>
                <a:endParaRPr lang="en-IN" sz="2400" dirty="0"/>
              </a:p>
            </p:txBody>
          </p:sp>
        </mc:Choice>
        <mc:Fallback xmlns="">
          <p:sp>
            <p:nvSpPr>
              <p:cNvPr id="3" name="Content Placeholder 2">
                <a:extLst>
                  <a:ext uri="{FF2B5EF4-FFF2-40B4-BE49-F238E27FC236}">
                    <a16:creationId xmlns:a16="http://schemas.microsoft.com/office/drawing/2014/main" id="{CB94ED45-1498-C9E2-16FD-2AB949776D09}"/>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0771BEBC-864C-247C-6B6A-98B3E3AA194D}"/>
              </a:ext>
            </a:extLst>
          </p:cNvPr>
          <p:cNvPicPr>
            <a:picLocks noChangeAspect="1"/>
          </p:cNvPicPr>
          <p:nvPr/>
        </p:nvPicPr>
        <p:blipFill>
          <a:blip r:embed="rId3"/>
          <a:stretch>
            <a:fillRect/>
          </a:stretch>
        </p:blipFill>
        <p:spPr>
          <a:xfrm>
            <a:off x="5292579" y="4943653"/>
            <a:ext cx="5016225" cy="671955"/>
          </a:xfrm>
          <a:prstGeom prst="rect">
            <a:avLst/>
          </a:prstGeom>
        </p:spPr>
      </p:pic>
    </p:spTree>
    <p:extLst>
      <p:ext uri="{BB962C8B-B14F-4D97-AF65-F5344CB8AC3E}">
        <p14:creationId xmlns:p14="http://schemas.microsoft.com/office/powerpoint/2010/main" val="617209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DF35E-6EC1-423C-A816-826565043449}"/>
              </a:ext>
            </a:extLst>
          </p:cNvPr>
          <p:cNvSpPr>
            <a:spLocks noGrp="1"/>
          </p:cNvSpPr>
          <p:nvPr>
            <p:ph type="title"/>
          </p:nvPr>
        </p:nvSpPr>
        <p:spPr/>
        <p:txBody>
          <a:bodyPr/>
          <a:lstStyle/>
          <a:p>
            <a:r>
              <a:rPr lang="en-IN" b="1" dirty="0"/>
              <a:t>Stochastic Gradient Descent</a:t>
            </a:r>
            <a:endParaRPr lang="en-IN" dirty="0"/>
          </a:p>
        </p:txBody>
      </p:sp>
      <p:sp>
        <p:nvSpPr>
          <p:cNvPr id="3" name="Content Placeholder 2">
            <a:extLst>
              <a:ext uri="{FF2B5EF4-FFF2-40B4-BE49-F238E27FC236}">
                <a16:creationId xmlns:a16="http://schemas.microsoft.com/office/drawing/2014/main" id="{20264E26-246F-49FA-F5A7-B783E302D4F2}"/>
              </a:ext>
            </a:extLst>
          </p:cNvPr>
          <p:cNvSpPr>
            <a:spLocks noGrp="1"/>
          </p:cNvSpPr>
          <p:nvPr>
            <p:ph idx="1"/>
          </p:nvPr>
        </p:nvSpPr>
        <p:spPr>
          <a:xfrm>
            <a:off x="838200" y="1567207"/>
            <a:ext cx="10515600" cy="4351338"/>
          </a:xfrm>
        </p:spPr>
        <p:txBody>
          <a:bodyPr>
            <a:normAutofit/>
          </a:bodyPr>
          <a:lstStyle/>
          <a:p>
            <a:r>
              <a:rPr lang="en-IN" sz="2400" dirty="0"/>
              <a:t>This algorithm is much </a:t>
            </a:r>
            <a:r>
              <a:rPr lang="en-US" sz="2400" dirty="0"/>
              <a:t>less regular than Batch Gradient Descent: instead of gently decreasing until it reaches the minimum, the cost function will bounce up and down, decreasing only on average.</a:t>
            </a:r>
          </a:p>
          <a:p>
            <a:r>
              <a:rPr lang="en-US" sz="2400" dirty="0"/>
              <a:t>Over time it will end up very close to the minimum, but once it gets there it will continue to bounce around, never settling down. So once the algorithm stops, the final parameter values are good, but not optimal.</a:t>
            </a:r>
            <a:endParaRPr lang="en-IN" sz="2400" dirty="0"/>
          </a:p>
        </p:txBody>
      </p:sp>
      <p:pic>
        <p:nvPicPr>
          <p:cNvPr id="5" name="Picture 4">
            <a:extLst>
              <a:ext uri="{FF2B5EF4-FFF2-40B4-BE49-F238E27FC236}">
                <a16:creationId xmlns:a16="http://schemas.microsoft.com/office/drawing/2014/main" id="{B41D88F3-4273-1222-41D7-48A7A8EBEAB8}"/>
              </a:ext>
            </a:extLst>
          </p:cNvPr>
          <p:cNvPicPr>
            <a:picLocks noChangeAspect="1"/>
          </p:cNvPicPr>
          <p:nvPr/>
        </p:nvPicPr>
        <p:blipFill>
          <a:blip r:embed="rId2"/>
          <a:stretch>
            <a:fillRect/>
          </a:stretch>
        </p:blipFill>
        <p:spPr>
          <a:xfrm>
            <a:off x="7076238" y="3877514"/>
            <a:ext cx="4277562" cy="2826557"/>
          </a:xfrm>
          <a:prstGeom prst="rect">
            <a:avLst/>
          </a:prstGeom>
        </p:spPr>
      </p:pic>
    </p:spTree>
    <p:extLst>
      <p:ext uri="{BB962C8B-B14F-4D97-AF65-F5344CB8AC3E}">
        <p14:creationId xmlns:p14="http://schemas.microsoft.com/office/powerpoint/2010/main" val="246908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8B737-7781-3CFB-F546-1BA4C3E828AD}"/>
              </a:ext>
            </a:extLst>
          </p:cNvPr>
          <p:cNvSpPr>
            <a:spLocks noGrp="1"/>
          </p:cNvSpPr>
          <p:nvPr>
            <p:ph type="title"/>
          </p:nvPr>
        </p:nvSpPr>
        <p:spPr/>
        <p:txBody>
          <a:bodyPr/>
          <a:lstStyle/>
          <a:p>
            <a:r>
              <a:rPr lang="en-IN" b="1" dirty="0"/>
              <a:t>Stochastic Gradient Descent</a:t>
            </a:r>
            <a:endParaRPr lang="en-IN" dirty="0"/>
          </a:p>
        </p:txBody>
      </p:sp>
      <p:sp>
        <p:nvSpPr>
          <p:cNvPr id="3" name="Content Placeholder 2">
            <a:extLst>
              <a:ext uri="{FF2B5EF4-FFF2-40B4-BE49-F238E27FC236}">
                <a16:creationId xmlns:a16="http://schemas.microsoft.com/office/drawing/2014/main" id="{38D5D7B3-0398-CDBC-7C84-440034C4330C}"/>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b="1" dirty="0"/>
              <a:t>Advantages:</a:t>
            </a:r>
            <a:endParaRPr lang="en-US" altLang="en-US" dirty="0"/>
          </a:p>
          <a:p>
            <a:pPr marL="457200" lvl="1" indent="0" eaLnBrk="0" fontAlgn="base" hangingPunct="0">
              <a:lnSpc>
                <a:spcPct val="100000"/>
              </a:lnSpc>
              <a:spcBef>
                <a:spcPct val="0"/>
              </a:spcBef>
              <a:spcAft>
                <a:spcPct val="0"/>
              </a:spcAft>
              <a:buFontTx/>
              <a:buChar char="•"/>
            </a:pPr>
            <a:r>
              <a:rPr lang="en-US" altLang="en-US" dirty="0"/>
              <a:t>Faster updates and quicker initial convergence.</a:t>
            </a:r>
          </a:p>
          <a:p>
            <a:pPr marL="457200" lvl="1" indent="0" eaLnBrk="0" fontAlgn="base" hangingPunct="0">
              <a:lnSpc>
                <a:spcPct val="100000"/>
              </a:lnSpc>
              <a:spcBef>
                <a:spcPct val="0"/>
              </a:spcBef>
              <a:spcAft>
                <a:spcPct val="0"/>
              </a:spcAft>
              <a:buFontTx/>
              <a:buChar char="•"/>
            </a:pPr>
            <a:r>
              <a:rPr lang="en-US" altLang="en-US" dirty="0"/>
              <a:t>Efficient for </a:t>
            </a:r>
            <a:r>
              <a:rPr lang="en-US" altLang="en-US" b="1" dirty="0"/>
              <a:t>large and online datasets</a:t>
            </a:r>
            <a:r>
              <a:rPr lang="en-US" altLang="en-US" dirty="0"/>
              <a:t>.</a:t>
            </a:r>
          </a:p>
          <a:p>
            <a:pPr marL="457200" lvl="1" indent="0" eaLnBrk="0" fontAlgn="base" hangingPunct="0">
              <a:lnSpc>
                <a:spcPct val="100000"/>
              </a:lnSpc>
              <a:spcBef>
                <a:spcPct val="0"/>
              </a:spcBef>
              <a:spcAft>
                <a:spcPct val="0"/>
              </a:spcAft>
              <a:buFontTx/>
              <a:buChar char="•"/>
            </a:pPr>
            <a:r>
              <a:rPr lang="en-US" altLang="en-US" dirty="0"/>
              <a:t>Can escape local minima due to noisy updates.</a:t>
            </a:r>
          </a:p>
          <a:p>
            <a:pPr marL="0" lvl="0" indent="0" eaLnBrk="0" fontAlgn="base" hangingPunct="0">
              <a:lnSpc>
                <a:spcPct val="100000"/>
              </a:lnSpc>
              <a:spcBef>
                <a:spcPct val="0"/>
              </a:spcBef>
              <a:spcAft>
                <a:spcPct val="0"/>
              </a:spcAft>
              <a:buFontTx/>
              <a:buChar char="•"/>
            </a:pPr>
            <a:r>
              <a:rPr lang="en-US" altLang="en-US" b="1" dirty="0"/>
              <a:t>Disadvantages:</a:t>
            </a:r>
            <a:endParaRPr lang="en-US" altLang="en-US" dirty="0"/>
          </a:p>
          <a:p>
            <a:pPr marL="457200" lvl="1" indent="0" eaLnBrk="0" fontAlgn="base" hangingPunct="0">
              <a:lnSpc>
                <a:spcPct val="100000"/>
              </a:lnSpc>
              <a:spcBef>
                <a:spcPct val="0"/>
              </a:spcBef>
              <a:spcAft>
                <a:spcPct val="0"/>
              </a:spcAft>
              <a:buFontTx/>
              <a:buChar char="•"/>
            </a:pPr>
            <a:r>
              <a:rPr lang="en-US" altLang="en-US" dirty="0"/>
              <a:t>High variance in updates → noisy convergence.</a:t>
            </a:r>
          </a:p>
          <a:p>
            <a:pPr marL="457200" lvl="1" indent="0" eaLnBrk="0" fontAlgn="base" hangingPunct="0">
              <a:lnSpc>
                <a:spcPct val="100000"/>
              </a:lnSpc>
              <a:spcBef>
                <a:spcPct val="0"/>
              </a:spcBef>
              <a:spcAft>
                <a:spcPct val="0"/>
              </a:spcAft>
              <a:buFontTx/>
              <a:buChar char="•"/>
            </a:pPr>
            <a:r>
              <a:rPr lang="en-US" altLang="en-US" dirty="0"/>
              <a:t>Loss function fluctuates instead of decreasing smoothly.</a:t>
            </a:r>
          </a:p>
          <a:p>
            <a:pPr marL="457200" lvl="1" indent="0" eaLnBrk="0" fontAlgn="base" hangingPunct="0">
              <a:lnSpc>
                <a:spcPct val="100000"/>
              </a:lnSpc>
              <a:spcBef>
                <a:spcPct val="0"/>
              </a:spcBef>
              <a:spcAft>
                <a:spcPct val="0"/>
              </a:spcAft>
              <a:buFontTx/>
              <a:buChar char="•"/>
            </a:pPr>
            <a:r>
              <a:rPr lang="en-US" altLang="en-US" dirty="0"/>
              <a:t>Sensitive to learning rate choice.</a:t>
            </a:r>
          </a:p>
          <a:p>
            <a:pPr eaLnBrk="0" fontAlgn="base" hangingPunct="0">
              <a:lnSpc>
                <a:spcPct val="100000"/>
              </a:lnSpc>
              <a:spcBef>
                <a:spcPct val="0"/>
              </a:spcBef>
              <a:spcAft>
                <a:spcPct val="0"/>
              </a:spcAft>
            </a:pPr>
            <a:endParaRPr lang="en-US" altLang="en-US" dirty="0"/>
          </a:p>
          <a:p>
            <a:endParaRPr lang="en-IN" dirty="0"/>
          </a:p>
        </p:txBody>
      </p:sp>
    </p:spTree>
    <p:extLst>
      <p:ext uri="{BB962C8B-B14F-4D97-AF65-F5344CB8AC3E}">
        <p14:creationId xmlns:p14="http://schemas.microsoft.com/office/powerpoint/2010/main" val="461266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0F85-BC94-E513-211D-FCF33E1B353F}"/>
              </a:ext>
            </a:extLst>
          </p:cNvPr>
          <p:cNvSpPr>
            <a:spLocks noGrp="1"/>
          </p:cNvSpPr>
          <p:nvPr>
            <p:ph type="title"/>
          </p:nvPr>
        </p:nvSpPr>
        <p:spPr/>
        <p:txBody>
          <a:bodyPr/>
          <a:lstStyle/>
          <a:p>
            <a:r>
              <a:rPr lang="en-IN" b="1" dirty="0"/>
              <a:t>Mini-batch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CDB2D3-2062-D669-B13A-62F2651565BB}"/>
                  </a:ext>
                </a:extLst>
              </p:cNvPr>
              <p:cNvSpPr>
                <a:spLocks noGrp="1"/>
              </p:cNvSpPr>
              <p:nvPr>
                <p:ph idx="1"/>
              </p:nvPr>
            </p:nvSpPr>
            <p:spPr/>
            <p:txBody>
              <a:bodyPr>
                <a:normAutofit/>
              </a:bodyPr>
              <a:lstStyle/>
              <a:p>
                <a:r>
                  <a:rPr lang="en-US" sz="2400" dirty="0"/>
                  <a:t>Mini-batch Gradient Descent is an optimization algorithm that updates model parameters using a </a:t>
                </a:r>
                <a:r>
                  <a:rPr lang="en-US" sz="2400" b="1" dirty="0"/>
                  <a:t>small subset (mini-batch)</a:t>
                </a:r>
                <a:r>
                  <a:rPr lang="en-US" sz="2400" dirty="0"/>
                  <a:t> of the training data instead of the entire dataset or a single sample.</a:t>
                </a:r>
              </a:p>
              <a:p>
                <a:r>
                  <a:rPr lang="en-US" sz="2400" b="1" dirty="0"/>
                  <a:t>How it works:</a:t>
                </a:r>
                <a:endParaRPr lang="en-US" sz="2400" dirty="0"/>
              </a:p>
              <a:p>
                <a:pPr lvl="1"/>
                <a:r>
                  <a:rPr lang="en-US" sz="2000" dirty="0"/>
                  <a:t>Divide the training data into mini-batches (e.g., 16, 32, 64 samples).</a:t>
                </a:r>
              </a:p>
              <a:p>
                <a:pPr lvl="1"/>
                <a:r>
                  <a:rPr lang="en-US" sz="2000" dirty="0"/>
                  <a:t>For each mini-batch, compute the loss and its gradient.</a:t>
                </a:r>
              </a:p>
              <a:p>
                <a:pPr lvl="1"/>
                <a:r>
                  <a:rPr lang="en-US" sz="2000" dirty="0"/>
                  <a:t>Update model parameters.</a:t>
                </a:r>
              </a:p>
              <a:p>
                <a:pPr lvl="1"/>
                <a:r>
                  <a:rPr lang="en-US" sz="2000" dirty="0"/>
                  <a:t>Repeat for all mini-batches over multiple epochs.</a:t>
                </a:r>
              </a:p>
              <a:p>
                <a:r>
                  <a:rPr lang="en-IN" sz="2400" b="1" dirty="0"/>
                  <a:t>Update rule:</a:t>
                </a:r>
                <a:endParaRPr lang="en-IN" sz="2400" dirty="0"/>
              </a:p>
              <a:p>
                <a:pPr marL="0" indent="0">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𝜃</m:t>
                      </m:r>
                      <m:r>
                        <a:rPr lang="en-IN" sz="2400">
                          <a:latin typeface="Cambria Math" panose="02040503050406030204" pitchFamily="18" charset="0"/>
                        </a:rPr>
                        <m:t>:=</m:t>
                      </m:r>
                      <m:r>
                        <a:rPr lang="en-IN" sz="2400" i="1">
                          <a:latin typeface="Cambria Math" panose="02040503050406030204" pitchFamily="18" charset="0"/>
                        </a:rPr>
                        <m:t>𝜃</m:t>
                      </m:r>
                      <m:r>
                        <a:rPr lang="en-IN" sz="2400">
                          <a:latin typeface="Cambria Math" panose="02040503050406030204" pitchFamily="18" charset="0"/>
                        </a:rPr>
                        <m:t>−</m:t>
                      </m:r>
                      <m:r>
                        <a:rPr lang="en-IN" sz="2400" i="1">
                          <a:latin typeface="Cambria Math" panose="02040503050406030204" pitchFamily="18" charset="0"/>
                        </a:rPr>
                        <m:t>𝜂</m:t>
                      </m:r>
                      <m:r>
                        <m:rPr>
                          <m:nor/>
                        </m:rPr>
                        <a:rPr lang="en-IN" sz="2400" i="1"/>
                        <m:t> </m:t>
                      </m:r>
                      <m:sSub>
                        <m:sSubPr>
                          <m:ctrlPr>
                            <a:rPr lang="ar-AE" sz="2400" i="1">
                              <a:latin typeface="Cambria Math" panose="02040503050406030204" pitchFamily="18" charset="0"/>
                            </a:rPr>
                          </m:ctrlPr>
                        </m:sSubPr>
                        <m:e>
                          <m:r>
                            <m:rPr>
                              <m:sty m:val="p"/>
                            </m:rPr>
                            <a:rPr lang="ar-AE" sz="2400">
                              <a:latin typeface="Cambria Math" panose="02040503050406030204" pitchFamily="18" charset="0"/>
                            </a:rPr>
                            <m:t>∇</m:t>
                          </m:r>
                        </m:e>
                        <m:sub>
                          <m:r>
                            <a:rPr lang="ar-AE" sz="2400" i="1">
                              <a:latin typeface="Cambria Math" panose="02040503050406030204" pitchFamily="18" charset="0"/>
                            </a:rPr>
                            <m:t>𝜃</m:t>
                          </m:r>
                        </m:sub>
                      </m:sSub>
                      <m:r>
                        <a:rPr lang="ar-AE" sz="2400" i="1">
                          <a:latin typeface="Cambria Math" panose="02040503050406030204" pitchFamily="18" charset="0"/>
                        </a:rPr>
                        <m:t>𝐽</m:t>
                      </m:r>
                      <m:d>
                        <m:dPr>
                          <m:sepChr m:val=";"/>
                          <m:ctrlPr>
                            <a:rPr lang="ar-AE" sz="2400" i="1">
                              <a:latin typeface="Cambria Math" panose="02040503050406030204" pitchFamily="18" charset="0"/>
                            </a:rPr>
                          </m:ctrlPr>
                        </m:dPr>
                        <m:e>
                          <m:r>
                            <a:rPr lang="ar-AE" sz="2400" i="1">
                              <a:latin typeface="Cambria Math" panose="02040503050406030204" pitchFamily="18" charset="0"/>
                            </a:rPr>
                            <m:t>𝜃</m:t>
                          </m:r>
                        </m:e>
                        <m:e>
                          <m:r>
                            <a:rPr lang="ar-AE" sz="2400" i="1">
                              <a:latin typeface="Cambria Math" panose="02040503050406030204" pitchFamily="18" charset="0"/>
                            </a:rPr>
                            <m:t>𝐵</m:t>
                          </m:r>
                        </m:e>
                      </m:d>
                    </m:oMath>
                  </m:oMathPara>
                </a14:m>
                <a:endParaRPr lang="ar-AE" sz="2400" b="0" dirty="0"/>
              </a:p>
              <a:p>
                <a:r>
                  <a:rPr lang="en-IN" sz="2400" dirty="0"/>
                  <a:t>where </a:t>
                </a:r>
                <a14:m>
                  <m:oMath xmlns:m="http://schemas.openxmlformats.org/officeDocument/2006/math">
                    <m:r>
                      <a:rPr lang="en-IN" sz="2400" i="1">
                        <a:latin typeface="Cambria Math" panose="02040503050406030204" pitchFamily="18" charset="0"/>
                      </a:rPr>
                      <m:t>𝐵</m:t>
                    </m:r>
                  </m:oMath>
                </a14:m>
                <a:r>
                  <a:rPr lang="en-IN" sz="2400" dirty="0"/>
                  <a:t>is a mini-batch and </a:t>
                </a:r>
                <a14:m>
                  <m:oMath xmlns:m="http://schemas.openxmlformats.org/officeDocument/2006/math">
                    <m:r>
                      <a:rPr lang="en-IN" sz="2400" i="1">
                        <a:latin typeface="Cambria Math" panose="02040503050406030204" pitchFamily="18" charset="0"/>
                      </a:rPr>
                      <m:t>𝜂</m:t>
                    </m:r>
                  </m:oMath>
                </a14:m>
                <a:r>
                  <a:rPr lang="en-IN" sz="2400" dirty="0"/>
                  <a:t>is the learning rate.</a:t>
                </a:r>
              </a:p>
              <a:p>
                <a:pPr lvl="1"/>
                <a:endParaRPr lang="en-US" dirty="0"/>
              </a:p>
              <a:p>
                <a:endParaRPr lang="en-US" sz="2400" dirty="0"/>
              </a:p>
              <a:p>
                <a:endParaRPr lang="en-IN" sz="2400" dirty="0"/>
              </a:p>
            </p:txBody>
          </p:sp>
        </mc:Choice>
        <mc:Fallback xmlns="">
          <p:sp>
            <p:nvSpPr>
              <p:cNvPr id="3" name="Content Placeholder 2">
                <a:extLst>
                  <a:ext uri="{FF2B5EF4-FFF2-40B4-BE49-F238E27FC236}">
                    <a16:creationId xmlns:a16="http://schemas.microsoft.com/office/drawing/2014/main" id="{AFCDB2D3-2062-D669-B13A-62F2651565BB}"/>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IN">
                    <a:noFill/>
                  </a:rPr>
                  <a:t> </a:t>
                </a:r>
              </a:p>
            </p:txBody>
          </p:sp>
        </mc:Fallback>
      </mc:AlternateContent>
    </p:spTree>
    <p:extLst>
      <p:ext uri="{BB962C8B-B14F-4D97-AF65-F5344CB8AC3E}">
        <p14:creationId xmlns:p14="http://schemas.microsoft.com/office/powerpoint/2010/main" val="2945419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FB18-1F9C-B4B3-9818-7BC33909AF19}"/>
              </a:ext>
            </a:extLst>
          </p:cNvPr>
          <p:cNvSpPr>
            <a:spLocks noGrp="1"/>
          </p:cNvSpPr>
          <p:nvPr>
            <p:ph type="title"/>
          </p:nvPr>
        </p:nvSpPr>
        <p:spPr/>
        <p:txBody>
          <a:bodyPr/>
          <a:lstStyle/>
          <a:p>
            <a:r>
              <a:rPr lang="en-IN" b="1" dirty="0"/>
              <a:t>Mini-batch Gradient Descent</a:t>
            </a:r>
            <a:endParaRPr lang="en-IN" dirty="0"/>
          </a:p>
        </p:txBody>
      </p:sp>
      <p:sp>
        <p:nvSpPr>
          <p:cNvPr id="4" name="Rectangle 1">
            <a:extLst>
              <a:ext uri="{FF2B5EF4-FFF2-40B4-BE49-F238E27FC236}">
                <a16:creationId xmlns:a16="http://schemas.microsoft.com/office/drawing/2014/main" id="{80B4DF51-0BD9-3ED3-F10F-1D32214B118D}"/>
              </a:ext>
            </a:extLst>
          </p:cNvPr>
          <p:cNvSpPr>
            <a:spLocks noGrp="1" noChangeArrowheads="1"/>
          </p:cNvSpPr>
          <p:nvPr>
            <p:ph idx="1"/>
          </p:nvPr>
        </p:nvSpPr>
        <p:spPr bwMode="auto">
          <a:xfrm>
            <a:off x="838200" y="1490766"/>
            <a:ext cx="10515600" cy="502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57188"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rPr>
              <a:t>Advantages:</a:t>
            </a:r>
            <a:endParaRPr kumimoji="0" lang="en-US" altLang="en-US" sz="2400" b="0" i="0" u="none" strike="noStrike" cap="none" normalizeH="0" baseline="0" dirty="0">
              <a:ln>
                <a:noFill/>
              </a:ln>
              <a:solidFill>
                <a:schemeClr val="tx1"/>
              </a:solidFill>
              <a:effectLst/>
            </a:endParaRP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Faster and more efficient than Batch Gradient Descent.</a:t>
            </a: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Less noisy than Stochastic Gradient Descent.</a:t>
            </a: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Enables parallel computation on GPUs/TPUs.</a:t>
            </a: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Provides a good trade-off between speed and stability.</a:t>
            </a:r>
          </a:p>
          <a:p>
            <a:pPr marL="357188"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rPr>
              <a:t>Disadvantages:</a:t>
            </a:r>
            <a:endParaRPr kumimoji="0" lang="en-US" altLang="en-US" sz="2400" b="0" i="0" u="none" strike="noStrike" cap="none" normalizeH="0" baseline="0" dirty="0">
              <a:ln>
                <a:noFill/>
              </a:ln>
              <a:solidFill>
                <a:schemeClr val="tx1"/>
              </a:solidFill>
              <a:effectLst/>
            </a:endParaRP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Requires tuning of mini-batch size.</a:t>
            </a: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Still shows some noise in convergence.</a:t>
            </a:r>
          </a:p>
          <a:p>
            <a:pPr marL="814388" lvl="1"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Performance depends on hardware and batch selection.</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27159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EFCD1D-2BCE-BAB7-6360-59E0412E0E97}"/>
              </a:ext>
            </a:extLst>
          </p:cNvPr>
          <p:cNvPicPr>
            <a:picLocks noChangeAspect="1"/>
          </p:cNvPicPr>
          <p:nvPr/>
        </p:nvPicPr>
        <p:blipFill>
          <a:blip r:embed="rId2"/>
          <a:stretch>
            <a:fillRect/>
          </a:stretch>
        </p:blipFill>
        <p:spPr>
          <a:xfrm>
            <a:off x="28320" y="676129"/>
            <a:ext cx="12135360" cy="5505741"/>
          </a:xfrm>
          <a:prstGeom prst="rect">
            <a:avLst/>
          </a:prstGeom>
        </p:spPr>
      </p:pic>
    </p:spTree>
    <p:extLst>
      <p:ext uri="{BB962C8B-B14F-4D97-AF65-F5344CB8AC3E}">
        <p14:creationId xmlns:p14="http://schemas.microsoft.com/office/powerpoint/2010/main" val="2284058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5F91-9902-9418-9E98-F720EE3DBDD3}"/>
              </a:ext>
            </a:extLst>
          </p:cNvPr>
          <p:cNvSpPr>
            <a:spLocks noGrp="1"/>
          </p:cNvSpPr>
          <p:nvPr>
            <p:ph type="title"/>
          </p:nvPr>
        </p:nvSpPr>
        <p:spPr/>
        <p:txBody>
          <a:bodyPr/>
          <a:lstStyle/>
          <a:p>
            <a:r>
              <a:rPr lang="en-US" b="1" dirty="0"/>
              <a:t>Evaluation Metrics for Linear Regression</a:t>
            </a:r>
            <a:endParaRPr lang="en-IN" dirty="0"/>
          </a:p>
        </p:txBody>
      </p:sp>
      <p:sp>
        <p:nvSpPr>
          <p:cNvPr id="3" name="Content Placeholder 2">
            <a:extLst>
              <a:ext uri="{FF2B5EF4-FFF2-40B4-BE49-F238E27FC236}">
                <a16:creationId xmlns:a16="http://schemas.microsoft.com/office/drawing/2014/main" id="{BBEF2926-3A47-1DF1-FDC8-9228E8DEEA95}"/>
              </a:ext>
            </a:extLst>
          </p:cNvPr>
          <p:cNvSpPr>
            <a:spLocks noGrp="1"/>
          </p:cNvSpPr>
          <p:nvPr>
            <p:ph idx="1"/>
          </p:nvPr>
        </p:nvSpPr>
        <p:spPr/>
        <p:txBody>
          <a:bodyPr>
            <a:normAutofit/>
          </a:bodyPr>
          <a:lstStyle/>
          <a:p>
            <a:pPr fontAlgn="base"/>
            <a:r>
              <a:rPr lang="en-US" sz="2400" dirty="0"/>
              <a:t>A variety of evaluation measures can be used to determine the strength of any linear regression model. These assessment metrics often give an indication of how well the model is producing the observed outputs.</a:t>
            </a:r>
          </a:p>
          <a:p>
            <a:pPr fontAlgn="base"/>
            <a:r>
              <a:rPr lang="en-US" sz="2400" dirty="0"/>
              <a:t>The most common measurements are:</a:t>
            </a:r>
          </a:p>
          <a:p>
            <a:pPr marL="457200" indent="-457200" fontAlgn="base">
              <a:buAutoNum type="arabicPeriod"/>
            </a:pPr>
            <a:r>
              <a:rPr lang="en-US" sz="2400" b="1" dirty="0"/>
              <a:t>Mean Square Error (MSE)</a:t>
            </a:r>
          </a:p>
          <a:p>
            <a:pPr marL="457200" indent="-457200" fontAlgn="base">
              <a:buFont typeface="Arial" panose="020B0604020202020204" pitchFamily="34" charset="0"/>
              <a:buAutoNum type="arabicPeriod"/>
            </a:pPr>
            <a:r>
              <a:rPr lang="es-ES" sz="2400" b="1" dirty="0"/>
              <a:t>Mean Absolute Error (MAE)</a:t>
            </a:r>
          </a:p>
          <a:p>
            <a:pPr marL="457200" indent="-457200" fontAlgn="base">
              <a:buFont typeface="Arial" panose="020B0604020202020204" pitchFamily="34" charset="0"/>
              <a:buAutoNum type="arabicPeriod"/>
            </a:pPr>
            <a:r>
              <a:rPr lang="en-US" sz="2400" b="1" dirty="0"/>
              <a:t>Root Mean Squared Error (RMSE)</a:t>
            </a:r>
          </a:p>
          <a:p>
            <a:pPr marL="457200" indent="-457200" fontAlgn="base">
              <a:buFont typeface="Arial" panose="020B0604020202020204" pitchFamily="34" charset="0"/>
              <a:buAutoNum type="arabicPeriod"/>
            </a:pPr>
            <a:endParaRPr lang="es-ES" b="1" dirty="0"/>
          </a:p>
          <a:p>
            <a:pPr marL="457200" indent="-457200" fontAlgn="base">
              <a:buAutoNum type="arabicPeriod"/>
            </a:pPr>
            <a:endParaRPr lang="en-US" sz="2400" b="1" dirty="0"/>
          </a:p>
          <a:p>
            <a:pPr marL="457200" indent="-457200" fontAlgn="base">
              <a:buAutoNum type="arabicPeriod"/>
            </a:pPr>
            <a:endParaRPr lang="en-US" sz="2400" b="1" dirty="0"/>
          </a:p>
          <a:p>
            <a:endParaRPr lang="en-IN" sz="2400" dirty="0"/>
          </a:p>
        </p:txBody>
      </p:sp>
    </p:spTree>
    <p:extLst>
      <p:ext uri="{BB962C8B-B14F-4D97-AF65-F5344CB8AC3E}">
        <p14:creationId xmlns:p14="http://schemas.microsoft.com/office/powerpoint/2010/main" val="3672859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7568-2DE9-1D16-E56D-69A0F0871470}"/>
              </a:ext>
            </a:extLst>
          </p:cNvPr>
          <p:cNvSpPr>
            <a:spLocks noGrp="1"/>
          </p:cNvSpPr>
          <p:nvPr>
            <p:ph type="title"/>
          </p:nvPr>
        </p:nvSpPr>
        <p:spPr/>
        <p:txBody>
          <a:bodyPr/>
          <a:lstStyle/>
          <a:p>
            <a:r>
              <a:rPr lang="en-US" b="1" dirty="0"/>
              <a:t>1. Mean Square Error (MSE)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DB10E2-6C45-4904-3F8C-83852336D93B}"/>
                  </a:ext>
                </a:extLst>
              </p:cNvPr>
              <p:cNvSpPr>
                <a:spLocks noGrp="1"/>
              </p:cNvSpPr>
              <p:nvPr>
                <p:ph idx="1"/>
              </p:nvPr>
            </p:nvSpPr>
            <p:spPr>
              <a:xfrm>
                <a:off x="838200" y="1690688"/>
                <a:ext cx="10515600" cy="4802187"/>
              </a:xfrm>
            </p:spPr>
            <p:txBody>
              <a:bodyPr>
                <a:normAutofit/>
              </a:bodyPr>
              <a:lstStyle/>
              <a:p>
                <a:r>
                  <a:rPr lang="en-US" sz="2400" dirty="0"/>
                  <a:t>Mean Squared Error (MSE) is an evaluation metric that calculates the average of the squared differences between the actual and predicted values for all the data points. The difference is squared to ensure that negative and positive differences don't cancel each other out.</a:t>
                </a:r>
              </a:p>
              <a:p>
                <a:pPr marL="0" indent="0" algn="ctr" fontAlgn="base">
                  <a:buNone/>
                </a:pPr>
                <a:r>
                  <a:rPr lang="en-IN" b="1" i="1" dirty="0"/>
                  <a:t>MSE</a:t>
                </a:r>
                <a:r>
                  <a:rPr lang="en-US" b="1" dirty="0"/>
                  <a:t>= </a:t>
                </a:r>
                <a14:m>
                  <m:oMath xmlns:m="http://schemas.openxmlformats.org/officeDocument/2006/math">
                    <m:f>
                      <m:fPr>
                        <m:ctrlPr>
                          <a:rPr lang="pt-BR" b="1" i="1">
                            <a:latin typeface="Cambria Math" panose="02040503050406030204" pitchFamily="18" charset="0"/>
                          </a:rPr>
                        </m:ctrlPr>
                      </m:fPr>
                      <m:num>
                        <m:r>
                          <a:rPr lang="en-IN" b="1" i="1">
                            <a:latin typeface="Cambria Math" panose="02040503050406030204" pitchFamily="18" charset="0"/>
                          </a:rPr>
                          <m:t>𝟏</m:t>
                        </m:r>
                      </m:num>
                      <m:den>
                        <m:r>
                          <a:rPr lang="en-IN" b="1" i="1">
                            <a:latin typeface="Cambria Math" panose="02040503050406030204" pitchFamily="18" charset="0"/>
                          </a:rPr>
                          <m:t>𝒏</m:t>
                        </m:r>
                      </m:den>
                    </m:f>
                    <m:nary>
                      <m:naryPr>
                        <m:chr m:val="∑"/>
                        <m:ctrlPr>
                          <a:rPr lang="pt-BR" b="1" i="1">
                            <a:latin typeface="Cambria Math" panose="02040503050406030204" pitchFamily="18" charset="0"/>
                          </a:rPr>
                        </m:ctrlPr>
                      </m:naryPr>
                      <m:sub>
                        <m:r>
                          <a:rPr lang="en-IN" b="1" i="1">
                            <a:latin typeface="Cambria Math" panose="02040503050406030204" pitchFamily="18" charset="0"/>
                          </a:rPr>
                          <m:t>𝒊</m:t>
                        </m:r>
                        <m:r>
                          <a:rPr lang="en-IN" b="1" i="1">
                            <a:latin typeface="Cambria Math" panose="02040503050406030204" pitchFamily="18" charset="0"/>
                          </a:rPr>
                          <m:t>=</m:t>
                        </m:r>
                        <m:r>
                          <a:rPr lang="en-IN" b="1" i="1">
                            <a:latin typeface="Cambria Math" panose="02040503050406030204" pitchFamily="18" charset="0"/>
                          </a:rPr>
                          <m:t>𝟎</m:t>
                        </m:r>
                      </m:sub>
                      <m:sup>
                        <m:r>
                          <a:rPr lang="en-IN" b="1" i="1">
                            <a:latin typeface="Cambria Math" panose="02040503050406030204" pitchFamily="18" charset="0"/>
                          </a:rPr>
                          <m:t>𝒏</m:t>
                        </m:r>
                      </m:sup>
                      <m:e>
                        <m:d>
                          <m:dPr>
                            <m:ctrlPr>
                              <a:rPr lang="pt-BR" b="1" i="1">
                                <a:latin typeface="Cambria Math" panose="02040503050406030204" pitchFamily="18" charset="0"/>
                              </a:rPr>
                            </m:ctrlPr>
                          </m:dPr>
                          <m:e>
                            <m:acc>
                              <m:accPr>
                                <m:chr m:val="̂"/>
                                <m:ctrlPr>
                                  <a:rPr lang="ar-AE" b="1" i="1">
                                    <a:latin typeface="Cambria Math" panose="02040503050406030204" pitchFamily="18" charset="0"/>
                                  </a:rPr>
                                </m:ctrlPr>
                              </m:accPr>
                              <m:e>
                                <m:sSub>
                                  <m:sSubPr>
                                    <m:ctrlPr>
                                      <a:rPr lang="ar-AE" b="1" i="1">
                                        <a:latin typeface="Cambria Math" panose="02040503050406030204" pitchFamily="18" charset="0"/>
                                      </a:rPr>
                                    </m:ctrlPr>
                                  </m:sSubPr>
                                  <m:e>
                                    <m:r>
                                      <a:rPr lang="ar-AE" b="1" i="1">
                                        <a:latin typeface="Cambria Math" panose="02040503050406030204" pitchFamily="18" charset="0"/>
                                      </a:rPr>
                                      <m:t>𝒚</m:t>
                                    </m:r>
                                  </m:e>
                                  <m:sub>
                                    <m:r>
                                      <a:rPr lang="ar-AE" b="1" i="1">
                                        <a:latin typeface="Cambria Math" panose="02040503050406030204" pitchFamily="18" charset="0"/>
                                      </a:rPr>
                                      <m:t>𝒊</m:t>
                                    </m:r>
                                  </m:sub>
                                </m:sSub>
                              </m:e>
                            </m:acc>
                            <m:r>
                              <a:rPr lang="en-IN" b="1" i="1">
                                <a:latin typeface="Cambria Math" panose="02040503050406030204" pitchFamily="18" charset="0"/>
                              </a:rPr>
                              <m:t> −</m:t>
                            </m:r>
                            <m:sSub>
                              <m:sSubPr>
                                <m:ctrlPr>
                                  <a:rPr lang="ar-AE" b="1" i="1">
                                    <a:latin typeface="Cambria Math" panose="02040503050406030204" pitchFamily="18" charset="0"/>
                                  </a:rPr>
                                </m:ctrlPr>
                              </m:sSubPr>
                              <m:e>
                                <m:r>
                                  <a:rPr lang="en-IN" b="1" i="1">
                                    <a:latin typeface="Cambria Math" panose="02040503050406030204" pitchFamily="18" charset="0"/>
                                  </a:rPr>
                                  <m:t>𝒚</m:t>
                                </m:r>
                              </m:e>
                              <m:sub>
                                <m:r>
                                  <a:rPr lang="ar-AE" b="1" i="1">
                                    <a:latin typeface="Cambria Math" panose="02040503050406030204" pitchFamily="18" charset="0"/>
                                  </a:rPr>
                                  <m:t>𝒊</m:t>
                                </m:r>
                              </m:sub>
                            </m:sSub>
                          </m:e>
                        </m:d>
                      </m:e>
                    </m:nary>
                    <m:r>
                      <a:rPr lang="en-IN" b="1" i="1" baseline="30000">
                        <a:latin typeface="Cambria Math" panose="02040503050406030204" pitchFamily="18" charset="0"/>
                      </a:rPr>
                      <m:t>𝟐</m:t>
                    </m:r>
                  </m:oMath>
                </a14:m>
                <a:endParaRPr lang="en-IN" b="1" baseline="30000" dirty="0"/>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a:latin typeface="Cambria Math" panose="02040503050406030204" pitchFamily="18" charset="0"/>
                          </a:rPr>
                          <m:t>0</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i="1">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oMath>
                </a14:m>
                <a:endParaRPr lang="ar-AE" sz="2400" dirty="0"/>
              </a:p>
              <a:p>
                <a:pPr fontAlgn="base"/>
                <a14:m>
                  <m:oMath xmlns:m="http://schemas.openxmlformats.org/officeDocument/2006/math">
                    <m:r>
                      <a:rPr lang="en-IN" sz="2400" i="1">
                        <a:latin typeface="Cambria Math" panose="02040503050406030204" pitchFamily="18" charset="0"/>
                      </a:rPr>
                      <m:t>𝑛</m:t>
                    </m:r>
                  </m:oMath>
                </a14:m>
                <a:r>
                  <a:rPr lang="en-IN" sz="2400" dirty="0"/>
                  <a:t>is the number of data points.</a:t>
                </a:r>
              </a:p>
              <a:p>
                <a:pPr fontAlgn="base"/>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oMath>
                </a14:m>
                <a:r>
                  <a:rPr lang="en-IN" sz="2400" dirty="0"/>
                  <a:t>is the actual or observed value for the</a:t>
                </a:r>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𝑖</m:t>
                        </m:r>
                      </m:e>
                      <m:sup>
                        <m:r>
                          <a:rPr lang="ar-AE" sz="2400" i="1">
                            <a:latin typeface="Cambria Math" panose="02040503050406030204" pitchFamily="18" charset="0"/>
                          </a:rPr>
                          <m:t>𝑡</m:t>
                        </m:r>
                        <m:r>
                          <a:rPr lang="ar-AE" sz="2400" i="1">
                            <a:latin typeface="Cambria Math" panose="02040503050406030204" pitchFamily="18" charset="0"/>
                          </a:rPr>
                          <m:t>h</m:t>
                        </m:r>
                      </m:sup>
                    </m:sSup>
                  </m:oMath>
                </a14:m>
                <a:r>
                  <a:rPr lang="en-IN" sz="2400" dirty="0"/>
                  <a:t>data point.</a:t>
                </a:r>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oMath>
                </a14:m>
                <a:r>
                  <a:rPr lang="ar-AE" sz="2400" dirty="0"/>
                  <a:t> </a:t>
                </a:r>
                <a:r>
                  <a:rPr lang="en-IN" sz="2400" dirty="0"/>
                  <a:t>is the predicted value for the </a:t>
                </a:r>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𝑖</m:t>
                        </m:r>
                      </m:e>
                      <m:sup>
                        <m:r>
                          <a:rPr lang="ar-AE" sz="2400" i="1">
                            <a:latin typeface="Cambria Math" panose="02040503050406030204" pitchFamily="18" charset="0"/>
                          </a:rPr>
                          <m:t>𝑡</m:t>
                        </m:r>
                        <m:r>
                          <a:rPr lang="ar-AE" sz="2400" i="1">
                            <a:latin typeface="Cambria Math" panose="02040503050406030204" pitchFamily="18" charset="0"/>
                          </a:rPr>
                          <m:t>h</m:t>
                        </m:r>
                      </m:sup>
                    </m:sSup>
                  </m:oMath>
                </a14:m>
                <a:r>
                  <a:rPr lang="en-IN" sz="2400" dirty="0"/>
                  <a:t>data point.</a:t>
                </a:r>
              </a:p>
              <a:p>
                <a:pPr fontAlgn="base"/>
                <a:r>
                  <a:rPr lang="en-IN" sz="2400" dirty="0"/>
                  <a:t>MSE is a way to quantify the accuracy of a model's predictions. MSE is sensitive to outliers as large errors contribute significantly to the overall score.</a:t>
                </a:r>
              </a:p>
            </p:txBody>
          </p:sp>
        </mc:Choice>
        <mc:Fallback xmlns="">
          <p:sp>
            <p:nvSpPr>
              <p:cNvPr id="3" name="Content Placeholder 2">
                <a:extLst>
                  <a:ext uri="{FF2B5EF4-FFF2-40B4-BE49-F238E27FC236}">
                    <a16:creationId xmlns:a16="http://schemas.microsoft.com/office/drawing/2014/main" id="{2BDB10E2-6C45-4904-3F8C-83852336D93B}"/>
                  </a:ext>
                </a:extLst>
              </p:cNvPr>
              <p:cNvSpPr>
                <a:spLocks noGrp="1" noRot="1" noChangeAspect="1" noMove="1" noResize="1" noEditPoints="1" noAdjustHandles="1" noChangeArrowheads="1" noChangeShapeType="1" noTextEdit="1"/>
              </p:cNvSpPr>
              <p:nvPr>
                <p:ph idx="1"/>
              </p:nvPr>
            </p:nvSpPr>
            <p:spPr>
              <a:xfrm>
                <a:off x="838200" y="1690688"/>
                <a:ext cx="10515600" cy="4802187"/>
              </a:xfrm>
              <a:blipFill>
                <a:blip r:embed="rId2"/>
                <a:stretch>
                  <a:fillRect l="-812" t="-1777" r="-1391" b="-1396"/>
                </a:stretch>
              </a:blipFill>
            </p:spPr>
            <p:txBody>
              <a:bodyPr/>
              <a:lstStyle/>
              <a:p>
                <a:r>
                  <a:rPr lang="en-IN">
                    <a:noFill/>
                  </a:rPr>
                  <a:t> </a:t>
                </a:r>
              </a:p>
            </p:txBody>
          </p:sp>
        </mc:Fallback>
      </mc:AlternateContent>
    </p:spTree>
    <p:extLst>
      <p:ext uri="{BB962C8B-B14F-4D97-AF65-F5344CB8AC3E}">
        <p14:creationId xmlns:p14="http://schemas.microsoft.com/office/powerpoint/2010/main" val="2594709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8C62-B893-2289-56EE-63B15D5BB35A}"/>
              </a:ext>
            </a:extLst>
          </p:cNvPr>
          <p:cNvSpPr>
            <a:spLocks noGrp="1"/>
          </p:cNvSpPr>
          <p:nvPr>
            <p:ph type="title"/>
          </p:nvPr>
        </p:nvSpPr>
        <p:spPr/>
        <p:txBody>
          <a:bodyPr/>
          <a:lstStyle/>
          <a:p>
            <a:r>
              <a:rPr lang="es-ES" b="1" dirty="0"/>
              <a:t>2. Mean Absolute Error (MAE)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6375AB-D9CB-98D1-1482-0DB3F0FABE70}"/>
                  </a:ext>
                </a:extLst>
              </p:cNvPr>
              <p:cNvSpPr>
                <a:spLocks noGrp="1"/>
              </p:cNvSpPr>
              <p:nvPr>
                <p:ph idx="1"/>
              </p:nvPr>
            </p:nvSpPr>
            <p:spPr>
              <a:xfrm>
                <a:off x="838200" y="1825625"/>
                <a:ext cx="10515600" cy="4667250"/>
              </a:xfrm>
            </p:spPr>
            <p:txBody>
              <a:bodyPr>
                <a:normAutofit/>
              </a:bodyPr>
              <a:lstStyle/>
              <a:p>
                <a:pPr fontAlgn="base"/>
                <a:r>
                  <a:rPr lang="en-IN" sz="2400" dirty="0"/>
                  <a:t>Mean Absolute Error is an evaluation metric used to calculate the accuracy of a regression model. MAE measures the average absolute difference between the predicted values and actual values.</a:t>
                </a:r>
              </a:p>
              <a:p>
                <a:pPr fontAlgn="base"/>
                <a:r>
                  <a:rPr lang="en-IN" sz="2400" dirty="0"/>
                  <a:t>Mathematically MAE is expressed as: </a:t>
                </a:r>
                <a:endParaRPr lang="en-IN" sz="2400" i="1" dirty="0"/>
              </a:p>
              <a:p>
                <a:pPr marL="0" indent="0" algn="r" fontAlgn="base">
                  <a:buNone/>
                </a:pPr>
                <a:r>
                  <a:rPr lang="en-IN" sz="2400" dirty="0"/>
                  <a:t>  </a:t>
                </a:r>
                <a14:m>
                  <m:oMath xmlns:m="http://schemas.openxmlformats.org/officeDocument/2006/math">
                    <m:r>
                      <a:rPr lang="en-IN" b="1" i="1">
                        <a:latin typeface="Cambria Math" panose="02040503050406030204" pitchFamily="18" charset="0"/>
                      </a:rPr>
                      <m:t>𝑴𝑨𝑬</m:t>
                    </m:r>
                    <m:r>
                      <a:rPr lang="en-IN" b="1">
                        <a:latin typeface="Cambria Math" panose="02040503050406030204" pitchFamily="18" charset="0"/>
                      </a:rPr>
                      <m:t>=</m:t>
                    </m:r>
                    <m:f>
                      <m:fPr>
                        <m:ctrlPr>
                          <a:rPr lang="ar-AE" b="1" i="1">
                            <a:latin typeface="Cambria Math" panose="02040503050406030204" pitchFamily="18" charset="0"/>
                          </a:rPr>
                        </m:ctrlPr>
                      </m:fPr>
                      <m:num>
                        <m:r>
                          <a:rPr lang="ar-AE" b="1" i="1">
                            <a:latin typeface="Cambria Math" panose="02040503050406030204" pitchFamily="18" charset="0"/>
                          </a:rPr>
                          <m:t>𝟏</m:t>
                        </m:r>
                      </m:num>
                      <m:den>
                        <m:r>
                          <a:rPr lang="ar-AE" b="1" i="1">
                            <a:latin typeface="Cambria Math" panose="02040503050406030204" pitchFamily="18" charset="0"/>
                          </a:rPr>
                          <m:t>𝒏</m:t>
                        </m:r>
                      </m:den>
                    </m:f>
                    <m:nary>
                      <m:naryPr>
                        <m:chr m:val="∑"/>
                        <m:limLoc m:val="subSup"/>
                        <m:grow m:val="on"/>
                        <m:ctrlPr>
                          <a:rPr lang="ar-AE" b="1" i="1">
                            <a:latin typeface="Cambria Math" panose="02040503050406030204" pitchFamily="18" charset="0"/>
                          </a:rPr>
                        </m:ctrlPr>
                      </m:naryPr>
                      <m:sub>
                        <m:r>
                          <a:rPr lang="ar-AE" b="1" i="1">
                            <a:latin typeface="Cambria Math" panose="02040503050406030204" pitchFamily="18" charset="0"/>
                          </a:rPr>
                          <m:t>𝒊</m:t>
                        </m:r>
                        <m:r>
                          <a:rPr lang="ar-AE" b="1">
                            <a:latin typeface="Cambria Math" panose="02040503050406030204" pitchFamily="18" charset="0"/>
                          </a:rPr>
                          <m:t>=</m:t>
                        </m:r>
                        <m:r>
                          <a:rPr lang="ar-AE" b="1" i="1">
                            <a:latin typeface="Cambria Math" panose="02040503050406030204" pitchFamily="18" charset="0"/>
                          </a:rPr>
                          <m:t>𝟏</m:t>
                        </m:r>
                      </m:sub>
                      <m:sup>
                        <m:r>
                          <a:rPr lang="ar-AE" b="1" i="1">
                            <a:latin typeface="Cambria Math" panose="02040503050406030204" pitchFamily="18" charset="0"/>
                          </a:rPr>
                          <m:t>𝒏</m:t>
                        </m:r>
                      </m:sup>
                      <m:e>
                        <m:r>
                          <a:rPr lang="ar-AE" b="1">
                            <a:latin typeface="Cambria Math" panose="02040503050406030204" pitchFamily="18" charset="0"/>
                          </a:rPr>
                          <m:t>∣</m:t>
                        </m:r>
                      </m:e>
                    </m:nary>
                    <m:sSub>
                      <m:sSubPr>
                        <m:ctrlPr>
                          <a:rPr lang="ar-AE" b="1" i="1">
                            <a:latin typeface="Cambria Math" panose="02040503050406030204" pitchFamily="18" charset="0"/>
                          </a:rPr>
                        </m:ctrlPr>
                      </m:sSubPr>
                      <m:e>
                        <m:r>
                          <a:rPr lang="ar-AE" b="1" i="1">
                            <a:latin typeface="Cambria Math" panose="02040503050406030204" pitchFamily="18" charset="0"/>
                          </a:rPr>
                          <m:t>𝒀</m:t>
                        </m:r>
                      </m:e>
                      <m:sub>
                        <m:r>
                          <a:rPr lang="ar-AE" b="1" i="1">
                            <a:latin typeface="Cambria Math" panose="02040503050406030204" pitchFamily="18" charset="0"/>
                          </a:rPr>
                          <m:t>𝒊</m:t>
                        </m:r>
                      </m:sub>
                    </m:sSub>
                    <m:r>
                      <a:rPr lang="ar-AE" b="1">
                        <a:latin typeface="Cambria Math" panose="02040503050406030204" pitchFamily="18" charset="0"/>
                      </a:rPr>
                      <m:t>−</m:t>
                    </m:r>
                    <m:acc>
                      <m:accPr>
                        <m:chr m:val="̂"/>
                        <m:ctrlPr>
                          <a:rPr lang="ar-AE" b="1" i="1">
                            <a:latin typeface="Cambria Math" panose="02040503050406030204" pitchFamily="18" charset="0"/>
                          </a:rPr>
                        </m:ctrlPr>
                      </m:accPr>
                      <m:e>
                        <m:sSub>
                          <m:sSubPr>
                            <m:ctrlPr>
                              <a:rPr lang="ar-AE" b="1" i="1">
                                <a:latin typeface="Cambria Math" panose="02040503050406030204" pitchFamily="18" charset="0"/>
                              </a:rPr>
                            </m:ctrlPr>
                          </m:sSubPr>
                          <m:e>
                            <m:r>
                              <a:rPr lang="ar-AE" b="1" i="1">
                                <a:latin typeface="Cambria Math" panose="02040503050406030204" pitchFamily="18" charset="0"/>
                              </a:rPr>
                              <m:t>𝒀</m:t>
                            </m:r>
                          </m:e>
                          <m:sub>
                            <m:r>
                              <a:rPr lang="ar-AE" b="1" i="1">
                                <a:latin typeface="Cambria Math" panose="02040503050406030204" pitchFamily="18" charset="0"/>
                              </a:rPr>
                              <m:t>𝒊</m:t>
                            </m:r>
                          </m:sub>
                        </m:sSub>
                      </m:e>
                    </m:acc>
                    <m:r>
                      <a:rPr lang="ar-AE" b="1">
                        <a:latin typeface="Cambria Math" panose="02040503050406030204" pitchFamily="18" charset="0"/>
                      </a:rPr>
                      <m:t>∣</m:t>
                    </m:r>
                    <m:r>
                      <a:rPr lang="en-IN" b="0" i="0" smtClean="0">
                        <a:latin typeface="Cambria Math" panose="02040503050406030204" pitchFamily="18" charset="0"/>
                      </a:rPr>
                      <m:t>                       </m:t>
                    </m:r>
                  </m:oMath>
                </a14:m>
                <a:endParaRPr lang="ar-AE" sz="2400" i="1" dirty="0"/>
              </a:p>
              <a:p>
                <a:pPr fontAlgn="base"/>
                <a:r>
                  <a:rPr lang="en-IN" sz="2400" dirty="0"/>
                  <a:t>n is the number of observations</a:t>
                </a:r>
              </a:p>
              <a:p>
                <a:pPr fontAlgn="base"/>
                <a:r>
                  <a:rPr lang="en-IN" sz="2400" dirty="0"/>
                  <a:t>Y</a:t>
                </a:r>
                <a:r>
                  <a:rPr lang="en-IN" sz="2400" baseline="-25000" dirty="0"/>
                  <a:t>i</a:t>
                </a:r>
                <a:r>
                  <a:rPr lang="en-IN" sz="2400" dirty="0"/>
                  <a:t> represents the actual values.</a:t>
                </a:r>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𝑌</m:t>
                            </m:r>
                          </m:e>
                          <m:sub>
                            <m:r>
                              <a:rPr lang="ar-AE" sz="2400" i="1">
                                <a:latin typeface="Cambria Math" panose="02040503050406030204" pitchFamily="18" charset="0"/>
                              </a:rPr>
                              <m:t>𝑖</m:t>
                            </m:r>
                          </m:sub>
                        </m:sSub>
                      </m:e>
                    </m:acc>
                  </m:oMath>
                </a14:m>
                <a:r>
                  <a:rPr lang="ar-AE" sz="2400" dirty="0"/>
                  <a:t> </a:t>
                </a:r>
                <a:r>
                  <a:rPr lang="en-IN" sz="2400" dirty="0"/>
                  <a:t>represents the predicted values</a:t>
                </a:r>
              </a:p>
              <a:p>
                <a:pPr fontAlgn="base"/>
                <a:r>
                  <a:rPr lang="en-IN" sz="2400" dirty="0"/>
                  <a:t>Lower MAE value indicates better model performance. It is not sensitive to the outliers as we consider absolute differences.</a:t>
                </a:r>
              </a:p>
            </p:txBody>
          </p:sp>
        </mc:Choice>
        <mc:Fallback xmlns="">
          <p:sp>
            <p:nvSpPr>
              <p:cNvPr id="3" name="Content Placeholder 2">
                <a:extLst>
                  <a:ext uri="{FF2B5EF4-FFF2-40B4-BE49-F238E27FC236}">
                    <a16:creationId xmlns:a16="http://schemas.microsoft.com/office/drawing/2014/main" id="{9C6375AB-D9CB-98D1-1482-0DB3F0FABE70}"/>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812" t="-1828"/>
                </a:stretch>
              </a:blipFill>
            </p:spPr>
            <p:txBody>
              <a:bodyPr/>
              <a:lstStyle/>
              <a:p>
                <a:r>
                  <a:rPr lang="en-IN">
                    <a:noFill/>
                  </a:rPr>
                  <a:t> </a:t>
                </a:r>
              </a:p>
            </p:txBody>
          </p:sp>
        </mc:Fallback>
      </mc:AlternateContent>
    </p:spTree>
    <p:extLst>
      <p:ext uri="{BB962C8B-B14F-4D97-AF65-F5344CB8AC3E}">
        <p14:creationId xmlns:p14="http://schemas.microsoft.com/office/powerpoint/2010/main" val="24301227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B71F0-31CF-0D62-D46F-66A40AA1CB6B}"/>
              </a:ext>
            </a:extLst>
          </p:cNvPr>
          <p:cNvSpPr>
            <a:spLocks noGrp="1"/>
          </p:cNvSpPr>
          <p:nvPr>
            <p:ph type="title"/>
          </p:nvPr>
        </p:nvSpPr>
        <p:spPr/>
        <p:txBody>
          <a:bodyPr/>
          <a:lstStyle/>
          <a:p>
            <a:r>
              <a:rPr lang="en-IN" b="1" dirty="0"/>
              <a:t>3.</a:t>
            </a:r>
            <a:r>
              <a:rPr lang="en-US" b="1" dirty="0"/>
              <a:t>Root Mean Squared Error (RMSE)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9DB4A9-6584-2B4F-66F2-B03834F16AEB}"/>
                  </a:ext>
                </a:extLst>
              </p:cNvPr>
              <p:cNvSpPr>
                <a:spLocks noGrp="1"/>
              </p:cNvSpPr>
              <p:nvPr>
                <p:ph idx="1"/>
              </p:nvPr>
            </p:nvSpPr>
            <p:spPr/>
            <p:txBody>
              <a:bodyPr>
                <a:normAutofit fontScale="92500" lnSpcReduction="10000"/>
              </a:bodyPr>
              <a:lstStyle/>
              <a:p>
                <a:pPr fontAlgn="base"/>
                <a:r>
                  <a:rPr lang="en-IN" dirty="0"/>
                  <a:t>The square root of the residuals' variance is the Root Mean Squared Error. </a:t>
                </a:r>
              </a:p>
              <a:p>
                <a:pPr fontAlgn="base"/>
                <a:r>
                  <a:rPr lang="en-IN" dirty="0"/>
                  <a:t>It describes how well the observed data points match the expected values or the model's absolute fit to the data. In mathematical notation, it can be expressed as:</a:t>
                </a:r>
              </a:p>
              <a:p>
                <a:pPr fontAlgn="base"/>
                <a:endParaRPr lang="en-IN" i="1" dirty="0"/>
              </a:p>
              <a:p>
                <a:pPr fontAlgn="base"/>
                <a14:m>
                  <m:oMath xmlns:m="http://schemas.openxmlformats.org/officeDocument/2006/math">
                    <m:r>
                      <a:rPr lang="en-IN" i="1">
                        <a:latin typeface="Cambria Math" panose="02040503050406030204" pitchFamily="18" charset="0"/>
                      </a:rPr>
                      <m:t>𝑛</m:t>
                    </m:r>
                  </m:oMath>
                </a14:m>
                <a:r>
                  <a:rPr lang="en-IN" dirty="0"/>
                  <a:t> : Number of observations</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 </a:t>
                </a:r>
                <a:r>
                  <a:rPr lang="en-IN" dirty="0"/>
                  <a:t>Actual value</a:t>
                </a:r>
              </a:p>
              <a:p>
                <a:pPr fontAlgn="base"/>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acc>
                  </m:oMath>
                </a14:m>
                <a:r>
                  <a:rPr lang="ar-AE" dirty="0"/>
                  <a:t>​ : </a:t>
                </a:r>
                <a:r>
                  <a:rPr lang="en-IN" dirty="0"/>
                  <a:t>Predicted value</a:t>
                </a:r>
              </a:p>
              <a:p>
                <a:pPr fontAlgn="base"/>
                <a:r>
                  <a:rPr lang="en-IN" dirty="0"/>
                  <a:t>RMSE is in the same unit as the target variable and highlights larger errors more clearly.</a:t>
                </a:r>
              </a:p>
              <a:p>
                <a:endParaRPr lang="en-IN" dirty="0"/>
              </a:p>
            </p:txBody>
          </p:sp>
        </mc:Choice>
        <mc:Fallback xmlns="">
          <p:sp>
            <p:nvSpPr>
              <p:cNvPr id="3" name="Content Placeholder 2">
                <a:extLst>
                  <a:ext uri="{FF2B5EF4-FFF2-40B4-BE49-F238E27FC236}">
                    <a16:creationId xmlns:a16="http://schemas.microsoft.com/office/drawing/2014/main" id="{599DB4A9-6584-2B4F-66F2-B03834F16AEB}"/>
                  </a:ext>
                </a:extLst>
              </p:cNvPr>
              <p:cNvSpPr>
                <a:spLocks noGrp="1" noRot="1" noChangeAspect="1" noMove="1" noResize="1" noEditPoints="1" noAdjustHandles="1" noChangeArrowheads="1" noChangeShapeType="1" noTextEdit="1"/>
              </p:cNvSpPr>
              <p:nvPr>
                <p:ph idx="1"/>
              </p:nvPr>
            </p:nvSpPr>
            <p:spPr>
              <a:blipFill>
                <a:blip r:embed="rId2"/>
                <a:stretch>
                  <a:fillRect l="-928" t="-2801" r="-11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F4541063-E7F8-3950-B9E3-C5FCD7699832}"/>
              </a:ext>
            </a:extLst>
          </p:cNvPr>
          <p:cNvPicPr>
            <a:picLocks noChangeAspect="1"/>
          </p:cNvPicPr>
          <p:nvPr/>
        </p:nvPicPr>
        <p:blipFill>
          <a:blip r:embed="rId3"/>
          <a:stretch>
            <a:fillRect/>
          </a:stretch>
        </p:blipFill>
        <p:spPr>
          <a:xfrm>
            <a:off x="5461322" y="3180585"/>
            <a:ext cx="5133790" cy="1695635"/>
          </a:xfrm>
          <a:prstGeom prst="rect">
            <a:avLst/>
          </a:prstGeom>
        </p:spPr>
      </p:pic>
    </p:spTree>
    <p:extLst>
      <p:ext uri="{BB962C8B-B14F-4D97-AF65-F5344CB8AC3E}">
        <p14:creationId xmlns:p14="http://schemas.microsoft.com/office/powerpoint/2010/main" val="3445948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C634-0EEC-5FF0-9E47-8193929AB38D}"/>
              </a:ext>
            </a:extLst>
          </p:cNvPr>
          <p:cNvSpPr>
            <a:spLocks noGrp="1"/>
          </p:cNvSpPr>
          <p:nvPr>
            <p:ph type="title"/>
          </p:nvPr>
        </p:nvSpPr>
        <p:spPr/>
        <p:txBody>
          <a:bodyPr/>
          <a:lstStyle/>
          <a:p>
            <a:r>
              <a:rPr lang="en-IN" b="1" dirty="0"/>
              <a:t>Normal Equation</a:t>
            </a:r>
          </a:p>
        </p:txBody>
      </p:sp>
      <p:pic>
        <p:nvPicPr>
          <p:cNvPr id="5" name="Content Placeholder 4">
            <a:extLst>
              <a:ext uri="{FF2B5EF4-FFF2-40B4-BE49-F238E27FC236}">
                <a16:creationId xmlns:a16="http://schemas.microsoft.com/office/drawing/2014/main" id="{8ECAD6B6-2918-FDFA-FFD9-612877C03827}"/>
              </a:ext>
            </a:extLst>
          </p:cNvPr>
          <p:cNvPicPr>
            <a:picLocks noGrp="1" noChangeAspect="1"/>
          </p:cNvPicPr>
          <p:nvPr>
            <p:ph idx="1"/>
          </p:nvPr>
        </p:nvPicPr>
        <p:blipFill>
          <a:blip r:embed="rId2"/>
          <a:stretch>
            <a:fillRect/>
          </a:stretch>
        </p:blipFill>
        <p:spPr>
          <a:xfrm>
            <a:off x="838200" y="1690689"/>
            <a:ext cx="6695661" cy="2458002"/>
          </a:xfrm>
          <a:prstGeom prst="rect">
            <a:avLst/>
          </a:prstGeom>
        </p:spPr>
      </p:pic>
    </p:spTree>
    <p:extLst>
      <p:ext uri="{BB962C8B-B14F-4D97-AF65-F5344CB8AC3E}">
        <p14:creationId xmlns:p14="http://schemas.microsoft.com/office/powerpoint/2010/main" val="3303334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A973F-F157-DA24-1902-598160B50299}"/>
              </a:ext>
            </a:extLst>
          </p:cNvPr>
          <p:cNvSpPr>
            <a:spLocks noGrp="1"/>
          </p:cNvSpPr>
          <p:nvPr>
            <p:ph type="title"/>
          </p:nvPr>
        </p:nvSpPr>
        <p:spPr/>
        <p:txBody>
          <a:bodyPr/>
          <a:lstStyle/>
          <a:p>
            <a:r>
              <a:rPr lang="en-US" b="1" dirty="0"/>
              <a:t>Regularization Techniques for Linear Models</a:t>
            </a:r>
            <a:endParaRPr lang="en-IN" dirty="0"/>
          </a:p>
        </p:txBody>
      </p:sp>
      <p:sp>
        <p:nvSpPr>
          <p:cNvPr id="3" name="Content Placeholder 2">
            <a:extLst>
              <a:ext uri="{FF2B5EF4-FFF2-40B4-BE49-F238E27FC236}">
                <a16:creationId xmlns:a16="http://schemas.microsoft.com/office/drawing/2014/main" id="{D29406C5-3157-EEFF-1825-D04214F017A4}"/>
              </a:ext>
            </a:extLst>
          </p:cNvPr>
          <p:cNvSpPr>
            <a:spLocks noGrp="1"/>
          </p:cNvSpPr>
          <p:nvPr>
            <p:ph idx="1"/>
          </p:nvPr>
        </p:nvSpPr>
        <p:spPr/>
        <p:txBody>
          <a:bodyPr/>
          <a:lstStyle/>
          <a:p>
            <a:r>
              <a:rPr lang="en-US" b="1" dirty="0"/>
              <a:t>Regularization</a:t>
            </a:r>
            <a:r>
              <a:rPr lang="en-US" dirty="0"/>
              <a:t> is a technique used to </a:t>
            </a:r>
            <a:r>
              <a:rPr lang="en-US" b="1" dirty="0"/>
              <a:t>prevent overfitting</a:t>
            </a:r>
            <a:r>
              <a:rPr lang="en-US" dirty="0"/>
              <a:t> by adding a </a:t>
            </a:r>
            <a:r>
              <a:rPr lang="en-US" b="1" dirty="0"/>
              <a:t>penalty term</a:t>
            </a:r>
            <a:r>
              <a:rPr lang="en-US" dirty="0"/>
              <a:t> to the loss (cost) function.</a:t>
            </a:r>
          </a:p>
          <a:p>
            <a:r>
              <a:rPr lang="en-US" dirty="0"/>
              <a:t>It discourages the model from learning </a:t>
            </a:r>
            <a:r>
              <a:rPr lang="en-US" b="1" dirty="0"/>
              <a:t>overly complex patterns</a:t>
            </a:r>
            <a:r>
              <a:rPr lang="en-US" dirty="0"/>
              <a:t> and helps it </a:t>
            </a:r>
            <a:r>
              <a:rPr lang="en-US" b="1" dirty="0"/>
              <a:t>generalize better</a:t>
            </a:r>
            <a:r>
              <a:rPr lang="en-US" dirty="0"/>
              <a:t> to unseen data.</a:t>
            </a:r>
          </a:p>
          <a:p>
            <a:pPr marL="0" indent="0">
              <a:buNone/>
            </a:pPr>
            <a:endParaRPr lang="en-IN" dirty="0"/>
          </a:p>
          <a:p>
            <a:pPr marL="971550" lvl="1" indent="-514350">
              <a:buAutoNum type="arabicPeriod"/>
            </a:pPr>
            <a:r>
              <a:rPr lang="en-IN" dirty="0"/>
              <a:t>Lasso Regression (L1 Regularization)</a:t>
            </a:r>
          </a:p>
          <a:p>
            <a:pPr marL="971550" lvl="1" indent="-514350">
              <a:buFont typeface="Arial" panose="020B0604020202020204" pitchFamily="34" charset="0"/>
              <a:buAutoNum type="arabicPeriod"/>
            </a:pPr>
            <a:r>
              <a:rPr lang="en-US" dirty="0"/>
              <a:t>Ridge Regression (L2 Regularization)</a:t>
            </a:r>
          </a:p>
          <a:p>
            <a:pPr marL="971550" lvl="1" indent="-514350">
              <a:buFont typeface="Arial" panose="020B0604020202020204" pitchFamily="34" charset="0"/>
              <a:buAutoNum type="arabicPeriod"/>
            </a:pPr>
            <a:r>
              <a:rPr lang="en-IN" dirty="0"/>
              <a:t>Elastic Net Regression</a:t>
            </a:r>
          </a:p>
          <a:p>
            <a:pPr marL="514350" indent="-514350">
              <a:buFont typeface="Arial" panose="020B0604020202020204" pitchFamily="34" charset="0"/>
              <a:buAutoNum type="arabicPeriod"/>
            </a:pPr>
            <a:endParaRPr lang="en-US" b="1" dirty="0"/>
          </a:p>
          <a:p>
            <a:pPr marL="514350" indent="-514350">
              <a:buAutoNum type="arabicPeriod"/>
            </a:pPr>
            <a:endParaRPr lang="en-IN" b="1" dirty="0"/>
          </a:p>
          <a:p>
            <a:pPr marL="514350" indent="-514350">
              <a:buAutoNum type="arabicPeriod"/>
            </a:pPr>
            <a:endParaRPr lang="en-IN" b="1" dirty="0"/>
          </a:p>
          <a:p>
            <a:pPr marL="0" indent="0">
              <a:buNone/>
            </a:pPr>
            <a:endParaRPr lang="en-IN" dirty="0"/>
          </a:p>
        </p:txBody>
      </p:sp>
    </p:spTree>
    <p:extLst>
      <p:ext uri="{BB962C8B-B14F-4D97-AF65-F5344CB8AC3E}">
        <p14:creationId xmlns:p14="http://schemas.microsoft.com/office/powerpoint/2010/main" val="897716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359B9-1701-19AE-522A-CB853B469DEB}"/>
              </a:ext>
            </a:extLst>
          </p:cNvPr>
          <p:cNvSpPr>
            <a:spLocks noGrp="1"/>
          </p:cNvSpPr>
          <p:nvPr>
            <p:ph type="title"/>
          </p:nvPr>
        </p:nvSpPr>
        <p:spPr/>
        <p:txBody>
          <a:bodyPr/>
          <a:lstStyle/>
          <a:p>
            <a:r>
              <a:rPr lang="en-IN" b="1" dirty="0"/>
              <a:t>1. Lasso Regression (L1 Regularization)</a:t>
            </a:r>
            <a:endParaRPr lang="en-IN" dirty="0"/>
          </a:p>
        </p:txBody>
      </p:sp>
      <p:sp>
        <p:nvSpPr>
          <p:cNvPr id="3" name="Content Placeholder 2">
            <a:extLst>
              <a:ext uri="{FF2B5EF4-FFF2-40B4-BE49-F238E27FC236}">
                <a16:creationId xmlns:a16="http://schemas.microsoft.com/office/drawing/2014/main" id="{4CD21429-2D44-09F0-53A0-B1CCE5844EEE}"/>
              </a:ext>
            </a:extLst>
          </p:cNvPr>
          <p:cNvSpPr>
            <a:spLocks noGrp="1"/>
          </p:cNvSpPr>
          <p:nvPr>
            <p:ph idx="1"/>
          </p:nvPr>
        </p:nvSpPr>
        <p:spPr/>
        <p:txBody>
          <a:bodyPr>
            <a:normAutofit/>
          </a:bodyPr>
          <a:lstStyle/>
          <a:p>
            <a:pPr fontAlgn="base"/>
            <a:r>
              <a:rPr lang="en-US" b="1" u="sng" dirty="0"/>
              <a:t>Least Absolute Shrinkage and Selection Operator Regression</a:t>
            </a:r>
            <a:endParaRPr lang="en-US" sz="2400" b="1" u="sng" dirty="0"/>
          </a:p>
          <a:p>
            <a:pPr fontAlgn="base"/>
            <a:r>
              <a:rPr lang="en-US" sz="2400" dirty="0"/>
              <a:t>Lasso Regression is a technique used for regularizing a linear regression model, it adds a penalty term to the linear regression objective function to prevent overfitting.</a:t>
            </a:r>
          </a:p>
          <a:p>
            <a:pPr fontAlgn="base"/>
            <a:r>
              <a:rPr lang="en-IN" sz="2400" b="1" dirty="0"/>
              <a:t>Lasso Regression cost function </a:t>
            </a:r>
          </a:p>
          <a:p>
            <a:pPr fontAlgn="base"/>
            <a:endParaRPr lang="en-IN" sz="2400" b="1" dirty="0"/>
          </a:p>
          <a:p>
            <a:pPr fontAlgn="base"/>
            <a:r>
              <a:rPr lang="en-US" sz="2400" dirty="0"/>
              <a:t>First term is the least squares loss, representing the squared difference between predicted and actual values.</a:t>
            </a:r>
          </a:p>
          <a:p>
            <a:pPr fontAlgn="base"/>
            <a:r>
              <a:rPr lang="en-US" sz="2400" dirty="0"/>
              <a:t>Second term is the L1 regularization term, it penalizes the sum of absolute values of the regression coefficient </a:t>
            </a:r>
            <a:r>
              <a:rPr lang="en-US" sz="2400" dirty="0" err="1"/>
              <a:t>θ</a:t>
            </a:r>
            <a:r>
              <a:rPr lang="en-US" sz="2400" baseline="-25000" dirty="0" err="1"/>
              <a:t>i</a:t>
            </a:r>
            <a:r>
              <a:rPr lang="en-US" sz="2400" dirty="0"/>
              <a:t>.</a:t>
            </a:r>
          </a:p>
          <a:p>
            <a:endParaRPr lang="en-IN" sz="2400" dirty="0"/>
          </a:p>
        </p:txBody>
      </p:sp>
      <p:pic>
        <p:nvPicPr>
          <p:cNvPr id="5" name="Picture 4">
            <a:extLst>
              <a:ext uri="{FF2B5EF4-FFF2-40B4-BE49-F238E27FC236}">
                <a16:creationId xmlns:a16="http://schemas.microsoft.com/office/drawing/2014/main" id="{2BD02BEB-5152-5E6A-9445-8932CC862F98}"/>
              </a:ext>
            </a:extLst>
          </p:cNvPr>
          <p:cNvPicPr>
            <a:picLocks noChangeAspect="1"/>
          </p:cNvPicPr>
          <p:nvPr/>
        </p:nvPicPr>
        <p:blipFill>
          <a:blip r:embed="rId2"/>
          <a:stretch>
            <a:fillRect/>
          </a:stretch>
        </p:blipFill>
        <p:spPr>
          <a:xfrm>
            <a:off x="5456718" y="3229249"/>
            <a:ext cx="3982006" cy="762106"/>
          </a:xfrm>
          <a:prstGeom prst="rect">
            <a:avLst/>
          </a:prstGeom>
        </p:spPr>
      </p:pic>
    </p:spTree>
    <p:extLst>
      <p:ext uri="{BB962C8B-B14F-4D97-AF65-F5344CB8AC3E}">
        <p14:creationId xmlns:p14="http://schemas.microsoft.com/office/powerpoint/2010/main" val="965180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5CD59-56AF-AA3A-120D-058FA9AFAC6A}"/>
              </a:ext>
            </a:extLst>
          </p:cNvPr>
          <p:cNvSpPr>
            <a:spLocks noGrp="1"/>
          </p:cNvSpPr>
          <p:nvPr>
            <p:ph type="title"/>
          </p:nvPr>
        </p:nvSpPr>
        <p:spPr/>
        <p:txBody>
          <a:bodyPr/>
          <a:lstStyle/>
          <a:p>
            <a:r>
              <a:rPr lang="en-US" b="1" dirty="0"/>
              <a:t>2. Ridge Regression (L2 Regularization) </a:t>
            </a:r>
            <a:r>
              <a:rPr lang="en-IN" b="1" dirty="0"/>
              <a:t>Tikhonov regularization</a:t>
            </a:r>
          </a:p>
        </p:txBody>
      </p:sp>
      <p:sp>
        <p:nvSpPr>
          <p:cNvPr id="3" name="Content Placeholder 2">
            <a:extLst>
              <a:ext uri="{FF2B5EF4-FFF2-40B4-BE49-F238E27FC236}">
                <a16:creationId xmlns:a16="http://schemas.microsoft.com/office/drawing/2014/main" id="{FD14F7CB-1DB9-C958-FA1A-C58A3088AB36}"/>
              </a:ext>
            </a:extLst>
          </p:cNvPr>
          <p:cNvSpPr>
            <a:spLocks noGrp="1"/>
          </p:cNvSpPr>
          <p:nvPr>
            <p:ph idx="1"/>
          </p:nvPr>
        </p:nvSpPr>
        <p:spPr>
          <a:xfrm>
            <a:off x="838200" y="1825625"/>
            <a:ext cx="10515600" cy="4744140"/>
          </a:xfrm>
        </p:spPr>
        <p:txBody>
          <a:bodyPr>
            <a:normAutofit/>
          </a:bodyPr>
          <a:lstStyle/>
          <a:p>
            <a:pPr fontAlgn="base"/>
            <a:r>
              <a:rPr lang="en-US" sz="2400" dirty="0"/>
              <a:t>Ridge regression is a linear regression technique that adds a regularization </a:t>
            </a:r>
          </a:p>
          <a:p>
            <a:pPr fontAlgn="base">
              <a:buNone/>
            </a:pPr>
            <a:r>
              <a:rPr lang="en-US" sz="2400" dirty="0"/>
              <a:t>    term  to the standard linear objective. </a:t>
            </a:r>
          </a:p>
          <a:p>
            <a:pPr fontAlgn="base"/>
            <a:r>
              <a:rPr lang="en-US" sz="2400" dirty="0"/>
              <a:t>Goal is to prevent overfitting by penalizing large coefficient in linear regression equation. It useful when the dataset has multicollinearity where predictor variables are highly correlated.</a:t>
            </a:r>
          </a:p>
          <a:p>
            <a:r>
              <a:rPr lang="en-US" sz="2400" dirty="0"/>
              <a:t>This forces the learning algorithm to not only fit the data but also keep the model weights as small as possible. Note that the regularization term should only be added to the cost function during training.</a:t>
            </a:r>
          </a:p>
          <a:p>
            <a:r>
              <a:rPr lang="en-US" sz="2400" dirty="0"/>
              <a:t>Once the model is trained, you want to use the unregularized performance measure to evaluate the model’s performance.</a:t>
            </a:r>
          </a:p>
          <a:p>
            <a:endParaRPr lang="en-IN" sz="2400" dirty="0"/>
          </a:p>
        </p:txBody>
      </p:sp>
      <p:pic>
        <p:nvPicPr>
          <p:cNvPr id="5" name="Picture 4">
            <a:extLst>
              <a:ext uri="{FF2B5EF4-FFF2-40B4-BE49-F238E27FC236}">
                <a16:creationId xmlns:a16="http://schemas.microsoft.com/office/drawing/2014/main" id="{036D3219-B474-9EDF-F426-E27D76A58AEB}"/>
              </a:ext>
            </a:extLst>
          </p:cNvPr>
          <p:cNvPicPr>
            <a:picLocks noChangeAspect="1"/>
          </p:cNvPicPr>
          <p:nvPr/>
        </p:nvPicPr>
        <p:blipFill>
          <a:blip r:embed="rId2"/>
          <a:stretch>
            <a:fillRect/>
          </a:stretch>
        </p:blipFill>
        <p:spPr>
          <a:xfrm>
            <a:off x="10227884" y="2177705"/>
            <a:ext cx="1476581" cy="533474"/>
          </a:xfrm>
          <a:prstGeom prst="rect">
            <a:avLst/>
          </a:prstGeom>
        </p:spPr>
      </p:pic>
    </p:spTree>
    <p:extLst>
      <p:ext uri="{BB962C8B-B14F-4D97-AF65-F5344CB8AC3E}">
        <p14:creationId xmlns:p14="http://schemas.microsoft.com/office/powerpoint/2010/main" val="3114131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A5DB6-69F7-9643-BC17-52D77011069D}"/>
              </a:ext>
            </a:extLst>
          </p:cNvPr>
          <p:cNvSpPr>
            <a:spLocks noGrp="1"/>
          </p:cNvSpPr>
          <p:nvPr>
            <p:ph type="title"/>
          </p:nvPr>
        </p:nvSpPr>
        <p:spPr/>
        <p:txBody>
          <a:bodyPr/>
          <a:lstStyle/>
          <a:p>
            <a:r>
              <a:rPr lang="en-US" b="1" dirty="0"/>
              <a:t>2. Ridge Regression (L2 Regularization) </a:t>
            </a:r>
            <a:r>
              <a:rPr lang="en-IN" b="1" dirty="0"/>
              <a:t>Tikhonov regularization</a:t>
            </a:r>
            <a:endParaRPr lang="en-IN" dirty="0"/>
          </a:p>
        </p:txBody>
      </p:sp>
      <p:sp>
        <p:nvSpPr>
          <p:cNvPr id="3" name="Content Placeholder 2">
            <a:extLst>
              <a:ext uri="{FF2B5EF4-FFF2-40B4-BE49-F238E27FC236}">
                <a16:creationId xmlns:a16="http://schemas.microsoft.com/office/drawing/2014/main" id="{29D72805-8CB5-0F74-3C72-9BF6BDC8C07A}"/>
              </a:ext>
            </a:extLst>
          </p:cNvPr>
          <p:cNvSpPr>
            <a:spLocks noGrp="1"/>
          </p:cNvSpPr>
          <p:nvPr>
            <p:ph idx="1"/>
          </p:nvPr>
        </p:nvSpPr>
        <p:spPr/>
        <p:txBody>
          <a:bodyPr/>
          <a:lstStyle/>
          <a:p>
            <a:pPr marL="0" indent="0">
              <a:buNone/>
            </a:pPr>
            <a:r>
              <a:rPr lang="en-IN" b="1" dirty="0"/>
              <a:t>Ridge Regression cost function</a:t>
            </a:r>
          </a:p>
          <a:p>
            <a:pPr marL="0" indent="0">
              <a:buNone/>
            </a:pPr>
            <a:endParaRPr lang="en-IN" b="1" dirty="0"/>
          </a:p>
          <a:p>
            <a:r>
              <a:rPr lang="en-US" sz="2000" dirty="0"/>
              <a:t>First term is the least squares loss, representing the squared difference between predicted and actual values.</a:t>
            </a:r>
          </a:p>
          <a:p>
            <a:pPr fontAlgn="base"/>
            <a:r>
              <a:rPr lang="en-US" sz="2000" dirty="0"/>
              <a:t>Second term is the L2 regularization term, it penalizes the sum of square of values of the regression coefficient </a:t>
            </a:r>
            <a:r>
              <a:rPr lang="en-US" sz="2000" dirty="0" err="1"/>
              <a:t>θ</a:t>
            </a:r>
            <a:r>
              <a:rPr lang="en-US" sz="2000" baseline="-25000" dirty="0" err="1"/>
              <a:t>j</a:t>
            </a:r>
            <a:r>
              <a:rPr lang="en-US" sz="2000" dirty="0"/>
              <a:t>.</a:t>
            </a:r>
          </a:p>
          <a:p>
            <a:r>
              <a:rPr lang="en-US" sz="2000" dirty="0"/>
              <a:t>Bias term θ</a:t>
            </a:r>
            <a:r>
              <a:rPr lang="en-US" sz="2000" baseline="-25000" dirty="0"/>
              <a:t>0 </a:t>
            </a:r>
            <a:r>
              <a:rPr lang="en-US" sz="2000" dirty="0"/>
              <a:t> is not regularized (the sum starts at </a:t>
            </a:r>
            <a:r>
              <a:rPr lang="en-US" sz="2000" i="1" dirty="0" err="1"/>
              <a:t>i</a:t>
            </a:r>
            <a:r>
              <a:rPr lang="en-US" sz="2000" i="1" dirty="0"/>
              <a:t> </a:t>
            </a:r>
            <a:r>
              <a:rPr lang="en-US" sz="2000" dirty="0"/>
              <a:t>= 1, not 0). If we define </a:t>
            </a:r>
            <a:r>
              <a:rPr lang="en-US" sz="2000" b="1" dirty="0"/>
              <a:t>w </a:t>
            </a:r>
            <a:r>
              <a:rPr lang="en-US" sz="2000" dirty="0"/>
              <a:t>as the vector of feature weights (θ</a:t>
            </a:r>
            <a:r>
              <a:rPr lang="en-US" sz="2000" baseline="-25000" dirty="0"/>
              <a:t>1 </a:t>
            </a:r>
            <a:r>
              <a:rPr lang="en-US" sz="2000" dirty="0"/>
              <a:t> to </a:t>
            </a:r>
            <a:r>
              <a:rPr lang="en-US" sz="2000" dirty="0" err="1"/>
              <a:t>θ</a:t>
            </a:r>
            <a:r>
              <a:rPr lang="en-US" sz="2000" baseline="-25000" dirty="0" err="1"/>
              <a:t>n</a:t>
            </a:r>
            <a:r>
              <a:rPr lang="en-US" sz="2000" baseline="-25000" dirty="0"/>
              <a:t> </a:t>
            </a:r>
            <a:r>
              <a:rPr lang="en-US" sz="2000" dirty="0"/>
              <a:t>), then the regularization term is equal to .(∥ </a:t>
            </a:r>
            <a:r>
              <a:rPr lang="en-US" sz="2000" b="1" dirty="0"/>
              <a:t>w </a:t>
            </a:r>
            <a:r>
              <a:rPr lang="en-US" sz="2000" dirty="0"/>
              <a:t>∥</a:t>
            </a:r>
            <a:r>
              <a:rPr lang="en-US" sz="2000" baseline="-25000" dirty="0"/>
              <a:t>2</a:t>
            </a:r>
            <a:r>
              <a:rPr lang="en-US" sz="2000" dirty="0"/>
              <a:t>)</a:t>
            </a:r>
            <a:r>
              <a:rPr lang="en-US" sz="2000" baseline="30000" dirty="0"/>
              <a:t>2</a:t>
            </a:r>
            <a:r>
              <a:rPr lang="en-US" sz="2000" dirty="0"/>
              <a:t>, where ∥ </a:t>
            </a:r>
            <a:r>
              <a:rPr lang="en-US" sz="2000" b="1" dirty="0"/>
              <a:t>w </a:t>
            </a:r>
            <a:r>
              <a:rPr lang="en-US" sz="2000" dirty="0"/>
              <a:t>∥</a:t>
            </a:r>
            <a:r>
              <a:rPr lang="en-US" sz="2000" baseline="-25000" dirty="0"/>
              <a:t>2 </a:t>
            </a:r>
            <a:r>
              <a:rPr lang="en-US" sz="2000" dirty="0"/>
              <a:t>represents the ℓ2 norm of the weight vector.</a:t>
            </a:r>
            <a:endParaRPr lang="en-US" sz="1600" dirty="0"/>
          </a:p>
        </p:txBody>
      </p:sp>
      <p:pic>
        <p:nvPicPr>
          <p:cNvPr id="5" name="Picture 4">
            <a:extLst>
              <a:ext uri="{FF2B5EF4-FFF2-40B4-BE49-F238E27FC236}">
                <a16:creationId xmlns:a16="http://schemas.microsoft.com/office/drawing/2014/main" id="{2AF861F0-D3F6-2A74-2880-87D9F8E530E3}"/>
              </a:ext>
            </a:extLst>
          </p:cNvPr>
          <p:cNvPicPr>
            <a:picLocks noChangeAspect="1"/>
          </p:cNvPicPr>
          <p:nvPr/>
        </p:nvPicPr>
        <p:blipFill>
          <a:blip r:embed="rId2"/>
          <a:stretch>
            <a:fillRect/>
          </a:stretch>
        </p:blipFill>
        <p:spPr>
          <a:xfrm>
            <a:off x="6096000" y="1690688"/>
            <a:ext cx="5210399" cy="963060"/>
          </a:xfrm>
          <a:prstGeom prst="rect">
            <a:avLst/>
          </a:prstGeom>
        </p:spPr>
      </p:pic>
    </p:spTree>
    <p:extLst>
      <p:ext uri="{BB962C8B-B14F-4D97-AF65-F5344CB8AC3E}">
        <p14:creationId xmlns:p14="http://schemas.microsoft.com/office/powerpoint/2010/main" val="1703378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94A4E-1BEE-9A02-5702-A1110594D8D3}"/>
              </a:ext>
            </a:extLst>
          </p:cNvPr>
          <p:cNvSpPr>
            <a:spLocks noGrp="1"/>
          </p:cNvSpPr>
          <p:nvPr>
            <p:ph type="title"/>
          </p:nvPr>
        </p:nvSpPr>
        <p:spPr/>
        <p:txBody>
          <a:bodyPr/>
          <a:lstStyle/>
          <a:p>
            <a:r>
              <a:rPr lang="en-IN" b="1" dirty="0"/>
              <a:t>3. Elastic Net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FEEE4B-7CDE-8873-D545-1984923F46F3}"/>
                  </a:ext>
                </a:extLst>
              </p:cNvPr>
              <p:cNvSpPr>
                <a:spLocks noGrp="1"/>
              </p:cNvSpPr>
              <p:nvPr>
                <p:ph idx="1"/>
              </p:nvPr>
            </p:nvSpPr>
            <p:spPr>
              <a:xfrm>
                <a:off x="838200" y="1825625"/>
                <a:ext cx="10515600" cy="4667250"/>
              </a:xfrm>
            </p:spPr>
            <p:txBody>
              <a:bodyPr>
                <a:normAutofit/>
              </a:bodyPr>
              <a:lstStyle/>
              <a:p>
                <a:pPr fontAlgn="base"/>
                <a:r>
                  <a:rPr lang="en-US" dirty="0"/>
                  <a:t>Elastic Net Regression is a hybrid regularization technique that combines the power of both L1 and L2 regularization in linear regression objective.</a:t>
                </a:r>
              </a:p>
              <a:p>
                <a:pPr fontAlgn="base"/>
                <a:r>
                  <a:rPr lang="en-IN" i="1" dirty="0"/>
                  <a:t>Elastic Net cost function</a:t>
                </a:r>
                <a:endParaRPr lang="en-US" dirty="0"/>
              </a:p>
              <a:p>
                <a:pPr lvl="1" fontAlgn="base"/>
                <a:r>
                  <a:rPr lang="en-US" dirty="0"/>
                  <a:t>First term is least square loss.</a:t>
                </a:r>
              </a:p>
              <a:p>
                <a:pPr lvl="1" fontAlgn="base"/>
                <a:r>
                  <a:rPr lang="en-US" dirty="0"/>
                  <a:t>Second term is L1 regularization and third is ridge regression.</a:t>
                </a:r>
              </a:p>
              <a:p>
                <a:pPr lvl="1" fontAlgn="base"/>
                <a14:m>
                  <m:oMath xmlns:m="http://schemas.openxmlformats.org/officeDocument/2006/math">
                    <m:r>
                      <a:rPr lang="en-IN" b="0" i="1" smtClean="0">
                        <a:latin typeface="Cambria Math" panose="02040503050406030204" pitchFamily="18" charset="0"/>
                      </a:rPr>
                      <m:t>𝑟</m:t>
                    </m:r>
                  </m:oMath>
                </a14:m>
                <a:r>
                  <a:rPr lang="en-US" dirty="0"/>
                  <a:t> is the overall regularization strength.</a:t>
                </a:r>
              </a:p>
              <a:p>
                <a:pPr lvl="1" fontAlgn="base"/>
                <a14:m>
                  <m:oMath xmlns:m="http://schemas.openxmlformats.org/officeDocument/2006/math">
                    <m:r>
                      <a:rPr lang="en-US" i="1">
                        <a:latin typeface="Cambria Math" panose="02040503050406030204" pitchFamily="18" charset="0"/>
                      </a:rPr>
                      <m:t>𝛼</m:t>
                    </m:r>
                    <m:r>
                      <a:rPr lang="en-IN" b="0" i="1" smtClean="0">
                        <a:latin typeface="Cambria Math" panose="02040503050406030204" pitchFamily="18" charset="0"/>
                      </a:rPr>
                      <m:t> </m:t>
                    </m:r>
                  </m:oMath>
                </a14:m>
                <a:r>
                  <a:rPr lang="en-US" dirty="0"/>
                  <a:t>controls the mix between L1 and L2 regularization.</a:t>
                </a:r>
              </a:p>
              <a:p>
                <a:pPr lvl="1"/>
                <a:r>
                  <a:rPr lang="en-US" dirty="0"/>
                  <a:t>When </a:t>
                </a:r>
                <a:r>
                  <a:rPr lang="en-US" i="1" dirty="0"/>
                  <a:t>r </a:t>
                </a:r>
                <a:r>
                  <a:rPr lang="en-US" dirty="0"/>
                  <a:t>= 0, Elastic Net is equivalent to Ridge Regression, and when </a:t>
                </a:r>
                <a:r>
                  <a:rPr lang="en-US" i="1" dirty="0"/>
                  <a:t>r </a:t>
                </a:r>
                <a:r>
                  <a:rPr lang="en-US" dirty="0"/>
                  <a:t>= 1, it is equivalent to Lasso Regression</a:t>
                </a:r>
              </a:p>
              <a:p>
                <a:endParaRPr lang="en-IN" dirty="0"/>
              </a:p>
            </p:txBody>
          </p:sp>
        </mc:Choice>
        <mc:Fallback xmlns="">
          <p:sp>
            <p:nvSpPr>
              <p:cNvPr id="3" name="Content Placeholder 2">
                <a:extLst>
                  <a:ext uri="{FF2B5EF4-FFF2-40B4-BE49-F238E27FC236}">
                    <a16:creationId xmlns:a16="http://schemas.microsoft.com/office/drawing/2014/main" id="{82FEEE4B-7CDE-8873-D545-1984923F46F3}"/>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08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992D7A6-E933-0E51-3970-2E67CB174319}"/>
              </a:ext>
            </a:extLst>
          </p:cNvPr>
          <p:cNvPicPr>
            <a:picLocks noChangeAspect="1"/>
          </p:cNvPicPr>
          <p:nvPr/>
        </p:nvPicPr>
        <p:blipFill>
          <a:blip r:embed="rId3"/>
          <a:stretch>
            <a:fillRect/>
          </a:stretch>
        </p:blipFill>
        <p:spPr>
          <a:xfrm>
            <a:off x="4710489" y="2767111"/>
            <a:ext cx="6468378" cy="781159"/>
          </a:xfrm>
          <a:prstGeom prst="rect">
            <a:avLst/>
          </a:prstGeom>
        </p:spPr>
      </p:pic>
    </p:spTree>
    <p:extLst>
      <p:ext uri="{BB962C8B-B14F-4D97-AF65-F5344CB8AC3E}">
        <p14:creationId xmlns:p14="http://schemas.microsoft.com/office/powerpoint/2010/main" val="18949080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21D97-C995-64E8-6F9D-1CDB00E91C17}"/>
              </a:ext>
            </a:extLst>
          </p:cNvPr>
          <p:cNvSpPr>
            <a:spLocks noGrp="1"/>
          </p:cNvSpPr>
          <p:nvPr>
            <p:ph type="title"/>
          </p:nvPr>
        </p:nvSpPr>
        <p:spPr/>
        <p:txBody>
          <a:bodyPr/>
          <a:lstStyle/>
          <a:p>
            <a:r>
              <a:rPr lang="en-IN" b="1" dirty="0"/>
              <a:t>Early Stopping</a:t>
            </a:r>
          </a:p>
        </p:txBody>
      </p:sp>
      <p:sp>
        <p:nvSpPr>
          <p:cNvPr id="3" name="Content Placeholder 2">
            <a:extLst>
              <a:ext uri="{FF2B5EF4-FFF2-40B4-BE49-F238E27FC236}">
                <a16:creationId xmlns:a16="http://schemas.microsoft.com/office/drawing/2014/main" id="{AB8AA89D-37D8-640F-36DD-9CAD8A9F0441}"/>
              </a:ext>
            </a:extLst>
          </p:cNvPr>
          <p:cNvSpPr>
            <a:spLocks noGrp="1"/>
          </p:cNvSpPr>
          <p:nvPr>
            <p:ph idx="1"/>
          </p:nvPr>
        </p:nvSpPr>
        <p:spPr>
          <a:xfrm>
            <a:off x="838200" y="1620078"/>
            <a:ext cx="10515600" cy="4556885"/>
          </a:xfrm>
        </p:spPr>
        <p:txBody>
          <a:bodyPr>
            <a:normAutofit/>
          </a:bodyPr>
          <a:lstStyle/>
          <a:p>
            <a:r>
              <a:rPr lang="en-US" sz="2400" dirty="0"/>
              <a:t>A very different way to regularize iterative learning algorithms such as Gradient Descent is to stop training as soon as the validation error reaches a minimum. This is </a:t>
            </a:r>
            <a:r>
              <a:rPr lang="en-IN" sz="2400" dirty="0"/>
              <a:t>called early stopping.</a:t>
            </a:r>
          </a:p>
          <a:p>
            <a:r>
              <a:rPr lang="en-US" sz="2400" dirty="0"/>
              <a:t>With early stopping, stop training as soon as the validation error(</a:t>
            </a:r>
            <a:r>
              <a:rPr lang="en-IN" sz="2400" dirty="0"/>
              <a:t>RMSE)</a:t>
            </a:r>
            <a:r>
              <a:rPr lang="en-US" sz="2400" dirty="0"/>
              <a:t> reaches the minimum(validation error stops decreasing and starts to go back up) .</a:t>
            </a:r>
            <a:endParaRPr lang="en-IN" sz="2000" dirty="0"/>
          </a:p>
        </p:txBody>
      </p:sp>
      <p:pic>
        <p:nvPicPr>
          <p:cNvPr id="5" name="Picture 4">
            <a:extLst>
              <a:ext uri="{FF2B5EF4-FFF2-40B4-BE49-F238E27FC236}">
                <a16:creationId xmlns:a16="http://schemas.microsoft.com/office/drawing/2014/main" id="{0F361BEA-51D4-6601-1270-B0C472BC53A9}"/>
              </a:ext>
            </a:extLst>
          </p:cNvPr>
          <p:cNvPicPr>
            <a:picLocks noChangeAspect="1"/>
          </p:cNvPicPr>
          <p:nvPr/>
        </p:nvPicPr>
        <p:blipFill>
          <a:blip r:embed="rId2"/>
          <a:stretch>
            <a:fillRect/>
          </a:stretch>
        </p:blipFill>
        <p:spPr>
          <a:xfrm>
            <a:off x="4338326" y="3753242"/>
            <a:ext cx="5196613" cy="3124636"/>
          </a:xfrm>
          <a:prstGeom prst="rect">
            <a:avLst/>
          </a:prstGeom>
        </p:spPr>
      </p:pic>
    </p:spTree>
    <p:extLst>
      <p:ext uri="{BB962C8B-B14F-4D97-AF65-F5344CB8AC3E}">
        <p14:creationId xmlns:p14="http://schemas.microsoft.com/office/powerpoint/2010/main" val="23509981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50AD7-E27F-30C1-274E-3A7C5BAA3242}"/>
              </a:ext>
            </a:extLst>
          </p:cNvPr>
          <p:cNvSpPr>
            <a:spLocks noGrp="1"/>
          </p:cNvSpPr>
          <p:nvPr>
            <p:ph type="title"/>
          </p:nvPr>
        </p:nvSpPr>
        <p:spPr/>
        <p:txBody>
          <a:bodyPr/>
          <a:lstStyle/>
          <a:p>
            <a:r>
              <a:rPr lang="en-US" b="1" dirty="0"/>
              <a:t>Why Linear Regression is Important</a:t>
            </a:r>
            <a:endParaRPr lang="en-IN" dirty="0"/>
          </a:p>
        </p:txBody>
      </p:sp>
      <p:sp>
        <p:nvSpPr>
          <p:cNvPr id="3" name="Content Placeholder 2">
            <a:extLst>
              <a:ext uri="{FF2B5EF4-FFF2-40B4-BE49-F238E27FC236}">
                <a16:creationId xmlns:a16="http://schemas.microsoft.com/office/drawing/2014/main" id="{9CD95793-BBA4-ABF6-DACA-D86CBABC2169}"/>
              </a:ext>
            </a:extLst>
          </p:cNvPr>
          <p:cNvSpPr>
            <a:spLocks noGrp="1"/>
          </p:cNvSpPr>
          <p:nvPr>
            <p:ph idx="1"/>
          </p:nvPr>
        </p:nvSpPr>
        <p:spPr/>
        <p:txBody>
          <a:bodyPr>
            <a:normAutofit fontScale="92500" lnSpcReduction="10000"/>
          </a:bodyPr>
          <a:lstStyle/>
          <a:p>
            <a:pPr fontAlgn="base"/>
            <a:r>
              <a:rPr lang="en-US" dirty="0"/>
              <a:t>Here’s why linear regression is important:</a:t>
            </a:r>
          </a:p>
          <a:p>
            <a:pPr marL="914400" lvl="1" indent="-457200" fontAlgn="base">
              <a:buFont typeface="+mj-lt"/>
              <a:buAutoNum type="arabicPeriod"/>
            </a:pPr>
            <a:r>
              <a:rPr lang="en-US" b="1" dirty="0"/>
              <a:t>Simplicity and Interpretability:</a:t>
            </a:r>
            <a:r>
              <a:rPr lang="en-US" dirty="0"/>
              <a:t> It’s easy to understand and interpret, making it a starting point for learning about machine learning.</a:t>
            </a:r>
          </a:p>
          <a:p>
            <a:pPr marL="914400" lvl="1" indent="-457200" fontAlgn="base">
              <a:buFont typeface="+mj-lt"/>
              <a:buAutoNum type="arabicPeriod"/>
            </a:pPr>
            <a:r>
              <a:rPr lang="en-US" b="1" dirty="0"/>
              <a:t>Predictive Ability</a:t>
            </a:r>
            <a:r>
              <a:rPr lang="en-US" dirty="0"/>
              <a:t>: Helps predict future outcomes based on past data, making it useful in various fields like finance, healthcare and marketing.</a:t>
            </a:r>
          </a:p>
          <a:p>
            <a:pPr marL="914400" lvl="1" indent="-457200" fontAlgn="base">
              <a:buFont typeface="+mj-lt"/>
              <a:buAutoNum type="arabicPeriod"/>
            </a:pPr>
            <a:r>
              <a:rPr lang="en-US" b="1" dirty="0"/>
              <a:t>Basis for Other Models:</a:t>
            </a:r>
            <a:r>
              <a:rPr lang="en-US" dirty="0"/>
              <a:t> Many advanced algorithms, like logistic regression or neural networks, build on the concepts of linear regression.</a:t>
            </a:r>
          </a:p>
          <a:p>
            <a:pPr marL="914400" lvl="1" indent="-457200" fontAlgn="base">
              <a:buFont typeface="+mj-lt"/>
              <a:buAutoNum type="arabicPeriod"/>
            </a:pPr>
            <a:r>
              <a:rPr lang="en-US" b="1" dirty="0"/>
              <a:t>Efficiency: </a:t>
            </a:r>
            <a:r>
              <a:rPr lang="en-US" dirty="0"/>
              <a:t>It’s computationally efficient and works well for problems with a linear relationship.</a:t>
            </a:r>
          </a:p>
          <a:p>
            <a:pPr marL="914400" lvl="1" indent="-457200" fontAlgn="base">
              <a:buFont typeface="+mj-lt"/>
              <a:buAutoNum type="arabicPeriod"/>
            </a:pPr>
            <a:r>
              <a:rPr lang="en-US" b="1" dirty="0"/>
              <a:t>Widely Used:</a:t>
            </a:r>
            <a:r>
              <a:rPr lang="en-US" dirty="0"/>
              <a:t> It’s one of the most widely used techniques in both statistics and machine learning for regression tasks.</a:t>
            </a:r>
          </a:p>
          <a:p>
            <a:pPr marL="914400" lvl="1" indent="-457200" fontAlgn="base">
              <a:buFont typeface="+mj-lt"/>
              <a:buAutoNum type="arabicPeriod"/>
            </a:pPr>
            <a:r>
              <a:rPr lang="en-US" b="1" dirty="0"/>
              <a:t>Analysis:</a:t>
            </a:r>
            <a:r>
              <a:rPr lang="en-US" dirty="0"/>
              <a:t> It provides insights into relationships between variables (e.g., how much one variable influences another).</a:t>
            </a:r>
          </a:p>
          <a:p>
            <a:endParaRPr lang="en-IN" dirty="0"/>
          </a:p>
        </p:txBody>
      </p:sp>
    </p:spTree>
    <p:extLst>
      <p:ext uri="{BB962C8B-B14F-4D97-AF65-F5344CB8AC3E}">
        <p14:creationId xmlns:p14="http://schemas.microsoft.com/office/powerpoint/2010/main" val="1355586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82AD-EB1E-5C11-8772-090A576440F7}"/>
              </a:ext>
            </a:extLst>
          </p:cNvPr>
          <p:cNvSpPr>
            <a:spLocks noGrp="1"/>
          </p:cNvSpPr>
          <p:nvPr>
            <p:ph type="title"/>
          </p:nvPr>
        </p:nvSpPr>
        <p:spPr/>
        <p:txBody>
          <a:bodyPr/>
          <a:lstStyle/>
          <a:p>
            <a:r>
              <a:rPr lang="en-IN" b="1" dirty="0"/>
              <a:t>Advantages of Linear Regression</a:t>
            </a:r>
            <a:endParaRPr lang="en-IN" dirty="0"/>
          </a:p>
        </p:txBody>
      </p:sp>
      <p:sp>
        <p:nvSpPr>
          <p:cNvPr id="3" name="Content Placeholder 2">
            <a:extLst>
              <a:ext uri="{FF2B5EF4-FFF2-40B4-BE49-F238E27FC236}">
                <a16:creationId xmlns:a16="http://schemas.microsoft.com/office/drawing/2014/main" id="{2F419DD9-15FC-2768-DD37-3C9152143CA7}"/>
              </a:ext>
            </a:extLst>
          </p:cNvPr>
          <p:cNvSpPr>
            <a:spLocks noGrp="1"/>
          </p:cNvSpPr>
          <p:nvPr>
            <p:ph idx="1"/>
          </p:nvPr>
        </p:nvSpPr>
        <p:spPr>
          <a:xfrm>
            <a:off x="838200" y="1690688"/>
            <a:ext cx="10515600" cy="4720051"/>
          </a:xfrm>
        </p:spPr>
        <p:txBody>
          <a:bodyPr>
            <a:normAutofit fontScale="85000" lnSpcReduction="10000"/>
          </a:bodyPr>
          <a:lstStyle/>
          <a:p>
            <a:pPr fontAlgn="base"/>
            <a:r>
              <a:rPr lang="en-US" dirty="0"/>
              <a:t>Linear regression is a </a:t>
            </a:r>
            <a:r>
              <a:rPr lang="en-US" b="1" dirty="0"/>
              <a:t>relatively simple algorithm</a:t>
            </a:r>
            <a:r>
              <a:rPr lang="en-US" dirty="0"/>
              <a:t>, making it easy to understand and implement. The coefficients of the linear regression model can be interpreted as the change in the dependent variable for a one-unit change in the independent variable, providing insights into the relationships between variables.</a:t>
            </a:r>
          </a:p>
          <a:p>
            <a:pPr fontAlgn="base"/>
            <a:r>
              <a:rPr lang="en-US" dirty="0"/>
              <a:t>Linear regression is </a:t>
            </a:r>
            <a:r>
              <a:rPr lang="en-US" b="1" dirty="0"/>
              <a:t>computationally efficient and can handle large datasets effectively</a:t>
            </a:r>
            <a:r>
              <a:rPr lang="en-US" dirty="0"/>
              <a:t>. It can be trained quickly on large datasets, making it suitable for real-time applications.</a:t>
            </a:r>
          </a:p>
          <a:p>
            <a:pPr fontAlgn="base"/>
            <a:r>
              <a:rPr lang="en-US" dirty="0"/>
              <a:t>Linear regression is </a:t>
            </a:r>
            <a:r>
              <a:rPr lang="en-US" b="1" dirty="0"/>
              <a:t>relatively robust to outliers </a:t>
            </a:r>
            <a:r>
              <a:rPr lang="en-US" dirty="0"/>
              <a:t>compared to other machine learning algorithms. Outliers may have a smaller impact on the overall model performance.</a:t>
            </a:r>
          </a:p>
          <a:p>
            <a:pPr fontAlgn="base"/>
            <a:r>
              <a:rPr lang="en-US" dirty="0"/>
              <a:t>Linear regression often </a:t>
            </a:r>
            <a:r>
              <a:rPr lang="en-US" b="1" dirty="0"/>
              <a:t>serves as a good baseline model</a:t>
            </a:r>
            <a:r>
              <a:rPr lang="en-US" dirty="0"/>
              <a:t> for comparison with more complex machine learning algorithms.</a:t>
            </a:r>
          </a:p>
          <a:p>
            <a:pPr fontAlgn="base"/>
            <a:r>
              <a:rPr lang="en-US" dirty="0"/>
              <a:t>Linear regression is a </a:t>
            </a:r>
            <a:r>
              <a:rPr lang="en-US" b="1" dirty="0"/>
              <a:t>well-established algorithm with a rich history </a:t>
            </a:r>
            <a:r>
              <a:rPr lang="en-US" dirty="0"/>
              <a:t>and is widely available in various machine learning libraries and software packages.</a:t>
            </a:r>
          </a:p>
        </p:txBody>
      </p:sp>
    </p:spTree>
    <p:extLst>
      <p:ext uri="{BB962C8B-B14F-4D97-AF65-F5344CB8AC3E}">
        <p14:creationId xmlns:p14="http://schemas.microsoft.com/office/powerpoint/2010/main" val="11199729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BD56-4353-D94F-BF57-60DFAA5F1BDE}"/>
              </a:ext>
            </a:extLst>
          </p:cNvPr>
          <p:cNvSpPr>
            <a:spLocks noGrp="1"/>
          </p:cNvSpPr>
          <p:nvPr>
            <p:ph type="title"/>
          </p:nvPr>
        </p:nvSpPr>
        <p:spPr/>
        <p:txBody>
          <a:bodyPr/>
          <a:lstStyle/>
          <a:p>
            <a:r>
              <a:rPr lang="en-US" b="1" dirty="0"/>
              <a:t>Limitations </a:t>
            </a:r>
            <a:r>
              <a:rPr lang="en-IN" b="1" dirty="0"/>
              <a:t>of Linear Regression</a:t>
            </a:r>
            <a:endParaRPr lang="en-IN" dirty="0"/>
          </a:p>
        </p:txBody>
      </p:sp>
      <p:sp>
        <p:nvSpPr>
          <p:cNvPr id="3" name="Content Placeholder 2">
            <a:extLst>
              <a:ext uri="{FF2B5EF4-FFF2-40B4-BE49-F238E27FC236}">
                <a16:creationId xmlns:a16="http://schemas.microsoft.com/office/drawing/2014/main" id="{881DEEB2-4AC2-2634-B626-9A12534847E3}"/>
              </a:ext>
            </a:extLst>
          </p:cNvPr>
          <p:cNvSpPr>
            <a:spLocks noGrp="1"/>
          </p:cNvSpPr>
          <p:nvPr>
            <p:ph idx="1"/>
          </p:nvPr>
        </p:nvSpPr>
        <p:spPr>
          <a:xfrm>
            <a:off x="838200" y="1690688"/>
            <a:ext cx="10515600" cy="4580903"/>
          </a:xfrm>
        </p:spPr>
        <p:txBody>
          <a:bodyPr>
            <a:normAutofit fontScale="77500" lnSpcReduction="20000"/>
          </a:bodyPr>
          <a:lstStyle/>
          <a:p>
            <a:pPr fontAlgn="base"/>
            <a:r>
              <a:rPr lang="en-US" dirty="0"/>
              <a:t>Linear regression assumes a </a:t>
            </a:r>
            <a:r>
              <a:rPr lang="en-US" b="1" dirty="0"/>
              <a:t>linear relationship between the dependent and independent variables</a:t>
            </a:r>
            <a:r>
              <a:rPr lang="en-US" dirty="0"/>
              <a:t>. If the relationship is not linear, the model may not perform well.</a:t>
            </a:r>
          </a:p>
          <a:p>
            <a:pPr fontAlgn="base"/>
            <a:r>
              <a:rPr lang="en-US" dirty="0"/>
              <a:t>Linear regression is </a:t>
            </a:r>
            <a:r>
              <a:rPr lang="en-US" b="1" dirty="0"/>
              <a:t>sensitive to multicollinearity</a:t>
            </a:r>
            <a:r>
              <a:rPr lang="en-US" dirty="0"/>
              <a:t>, which occurs when there is a high correlation between independent variables. Multicollinearity can inflate the variance of the coefficients and lead to unstable model predictions.</a:t>
            </a:r>
          </a:p>
          <a:p>
            <a:pPr fontAlgn="base"/>
            <a:r>
              <a:rPr lang="en-US" dirty="0"/>
              <a:t>Linear regression </a:t>
            </a:r>
            <a:r>
              <a:rPr lang="en-US" b="1" dirty="0"/>
              <a:t>assumes that the features are already in a suitable form for the model</a:t>
            </a:r>
            <a:r>
              <a:rPr lang="en-US" dirty="0"/>
              <a:t>. Feature engineering may be required to transform features into a format that can be effectively used by the model.</a:t>
            </a:r>
          </a:p>
          <a:p>
            <a:pPr fontAlgn="base"/>
            <a:r>
              <a:rPr lang="en-US" dirty="0"/>
              <a:t>Linear regression is </a:t>
            </a:r>
            <a:r>
              <a:rPr lang="en-US" b="1" dirty="0"/>
              <a:t>susceptible to both overfitting and underfitting</a:t>
            </a:r>
            <a:r>
              <a:rPr lang="en-US" dirty="0"/>
              <a:t>. Overfitting occurs when the model learns the training data too well and fails to generalize to unseen data. Underfitting occurs when the model is too simple to capture the underlying relationships in the data.</a:t>
            </a:r>
          </a:p>
          <a:p>
            <a:pPr fontAlgn="base"/>
            <a:r>
              <a:rPr lang="en-US" dirty="0"/>
              <a:t>Linear regression provides </a:t>
            </a:r>
            <a:r>
              <a:rPr lang="en-US" b="1" dirty="0"/>
              <a:t>limited explanatory power for complex relationships between variables</a:t>
            </a:r>
            <a:r>
              <a:rPr lang="en-US" dirty="0"/>
              <a:t>. More advanced machine learning techniques may be necessary for deeper insights.</a:t>
            </a:r>
          </a:p>
        </p:txBody>
      </p:sp>
    </p:spTree>
    <p:extLst>
      <p:ext uri="{BB962C8B-B14F-4D97-AF65-F5344CB8AC3E}">
        <p14:creationId xmlns:p14="http://schemas.microsoft.com/office/powerpoint/2010/main" val="2132915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548640"/>
          </a:xfrm>
          <a:prstGeom prst="rect">
            <a:avLst/>
          </a:prstGeom>
          <a:noFill/>
          <a:ln/>
        </p:spPr>
        <p:txBody>
          <a:bodyPr wrap="square" lIns="0" tIns="0" rIns="0" bIns="0" rtlCol="0" anchor="t"/>
          <a:lstStyle/>
          <a:p>
            <a:pPr>
              <a:lnSpc>
                <a:spcPts val="4320"/>
              </a:lnSpc>
            </a:pPr>
            <a:r>
              <a:rPr lang="en-US" sz="3600" b="1" dirty="0">
                <a:ea typeface="Arial" pitchFamily="34" charset="-122"/>
                <a:cs typeface="Arial" pitchFamily="34" charset="-120"/>
              </a:rPr>
              <a:t>Applications &amp; Use Cases</a:t>
            </a:r>
            <a:endParaRPr lang="en-US" sz="3600" dirty="0"/>
          </a:p>
        </p:txBody>
      </p:sp>
      <p:sp>
        <p:nvSpPr>
          <p:cNvPr id="3" name="Text 1"/>
          <p:cNvSpPr/>
          <p:nvPr/>
        </p:nvSpPr>
        <p:spPr>
          <a:xfrm>
            <a:off x="1219200" y="1666243"/>
            <a:ext cx="10160000" cy="2103120"/>
          </a:xfrm>
          <a:prstGeom prst="rect">
            <a:avLst/>
          </a:prstGeom>
          <a:noFill/>
          <a:ln/>
        </p:spPr>
        <p:txBody>
          <a:bodyPr wrap="square" lIns="0" tIns="0" rIns="0" bIns="0" rtlCol="0" anchor="t"/>
          <a:lstStyle/>
          <a:p>
            <a:pPr marL="457189" indent="-457189">
              <a:lnSpc>
                <a:spcPts val="3240"/>
              </a:lnSpc>
              <a:buSzPct val="100000"/>
              <a:buChar char="•"/>
            </a:pPr>
            <a:r>
              <a:rPr lang="en-US" sz="2400" dirty="0">
                <a:ea typeface="Arial" pitchFamily="34" charset="-122"/>
                <a:cs typeface="Arial" pitchFamily="34" charset="-120"/>
              </a:rPr>
              <a:t>Predictive modeling (sales forecasting, price prediction)</a:t>
            </a:r>
            <a:endParaRPr lang="en-US" sz="2400" dirty="0"/>
          </a:p>
          <a:p>
            <a:pPr marL="457189" indent="-457189">
              <a:lnSpc>
                <a:spcPts val="3240"/>
              </a:lnSpc>
              <a:buSzPct val="100000"/>
              <a:buChar char="•"/>
            </a:pPr>
            <a:r>
              <a:rPr lang="en-US" sz="2400" dirty="0">
                <a:ea typeface="Arial" pitchFamily="34" charset="-122"/>
                <a:cs typeface="Arial" pitchFamily="34" charset="-120"/>
              </a:rPr>
              <a:t>Risk assessment and factor analysis in finance</a:t>
            </a:r>
            <a:endParaRPr lang="en-US" sz="2400" dirty="0"/>
          </a:p>
          <a:p>
            <a:pPr marL="457189" indent="-457189">
              <a:lnSpc>
                <a:spcPts val="3240"/>
              </a:lnSpc>
              <a:buSzPct val="100000"/>
              <a:buChar char="•"/>
            </a:pPr>
            <a:r>
              <a:rPr lang="en-US" sz="2400" dirty="0">
                <a:ea typeface="Arial" pitchFamily="34" charset="-122"/>
                <a:cs typeface="Arial" pitchFamily="34" charset="-120"/>
              </a:rPr>
              <a:t>Trend analysis and time-series forecasting</a:t>
            </a:r>
            <a:endParaRPr lang="en-US" sz="2400" dirty="0"/>
          </a:p>
          <a:p>
            <a:pPr marL="457189" indent="-457189">
              <a:lnSpc>
                <a:spcPts val="3240"/>
              </a:lnSpc>
              <a:buSzPct val="100000"/>
              <a:buChar char="•"/>
            </a:pPr>
            <a:r>
              <a:rPr lang="en-US" sz="2400" dirty="0">
                <a:ea typeface="Arial" pitchFamily="34" charset="-122"/>
                <a:cs typeface="Arial" pitchFamily="34" charset="-120"/>
              </a:rPr>
              <a:t>Feature importance and relationship analysis</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B8A50-73B4-F58F-6CAA-420C82E8D7F4}"/>
              </a:ext>
            </a:extLst>
          </p:cNvPr>
          <p:cNvSpPr>
            <a:spLocks noGrp="1"/>
          </p:cNvSpPr>
          <p:nvPr>
            <p:ph type="title"/>
          </p:nvPr>
        </p:nvSpPr>
        <p:spPr/>
        <p:txBody>
          <a:bodyPr/>
          <a:lstStyle/>
          <a:p>
            <a:r>
              <a:rPr lang="en-IN" dirty="0"/>
              <a:t>Linear Regression Problem</a:t>
            </a:r>
          </a:p>
        </p:txBody>
      </p:sp>
      <p:pic>
        <p:nvPicPr>
          <p:cNvPr id="5" name="Content Placeholder 4">
            <a:extLst>
              <a:ext uri="{FF2B5EF4-FFF2-40B4-BE49-F238E27FC236}">
                <a16:creationId xmlns:a16="http://schemas.microsoft.com/office/drawing/2014/main" id="{9A1A5868-E615-1763-BA19-AC9D87928738}"/>
              </a:ext>
            </a:extLst>
          </p:cNvPr>
          <p:cNvPicPr>
            <a:picLocks noGrp="1" noChangeAspect="1"/>
          </p:cNvPicPr>
          <p:nvPr>
            <p:ph idx="1"/>
          </p:nvPr>
        </p:nvPicPr>
        <p:blipFill>
          <a:blip r:embed="rId2"/>
          <a:stretch>
            <a:fillRect/>
          </a:stretch>
        </p:blipFill>
        <p:spPr>
          <a:xfrm>
            <a:off x="1618625" y="1938843"/>
            <a:ext cx="8954750" cy="4124901"/>
          </a:xfrm>
          <a:prstGeom prst="rect">
            <a:avLst/>
          </a:prstGeom>
        </p:spPr>
      </p:pic>
    </p:spTree>
    <p:extLst>
      <p:ext uri="{BB962C8B-B14F-4D97-AF65-F5344CB8AC3E}">
        <p14:creationId xmlns:p14="http://schemas.microsoft.com/office/powerpoint/2010/main" val="3595423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3D5D-B2C1-F8CD-ADA9-A877B8FF28CE}"/>
              </a:ext>
            </a:extLst>
          </p:cNvPr>
          <p:cNvSpPr>
            <a:spLocks noGrp="1"/>
          </p:cNvSpPr>
          <p:nvPr>
            <p:ph type="title"/>
          </p:nvPr>
        </p:nvSpPr>
        <p:spPr/>
        <p:txBody>
          <a:bodyPr/>
          <a:lstStyle/>
          <a:p>
            <a:r>
              <a:rPr lang="en-IN" dirty="0"/>
              <a:t>Linear Regression Problem</a:t>
            </a:r>
          </a:p>
        </p:txBody>
      </p:sp>
      <p:pic>
        <p:nvPicPr>
          <p:cNvPr id="5" name="Content Placeholder 4">
            <a:extLst>
              <a:ext uri="{FF2B5EF4-FFF2-40B4-BE49-F238E27FC236}">
                <a16:creationId xmlns:a16="http://schemas.microsoft.com/office/drawing/2014/main" id="{FE54EDF4-DB16-6DCB-2620-BD7BBDD7A97F}"/>
              </a:ext>
            </a:extLst>
          </p:cNvPr>
          <p:cNvPicPr>
            <a:picLocks noGrp="1" noChangeAspect="1"/>
          </p:cNvPicPr>
          <p:nvPr>
            <p:ph idx="1"/>
          </p:nvPr>
        </p:nvPicPr>
        <p:blipFill>
          <a:blip r:embed="rId2"/>
          <a:stretch>
            <a:fillRect/>
          </a:stretch>
        </p:blipFill>
        <p:spPr>
          <a:xfrm>
            <a:off x="838200" y="1979553"/>
            <a:ext cx="8355496" cy="2333951"/>
          </a:xfrm>
          <a:prstGeom prst="rect">
            <a:avLst/>
          </a:prstGeom>
        </p:spPr>
      </p:pic>
    </p:spTree>
    <p:extLst>
      <p:ext uri="{BB962C8B-B14F-4D97-AF65-F5344CB8AC3E}">
        <p14:creationId xmlns:p14="http://schemas.microsoft.com/office/powerpoint/2010/main" val="1445706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50801C-0F9C-991A-8335-FF2FF3592B89}"/>
              </a:ext>
            </a:extLst>
          </p:cNvPr>
          <p:cNvPicPr>
            <a:picLocks noGrp="1" noChangeAspect="1"/>
          </p:cNvPicPr>
          <p:nvPr>
            <p:ph idx="1"/>
          </p:nvPr>
        </p:nvPicPr>
        <p:blipFill>
          <a:blip r:embed="rId2"/>
          <a:stretch>
            <a:fillRect/>
          </a:stretch>
        </p:blipFill>
        <p:spPr>
          <a:xfrm>
            <a:off x="828634" y="314877"/>
            <a:ext cx="7612625" cy="4351338"/>
          </a:xfrm>
          <a:prstGeom prst="rect">
            <a:avLst/>
          </a:prstGeom>
        </p:spPr>
      </p:pic>
      <p:pic>
        <p:nvPicPr>
          <p:cNvPr id="7" name="Picture 6">
            <a:extLst>
              <a:ext uri="{FF2B5EF4-FFF2-40B4-BE49-F238E27FC236}">
                <a16:creationId xmlns:a16="http://schemas.microsoft.com/office/drawing/2014/main" id="{9BD067E1-E2F5-E9FD-F475-9E03E6A7DECD}"/>
              </a:ext>
            </a:extLst>
          </p:cNvPr>
          <p:cNvPicPr>
            <a:picLocks noChangeAspect="1"/>
          </p:cNvPicPr>
          <p:nvPr/>
        </p:nvPicPr>
        <p:blipFill>
          <a:blip r:embed="rId3"/>
          <a:stretch>
            <a:fillRect/>
          </a:stretch>
        </p:blipFill>
        <p:spPr>
          <a:xfrm>
            <a:off x="828634" y="4876015"/>
            <a:ext cx="6706536" cy="1667108"/>
          </a:xfrm>
          <a:prstGeom prst="rect">
            <a:avLst/>
          </a:prstGeom>
        </p:spPr>
      </p:pic>
    </p:spTree>
    <p:extLst>
      <p:ext uri="{BB962C8B-B14F-4D97-AF65-F5344CB8AC3E}">
        <p14:creationId xmlns:p14="http://schemas.microsoft.com/office/powerpoint/2010/main" val="24671400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F94F2-0C60-1335-F461-9DB189418484}"/>
              </a:ext>
            </a:extLst>
          </p:cNvPr>
          <p:cNvSpPr>
            <a:spLocks noGrp="1"/>
          </p:cNvSpPr>
          <p:nvPr>
            <p:ph type="title"/>
          </p:nvPr>
        </p:nvSpPr>
        <p:spPr/>
        <p:txBody>
          <a:bodyPr/>
          <a:lstStyle/>
          <a:p>
            <a:r>
              <a:rPr lang="en-IN" b="1" dirty="0"/>
              <a:t>Polynomial Regression</a:t>
            </a:r>
          </a:p>
        </p:txBody>
      </p:sp>
      <p:sp>
        <p:nvSpPr>
          <p:cNvPr id="3" name="Content Placeholder 2">
            <a:extLst>
              <a:ext uri="{FF2B5EF4-FFF2-40B4-BE49-F238E27FC236}">
                <a16:creationId xmlns:a16="http://schemas.microsoft.com/office/drawing/2014/main" id="{662DD5FF-2258-0895-1F90-FB04BB0D8F9C}"/>
              </a:ext>
            </a:extLst>
          </p:cNvPr>
          <p:cNvSpPr>
            <a:spLocks noGrp="1"/>
          </p:cNvSpPr>
          <p:nvPr>
            <p:ph idx="1"/>
          </p:nvPr>
        </p:nvSpPr>
        <p:spPr>
          <a:xfrm>
            <a:off x="838200" y="1690688"/>
            <a:ext cx="10515600" cy="4486275"/>
          </a:xfrm>
        </p:spPr>
        <p:txBody>
          <a:bodyPr>
            <a:normAutofit/>
          </a:bodyPr>
          <a:lstStyle/>
          <a:p>
            <a:r>
              <a:rPr lang="en-US" sz="2400" dirty="0"/>
              <a:t>Polynomial Regression is a type of regression model that captures a </a:t>
            </a:r>
            <a:r>
              <a:rPr lang="en-US" sz="2400" b="1" dirty="0"/>
              <a:t>non-linear relationship</a:t>
            </a:r>
            <a:r>
              <a:rPr lang="en-US" sz="2400" dirty="0"/>
              <a:t> between the independent variable(s) and the dependent variable by fitting a polynomial equation to the data.</a:t>
            </a:r>
            <a:endParaRPr lang="en-IN" sz="2400" dirty="0"/>
          </a:p>
        </p:txBody>
      </p:sp>
      <p:pic>
        <p:nvPicPr>
          <p:cNvPr id="5" name="Picture 4">
            <a:extLst>
              <a:ext uri="{FF2B5EF4-FFF2-40B4-BE49-F238E27FC236}">
                <a16:creationId xmlns:a16="http://schemas.microsoft.com/office/drawing/2014/main" id="{215C5A3A-66C0-567C-0FAF-1E4380840132}"/>
              </a:ext>
            </a:extLst>
          </p:cNvPr>
          <p:cNvPicPr>
            <a:picLocks noChangeAspect="1"/>
          </p:cNvPicPr>
          <p:nvPr/>
        </p:nvPicPr>
        <p:blipFill>
          <a:blip r:embed="rId2"/>
          <a:stretch>
            <a:fillRect/>
          </a:stretch>
        </p:blipFill>
        <p:spPr>
          <a:xfrm>
            <a:off x="912724" y="2792896"/>
            <a:ext cx="10515600" cy="3995529"/>
          </a:xfrm>
          <a:prstGeom prst="rect">
            <a:avLst/>
          </a:prstGeom>
        </p:spPr>
      </p:pic>
    </p:spTree>
    <p:extLst>
      <p:ext uri="{BB962C8B-B14F-4D97-AF65-F5344CB8AC3E}">
        <p14:creationId xmlns:p14="http://schemas.microsoft.com/office/powerpoint/2010/main" val="21647007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981A-25DE-8F8D-C1DF-815400A3826E}"/>
              </a:ext>
            </a:extLst>
          </p:cNvPr>
          <p:cNvSpPr>
            <a:spLocks noGrp="1"/>
          </p:cNvSpPr>
          <p:nvPr>
            <p:ph type="title"/>
          </p:nvPr>
        </p:nvSpPr>
        <p:spPr/>
        <p:txBody>
          <a:bodyPr/>
          <a:lstStyle/>
          <a:p>
            <a:r>
              <a:rPr lang="en-IN" b="1" dirty="0"/>
              <a:t>Polynomial Regression</a:t>
            </a:r>
            <a:endParaRPr lang="en-IN" dirty="0"/>
          </a:p>
        </p:txBody>
      </p:sp>
      <p:pic>
        <p:nvPicPr>
          <p:cNvPr id="9" name="Content Placeholder 8">
            <a:extLst>
              <a:ext uri="{FF2B5EF4-FFF2-40B4-BE49-F238E27FC236}">
                <a16:creationId xmlns:a16="http://schemas.microsoft.com/office/drawing/2014/main" id="{473DF10B-463F-A3A5-B289-A30369F6850E}"/>
              </a:ext>
            </a:extLst>
          </p:cNvPr>
          <p:cNvPicPr>
            <a:picLocks noGrp="1" noChangeAspect="1"/>
          </p:cNvPicPr>
          <p:nvPr>
            <p:ph idx="1"/>
          </p:nvPr>
        </p:nvPicPr>
        <p:blipFill>
          <a:blip r:embed="rId2"/>
          <a:stretch>
            <a:fillRect/>
          </a:stretch>
        </p:blipFill>
        <p:spPr>
          <a:xfrm>
            <a:off x="2517689" y="1825625"/>
            <a:ext cx="7156621" cy="4351338"/>
          </a:xfrm>
          <a:prstGeom prst="rect">
            <a:avLst/>
          </a:prstGeom>
        </p:spPr>
      </p:pic>
    </p:spTree>
    <p:extLst>
      <p:ext uri="{BB962C8B-B14F-4D97-AF65-F5344CB8AC3E}">
        <p14:creationId xmlns:p14="http://schemas.microsoft.com/office/powerpoint/2010/main" val="1903162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3F46-7FD0-8AA8-F183-DC0D594CA9C0}"/>
              </a:ext>
            </a:extLst>
          </p:cNvPr>
          <p:cNvSpPr>
            <a:spLocks noGrp="1"/>
          </p:cNvSpPr>
          <p:nvPr>
            <p:ph type="title"/>
          </p:nvPr>
        </p:nvSpPr>
        <p:spPr/>
        <p:txBody>
          <a:bodyPr/>
          <a:lstStyle/>
          <a:p>
            <a:r>
              <a:rPr lang="en-IN" b="1" dirty="0"/>
              <a:t>Polynomial Regression</a:t>
            </a:r>
            <a:endParaRPr lang="en-IN" dirty="0"/>
          </a:p>
        </p:txBody>
      </p:sp>
      <p:sp>
        <p:nvSpPr>
          <p:cNvPr id="3" name="Content Placeholder 2">
            <a:extLst>
              <a:ext uri="{FF2B5EF4-FFF2-40B4-BE49-F238E27FC236}">
                <a16:creationId xmlns:a16="http://schemas.microsoft.com/office/drawing/2014/main" id="{2F80B693-AF30-7D4F-2897-0A3C9D434DA2}"/>
              </a:ext>
            </a:extLst>
          </p:cNvPr>
          <p:cNvSpPr>
            <a:spLocks noGrp="1"/>
          </p:cNvSpPr>
          <p:nvPr>
            <p:ph idx="1"/>
          </p:nvPr>
        </p:nvSpPr>
        <p:spPr/>
        <p:txBody>
          <a:bodyPr/>
          <a:lstStyle/>
          <a:p>
            <a:pPr marL="357188" lvl="0" indent="-268288" eaLnBrk="0" fontAlgn="base" hangingPunct="0">
              <a:lnSpc>
                <a:spcPct val="100000"/>
              </a:lnSpc>
              <a:spcBef>
                <a:spcPct val="0"/>
              </a:spcBef>
              <a:spcAft>
                <a:spcPct val="0"/>
              </a:spcAft>
              <a:buFontTx/>
              <a:buChar char="•"/>
            </a:pPr>
            <a:r>
              <a:rPr lang="en-US" altLang="en-US" b="1" dirty="0"/>
              <a:t>Advantages:</a:t>
            </a:r>
            <a:endParaRPr lang="en-US" altLang="en-US" dirty="0"/>
          </a:p>
          <a:p>
            <a:pPr marL="814388" lvl="2" indent="-268288" eaLnBrk="0" fontAlgn="base" hangingPunct="0">
              <a:lnSpc>
                <a:spcPct val="100000"/>
              </a:lnSpc>
              <a:spcBef>
                <a:spcPct val="0"/>
              </a:spcBef>
              <a:spcAft>
                <a:spcPct val="0"/>
              </a:spcAft>
              <a:buFontTx/>
              <a:buChar char="•"/>
            </a:pPr>
            <a:r>
              <a:rPr lang="en-US" altLang="en-US" sz="2400" dirty="0"/>
              <a:t>Models complex, curved trends in data.</a:t>
            </a:r>
          </a:p>
          <a:p>
            <a:pPr marL="814388" lvl="2" indent="-268288" eaLnBrk="0" fontAlgn="base" hangingPunct="0">
              <a:lnSpc>
                <a:spcPct val="100000"/>
              </a:lnSpc>
              <a:spcBef>
                <a:spcPct val="0"/>
              </a:spcBef>
              <a:spcAft>
                <a:spcPct val="0"/>
              </a:spcAft>
              <a:buFontTx/>
              <a:buChar char="•"/>
            </a:pPr>
            <a:r>
              <a:rPr lang="en-US" altLang="en-US" sz="2400" dirty="0"/>
              <a:t>More flexible than simple linear regression.</a:t>
            </a:r>
          </a:p>
          <a:p>
            <a:pPr marL="814388" lvl="2" indent="-268288" eaLnBrk="0" fontAlgn="base" hangingPunct="0">
              <a:lnSpc>
                <a:spcPct val="100000"/>
              </a:lnSpc>
              <a:spcBef>
                <a:spcPct val="0"/>
              </a:spcBef>
              <a:spcAft>
                <a:spcPct val="0"/>
              </a:spcAft>
              <a:buFontTx/>
              <a:buChar char="•"/>
            </a:pPr>
            <a:r>
              <a:rPr lang="en-US" altLang="en-US" sz="2400" dirty="0"/>
              <a:t>Easy to implement.</a:t>
            </a:r>
          </a:p>
          <a:p>
            <a:pPr marL="357188" lvl="0" indent="-268288" eaLnBrk="0" fontAlgn="base" hangingPunct="0">
              <a:lnSpc>
                <a:spcPct val="100000"/>
              </a:lnSpc>
              <a:spcBef>
                <a:spcPct val="0"/>
              </a:spcBef>
              <a:spcAft>
                <a:spcPct val="0"/>
              </a:spcAft>
              <a:buFontTx/>
              <a:buChar char="•"/>
            </a:pPr>
            <a:r>
              <a:rPr lang="en-US" altLang="en-US" b="1" dirty="0"/>
              <a:t>Disadvantages:</a:t>
            </a:r>
            <a:endParaRPr lang="en-US" altLang="en-US" dirty="0"/>
          </a:p>
          <a:p>
            <a:pPr marL="814388" lvl="2" indent="-268288" eaLnBrk="0" fontAlgn="base" hangingPunct="0">
              <a:lnSpc>
                <a:spcPct val="100000"/>
              </a:lnSpc>
              <a:spcBef>
                <a:spcPct val="0"/>
              </a:spcBef>
              <a:spcAft>
                <a:spcPct val="0"/>
              </a:spcAft>
              <a:buFontTx/>
              <a:buChar char="•"/>
            </a:pPr>
            <a:r>
              <a:rPr lang="en-US" altLang="en-US" sz="2400" dirty="0"/>
              <a:t>High-degree polynomials can cause </a:t>
            </a:r>
            <a:r>
              <a:rPr lang="en-US" altLang="en-US" sz="2400" b="1" dirty="0"/>
              <a:t>overfitting</a:t>
            </a:r>
            <a:r>
              <a:rPr lang="en-US" altLang="en-US" sz="2400" dirty="0"/>
              <a:t>.</a:t>
            </a:r>
          </a:p>
          <a:p>
            <a:pPr marL="814388" lvl="2" indent="-268288" eaLnBrk="0" fontAlgn="base" hangingPunct="0">
              <a:lnSpc>
                <a:spcPct val="100000"/>
              </a:lnSpc>
              <a:spcBef>
                <a:spcPct val="0"/>
              </a:spcBef>
              <a:spcAft>
                <a:spcPct val="0"/>
              </a:spcAft>
              <a:buFontTx/>
              <a:buChar char="•"/>
            </a:pPr>
            <a:r>
              <a:rPr lang="en-US" altLang="en-US" sz="2400" dirty="0"/>
              <a:t>Poor extrapolation outside the data range.</a:t>
            </a:r>
          </a:p>
          <a:p>
            <a:pPr marL="814388" lvl="2" indent="-268288" eaLnBrk="0" fontAlgn="base" hangingPunct="0">
              <a:lnSpc>
                <a:spcPct val="100000"/>
              </a:lnSpc>
              <a:spcBef>
                <a:spcPct val="0"/>
              </a:spcBef>
              <a:spcAft>
                <a:spcPct val="0"/>
              </a:spcAft>
              <a:buFontTx/>
              <a:buChar char="•"/>
            </a:pPr>
            <a:r>
              <a:rPr lang="en-US" altLang="en-US" sz="2400" dirty="0"/>
              <a:t>Sensitive to outliers.</a:t>
            </a:r>
          </a:p>
          <a:p>
            <a:pPr marL="814388" lvl="2" indent="-268288" eaLnBrk="0" fontAlgn="base" hangingPunct="0">
              <a:lnSpc>
                <a:spcPct val="100000"/>
              </a:lnSpc>
              <a:spcBef>
                <a:spcPct val="0"/>
              </a:spcBef>
              <a:spcAft>
                <a:spcPct val="0"/>
              </a:spcAft>
            </a:pPr>
            <a:endParaRPr lang="en-US" altLang="en-US" sz="2400" dirty="0"/>
          </a:p>
          <a:p>
            <a:pPr marL="357188" indent="-268288"/>
            <a:endParaRPr lang="en-IN" dirty="0"/>
          </a:p>
        </p:txBody>
      </p:sp>
    </p:spTree>
    <p:extLst>
      <p:ext uri="{BB962C8B-B14F-4D97-AF65-F5344CB8AC3E}">
        <p14:creationId xmlns:p14="http://schemas.microsoft.com/office/powerpoint/2010/main" val="1976306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1604</TotalTime>
  <Words>4167</Words>
  <Application>Microsoft Office PowerPoint</Application>
  <PresentationFormat>Widescreen</PresentationFormat>
  <Paragraphs>320</Paragraphs>
  <Slides>59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Calibri Light</vt:lpstr>
      <vt:lpstr>Cambria Math</vt:lpstr>
      <vt:lpstr>Office Theme</vt:lpstr>
      <vt:lpstr>Module 2</vt:lpstr>
      <vt:lpstr>Linear Regression</vt:lpstr>
      <vt:lpstr>Linear Regression</vt:lpstr>
      <vt:lpstr>Best Fit Line in Linear Regression</vt:lpstr>
      <vt:lpstr>Best Fit Line in Linear Regression</vt:lpstr>
      <vt:lpstr>Best Fit Line in Linear Regression</vt:lpstr>
      <vt:lpstr>Best Fit Line in Linear Regression</vt:lpstr>
      <vt:lpstr>Best Fit Line in Linear Regression</vt:lpstr>
      <vt:lpstr>Equation of the Best-Fit Line</vt:lpstr>
      <vt:lpstr>Assumptions of the Linear Regression</vt:lpstr>
      <vt:lpstr>Assumptions of the Linear Regression</vt:lpstr>
      <vt:lpstr>Assumptions of the Linear Regression</vt:lpstr>
      <vt:lpstr>PowerPoint Presentation</vt:lpstr>
      <vt:lpstr>Type of Linear Regression</vt:lpstr>
      <vt:lpstr>Type of Linear Regression</vt:lpstr>
      <vt:lpstr>Multiple Linear Regression</vt:lpstr>
      <vt:lpstr>Linear Regression model prediction (vectorized form)</vt:lpstr>
      <vt:lpstr>Linear Regression model prediction (vectorized form)</vt:lpstr>
      <vt:lpstr>Minimizing the Error: The Least Squares Method</vt:lpstr>
      <vt:lpstr>Cost function for Linear Regression</vt:lpstr>
      <vt:lpstr>Gradient Descent for Linear Regression</vt:lpstr>
      <vt:lpstr>Gradient Descent for Linear Regression</vt:lpstr>
      <vt:lpstr>Gradient Descent for Linear Regression</vt:lpstr>
      <vt:lpstr>Gradient Descent for Linear Regression</vt:lpstr>
      <vt:lpstr>Gradient Descent for Linear Regression</vt:lpstr>
      <vt:lpstr>Two main challenges with Gradient Descent</vt:lpstr>
      <vt:lpstr>Gradient Descent with (left) and without (right) feature scaling</vt:lpstr>
      <vt:lpstr>Gradient Descent with various learning rates</vt:lpstr>
      <vt:lpstr>Type of Gradient Descent</vt:lpstr>
      <vt:lpstr>Batch Gradient Descent</vt:lpstr>
      <vt:lpstr>Batch Gradient Descent</vt:lpstr>
      <vt:lpstr>Batch Gradient Descent</vt:lpstr>
      <vt:lpstr>Stochastic Gradient Descent</vt:lpstr>
      <vt:lpstr>Stochastic Gradient Descent</vt:lpstr>
      <vt:lpstr>Stochastic Gradient Descent</vt:lpstr>
      <vt:lpstr>Mini-batch Gradient Descent</vt:lpstr>
      <vt:lpstr>Mini-batch Gradient Descent</vt:lpstr>
      <vt:lpstr>PowerPoint Presentation</vt:lpstr>
      <vt:lpstr>Evaluation Metrics for Linear Regression</vt:lpstr>
      <vt:lpstr>1. Mean Square Error (MSE)</vt:lpstr>
      <vt:lpstr>2. Mean Absolute Error (MAE)</vt:lpstr>
      <vt:lpstr>3.Root Mean Squared Error (RMSE)</vt:lpstr>
      <vt:lpstr>Normal Equation</vt:lpstr>
      <vt:lpstr>Regularization Techniques for Linear Models</vt:lpstr>
      <vt:lpstr>1. Lasso Regression (L1 Regularization)</vt:lpstr>
      <vt:lpstr>2. Ridge Regression (L2 Regularization) Tikhonov regularization</vt:lpstr>
      <vt:lpstr>2. Ridge Regression (L2 Regularization) Tikhonov regularization</vt:lpstr>
      <vt:lpstr>3. Elastic Net Regression</vt:lpstr>
      <vt:lpstr>Early Stopping</vt:lpstr>
      <vt:lpstr>Why Linear Regression is Important</vt:lpstr>
      <vt:lpstr>Advantages of Linear Regression</vt:lpstr>
      <vt:lpstr>Limitations of Linear Regression</vt:lpstr>
      <vt:lpstr>PowerPoint Presentation</vt:lpstr>
      <vt:lpstr>Linear Regression Problem</vt:lpstr>
      <vt:lpstr>Linear Regression Problem</vt:lpstr>
      <vt:lpstr>PowerPoint Presentation</vt:lpstr>
      <vt:lpstr>Polynomial Regression</vt:lpstr>
      <vt:lpstr>Polynomial Regression</vt:lpstr>
      <vt:lpstr>Polynomial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3</cp:revision>
  <dcterms:created xsi:type="dcterms:W3CDTF">2026-01-06T04:17:05Z</dcterms:created>
  <dcterms:modified xsi:type="dcterms:W3CDTF">2026-01-16T09:16:32Z</dcterms:modified>
</cp:coreProperties>
</file>