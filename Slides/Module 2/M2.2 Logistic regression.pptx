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12" r:id="rId2"/>
    <p:sldId id="337" r:id="rId3"/>
    <p:sldId id="340" r:id="rId4"/>
    <p:sldId id="341" r:id="rId5"/>
    <p:sldId id="342" r:id="rId6"/>
    <p:sldId id="345" r:id="rId7"/>
    <p:sldId id="343" r:id="rId8"/>
    <p:sldId id="344" r:id="rId9"/>
    <p:sldId id="338" r:id="rId10"/>
    <p:sldId id="346" r:id="rId11"/>
    <p:sldId id="34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A0E545-57B3-4242-9636-1F5A97B336DE}" type="datetimeFigureOut">
              <a:rPr lang="en-IN" smtClean="0"/>
              <a:t>15-01-2026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3A421-E493-4B57-95F0-0DACCD8E39F6}" type="slidenum">
              <a:rPr lang="en-IN" smtClean="0"/>
              <a:t>‹#›</a:t>
            </a:fld>
            <a:endParaRPr lang="en-IN"/>
          </a:p>
        </p:txBody>
      </p:sp>
    </p:spTree>
    <p:extLst>
      <p:ext uri="{BB962C8B-B14F-4D97-AF65-F5344CB8AC3E}">
        <p14:creationId xmlns:p14="http://schemas.microsoft.com/office/powerpoint/2010/main" val="2729072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4" name="Google Shape;504;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 name="Google Shape;516;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0" name="Google Shape;570;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2" name="Google Shape;522;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8" name="Google Shape;528;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D3D94-74C0-4F24-36DC-E18FBFB76E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5A1794-9FA3-3B9F-EBB6-2B3747B754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91D967A-06A1-8544-B3C4-A6D58CB6A19E}"/>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5" name="Footer Placeholder 4">
            <a:extLst>
              <a:ext uri="{FF2B5EF4-FFF2-40B4-BE49-F238E27FC236}">
                <a16:creationId xmlns:a16="http://schemas.microsoft.com/office/drawing/2014/main" id="{CD96DA0C-4337-6240-42D1-4E417A864A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AC8751-E889-0CDB-D8D1-CA530D0EE815}"/>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2728203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61DC3-A993-B53C-9F5A-74A651D2F5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160318-2F08-474D-FBF9-6CEB480E9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1B7C6B-8BCC-8FE5-FD09-69FEF54820E4}"/>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5" name="Footer Placeholder 4">
            <a:extLst>
              <a:ext uri="{FF2B5EF4-FFF2-40B4-BE49-F238E27FC236}">
                <a16:creationId xmlns:a16="http://schemas.microsoft.com/office/drawing/2014/main" id="{66252160-0035-263B-E8FD-2B3ED685C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648814-9EE3-7A3F-DEC8-0AF492973939}"/>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2463932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18390-9AE8-9EB4-F478-29444862C5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B33D3C-F746-59BE-56D7-166D8500BD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0E7276-C032-CB3C-14FB-57A5BE96A084}"/>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5" name="Footer Placeholder 4">
            <a:extLst>
              <a:ext uri="{FF2B5EF4-FFF2-40B4-BE49-F238E27FC236}">
                <a16:creationId xmlns:a16="http://schemas.microsoft.com/office/drawing/2014/main" id="{F1A3B82D-185C-91DF-A48B-0C6ADA2DF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BC4C4F-3B7B-E396-312D-BE4033157FC4}"/>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4247813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A9BF0-6042-ED2A-0B98-B1DBACE193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EAD333-21C7-AA95-B1CD-74AC621E72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60F061-A88F-99B4-29F2-EED0738211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68CAD3-89B0-2D4D-9A77-AAE75F957813}"/>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6" name="Footer Placeholder 5">
            <a:extLst>
              <a:ext uri="{FF2B5EF4-FFF2-40B4-BE49-F238E27FC236}">
                <a16:creationId xmlns:a16="http://schemas.microsoft.com/office/drawing/2014/main" id="{1CAAE275-6631-526B-65A7-495CE51374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F1203-6B09-4A90-51DD-A5EBA0D90533}"/>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175829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7627-0643-0CD9-7873-BB45730134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9F9CAC-E23F-2716-F73F-C8E8059237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87AEF-9B84-5CF2-2C90-081DBD07F9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30450E-6D15-F973-0920-B069CAB1A6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C26B27-35DB-F307-C4CD-BA083E1459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5E4F44-CA03-5B08-231E-6BA8CEF46C0E}"/>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8" name="Footer Placeholder 7">
            <a:extLst>
              <a:ext uri="{FF2B5EF4-FFF2-40B4-BE49-F238E27FC236}">
                <a16:creationId xmlns:a16="http://schemas.microsoft.com/office/drawing/2014/main" id="{5A48F4F3-2BD9-81D3-3C9A-E64335D3A28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2F5F15-CBC7-940E-9940-9B108D229674}"/>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4226610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D7A8-C0FA-B6BF-549C-499F70183DF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CF2A74-E7A2-654C-AF8F-A7DC56DD3B20}"/>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4" name="Footer Placeholder 3">
            <a:extLst>
              <a:ext uri="{FF2B5EF4-FFF2-40B4-BE49-F238E27FC236}">
                <a16:creationId xmlns:a16="http://schemas.microsoft.com/office/drawing/2014/main" id="{A66540C5-2ADC-E6B3-7E97-229D289A87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6F0719-A682-2356-6AD8-D26242368945}"/>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269328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4ADF3F-4F89-2E7D-B513-78854268125F}"/>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3" name="Footer Placeholder 2">
            <a:extLst>
              <a:ext uri="{FF2B5EF4-FFF2-40B4-BE49-F238E27FC236}">
                <a16:creationId xmlns:a16="http://schemas.microsoft.com/office/drawing/2014/main" id="{9DE8C3C0-3D37-B4CD-BB58-5513CF07AD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5B6D42-AC31-61BA-E5D9-3E0055E287A7}"/>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2787539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A2F18-9A48-4BBD-A2C3-8D1975062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CF33C5-1CA0-609A-3B0B-054F7ACF5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133CD03-B1FA-C59E-BD91-76415B7485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352BA6-9F2C-F084-B36A-824B34E60E23}"/>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6" name="Footer Placeholder 5">
            <a:extLst>
              <a:ext uri="{FF2B5EF4-FFF2-40B4-BE49-F238E27FC236}">
                <a16:creationId xmlns:a16="http://schemas.microsoft.com/office/drawing/2014/main" id="{A5E761EA-9478-870C-7F3A-C6CACB60BD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84AE6A-EC39-E9D4-59E5-0CBF4919E5F1}"/>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670681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C134B-9F1E-D154-6376-B1261044DC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0C8046-CE91-6898-85AA-5EC203CEC5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9A49F6-F49A-4902-52DA-678E7D11A6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45975-541B-F92C-84D4-83EF5FE1C3C0}"/>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6" name="Footer Placeholder 5">
            <a:extLst>
              <a:ext uri="{FF2B5EF4-FFF2-40B4-BE49-F238E27FC236}">
                <a16:creationId xmlns:a16="http://schemas.microsoft.com/office/drawing/2014/main" id="{E56FAB6B-5C5D-9EAC-29D9-2EDC4E06DF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224441-9FA3-8100-8AE5-A962A9952E9E}"/>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716659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CE9E5-2072-2960-B51E-5DF4CFC05F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4E720F-5F91-0C0E-51A9-57A0EF393F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83CEA2-38EC-0DF2-A5CA-480ED20F86FD}"/>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5" name="Footer Placeholder 4">
            <a:extLst>
              <a:ext uri="{FF2B5EF4-FFF2-40B4-BE49-F238E27FC236}">
                <a16:creationId xmlns:a16="http://schemas.microsoft.com/office/drawing/2014/main" id="{BB6DC9C1-79F3-92A9-5044-E41133AB15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79E155-BDAD-802B-70C1-9F9F7F21C29B}"/>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4006858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A52503-61D9-0FCF-6E01-9B6BF7F5D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1729F5-8A56-0333-3A2D-E6A811F81D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90D16D-362C-4071-48F6-F84FD89573A6}"/>
              </a:ext>
            </a:extLst>
          </p:cNvPr>
          <p:cNvSpPr>
            <a:spLocks noGrp="1"/>
          </p:cNvSpPr>
          <p:nvPr>
            <p:ph type="dt" sz="half" idx="10"/>
          </p:nvPr>
        </p:nvSpPr>
        <p:spPr/>
        <p:txBody>
          <a:bodyPr/>
          <a:lstStyle/>
          <a:p>
            <a:fld id="{94D4DD3C-BEDD-48A3-94C1-7EF34A21361C}" type="datetimeFigureOut">
              <a:rPr lang="en-IN" smtClean="0"/>
              <a:t>15-01-2026</a:t>
            </a:fld>
            <a:endParaRPr lang="en-IN"/>
          </a:p>
        </p:txBody>
      </p:sp>
      <p:sp>
        <p:nvSpPr>
          <p:cNvPr id="5" name="Footer Placeholder 4">
            <a:extLst>
              <a:ext uri="{FF2B5EF4-FFF2-40B4-BE49-F238E27FC236}">
                <a16:creationId xmlns:a16="http://schemas.microsoft.com/office/drawing/2014/main" id="{4345E191-7046-EE0A-745D-37281F1B19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0F31AE-8317-E65C-07EF-FFBCD1E8F3F4}"/>
              </a:ext>
            </a:extLst>
          </p:cNvPr>
          <p:cNvSpPr>
            <a:spLocks noGrp="1"/>
          </p:cNvSpPr>
          <p:nvPr>
            <p:ph type="sldNum" sz="quarter" idx="12"/>
          </p:nvPr>
        </p:nvSpPr>
        <p:spPr/>
        <p:txBody>
          <a:bodyPr/>
          <a:lstStyle/>
          <a:p>
            <a:fld id="{EF58BFAB-73CC-4D9D-80EC-783D0EC7C65C}" type="slidenum">
              <a:rPr lang="en-IN" smtClean="0"/>
              <a:t>‹#›</a:t>
            </a:fld>
            <a:endParaRPr lang="en-IN"/>
          </a:p>
        </p:txBody>
      </p:sp>
    </p:spTree>
    <p:extLst>
      <p:ext uri="{BB962C8B-B14F-4D97-AF65-F5344CB8AC3E}">
        <p14:creationId xmlns:p14="http://schemas.microsoft.com/office/powerpoint/2010/main" val="2872899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16ACC8-6911-F9F3-6140-3B92E1763F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A42EF1-E8DB-0F18-5D0F-05FF0D77A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693C63-B233-3A7A-0A40-0EACDB3856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4DD3C-BEDD-48A3-94C1-7EF34A21361C}" type="datetimeFigureOut">
              <a:rPr lang="en-IN" smtClean="0"/>
              <a:t>15-01-2026</a:t>
            </a:fld>
            <a:endParaRPr lang="en-IN"/>
          </a:p>
        </p:txBody>
      </p:sp>
      <p:sp>
        <p:nvSpPr>
          <p:cNvPr id="5" name="Footer Placeholder 4">
            <a:extLst>
              <a:ext uri="{FF2B5EF4-FFF2-40B4-BE49-F238E27FC236}">
                <a16:creationId xmlns:a16="http://schemas.microsoft.com/office/drawing/2014/main" id="{F416FC11-E430-B185-E9B3-5FC3656B1B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F361C39-E2D7-A91C-512B-7DE22CBFE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58BFAB-73CC-4D9D-80EC-783D0EC7C65C}" type="slidenum">
              <a:rPr lang="en-IN" smtClean="0"/>
              <a:t>‹#›</a:t>
            </a:fld>
            <a:endParaRPr lang="en-IN"/>
          </a:p>
        </p:txBody>
      </p:sp>
    </p:spTree>
    <p:extLst>
      <p:ext uri="{BB962C8B-B14F-4D97-AF65-F5344CB8AC3E}">
        <p14:creationId xmlns:p14="http://schemas.microsoft.com/office/powerpoint/2010/main" val="3311785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4822C-158E-728F-BBF9-B63E06CD3007}"/>
              </a:ext>
            </a:extLst>
          </p:cNvPr>
          <p:cNvSpPr>
            <a:spLocks noGrp="1"/>
          </p:cNvSpPr>
          <p:nvPr>
            <p:ph type="title"/>
          </p:nvPr>
        </p:nvSpPr>
        <p:spPr/>
        <p:txBody>
          <a:bodyPr/>
          <a:lstStyle/>
          <a:p>
            <a:r>
              <a:rPr lang="en-IN" b="1" dirty="0"/>
              <a:t>Logistic regression (</a:t>
            </a:r>
            <a:r>
              <a:rPr lang="en-US" dirty="0"/>
              <a:t>called Logit Regression)</a:t>
            </a:r>
            <a:endParaRPr lang="en-IN" b="1" dirty="0"/>
          </a:p>
        </p:txBody>
      </p:sp>
      <p:sp>
        <p:nvSpPr>
          <p:cNvPr id="3" name="Content Placeholder 2">
            <a:extLst>
              <a:ext uri="{FF2B5EF4-FFF2-40B4-BE49-F238E27FC236}">
                <a16:creationId xmlns:a16="http://schemas.microsoft.com/office/drawing/2014/main" id="{5B87FE11-EE95-1F8A-C96B-0D5B0FFC512B}"/>
              </a:ext>
            </a:extLst>
          </p:cNvPr>
          <p:cNvSpPr>
            <a:spLocks noGrp="1"/>
          </p:cNvSpPr>
          <p:nvPr>
            <p:ph idx="1"/>
          </p:nvPr>
        </p:nvSpPr>
        <p:spPr/>
        <p:txBody>
          <a:bodyPr>
            <a:normAutofit/>
          </a:bodyPr>
          <a:lstStyle/>
          <a:p>
            <a:r>
              <a:rPr lang="en-US" sz="2400" b="1" dirty="0"/>
              <a:t>Logistic Regression</a:t>
            </a:r>
            <a:r>
              <a:rPr lang="en-US" sz="2400" dirty="0"/>
              <a:t> is a </a:t>
            </a:r>
            <a:r>
              <a:rPr lang="en-US" sz="2400" b="1" dirty="0"/>
              <a:t>supervised machine learning algorithm</a:t>
            </a:r>
            <a:r>
              <a:rPr lang="en-US" sz="2400" dirty="0"/>
              <a:t> used for </a:t>
            </a:r>
            <a:r>
              <a:rPr lang="en-US" sz="2400" b="1" dirty="0"/>
              <a:t>classification problems</a:t>
            </a:r>
            <a:r>
              <a:rPr lang="en-US" sz="2400" dirty="0"/>
              <a:t>, especially </a:t>
            </a:r>
            <a:r>
              <a:rPr lang="en-US" sz="2400" b="1" dirty="0"/>
              <a:t>binary classification</a:t>
            </a:r>
            <a:r>
              <a:rPr lang="en-US" sz="2400" dirty="0"/>
              <a:t>.</a:t>
            </a:r>
          </a:p>
          <a:p>
            <a:r>
              <a:rPr lang="en-US" sz="2400" dirty="0"/>
              <a:t>It predicts the </a:t>
            </a:r>
            <a:r>
              <a:rPr lang="en-US" sz="2400" b="1" dirty="0"/>
              <a:t>probability</a:t>
            </a:r>
            <a:r>
              <a:rPr lang="en-US" sz="2400" dirty="0"/>
              <a:t> that an input belongs to a particular class.</a:t>
            </a:r>
          </a:p>
          <a:p>
            <a:r>
              <a:rPr lang="en-US" sz="2400" dirty="0"/>
              <a:t>If the estimated probability is greater than 50%, then the model predicts that the instance belongs to that class (called the positive class, labeled “1”), and otherwise it predicts that it does not (i.e., it belongs to the negative class, labeled “0”). This makes it a binary classifier.</a:t>
            </a:r>
          </a:p>
          <a:p>
            <a:endParaRPr lang="en-US" sz="2400" dirty="0"/>
          </a:p>
          <a:p>
            <a:endParaRPr lang="en-IN" sz="2400" dirty="0"/>
          </a:p>
        </p:txBody>
      </p:sp>
    </p:spTree>
    <p:extLst>
      <p:ext uri="{BB962C8B-B14F-4D97-AF65-F5344CB8AC3E}">
        <p14:creationId xmlns:p14="http://schemas.microsoft.com/office/powerpoint/2010/main" val="970058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C384D-F1A5-A52B-A6D6-65070CEE07D9}"/>
              </a:ext>
            </a:extLst>
          </p:cNvPr>
          <p:cNvSpPr>
            <a:spLocks noGrp="1"/>
          </p:cNvSpPr>
          <p:nvPr>
            <p:ph type="title"/>
          </p:nvPr>
        </p:nvSpPr>
        <p:spPr>
          <a:xfrm>
            <a:off x="838200" y="198783"/>
            <a:ext cx="10515600" cy="975275"/>
          </a:xfrm>
        </p:spPr>
        <p:txBody>
          <a:bodyPr>
            <a:normAutofit fontScale="90000"/>
          </a:bodyPr>
          <a:lstStyle/>
          <a:p>
            <a:br>
              <a:rPr lang="en-IN" b="1" dirty="0"/>
            </a:br>
            <a:r>
              <a:rPr lang="en-US" b="1" dirty="0"/>
              <a:t>Logistic Regression model estimated probability (vectorized form)</a:t>
            </a:r>
            <a:endParaRPr lang="en-IN" b="1" dirty="0"/>
          </a:p>
        </p:txBody>
      </p:sp>
      <p:pic>
        <p:nvPicPr>
          <p:cNvPr id="5" name="Content Placeholder 4">
            <a:extLst>
              <a:ext uri="{FF2B5EF4-FFF2-40B4-BE49-F238E27FC236}">
                <a16:creationId xmlns:a16="http://schemas.microsoft.com/office/drawing/2014/main" id="{253AE264-884E-93AB-661E-C5FC8A5C2CD8}"/>
              </a:ext>
            </a:extLst>
          </p:cNvPr>
          <p:cNvPicPr>
            <a:picLocks noGrp="1" noChangeAspect="1"/>
          </p:cNvPicPr>
          <p:nvPr>
            <p:ph idx="1"/>
          </p:nvPr>
        </p:nvPicPr>
        <p:blipFill>
          <a:blip r:embed="rId2"/>
          <a:stretch>
            <a:fillRect/>
          </a:stretch>
        </p:blipFill>
        <p:spPr>
          <a:xfrm>
            <a:off x="1560443" y="1999269"/>
            <a:ext cx="9947416" cy="3720936"/>
          </a:xfrm>
          <a:prstGeom prst="rect">
            <a:avLst/>
          </a:prstGeom>
        </p:spPr>
      </p:pic>
      <p:sp>
        <p:nvSpPr>
          <p:cNvPr id="7" name="TextBox 6">
            <a:extLst>
              <a:ext uri="{FF2B5EF4-FFF2-40B4-BE49-F238E27FC236}">
                <a16:creationId xmlns:a16="http://schemas.microsoft.com/office/drawing/2014/main" id="{7882279E-C0FE-451A-5069-C46210565867}"/>
              </a:ext>
            </a:extLst>
          </p:cNvPr>
          <p:cNvSpPr txBox="1"/>
          <p:nvPr/>
        </p:nvSpPr>
        <p:spPr>
          <a:xfrm>
            <a:off x="1021860" y="5911238"/>
            <a:ext cx="6097656" cy="461665"/>
          </a:xfrm>
          <a:prstGeom prst="rect">
            <a:avLst/>
          </a:prstGeom>
          <a:noFill/>
        </p:spPr>
        <p:txBody>
          <a:bodyPr wrap="square">
            <a:spAutoFit/>
          </a:bodyPr>
          <a:lstStyle/>
          <a:p>
            <a:r>
              <a:rPr lang="en-IN" sz="2400" b="1" u="none" strike="noStrike" baseline="0" dirty="0"/>
              <a:t>Logistic Regression model prediction</a:t>
            </a:r>
            <a:endParaRPr lang="en-IN" sz="2400" b="1" dirty="0"/>
          </a:p>
        </p:txBody>
      </p:sp>
      <p:pic>
        <p:nvPicPr>
          <p:cNvPr id="9" name="Picture 8">
            <a:extLst>
              <a:ext uri="{FF2B5EF4-FFF2-40B4-BE49-F238E27FC236}">
                <a16:creationId xmlns:a16="http://schemas.microsoft.com/office/drawing/2014/main" id="{E6DF276D-D6FC-8488-3617-3AD85911AFA2}"/>
              </a:ext>
            </a:extLst>
          </p:cNvPr>
          <p:cNvPicPr>
            <a:picLocks noChangeAspect="1"/>
          </p:cNvPicPr>
          <p:nvPr/>
        </p:nvPicPr>
        <p:blipFill>
          <a:blip r:embed="rId3"/>
          <a:stretch>
            <a:fillRect/>
          </a:stretch>
        </p:blipFill>
        <p:spPr>
          <a:xfrm>
            <a:off x="7590249" y="1174058"/>
            <a:ext cx="3362674" cy="865638"/>
          </a:xfrm>
          <a:prstGeom prst="rect">
            <a:avLst/>
          </a:prstGeom>
        </p:spPr>
      </p:pic>
      <p:pic>
        <p:nvPicPr>
          <p:cNvPr id="11" name="Picture 10">
            <a:extLst>
              <a:ext uri="{FF2B5EF4-FFF2-40B4-BE49-F238E27FC236}">
                <a16:creationId xmlns:a16="http://schemas.microsoft.com/office/drawing/2014/main" id="{BA049111-DAA9-4360-E7A2-08CB5E60A610}"/>
              </a:ext>
            </a:extLst>
          </p:cNvPr>
          <p:cNvPicPr>
            <a:picLocks noChangeAspect="1"/>
          </p:cNvPicPr>
          <p:nvPr/>
        </p:nvPicPr>
        <p:blipFill>
          <a:blip r:embed="rId4"/>
          <a:stretch>
            <a:fillRect/>
          </a:stretch>
        </p:blipFill>
        <p:spPr>
          <a:xfrm>
            <a:off x="6690885" y="5720205"/>
            <a:ext cx="3143689" cy="1137795"/>
          </a:xfrm>
          <a:prstGeom prst="rect">
            <a:avLst/>
          </a:prstGeom>
        </p:spPr>
      </p:pic>
      <p:sp>
        <p:nvSpPr>
          <p:cNvPr id="13" name="TextBox 12">
            <a:extLst>
              <a:ext uri="{FF2B5EF4-FFF2-40B4-BE49-F238E27FC236}">
                <a16:creationId xmlns:a16="http://schemas.microsoft.com/office/drawing/2014/main" id="{C41718A4-C27F-DFB5-924F-DC1420D3A8A4}"/>
              </a:ext>
            </a:extLst>
          </p:cNvPr>
          <p:cNvSpPr txBox="1"/>
          <p:nvPr/>
        </p:nvSpPr>
        <p:spPr>
          <a:xfrm>
            <a:off x="144946" y="1999269"/>
            <a:ext cx="6097656" cy="400110"/>
          </a:xfrm>
          <a:prstGeom prst="rect">
            <a:avLst/>
          </a:prstGeom>
          <a:noFill/>
        </p:spPr>
        <p:txBody>
          <a:bodyPr wrap="square">
            <a:spAutoFit/>
          </a:bodyPr>
          <a:lstStyle/>
          <a:p>
            <a:r>
              <a:rPr lang="en-IN" sz="2000" b="1" dirty="0"/>
              <a:t>Logistic function</a:t>
            </a:r>
            <a:endParaRPr lang="en-IN" sz="2000" dirty="0"/>
          </a:p>
        </p:txBody>
      </p:sp>
    </p:spTree>
    <p:extLst>
      <p:ext uri="{BB962C8B-B14F-4D97-AF65-F5344CB8AC3E}">
        <p14:creationId xmlns:p14="http://schemas.microsoft.com/office/powerpoint/2010/main" val="3935051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84971B-58E1-0931-BF0F-D629785CEA66}"/>
              </a:ext>
            </a:extLst>
          </p:cNvPr>
          <p:cNvSpPr>
            <a:spLocks noGrp="1"/>
          </p:cNvSpPr>
          <p:nvPr>
            <p:ph type="title"/>
          </p:nvPr>
        </p:nvSpPr>
        <p:spPr>
          <a:xfrm>
            <a:off x="838199" y="365125"/>
            <a:ext cx="11039061" cy="1325563"/>
          </a:xfrm>
        </p:spPr>
        <p:txBody>
          <a:bodyPr/>
          <a:lstStyle/>
          <a:p>
            <a:r>
              <a:rPr lang="en-IN" b="1" dirty="0"/>
              <a:t>Linear Regression 		    Logistic regression</a:t>
            </a:r>
            <a:endParaRPr lang="en-IN" dirty="0"/>
          </a:p>
        </p:txBody>
      </p:sp>
      <p:pic>
        <p:nvPicPr>
          <p:cNvPr id="5" name="Content Placeholder 4">
            <a:extLst>
              <a:ext uri="{FF2B5EF4-FFF2-40B4-BE49-F238E27FC236}">
                <a16:creationId xmlns:a16="http://schemas.microsoft.com/office/drawing/2014/main" id="{2D526C72-4E2D-C7D4-2C5C-AF84F77EF169}"/>
              </a:ext>
            </a:extLst>
          </p:cNvPr>
          <p:cNvPicPr>
            <a:picLocks noGrp="1" noChangeAspect="1"/>
          </p:cNvPicPr>
          <p:nvPr>
            <p:ph idx="1"/>
          </p:nvPr>
        </p:nvPicPr>
        <p:blipFill>
          <a:blip r:embed="rId2"/>
          <a:stretch>
            <a:fillRect/>
          </a:stretch>
        </p:blipFill>
        <p:spPr>
          <a:xfrm>
            <a:off x="838200" y="1837913"/>
            <a:ext cx="10515600" cy="4326762"/>
          </a:xfrm>
        </p:spPr>
      </p:pic>
    </p:spTree>
    <p:extLst>
      <p:ext uri="{BB962C8B-B14F-4D97-AF65-F5344CB8AC3E}">
        <p14:creationId xmlns:p14="http://schemas.microsoft.com/office/powerpoint/2010/main" val="1131893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507" name="Google Shape;507;p57"/>
          <p:cNvPicPr preferRelativeResize="0">
            <a:picLocks noGrp="1"/>
          </p:cNvPicPr>
          <p:nvPr>
            <p:ph type="body" idx="1"/>
          </p:nvPr>
        </p:nvPicPr>
        <p:blipFill rotWithShape="1">
          <a:blip r:embed="rId3">
            <a:alphaModFix/>
          </a:blip>
          <a:srcRect/>
          <a:stretch/>
        </p:blipFill>
        <p:spPr>
          <a:xfrm>
            <a:off x="838199" y="68825"/>
            <a:ext cx="10959691" cy="64240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519" name="Google Shape;519;p59"/>
          <p:cNvPicPr preferRelativeResize="0">
            <a:picLocks noGrp="1"/>
          </p:cNvPicPr>
          <p:nvPr>
            <p:ph type="body" idx="1"/>
          </p:nvPr>
        </p:nvPicPr>
        <p:blipFill rotWithShape="1">
          <a:blip r:embed="rId3">
            <a:alphaModFix/>
          </a:blip>
          <a:srcRect/>
          <a:stretch/>
        </p:blipFill>
        <p:spPr>
          <a:xfrm>
            <a:off x="688258" y="158646"/>
            <a:ext cx="10665542" cy="6438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573" name="Google Shape;573;p68"/>
          <p:cNvPicPr preferRelativeResize="0">
            <a:picLocks noGrp="1"/>
          </p:cNvPicPr>
          <p:nvPr>
            <p:ph type="body" idx="1"/>
          </p:nvPr>
        </p:nvPicPr>
        <p:blipFill rotWithShape="1">
          <a:blip r:embed="rId3">
            <a:alphaModFix/>
          </a:blip>
          <a:srcRect b="6847"/>
          <a:stretch/>
        </p:blipFill>
        <p:spPr>
          <a:xfrm>
            <a:off x="838199" y="365125"/>
            <a:ext cx="10862187" cy="569154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525" name="Google Shape;525;p60"/>
          <p:cNvPicPr preferRelativeResize="0">
            <a:picLocks noGrp="1"/>
          </p:cNvPicPr>
          <p:nvPr>
            <p:ph type="body" idx="1"/>
          </p:nvPr>
        </p:nvPicPr>
        <p:blipFill rotWithShape="1">
          <a:blip r:embed="rId3">
            <a:alphaModFix/>
          </a:blip>
          <a:srcRect/>
          <a:stretch/>
        </p:blipFill>
        <p:spPr>
          <a:xfrm>
            <a:off x="713976" y="134477"/>
            <a:ext cx="11070212" cy="622699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531" name="Google Shape;531;p61"/>
          <p:cNvPicPr preferRelativeResize="0">
            <a:picLocks noGrp="1"/>
          </p:cNvPicPr>
          <p:nvPr>
            <p:ph type="body" idx="1"/>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5204C-C225-9E58-AF42-2629F403DC02}"/>
              </a:ext>
            </a:extLst>
          </p:cNvPr>
          <p:cNvSpPr>
            <a:spLocks noGrp="1"/>
          </p:cNvSpPr>
          <p:nvPr>
            <p:ph type="title"/>
          </p:nvPr>
        </p:nvSpPr>
        <p:spPr/>
        <p:txBody>
          <a:bodyPr/>
          <a:lstStyle/>
          <a:p>
            <a:r>
              <a:rPr lang="en-IN" b="1" dirty="0"/>
              <a:t>Example of Logistic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925AAA-8784-CA7C-7D04-EE431B22BC7E}"/>
                  </a:ext>
                </a:extLst>
              </p:cNvPr>
              <p:cNvSpPr>
                <a:spLocks noGrp="1"/>
              </p:cNvSpPr>
              <p:nvPr>
                <p:ph idx="1"/>
              </p:nvPr>
            </p:nvSpPr>
            <p:spPr/>
            <p:txBody>
              <a:bodyPr>
                <a:normAutofit/>
              </a:bodyPr>
              <a:lstStyle/>
              <a:p>
                <a:r>
                  <a:rPr lang="en-US" sz="2400" b="1" dirty="0"/>
                  <a:t>Problem Statement</a:t>
                </a:r>
              </a:p>
              <a:p>
                <a:r>
                  <a:rPr lang="en-US" sz="2400" dirty="0"/>
                  <a:t>Consider a </a:t>
                </a:r>
                <a:r>
                  <a:rPr lang="en-US" sz="2400" b="1" dirty="0"/>
                  <a:t>medical diagnosis problem</a:t>
                </a:r>
                <a:r>
                  <a:rPr lang="en-US" sz="2400" dirty="0"/>
                  <a:t> where we want to predict whether a patient has a disease based on a medical test result.</a:t>
                </a:r>
              </a:p>
              <a:p>
                <a:r>
                  <a:rPr lang="en-US" sz="2400" b="1" dirty="0"/>
                  <a:t>Input feature (x):</a:t>
                </a:r>
                <a:r>
                  <a:rPr lang="en-US" sz="2400" dirty="0"/>
                  <a:t> Test score</a:t>
                </a:r>
              </a:p>
              <a:p>
                <a:r>
                  <a:rPr lang="en-US" sz="2400" b="1" dirty="0"/>
                  <a:t>Output (y):</a:t>
                </a:r>
                <a:endParaRPr lang="en-US" sz="2400" dirty="0"/>
              </a:p>
              <a:p>
                <a:pPr lvl="1"/>
                <a:r>
                  <a:rPr lang="en-US" sz="2000" dirty="0"/>
                  <a:t>1 → Disease present</a:t>
                </a:r>
              </a:p>
              <a:p>
                <a:pPr lvl="1"/>
                <a:r>
                  <a:rPr lang="en-US" sz="2000" dirty="0"/>
                  <a:t>0 → Disease absent</a:t>
                </a:r>
              </a:p>
              <a:p>
                <a:r>
                  <a:rPr lang="en-IN" sz="2400" b="1" dirty="0"/>
                  <a:t>Given Logistic Regression Model: </a:t>
                </a: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𝑤𝑥</m:t>
                    </m:r>
                    <m:r>
                      <a:rPr lang="en-IN">
                        <a:latin typeface="Cambria Math" panose="02040503050406030204" pitchFamily="18" charset="0"/>
                      </a:rPr>
                      <m:t>+</m:t>
                    </m:r>
                    <m:r>
                      <a:rPr lang="en-IN" i="1">
                        <a:latin typeface="Cambria Math" panose="02040503050406030204" pitchFamily="18" charset="0"/>
                      </a:rPr>
                      <m:t>𝑏</m:t>
                    </m:r>
                  </m:oMath>
                </a14:m>
                <a:endParaRPr lang="en-IN" sz="2000" dirty="0"/>
              </a:p>
              <a:p>
                <a:pPr lvl="1"/>
                <a:r>
                  <a:rPr lang="en-IN" sz="2000" dirty="0"/>
                  <a:t>Assume: </a:t>
                </a:r>
                <a14:m>
                  <m:oMath xmlns:m="http://schemas.openxmlformats.org/officeDocument/2006/math">
                    <m:r>
                      <a:rPr lang="en-IN" sz="2000" i="1">
                        <a:latin typeface="Cambria Math" panose="02040503050406030204" pitchFamily="18" charset="0"/>
                      </a:rPr>
                      <m:t>𝑤</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8</m:t>
                    </m:r>
                  </m:oMath>
                </a14:m>
                <a:r>
                  <a:rPr lang="en-IN" sz="2000" dirty="0"/>
                  <a:t>, </a:t>
                </a:r>
                <a14:m>
                  <m:oMath xmlns:m="http://schemas.openxmlformats.org/officeDocument/2006/math">
                    <m:r>
                      <a:rPr lang="en-IN" sz="2000" i="1">
                        <a:latin typeface="Cambria Math" panose="02040503050406030204" pitchFamily="18" charset="0"/>
                      </a:rPr>
                      <m:t>𝑏</m:t>
                    </m:r>
                    <m:r>
                      <a:rPr lang="en-IN" sz="2000">
                        <a:latin typeface="Cambria Math" panose="02040503050406030204" pitchFamily="18" charset="0"/>
                      </a:rPr>
                      <m:t>=−</m:t>
                    </m:r>
                    <m:r>
                      <a:rPr lang="en-IN" sz="2000">
                        <a:latin typeface="Cambria Math" panose="02040503050406030204" pitchFamily="18" charset="0"/>
                      </a:rPr>
                      <m:t>4</m:t>
                    </m:r>
                  </m:oMath>
                </a14:m>
                <a:endParaRPr lang="en-IN" sz="2000" dirty="0"/>
              </a:p>
              <a:p>
                <a:endParaRPr lang="en-IN" sz="2400" dirty="0"/>
              </a:p>
            </p:txBody>
          </p:sp>
        </mc:Choice>
        <mc:Fallback xmlns="">
          <p:sp>
            <p:nvSpPr>
              <p:cNvPr id="3" name="Content Placeholder 2">
                <a:extLst>
                  <a:ext uri="{FF2B5EF4-FFF2-40B4-BE49-F238E27FC236}">
                    <a16:creationId xmlns:a16="http://schemas.microsoft.com/office/drawing/2014/main" id="{B6925AAA-8784-CA7C-7D04-EE431B22BC7E}"/>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IN">
                    <a:noFill/>
                  </a:rPr>
                  <a:t> </a:t>
                </a:r>
              </a:p>
            </p:txBody>
          </p:sp>
        </mc:Fallback>
      </mc:AlternateContent>
    </p:spTree>
    <p:extLst>
      <p:ext uri="{BB962C8B-B14F-4D97-AF65-F5344CB8AC3E}">
        <p14:creationId xmlns:p14="http://schemas.microsoft.com/office/powerpoint/2010/main" val="1744293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AC0F-D184-AEAC-05B7-511C11F5CC3F}"/>
              </a:ext>
            </a:extLst>
          </p:cNvPr>
          <p:cNvSpPr>
            <a:spLocks noGrp="1"/>
          </p:cNvSpPr>
          <p:nvPr>
            <p:ph type="title"/>
          </p:nvPr>
        </p:nvSpPr>
        <p:spPr/>
        <p:txBody>
          <a:bodyPr/>
          <a:lstStyle/>
          <a:p>
            <a:r>
              <a:rPr lang="en-IN" b="1" dirty="0"/>
              <a:t>Example of Logistic Regression</a:t>
            </a:r>
            <a:endParaRPr lang="en-IN" dirty="0"/>
          </a:p>
        </p:txBody>
      </p:sp>
      <p:pic>
        <p:nvPicPr>
          <p:cNvPr id="5" name="Content Placeholder 4">
            <a:extLst>
              <a:ext uri="{FF2B5EF4-FFF2-40B4-BE49-F238E27FC236}">
                <a16:creationId xmlns:a16="http://schemas.microsoft.com/office/drawing/2014/main" id="{17DD9989-1ADD-F20D-0192-0D09AF607E1E}"/>
              </a:ext>
            </a:extLst>
          </p:cNvPr>
          <p:cNvPicPr>
            <a:picLocks noGrp="1" noChangeAspect="1"/>
          </p:cNvPicPr>
          <p:nvPr>
            <p:ph idx="1"/>
          </p:nvPr>
        </p:nvPicPr>
        <p:blipFill>
          <a:blip r:embed="rId2"/>
          <a:stretch>
            <a:fillRect/>
          </a:stretch>
        </p:blipFill>
        <p:spPr>
          <a:xfrm>
            <a:off x="838200" y="1690687"/>
            <a:ext cx="8425070" cy="1662679"/>
          </a:xfrm>
          <a:prstGeom prst="rect">
            <a:avLst/>
          </a:prstGeom>
        </p:spPr>
      </p:pic>
      <p:pic>
        <p:nvPicPr>
          <p:cNvPr id="7" name="Picture 6">
            <a:extLst>
              <a:ext uri="{FF2B5EF4-FFF2-40B4-BE49-F238E27FC236}">
                <a16:creationId xmlns:a16="http://schemas.microsoft.com/office/drawing/2014/main" id="{FBB3E0DE-9740-6005-AFFD-44DD4FE2BF7D}"/>
              </a:ext>
            </a:extLst>
          </p:cNvPr>
          <p:cNvPicPr>
            <a:picLocks noChangeAspect="1"/>
          </p:cNvPicPr>
          <p:nvPr/>
        </p:nvPicPr>
        <p:blipFill>
          <a:blip r:embed="rId3"/>
          <a:stretch>
            <a:fillRect/>
          </a:stretch>
        </p:blipFill>
        <p:spPr>
          <a:xfrm>
            <a:off x="838201" y="3376363"/>
            <a:ext cx="7550426" cy="2235402"/>
          </a:xfrm>
          <a:prstGeom prst="rect">
            <a:avLst/>
          </a:prstGeom>
        </p:spPr>
      </p:pic>
    </p:spTree>
    <p:extLst>
      <p:ext uri="{BB962C8B-B14F-4D97-AF65-F5344CB8AC3E}">
        <p14:creationId xmlns:p14="http://schemas.microsoft.com/office/powerpoint/2010/main" val="560313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D898-3CA1-59C9-61FE-50925AC7102B}"/>
              </a:ext>
            </a:extLst>
          </p:cNvPr>
          <p:cNvSpPr>
            <a:spLocks noGrp="1"/>
          </p:cNvSpPr>
          <p:nvPr>
            <p:ph type="title"/>
          </p:nvPr>
        </p:nvSpPr>
        <p:spPr/>
        <p:txBody>
          <a:bodyPr/>
          <a:lstStyle/>
          <a:p>
            <a:r>
              <a:rPr lang="en-IN" b="1" dirty="0"/>
              <a:t>Example of Logistic Regression</a:t>
            </a:r>
            <a:endParaRPr lang="en-IN" dirty="0"/>
          </a:p>
        </p:txBody>
      </p:sp>
      <p:pic>
        <p:nvPicPr>
          <p:cNvPr id="5" name="Content Placeholder 4">
            <a:extLst>
              <a:ext uri="{FF2B5EF4-FFF2-40B4-BE49-F238E27FC236}">
                <a16:creationId xmlns:a16="http://schemas.microsoft.com/office/drawing/2014/main" id="{6B66A545-04E8-9912-DB45-247170C6ECD5}"/>
              </a:ext>
            </a:extLst>
          </p:cNvPr>
          <p:cNvPicPr>
            <a:picLocks noGrp="1" noChangeAspect="1"/>
          </p:cNvPicPr>
          <p:nvPr>
            <p:ph idx="1"/>
          </p:nvPr>
        </p:nvPicPr>
        <p:blipFill>
          <a:blip r:embed="rId2"/>
          <a:stretch>
            <a:fillRect/>
          </a:stretch>
        </p:blipFill>
        <p:spPr>
          <a:xfrm>
            <a:off x="758687" y="1513906"/>
            <a:ext cx="7620000" cy="1987826"/>
          </a:xfrm>
          <a:prstGeom prst="rect">
            <a:avLst/>
          </a:prstGeom>
        </p:spPr>
      </p:pic>
      <p:pic>
        <p:nvPicPr>
          <p:cNvPr id="7" name="Picture 6">
            <a:extLst>
              <a:ext uri="{FF2B5EF4-FFF2-40B4-BE49-F238E27FC236}">
                <a16:creationId xmlns:a16="http://schemas.microsoft.com/office/drawing/2014/main" id="{85224344-593A-A60D-6C10-125F55CE864B}"/>
              </a:ext>
            </a:extLst>
          </p:cNvPr>
          <p:cNvPicPr>
            <a:picLocks noChangeAspect="1"/>
          </p:cNvPicPr>
          <p:nvPr/>
        </p:nvPicPr>
        <p:blipFill>
          <a:blip r:embed="rId3"/>
          <a:stretch>
            <a:fillRect/>
          </a:stretch>
        </p:blipFill>
        <p:spPr>
          <a:xfrm>
            <a:off x="991303" y="3633155"/>
            <a:ext cx="8970360" cy="2727888"/>
          </a:xfrm>
          <a:prstGeom prst="rect">
            <a:avLst/>
          </a:prstGeom>
        </p:spPr>
      </p:pic>
    </p:spTree>
    <p:extLst>
      <p:ext uri="{BB962C8B-B14F-4D97-AF65-F5344CB8AC3E}">
        <p14:creationId xmlns:p14="http://schemas.microsoft.com/office/powerpoint/2010/main" val="506679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Words>
  <Application>Microsoft Office PowerPoint</Application>
  <PresentationFormat>Widescreen</PresentationFormat>
  <Paragraphs>19</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 Math</vt:lpstr>
      <vt:lpstr>Office Theme</vt:lpstr>
      <vt:lpstr>Logistic regression (called Logit Regression)</vt:lpstr>
      <vt:lpstr> Logistic Regression model estimated probability (vectorized form)</vt:lpstr>
      <vt:lpstr>Linear Regression       Logistic regression</vt:lpstr>
      <vt:lpstr>PowerPoint Presentation</vt:lpstr>
      <vt:lpstr>PowerPoint Presentation</vt:lpstr>
      <vt:lpstr>PowerPoint Presentation</vt:lpstr>
      <vt:lpstr>PowerPoint Presentation</vt:lpstr>
      <vt:lpstr>PowerPoint Presentation</vt:lpstr>
      <vt:lpstr>Example of Logistic Regression</vt:lpstr>
      <vt:lpstr>Example of Logistic Regression</vt:lpstr>
      <vt:lpstr>Example of Logistic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2026-01-15T06:32:51Z</dcterms:created>
  <dcterms:modified xsi:type="dcterms:W3CDTF">2026-01-15T06:33:22Z</dcterms:modified>
</cp:coreProperties>
</file>