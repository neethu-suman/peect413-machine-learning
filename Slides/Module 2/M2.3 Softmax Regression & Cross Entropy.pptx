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52" r:id="rId2"/>
    <p:sldId id="353" r:id="rId3"/>
    <p:sldId id="354" r:id="rId4"/>
    <p:sldId id="351" r:id="rId5"/>
    <p:sldId id="355" r:id="rId6"/>
    <p:sldId id="360" r:id="rId7"/>
    <p:sldId id="361" r:id="rId8"/>
    <p:sldId id="362" r:id="rId9"/>
    <p:sldId id="367" r:id="rId10"/>
    <p:sldId id="368" r:id="rId11"/>
    <p:sldId id="363" r:id="rId12"/>
    <p:sldId id="369" r:id="rId13"/>
    <p:sldId id="370" r:id="rId14"/>
    <p:sldId id="36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C9EC8-EB23-5D61-FD74-3742351878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016752-5F65-3384-7E34-364963ADE6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0F3F78-4D77-4C24-E7B4-1AD2CED6C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D693E-2BEA-4BAE-9E3B-1AB7F5ABE479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B97EBA-EBC3-B781-3CC8-3107BD7EA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0619F0-1F95-EFA7-BDD1-CCACF6DEF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9974-EFB3-403D-8707-4CE10ECC0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271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4D029-C7EA-447A-F355-C6673F3D7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71355-D368-C7CA-7BD5-EC3425A100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40F2EC-85F8-E95E-83FD-42E456511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D693E-2BEA-4BAE-9E3B-1AB7F5ABE479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2C27B-A6C1-3842-A7F1-C743AF407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1A6E05-9DBE-2483-E38D-EB9D11189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9974-EFB3-403D-8707-4CE10ECC0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0735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BEEAB-D5F2-C355-ECAE-C6DC32FE3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371A66-74F6-8103-1BE4-510AABD45E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AF6060-4E64-EF41-A319-96614A59D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D693E-2BEA-4BAE-9E3B-1AB7F5ABE479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FFAF6D-A38B-CE81-4EF7-FC4D4ABAF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BE3E2E-B424-CBB0-9B48-A2265C233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9974-EFB3-403D-8707-4CE10ECC0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2661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5B5BD-8EE1-1E19-CC77-4E54E2905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BC739-301F-71EF-73BF-5B246E57C4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3446C4-0180-E37A-B27F-6473A92EAA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4AB699-A97A-AC4C-9138-A53865109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D693E-2BEA-4BAE-9E3B-1AB7F5ABE479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DBEA91-57D5-8791-91AD-F1086A4A4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044E09-E591-94CA-07EA-B9E299BC6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9974-EFB3-403D-8707-4CE10ECC0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3655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D047F-7188-1009-64F8-4649E4112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6D3743-1823-5779-90C7-81105C97BA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13E98C-8D01-A6B8-6E28-7E40F107BF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FDFF24-D030-956D-3BD2-9E94C5FA9D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6891CF-1239-D85E-9618-757D9B12D0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15BE3B-1F08-B339-E528-3CCA11B86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D693E-2BEA-4BAE-9E3B-1AB7F5ABE479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C8E30E-37E8-E979-1B55-12B4DE0B3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6060F2-8E7E-D567-73A0-F7630B79B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9974-EFB3-403D-8707-4CE10ECC0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0312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486BC-6758-57F7-E798-E6AE24AD3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FF9E7B-1879-B593-ABA9-564D8DE74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D693E-2BEA-4BAE-9E3B-1AB7F5ABE479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6AFC54-BCBF-AFD0-FFE5-DAC1C02F2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39E17E-16E1-D695-823B-6787D7029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9974-EFB3-403D-8707-4CE10ECC0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7544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184F01-33CB-0888-B316-B47491D58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D693E-2BEA-4BAE-9E3B-1AB7F5ABE479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D0AD07-A13D-896F-AC29-EF8A3B35D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34A691-47FC-71B6-5A16-CF86D882F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9974-EFB3-403D-8707-4CE10ECC0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7704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97F65-28F6-8289-C3D6-2FEE027AF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44D18-CD97-3021-1790-3495A805C2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E5ACDD-E9AC-4CAB-7DD8-C67576455C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1E02AB-FBAA-EF18-6B8A-58E124C5D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D693E-2BEA-4BAE-9E3B-1AB7F5ABE479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6D6C4C-6592-57F6-F35B-FAC397B41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AECCB7-239B-85A6-5023-3EBD21E13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9974-EFB3-403D-8707-4CE10ECC0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893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891D2-EBD1-D58D-9A6D-4AB2DB202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B33A54-CF5C-79B4-0BE4-114A8F25DA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AEACEE-82D7-3EA9-0260-AD9D1ECD3F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5AA24B-C7C8-4B06-BDD4-0B4DD1B92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D693E-2BEA-4BAE-9E3B-1AB7F5ABE479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F18FE9-2C02-FD07-6B3D-E94FDE469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027D6F-666F-3137-1467-2A4C8F50B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9974-EFB3-403D-8707-4CE10ECC0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7295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8412A-4D3E-48D9-C3ED-7C3910829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F937EA-11CA-1249-79A3-CC7DC20102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5EC434-4D18-ACAF-873E-CAD367733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D693E-2BEA-4BAE-9E3B-1AB7F5ABE479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6C31B-C57F-DD9B-153F-303926F91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DFAB8E-3EE9-E380-2C4C-E3BF62781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9974-EFB3-403D-8707-4CE10ECC0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6775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07EA0C-5EC5-6E41-2873-CE1C0762B5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68236C-70D6-7D9B-526A-D5ABBFDE1E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E08B6D-6DE2-8F97-DF97-9E46F71A6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D693E-2BEA-4BAE-9E3B-1AB7F5ABE479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A7EE8-D460-2BEA-174A-44E1E0B69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9C1894-BC1C-FA7E-2D5F-13BEFF761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9974-EFB3-403D-8707-4CE10ECC0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610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A107DA-F43D-B727-38A6-3F47F3444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872746-E7ED-CD92-5F3A-2DC6F9B1BB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9CCD1-BB26-0A0D-B69E-0626D376CE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D693E-2BEA-4BAE-9E3B-1AB7F5ABE479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913FC1-6CB1-B39B-5222-F0F1D92D88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EACC3-D8C1-3906-FF48-A7A7BC8C4D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5E9974-EFB3-403D-8707-4CE10ECC0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428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A2186-DB8D-4294-3ED9-CFC637D2F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Softmax</a:t>
            </a:r>
            <a:r>
              <a:rPr lang="en-IN" dirty="0"/>
              <a:t>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93233-ECFF-F880-FD81-30A5E9E5E0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Logistic Regression model can be generalized to support multiple classes directly, without having to train and combine multiple binary classifiers. This is called </a:t>
            </a:r>
            <a:r>
              <a:rPr lang="en-US" sz="2400" dirty="0" err="1"/>
              <a:t>Softmax</a:t>
            </a:r>
            <a:r>
              <a:rPr lang="en-US" sz="2400" dirty="0"/>
              <a:t> Regression, or Multinomial Logistic Regression.</a:t>
            </a:r>
          </a:p>
          <a:p>
            <a:r>
              <a:rPr lang="en-US" sz="2400" dirty="0"/>
              <a:t>The idea is simple: when given an instance </a:t>
            </a:r>
            <a:r>
              <a:rPr lang="en-US" sz="2400" b="1" dirty="0"/>
              <a:t>x</a:t>
            </a:r>
            <a:r>
              <a:rPr lang="en-US" sz="2400" dirty="0"/>
              <a:t>, the </a:t>
            </a:r>
            <a:r>
              <a:rPr lang="en-US" sz="2400" dirty="0" err="1"/>
              <a:t>Softmax</a:t>
            </a:r>
            <a:r>
              <a:rPr lang="en-US" sz="2400" dirty="0"/>
              <a:t> Regression model first computes a score </a:t>
            </a:r>
            <a:r>
              <a:rPr lang="en-US" sz="2400" i="1" dirty="0" err="1"/>
              <a:t>s</a:t>
            </a:r>
            <a:r>
              <a:rPr lang="en-US" sz="2400" i="1" baseline="-25000" dirty="0" err="1"/>
              <a:t>k</a:t>
            </a:r>
            <a:r>
              <a:rPr lang="en-US" sz="2400" dirty="0"/>
              <a:t>(</a:t>
            </a:r>
            <a:r>
              <a:rPr lang="en-US" sz="2400" b="1" dirty="0"/>
              <a:t>x</a:t>
            </a:r>
            <a:r>
              <a:rPr lang="en-US" sz="2400" dirty="0"/>
              <a:t>) for each class </a:t>
            </a:r>
            <a:r>
              <a:rPr lang="en-US" sz="2400" i="1" dirty="0"/>
              <a:t>k</a:t>
            </a:r>
            <a:r>
              <a:rPr lang="en-US" sz="2400" dirty="0"/>
              <a:t>, then estimates the probability of each class by applying the </a:t>
            </a:r>
            <a:r>
              <a:rPr lang="en-US" sz="2400" i="1" dirty="0" err="1"/>
              <a:t>softmax</a:t>
            </a:r>
            <a:r>
              <a:rPr lang="en-US" sz="2400" i="1" dirty="0"/>
              <a:t> function </a:t>
            </a:r>
            <a:r>
              <a:rPr lang="en-US" sz="2400" dirty="0"/>
              <a:t>(also called the </a:t>
            </a:r>
            <a:r>
              <a:rPr lang="en-US" sz="2400" i="1" dirty="0"/>
              <a:t>normalized exponential</a:t>
            </a:r>
            <a:r>
              <a:rPr lang="en-US" sz="2400" dirty="0"/>
              <a:t>) to the scores.</a:t>
            </a:r>
          </a:p>
          <a:p>
            <a:r>
              <a:rPr lang="en-US" sz="2400" dirty="0"/>
              <a:t>Equation for </a:t>
            </a:r>
            <a:r>
              <a:rPr lang="en-US" sz="2400" dirty="0" err="1"/>
              <a:t>Softmax</a:t>
            </a:r>
            <a:r>
              <a:rPr lang="en-US" sz="2400" dirty="0"/>
              <a:t> score for class k</a:t>
            </a:r>
          </a:p>
          <a:p>
            <a:endParaRPr lang="en-US" sz="2400" dirty="0"/>
          </a:p>
          <a:p>
            <a:r>
              <a:rPr lang="en-US" sz="2400" dirty="0"/>
              <a:t>Each class has its own dedicated parameter vector </a:t>
            </a:r>
            <a:r>
              <a:rPr lang="en-US" sz="2400" b="1" dirty="0"/>
              <a:t>θ</a:t>
            </a:r>
            <a:r>
              <a:rPr lang="en-US" sz="2400" dirty="0"/>
              <a:t>(</a:t>
            </a:r>
            <a:r>
              <a:rPr lang="en-US" sz="2400" i="1" dirty="0"/>
              <a:t>k</a:t>
            </a:r>
            <a:r>
              <a:rPr lang="en-US" sz="2400" dirty="0"/>
              <a:t>)</a:t>
            </a: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A4F7AC-260D-4555-59B1-BCF3E86B4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0023" y="4297800"/>
            <a:ext cx="2572109" cy="64779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967975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9757A-773E-9E65-6F48-51BA752F1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6840"/>
          </a:xfrm>
        </p:spPr>
        <p:txBody>
          <a:bodyPr/>
          <a:lstStyle/>
          <a:p>
            <a:r>
              <a:rPr lang="en-IN" dirty="0" err="1"/>
              <a:t>Softmax</a:t>
            </a:r>
            <a:r>
              <a:rPr lang="en-IN" dirty="0"/>
              <a:t>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45075-C0DF-1E84-5962-C70A241B3E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1966"/>
            <a:ext cx="10515600" cy="5297556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Once you have computed the score of every class for the instance </a:t>
            </a:r>
            <a:r>
              <a:rPr lang="en-US" sz="2400" b="1" dirty="0"/>
              <a:t>x</a:t>
            </a:r>
            <a:r>
              <a:rPr lang="en-US" sz="2400" dirty="0"/>
              <a:t>, you can estimate the probability </a:t>
            </a:r>
            <a:r>
              <a:rPr lang="en-US" sz="2400" i="1" dirty="0"/>
              <a:t>pk </a:t>
            </a:r>
            <a:r>
              <a:rPr lang="en-US" sz="2400" dirty="0"/>
              <a:t>that the instance belongs to class </a:t>
            </a:r>
            <a:r>
              <a:rPr lang="en-US" sz="2400" i="1" dirty="0"/>
              <a:t>k </a:t>
            </a:r>
            <a:r>
              <a:rPr lang="en-US" sz="2400" dirty="0"/>
              <a:t>by running the scores through the </a:t>
            </a:r>
            <a:r>
              <a:rPr lang="en-US" sz="2400" dirty="0" err="1"/>
              <a:t>softmax</a:t>
            </a:r>
            <a:r>
              <a:rPr lang="en-US" sz="2400" dirty="0"/>
              <a:t> function. </a:t>
            </a:r>
          </a:p>
          <a:p>
            <a:r>
              <a:rPr lang="en-US" sz="2400" dirty="0"/>
              <a:t>The function computes the exponential of every score, then normalizes them (dividing by the sum of all the exponentials). </a:t>
            </a:r>
          </a:p>
          <a:p>
            <a:r>
              <a:rPr lang="en-US" sz="2400" dirty="0"/>
              <a:t>The scores are generally called logits or log-odds (although they are actually unnormalized </a:t>
            </a:r>
            <a:r>
              <a:rPr lang="en-IN" sz="2400" dirty="0"/>
              <a:t>log-odds).</a:t>
            </a:r>
          </a:p>
          <a:p>
            <a:r>
              <a:rPr lang="en-IN" sz="2400" dirty="0"/>
              <a:t>Equation for </a:t>
            </a:r>
            <a:r>
              <a:rPr lang="en-IN" sz="2400" dirty="0" err="1"/>
              <a:t>Softmax</a:t>
            </a:r>
            <a:r>
              <a:rPr lang="en-IN" sz="2400" dirty="0"/>
              <a:t> function</a:t>
            </a:r>
          </a:p>
          <a:p>
            <a:endParaRPr lang="en-IN" sz="2400" dirty="0"/>
          </a:p>
          <a:p>
            <a:endParaRPr lang="en-IN" sz="2400" dirty="0"/>
          </a:p>
          <a:p>
            <a:r>
              <a:rPr lang="en-US" sz="2600" i="1" dirty="0"/>
              <a:t>K </a:t>
            </a:r>
            <a:r>
              <a:rPr lang="en-US" sz="2600" dirty="0"/>
              <a:t>is the number of classes.</a:t>
            </a:r>
          </a:p>
          <a:p>
            <a:r>
              <a:rPr lang="en-US" sz="2600" b="1" dirty="0"/>
              <a:t>s</a:t>
            </a:r>
            <a:r>
              <a:rPr lang="en-US" sz="2600" dirty="0"/>
              <a:t>(</a:t>
            </a:r>
            <a:r>
              <a:rPr lang="en-US" sz="2600" b="1" dirty="0"/>
              <a:t>x</a:t>
            </a:r>
            <a:r>
              <a:rPr lang="en-US" sz="2600" dirty="0"/>
              <a:t>) is a vector containing the scores of each class for the instance </a:t>
            </a:r>
            <a:r>
              <a:rPr lang="en-US" sz="2600" b="1" dirty="0"/>
              <a:t>x</a:t>
            </a:r>
            <a:r>
              <a:rPr lang="en-US" sz="2600" dirty="0"/>
              <a:t>.</a:t>
            </a:r>
          </a:p>
          <a:p>
            <a:r>
              <a:rPr lang="en-US" sz="2600" i="1" dirty="0"/>
              <a:t>σ</a:t>
            </a:r>
            <a:r>
              <a:rPr lang="en-US" sz="2600" dirty="0"/>
              <a:t>(</a:t>
            </a:r>
            <a:r>
              <a:rPr lang="en-US" sz="2600" b="1" dirty="0"/>
              <a:t>s</a:t>
            </a:r>
            <a:r>
              <a:rPr lang="en-US" sz="2600" dirty="0"/>
              <a:t>(</a:t>
            </a:r>
            <a:r>
              <a:rPr lang="en-US" sz="2600" b="1" dirty="0"/>
              <a:t>x</a:t>
            </a:r>
            <a:r>
              <a:rPr lang="en-US" sz="2600" dirty="0"/>
              <a:t>))</a:t>
            </a:r>
            <a:r>
              <a:rPr lang="en-US" sz="2600" i="1" dirty="0"/>
              <a:t>k </a:t>
            </a:r>
            <a:r>
              <a:rPr lang="en-US" sz="2600" dirty="0"/>
              <a:t>is the estimated probability that the instance </a:t>
            </a:r>
            <a:r>
              <a:rPr lang="en-US" sz="2600" b="1" dirty="0"/>
              <a:t>x </a:t>
            </a:r>
            <a:r>
              <a:rPr lang="en-US" sz="2600" dirty="0"/>
              <a:t>belongs to class </a:t>
            </a:r>
            <a:r>
              <a:rPr lang="en-US" sz="2600" i="1" dirty="0"/>
              <a:t>k</a:t>
            </a:r>
            <a:r>
              <a:rPr lang="en-US" sz="2600" dirty="0"/>
              <a:t>, given the scores of each class for that instance</a:t>
            </a:r>
            <a:endParaRPr lang="en-IN" sz="1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9D9D36-83ED-67B1-3A90-874D8E6506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861" y="3276277"/>
            <a:ext cx="6173061" cy="166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823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F7F4-B1EC-9586-9505-2A6D1F518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Softmax</a:t>
            </a:r>
            <a:r>
              <a:rPr lang="en-IN" dirty="0"/>
              <a:t>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BFA97-4749-5E32-F2F4-316F8C5FE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802187"/>
          </a:xfrm>
        </p:spPr>
        <p:txBody>
          <a:bodyPr>
            <a:normAutofit lnSpcReduction="10000"/>
          </a:bodyPr>
          <a:lstStyle/>
          <a:p>
            <a:r>
              <a:rPr lang="en-IN" sz="2400" dirty="0" err="1"/>
              <a:t>Softmax</a:t>
            </a:r>
            <a:r>
              <a:rPr lang="en-IN" sz="2400" dirty="0"/>
              <a:t> Regression classifier predicts </a:t>
            </a:r>
            <a:r>
              <a:rPr lang="en-US" sz="2400" dirty="0"/>
              <a:t>the class with the highest estimated probability</a:t>
            </a:r>
          </a:p>
          <a:p>
            <a:r>
              <a:rPr lang="en-IN" sz="2400" dirty="0"/>
              <a:t>Equation for </a:t>
            </a:r>
            <a:r>
              <a:rPr lang="en-IN" sz="2400" dirty="0" err="1"/>
              <a:t>Softmax</a:t>
            </a:r>
            <a:r>
              <a:rPr lang="en-IN" sz="2400" dirty="0"/>
              <a:t> Regression classifier prediction</a:t>
            </a:r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r>
              <a:rPr lang="en-US" sz="2400" dirty="0"/>
              <a:t>The argmax operator returns the value of a variable that maximizes a function. </a:t>
            </a:r>
          </a:p>
          <a:p>
            <a:r>
              <a:rPr lang="en-US" sz="2400" dirty="0"/>
              <a:t>In this equation, it returns the value of k that maximizes the estimated probability σ(</a:t>
            </a:r>
            <a:r>
              <a:rPr lang="en-US" sz="2400" b="1" dirty="0"/>
              <a:t>s</a:t>
            </a:r>
            <a:r>
              <a:rPr lang="en-US" sz="2400" dirty="0"/>
              <a:t>(</a:t>
            </a:r>
            <a:r>
              <a:rPr lang="en-US" sz="2400" b="1" dirty="0"/>
              <a:t>x</a:t>
            </a:r>
            <a:r>
              <a:rPr lang="en-US" sz="2400" dirty="0"/>
              <a:t>))k</a:t>
            </a:r>
          </a:p>
          <a:p>
            <a:r>
              <a:rPr lang="en-US" sz="2600" dirty="0"/>
              <a:t>The </a:t>
            </a:r>
            <a:r>
              <a:rPr lang="en-US" sz="2600" dirty="0" err="1"/>
              <a:t>Softmax</a:t>
            </a:r>
            <a:r>
              <a:rPr lang="en-US" sz="2600" dirty="0"/>
              <a:t> Regression classifier predicts only one class at a time (i.e., it is multiclass, not multioutput), so it should be used only with mutually exclusive classes, such as different types of plants.</a:t>
            </a:r>
            <a:endParaRPr lang="en-IN" sz="1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F833E2-6035-93AE-ACB9-CB4A69CA6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80626"/>
            <a:ext cx="10679015" cy="1057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828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79190-65C8-B220-3814-771F8B214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Cross entropy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39A61-6E7C-5522-81D9-665375556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r>
              <a:rPr lang="en-US" sz="2400" dirty="0"/>
              <a:t>Cross entropy is frequently used to measure how well a set of estimated class probabilities matches the target classes.</a:t>
            </a:r>
          </a:p>
          <a:p>
            <a:r>
              <a:rPr lang="en-US" sz="2400" dirty="0"/>
              <a:t>Equation for Cross entropy cost function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IN" sz="2400" i="1" dirty="0" err="1"/>
              <a:t>y</a:t>
            </a:r>
            <a:r>
              <a:rPr lang="en-IN" sz="2400" baseline="-25000" dirty="0" err="1"/>
              <a:t>k</a:t>
            </a:r>
            <a:r>
              <a:rPr lang="en-IN" sz="2400" i="1" dirty="0"/>
              <a:t>(</a:t>
            </a:r>
            <a:r>
              <a:rPr lang="en-US" sz="2400" i="1" dirty="0" err="1"/>
              <a:t>i</a:t>
            </a:r>
            <a:r>
              <a:rPr lang="en-US" sz="2400" i="1" dirty="0"/>
              <a:t>) </a:t>
            </a:r>
            <a:r>
              <a:rPr lang="en-US" sz="2400" dirty="0"/>
              <a:t>is the target probability that the </a:t>
            </a:r>
            <a:r>
              <a:rPr lang="en-US" sz="2400" i="1" dirty="0" err="1"/>
              <a:t>i</a:t>
            </a:r>
            <a:r>
              <a:rPr lang="en-US" sz="2400" dirty="0" err="1"/>
              <a:t>th</a:t>
            </a:r>
            <a:r>
              <a:rPr lang="en-US" sz="2400" dirty="0"/>
              <a:t> instance belongs to class </a:t>
            </a:r>
            <a:r>
              <a:rPr lang="en-US" sz="2400" i="1" dirty="0"/>
              <a:t>k</a:t>
            </a:r>
            <a:r>
              <a:rPr lang="en-US" sz="2400" dirty="0"/>
              <a:t>. In general, it is either equal to 1 or 0, depending on whether the instance belongs to the class or </a:t>
            </a:r>
            <a:r>
              <a:rPr lang="en-IN" sz="2400" dirty="0"/>
              <a:t>not.</a:t>
            </a:r>
          </a:p>
          <a:p>
            <a:r>
              <a:rPr lang="en-US" sz="2400" dirty="0"/>
              <a:t>When there are just two classes (</a:t>
            </a:r>
            <a:r>
              <a:rPr lang="en-US" sz="2400" i="1" dirty="0"/>
              <a:t>K </a:t>
            </a:r>
            <a:r>
              <a:rPr lang="en-US" sz="2400" dirty="0"/>
              <a:t>= 2), this cost function is equivalent to the Logistic Regression’s cost function</a:t>
            </a:r>
            <a:endParaRPr lang="en-IN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365180-C094-D2EA-F4C3-AC10A02243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364" y="3143924"/>
            <a:ext cx="6249272" cy="857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25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31638-B37F-46B5-69B5-B4B99B50B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Cross entropy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3C86B9-2FAD-43C4-12A7-8CA2C27419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Equation for  Cross entropy gradient vector for class k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dirty="0"/>
              <a:t>Compute the gradient vector for every class, then use Gradient Descent (or any other optimization algorithm) to find the parameter matrix </a:t>
            </a:r>
            <a:r>
              <a:rPr lang="en-US" b="1" dirty="0"/>
              <a:t>Θ </a:t>
            </a:r>
            <a:r>
              <a:rPr lang="en-US" dirty="0"/>
              <a:t>that minimizes </a:t>
            </a:r>
            <a:r>
              <a:rPr lang="en-IN" dirty="0"/>
              <a:t>the cost function.</a:t>
            </a:r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844B6F-0E1F-8E51-857D-2751BBABC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9916" y="2453631"/>
            <a:ext cx="6392167" cy="1314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360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7E42AAF-3DD4-FA5F-2436-194927C7C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174" y="0"/>
            <a:ext cx="6579887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923D3F-47E2-A155-3DE8-BD45477AA6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5859" y="434749"/>
            <a:ext cx="8067356" cy="15729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971FDD1-7502-6A35-6B90-03DA01AE97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3924" y="3028640"/>
            <a:ext cx="4469291" cy="249751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11FDB14-3405-7CEB-93E9-36971E159558}"/>
              </a:ext>
            </a:extLst>
          </p:cNvPr>
          <p:cNvSpPr txBox="1"/>
          <p:nvPr/>
        </p:nvSpPr>
        <p:spPr>
          <a:xfrm>
            <a:off x="7113932" y="2257787"/>
            <a:ext cx="43260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sz="2400" b="1" dirty="0"/>
              <a:t>Compute Logits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AD34190-1776-994E-4CD7-EDF321783CC5}"/>
              </a:ext>
            </a:extLst>
          </p:cNvPr>
          <p:cNvSpPr/>
          <p:nvPr/>
        </p:nvSpPr>
        <p:spPr>
          <a:xfrm>
            <a:off x="337930" y="4343400"/>
            <a:ext cx="3339548" cy="6361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80F462D-BF1A-D0F8-1ED7-3F5EEDA089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174" y="4150713"/>
            <a:ext cx="6377701" cy="82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016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86C4225-EF98-8BEB-A365-99A74C19F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351104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A3278C-1652-637B-9DB3-FF482CDD8E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7203" y="0"/>
            <a:ext cx="55347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814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0B6299-AEFA-2FD2-04E9-84A692F27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6341165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CCF183F-8933-82D5-45C8-C445C59996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9887" y="0"/>
            <a:ext cx="54963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425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0F94FA-76A3-7290-135E-ED1D5162F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616" y="218309"/>
            <a:ext cx="8972010" cy="635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441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E43664-BB32-C894-129A-9A671D62E4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725" y="442846"/>
            <a:ext cx="10664335" cy="5977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0461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7815461-4BF2-A859-F516-74FDBA3D9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582" y="390739"/>
            <a:ext cx="7754896" cy="6076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321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5C3484-31FB-4B89-A053-7622E0160C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655" y="163247"/>
            <a:ext cx="8807554" cy="6550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4397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B0E5A4-1DE6-3AA6-FEA2-8381267BDB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588" y="591265"/>
            <a:ext cx="7933290" cy="6105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6864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853839-57C3-17E6-E7FC-8E49A15A36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413" y="298807"/>
            <a:ext cx="7914430" cy="5763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8236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471</Words>
  <Application>Microsoft Office PowerPoint</Application>
  <PresentationFormat>Widescreen</PresentationFormat>
  <Paragraphs>41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Softmax Regression</vt:lpstr>
      <vt:lpstr>Softmax Regression</vt:lpstr>
      <vt:lpstr>Softmax Regression</vt:lpstr>
      <vt:lpstr>Cross entropy</vt:lpstr>
      <vt:lpstr>Cross entropy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Neethu Suman</dc:creator>
  <cp:lastModifiedBy>Neethu Suman</cp:lastModifiedBy>
  <cp:revision>1</cp:revision>
  <dcterms:created xsi:type="dcterms:W3CDTF">2026-01-15T06:33:44Z</dcterms:created>
  <dcterms:modified xsi:type="dcterms:W3CDTF">2026-01-15T06:34:18Z</dcterms:modified>
</cp:coreProperties>
</file>