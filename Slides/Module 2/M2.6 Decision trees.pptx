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409" r:id="rId3"/>
    <p:sldId id="410" r:id="rId4"/>
    <p:sldId id="411" r:id="rId5"/>
    <p:sldId id="412" r:id="rId6"/>
    <p:sldId id="413" r:id="rId7"/>
    <p:sldId id="421" r:id="rId8"/>
    <p:sldId id="454" r:id="rId9"/>
    <p:sldId id="455" r:id="rId10"/>
    <p:sldId id="456" r:id="rId11"/>
    <p:sldId id="457" r:id="rId12"/>
    <p:sldId id="461" r:id="rId13"/>
    <p:sldId id="462" r:id="rId14"/>
    <p:sldId id="463" r:id="rId15"/>
    <p:sldId id="465" r:id="rId16"/>
    <p:sldId id="464" r:id="rId17"/>
    <p:sldId id="458" r:id="rId18"/>
    <p:sldId id="466" r:id="rId19"/>
    <p:sldId id="4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00694-9D73-C44C-301B-9C7D2B6A05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74886C-12E1-D3CD-B776-80048BE989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646F7A3-102B-E8B3-151D-8660CFDA0553}"/>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5" name="Footer Placeholder 4">
            <a:extLst>
              <a:ext uri="{FF2B5EF4-FFF2-40B4-BE49-F238E27FC236}">
                <a16:creationId xmlns:a16="http://schemas.microsoft.com/office/drawing/2014/main" id="{59D67492-B268-0661-E000-A47DDA9260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A3E6FA-9CFD-B776-6833-FE6BAE2C37C6}"/>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3153026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3DE70-59EB-5F31-F1C4-8323968EC0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14FFA6-D301-BE48-714B-2F7B2506AA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BE0F26-ADFB-821A-0DA4-F6B92C14BFD0}"/>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5" name="Footer Placeholder 4">
            <a:extLst>
              <a:ext uri="{FF2B5EF4-FFF2-40B4-BE49-F238E27FC236}">
                <a16:creationId xmlns:a16="http://schemas.microsoft.com/office/drawing/2014/main" id="{4AA844AD-4E63-552C-4E9F-559F3A1A7F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606C6D-B9A1-8C83-82BA-0655B0A98707}"/>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1426233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957DF-5520-895F-0AC0-8CC775B2AE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95AA89F-5ED4-B172-7ECD-BF767EC1F66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8EFDFE-90F6-5631-7EEC-D0CF9AA25571}"/>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5" name="Footer Placeholder 4">
            <a:extLst>
              <a:ext uri="{FF2B5EF4-FFF2-40B4-BE49-F238E27FC236}">
                <a16:creationId xmlns:a16="http://schemas.microsoft.com/office/drawing/2014/main" id="{CFC5E59B-9972-F2C4-327D-0FBA9979F1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9598BC-416B-B076-C22F-C56C4E4FCA44}"/>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1006348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BA37-C1FD-77AB-44E0-A13A9402EC3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F38CCB-A77C-7D8E-DEAC-5332FA5997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8B5076-D94A-5425-1835-E2D35DAA70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8D42451-6843-98C5-F3F5-6887AB7A7E34}"/>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6" name="Footer Placeholder 5">
            <a:extLst>
              <a:ext uri="{FF2B5EF4-FFF2-40B4-BE49-F238E27FC236}">
                <a16:creationId xmlns:a16="http://schemas.microsoft.com/office/drawing/2014/main" id="{DB0E628C-019F-BFA1-9783-8785208BBD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306416E-2BAF-04ED-1A39-98FF28D8EB9D}"/>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2612511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D465C-E9DD-78D0-0766-C12C29253E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A22187-B720-FE7D-45EE-C44F379475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41E39F-FB8A-AB04-7E0F-9CF4055D0E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5C248A-2F19-A572-E523-08E9BB6A7F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D17AD-0315-37E2-F455-730A4D51CC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1D9956-7CBD-E0F6-E36D-908AF642D183}"/>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8" name="Footer Placeholder 7">
            <a:extLst>
              <a:ext uri="{FF2B5EF4-FFF2-40B4-BE49-F238E27FC236}">
                <a16:creationId xmlns:a16="http://schemas.microsoft.com/office/drawing/2014/main" id="{64DDF63D-5D4B-C365-CE44-E4002351067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B7B579-23EF-0A7F-4745-CD865AB812E8}"/>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3835739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0F84-CB4C-6F27-5970-3D3D26E2C06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1D7D1BA-6F1D-2222-79A2-E4C84E12E5E4}"/>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4" name="Footer Placeholder 3">
            <a:extLst>
              <a:ext uri="{FF2B5EF4-FFF2-40B4-BE49-F238E27FC236}">
                <a16:creationId xmlns:a16="http://schemas.microsoft.com/office/drawing/2014/main" id="{33614798-6FE2-D0CA-022A-876A06C37F7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9EF7CA-043D-7A1E-82B8-56015922B255}"/>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37007244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A0A4FA-6676-3A39-A107-72000FBB269A}"/>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3" name="Footer Placeholder 2">
            <a:extLst>
              <a:ext uri="{FF2B5EF4-FFF2-40B4-BE49-F238E27FC236}">
                <a16:creationId xmlns:a16="http://schemas.microsoft.com/office/drawing/2014/main" id="{D2AE5966-F4B8-2C5F-BEB8-E898F00120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287CDD-8FF3-16FE-7618-087750F22C92}"/>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1829317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DA059-88DC-D87F-3E3C-B97BF14777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32DCDF-96AD-1D4F-2A8C-76C8CFA96F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E85BE8-FEB1-4697-6BFD-A263E685E0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A2E70F-F84A-894E-448C-FC74C4725A83}"/>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6" name="Footer Placeholder 5">
            <a:extLst>
              <a:ext uri="{FF2B5EF4-FFF2-40B4-BE49-F238E27FC236}">
                <a16:creationId xmlns:a16="http://schemas.microsoft.com/office/drawing/2014/main" id="{479DAC29-CFDE-C00C-9896-04B6B861DD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B0A2FA-C1F0-B318-CCE9-7E25A96C7323}"/>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2902997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63D52-535B-0A3C-FFE7-48072614AD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F9B560-CCE2-03CB-2AD1-582E07D61B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EBF94F9-8CEB-0C4F-2923-36AB8B09B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F9A4A0-FC78-C0B6-7B2B-8D4B6A489AB5}"/>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6" name="Footer Placeholder 5">
            <a:extLst>
              <a:ext uri="{FF2B5EF4-FFF2-40B4-BE49-F238E27FC236}">
                <a16:creationId xmlns:a16="http://schemas.microsoft.com/office/drawing/2014/main" id="{638D54ED-D1DB-2637-E805-522219CF20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16D0C3-E5B5-38BE-A625-C129E9B3BF4D}"/>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11561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EC13D-8561-E096-C9B3-45561A34D94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034CEC-6AE2-F8CC-A627-E05D5051D4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BCE8CD-9C6D-B70E-4626-03A69B1F2EB3}"/>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5" name="Footer Placeholder 4">
            <a:extLst>
              <a:ext uri="{FF2B5EF4-FFF2-40B4-BE49-F238E27FC236}">
                <a16:creationId xmlns:a16="http://schemas.microsoft.com/office/drawing/2014/main" id="{6BE693B8-E1F7-F2F3-48C2-5663CF84E7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3ABA8D-0371-DB1D-8974-99C7480276AB}"/>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3861312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9DFA76-E71D-6B28-AA94-8AEEA26A05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D57986-6082-1928-BD57-B66EF997CF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5DF2C6-D9BD-3409-A0A5-9B9F2FEC523C}"/>
              </a:ext>
            </a:extLst>
          </p:cNvPr>
          <p:cNvSpPr>
            <a:spLocks noGrp="1"/>
          </p:cNvSpPr>
          <p:nvPr>
            <p:ph type="dt" sz="half" idx="10"/>
          </p:nvPr>
        </p:nvSpPr>
        <p:spPr/>
        <p:txBody>
          <a:bodyPr/>
          <a:lstStyle/>
          <a:p>
            <a:fld id="{72386759-B718-41B8-99F3-2395559DB33C}" type="datetimeFigureOut">
              <a:rPr lang="en-IN" smtClean="0"/>
              <a:t>22-01-2026</a:t>
            </a:fld>
            <a:endParaRPr lang="en-IN"/>
          </a:p>
        </p:txBody>
      </p:sp>
      <p:sp>
        <p:nvSpPr>
          <p:cNvPr id="5" name="Footer Placeholder 4">
            <a:extLst>
              <a:ext uri="{FF2B5EF4-FFF2-40B4-BE49-F238E27FC236}">
                <a16:creationId xmlns:a16="http://schemas.microsoft.com/office/drawing/2014/main" id="{11DD63B0-3523-0114-6146-58D23D5721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C92F0E-4DC6-4AD1-29D2-C72AB456D9D8}"/>
              </a:ext>
            </a:extLst>
          </p:cNvPr>
          <p:cNvSpPr>
            <a:spLocks noGrp="1"/>
          </p:cNvSpPr>
          <p:nvPr>
            <p:ph type="sldNum" sz="quarter" idx="12"/>
          </p:nvPr>
        </p:nvSpPr>
        <p:spPr/>
        <p:txBody>
          <a:bodyPr/>
          <a:lstStyle/>
          <a:p>
            <a:fld id="{D57F3EE2-6D20-46DF-89D8-97EAE054020E}" type="slidenum">
              <a:rPr lang="en-IN" smtClean="0"/>
              <a:t>‹#›</a:t>
            </a:fld>
            <a:endParaRPr lang="en-IN"/>
          </a:p>
        </p:txBody>
      </p:sp>
    </p:spTree>
    <p:extLst>
      <p:ext uri="{BB962C8B-B14F-4D97-AF65-F5344CB8AC3E}">
        <p14:creationId xmlns:p14="http://schemas.microsoft.com/office/powerpoint/2010/main" val="4150711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011F0F-13BA-7B65-D50A-7F2086D089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C90022-F980-0CB0-859A-3D8D6C710C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7595F3-3CFD-3982-196A-99A9A14C02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386759-B718-41B8-99F3-2395559DB33C}" type="datetimeFigureOut">
              <a:rPr lang="en-IN" smtClean="0"/>
              <a:t>22-01-2026</a:t>
            </a:fld>
            <a:endParaRPr lang="en-IN"/>
          </a:p>
        </p:txBody>
      </p:sp>
      <p:sp>
        <p:nvSpPr>
          <p:cNvPr id="5" name="Footer Placeholder 4">
            <a:extLst>
              <a:ext uri="{FF2B5EF4-FFF2-40B4-BE49-F238E27FC236}">
                <a16:creationId xmlns:a16="http://schemas.microsoft.com/office/drawing/2014/main" id="{31A42C3E-F9FE-8842-4DB1-4860D6D3D5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FB03DE7-80D9-F005-09C9-AA3A62F30E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3EE2-6D20-46DF-89D8-97EAE054020E}" type="slidenum">
              <a:rPr lang="en-IN" smtClean="0"/>
              <a:t>‹#›</a:t>
            </a:fld>
            <a:endParaRPr lang="en-IN"/>
          </a:p>
        </p:txBody>
      </p:sp>
    </p:spTree>
    <p:extLst>
      <p:ext uri="{BB962C8B-B14F-4D97-AF65-F5344CB8AC3E}">
        <p14:creationId xmlns:p14="http://schemas.microsoft.com/office/powerpoint/2010/main" val="39032315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AD0E2-47AF-ED2A-D3A7-18F5A7622F48}"/>
              </a:ext>
            </a:extLst>
          </p:cNvPr>
          <p:cNvSpPr>
            <a:spLocks noGrp="1"/>
          </p:cNvSpPr>
          <p:nvPr>
            <p:ph type="title"/>
          </p:nvPr>
        </p:nvSpPr>
        <p:spPr/>
        <p:txBody>
          <a:bodyPr/>
          <a:lstStyle/>
          <a:p>
            <a:r>
              <a:rPr lang="en-US" dirty="0"/>
              <a:t>Decision trees </a:t>
            </a:r>
            <a:endParaRPr lang="en-IN" dirty="0"/>
          </a:p>
        </p:txBody>
      </p:sp>
      <p:sp>
        <p:nvSpPr>
          <p:cNvPr id="3" name="Content Placeholder 2">
            <a:extLst>
              <a:ext uri="{FF2B5EF4-FFF2-40B4-BE49-F238E27FC236}">
                <a16:creationId xmlns:a16="http://schemas.microsoft.com/office/drawing/2014/main" id="{CC19A252-66C9-6588-21F1-591A93F9D771}"/>
              </a:ext>
            </a:extLst>
          </p:cNvPr>
          <p:cNvSpPr>
            <a:spLocks noGrp="1"/>
          </p:cNvSpPr>
          <p:nvPr>
            <p:ph idx="1"/>
          </p:nvPr>
        </p:nvSpPr>
        <p:spPr/>
        <p:txBody>
          <a:bodyPr>
            <a:normAutofit/>
          </a:bodyPr>
          <a:lstStyle/>
          <a:p>
            <a:pPr fontAlgn="base"/>
            <a:r>
              <a:rPr lang="en-US" sz="2400" dirty="0"/>
              <a:t>A decision tree is a supervised learning algorithm used for both classification and regression tasks. </a:t>
            </a:r>
          </a:p>
          <a:p>
            <a:pPr fontAlgn="base"/>
            <a:r>
              <a:rPr lang="en-US" sz="2400" dirty="0"/>
              <a:t>It has a hierarchical tree structure which consists of a root node, branches, internal nodes and leaf nodes. </a:t>
            </a:r>
          </a:p>
          <a:p>
            <a:pPr fontAlgn="base"/>
            <a:r>
              <a:rPr lang="en-US" sz="2400" dirty="0"/>
              <a:t>It works like a flowchart help to make decisions step by step where:</a:t>
            </a:r>
          </a:p>
          <a:p>
            <a:pPr lvl="1" fontAlgn="base"/>
            <a:r>
              <a:rPr lang="en-US" sz="2000" dirty="0"/>
              <a:t>Internal nodes represent attribute tests</a:t>
            </a:r>
          </a:p>
          <a:p>
            <a:pPr lvl="1" fontAlgn="base"/>
            <a:r>
              <a:rPr lang="en-US" sz="2000" dirty="0"/>
              <a:t>Branches represent attribute values</a:t>
            </a:r>
          </a:p>
          <a:p>
            <a:pPr lvl="1" fontAlgn="base"/>
            <a:r>
              <a:rPr lang="en-US" sz="2000" dirty="0"/>
              <a:t>Leaf nodes represent final decisions or predictions.</a:t>
            </a:r>
          </a:p>
          <a:p>
            <a:pPr fontAlgn="base"/>
            <a:r>
              <a:rPr lang="en-US" sz="2400" dirty="0"/>
              <a:t>Decision trees are widely used due to their interpretability, flexibility and low preprocessing needs.</a:t>
            </a:r>
          </a:p>
          <a:p>
            <a:endParaRPr lang="en-IN" sz="2400" dirty="0"/>
          </a:p>
        </p:txBody>
      </p:sp>
    </p:spTree>
    <p:extLst>
      <p:ext uri="{BB962C8B-B14F-4D97-AF65-F5344CB8AC3E}">
        <p14:creationId xmlns:p14="http://schemas.microsoft.com/office/powerpoint/2010/main" val="2125937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A29D1-3CCA-3AA9-4925-E77228644BF1}"/>
              </a:ext>
            </a:extLst>
          </p:cNvPr>
          <p:cNvSpPr>
            <a:spLocks noGrp="1"/>
          </p:cNvSpPr>
          <p:nvPr>
            <p:ph type="title"/>
          </p:nvPr>
        </p:nvSpPr>
        <p:spPr/>
        <p:txBody>
          <a:bodyPr/>
          <a:lstStyle/>
          <a:p>
            <a:r>
              <a:rPr lang="en-US" dirty="0"/>
              <a:t>Decision trees </a:t>
            </a:r>
            <a:endParaRPr lang="en-IN" dirty="0"/>
          </a:p>
        </p:txBody>
      </p:sp>
      <p:pic>
        <p:nvPicPr>
          <p:cNvPr id="5" name="Content Placeholder 4">
            <a:extLst>
              <a:ext uri="{FF2B5EF4-FFF2-40B4-BE49-F238E27FC236}">
                <a16:creationId xmlns:a16="http://schemas.microsoft.com/office/drawing/2014/main" id="{FAC69C1C-21B4-7547-87FC-B291D8DC3B3F}"/>
              </a:ext>
            </a:extLst>
          </p:cNvPr>
          <p:cNvPicPr>
            <a:picLocks noGrp="1" noChangeAspect="1"/>
          </p:cNvPicPr>
          <p:nvPr>
            <p:ph idx="1"/>
          </p:nvPr>
        </p:nvPicPr>
        <p:blipFill>
          <a:blip r:embed="rId2"/>
          <a:stretch>
            <a:fillRect/>
          </a:stretch>
        </p:blipFill>
        <p:spPr>
          <a:xfrm>
            <a:off x="668024" y="1611328"/>
            <a:ext cx="11361804" cy="4352149"/>
          </a:xfrm>
          <a:prstGeom prst="rect">
            <a:avLst/>
          </a:prstGeom>
        </p:spPr>
      </p:pic>
    </p:spTree>
    <p:extLst>
      <p:ext uri="{BB962C8B-B14F-4D97-AF65-F5344CB8AC3E}">
        <p14:creationId xmlns:p14="http://schemas.microsoft.com/office/powerpoint/2010/main" val="2247791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54AEC9-9284-B3B7-D36D-EEFA63521B39}"/>
              </a:ext>
            </a:extLst>
          </p:cNvPr>
          <p:cNvPicPr>
            <a:picLocks noChangeAspect="1"/>
          </p:cNvPicPr>
          <p:nvPr/>
        </p:nvPicPr>
        <p:blipFill>
          <a:blip r:embed="rId2"/>
          <a:stretch>
            <a:fillRect/>
          </a:stretch>
        </p:blipFill>
        <p:spPr>
          <a:xfrm>
            <a:off x="508999" y="329958"/>
            <a:ext cx="10652644" cy="5621226"/>
          </a:xfrm>
          <a:prstGeom prst="rect">
            <a:avLst/>
          </a:prstGeom>
        </p:spPr>
      </p:pic>
    </p:spTree>
    <p:extLst>
      <p:ext uri="{BB962C8B-B14F-4D97-AF65-F5344CB8AC3E}">
        <p14:creationId xmlns:p14="http://schemas.microsoft.com/office/powerpoint/2010/main" val="291374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3885E-1B75-0162-7B41-ECFCB86F5EAC}"/>
              </a:ext>
            </a:extLst>
          </p:cNvPr>
          <p:cNvSpPr>
            <a:spLocks noGrp="1"/>
          </p:cNvSpPr>
          <p:nvPr>
            <p:ph type="title"/>
          </p:nvPr>
        </p:nvSpPr>
        <p:spPr>
          <a:xfrm>
            <a:off x="838200" y="365125"/>
            <a:ext cx="10515600" cy="917023"/>
          </a:xfrm>
        </p:spPr>
        <p:txBody>
          <a:bodyPr/>
          <a:lstStyle/>
          <a:p>
            <a:r>
              <a:rPr lang="en-US" b="1" dirty="0"/>
              <a:t>How Does a Decision Tree Work</a:t>
            </a:r>
            <a:endParaRPr lang="en-IN" dirty="0"/>
          </a:p>
        </p:txBody>
      </p:sp>
      <p:sp>
        <p:nvSpPr>
          <p:cNvPr id="3" name="Content Placeholder 2">
            <a:extLst>
              <a:ext uri="{FF2B5EF4-FFF2-40B4-BE49-F238E27FC236}">
                <a16:creationId xmlns:a16="http://schemas.microsoft.com/office/drawing/2014/main" id="{CED18AD2-2A71-1E63-86F7-2DEC6E7C1EBE}"/>
              </a:ext>
            </a:extLst>
          </p:cNvPr>
          <p:cNvSpPr>
            <a:spLocks noGrp="1"/>
          </p:cNvSpPr>
          <p:nvPr>
            <p:ph idx="1"/>
          </p:nvPr>
        </p:nvSpPr>
        <p:spPr>
          <a:xfrm>
            <a:off x="838200" y="1282148"/>
            <a:ext cx="10515600" cy="4894815"/>
          </a:xfrm>
        </p:spPr>
        <p:txBody>
          <a:bodyPr>
            <a:normAutofit/>
          </a:bodyPr>
          <a:lstStyle/>
          <a:p>
            <a:r>
              <a:rPr lang="en-US" sz="2400" dirty="0"/>
              <a:t>A decision tree splits the dataset based on feature values to create pure subsets ideally all items in a group belong to the same class. </a:t>
            </a:r>
          </a:p>
          <a:p>
            <a:r>
              <a:rPr lang="en-US" sz="2400" dirty="0"/>
              <a:t>Each leaf node of the tree corresponds to a class label and the internal nodes are feature-based decision points. Let’s understand this with an example.</a:t>
            </a:r>
            <a:endParaRPr lang="en-IN" sz="2400" dirty="0"/>
          </a:p>
        </p:txBody>
      </p:sp>
      <p:pic>
        <p:nvPicPr>
          <p:cNvPr id="5" name="Picture 4">
            <a:extLst>
              <a:ext uri="{FF2B5EF4-FFF2-40B4-BE49-F238E27FC236}">
                <a16:creationId xmlns:a16="http://schemas.microsoft.com/office/drawing/2014/main" id="{93B77B67-3A20-6034-4988-D54DC6933998}"/>
              </a:ext>
            </a:extLst>
          </p:cNvPr>
          <p:cNvPicPr>
            <a:picLocks noChangeAspect="1"/>
          </p:cNvPicPr>
          <p:nvPr/>
        </p:nvPicPr>
        <p:blipFill>
          <a:blip r:embed="rId2"/>
          <a:stretch>
            <a:fillRect/>
          </a:stretch>
        </p:blipFill>
        <p:spPr>
          <a:xfrm>
            <a:off x="1901906" y="2866468"/>
            <a:ext cx="8726118" cy="3991532"/>
          </a:xfrm>
          <a:prstGeom prst="rect">
            <a:avLst/>
          </a:prstGeom>
        </p:spPr>
      </p:pic>
    </p:spTree>
    <p:extLst>
      <p:ext uri="{BB962C8B-B14F-4D97-AF65-F5344CB8AC3E}">
        <p14:creationId xmlns:p14="http://schemas.microsoft.com/office/powerpoint/2010/main" val="4097609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CC29A-35B6-C977-2F79-222F080C9F5D}"/>
              </a:ext>
            </a:extLst>
          </p:cNvPr>
          <p:cNvSpPr>
            <a:spLocks noGrp="1"/>
          </p:cNvSpPr>
          <p:nvPr>
            <p:ph type="title"/>
          </p:nvPr>
        </p:nvSpPr>
        <p:spPr/>
        <p:txBody>
          <a:bodyPr/>
          <a:lstStyle/>
          <a:p>
            <a:r>
              <a:rPr lang="en-US" b="1" dirty="0"/>
              <a:t>How Does a Decision Tree Work</a:t>
            </a:r>
            <a:endParaRPr lang="en-IN" dirty="0"/>
          </a:p>
        </p:txBody>
      </p:sp>
      <p:sp>
        <p:nvSpPr>
          <p:cNvPr id="3" name="Content Placeholder 2">
            <a:extLst>
              <a:ext uri="{FF2B5EF4-FFF2-40B4-BE49-F238E27FC236}">
                <a16:creationId xmlns:a16="http://schemas.microsoft.com/office/drawing/2014/main" id="{E57442CB-9218-2A9B-91F7-D133B66CC380}"/>
              </a:ext>
            </a:extLst>
          </p:cNvPr>
          <p:cNvSpPr>
            <a:spLocks noGrp="1"/>
          </p:cNvSpPr>
          <p:nvPr>
            <p:ph idx="1"/>
          </p:nvPr>
        </p:nvSpPr>
        <p:spPr>
          <a:xfrm>
            <a:off x="838200" y="1690687"/>
            <a:ext cx="10840278" cy="4879077"/>
          </a:xfrm>
        </p:spPr>
        <p:txBody>
          <a:bodyPr>
            <a:normAutofit fontScale="92500" lnSpcReduction="10000"/>
          </a:bodyPr>
          <a:lstStyle/>
          <a:p>
            <a:pPr fontAlgn="base"/>
            <a:r>
              <a:rPr lang="en-US" sz="2400" dirty="0"/>
              <a:t>Let’s consider a decision tree for predicting whether a customer will buy a product based on age, income and previous purchases: Here's how the decision tree works:</a:t>
            </a:r>
          </a:p>
          <a:p>
            <a:pPr marL="457200" indent="-457200" fontAlgn="base">
              <a:buFont typeface="+mj-lt"/>
              <a:buAutoNum type="arabicPeriod"/>
            </a:pPr>
            <a:r>
              <a:rPr lang="en-US" sz="2400" b="1" dirty="0"/>
              <a:t>Root Node (Income)</a:t>
            </a:r>
            <a:endParaRPr lang="en-US" sz="2400" dirty="0"/>
          </a:p>
          <a:p>
            <a:pPr lvl="1" fontAlgn="base"/>
            <a:r>
              <a:rPr lang="en-US" sz="2000" b="1" dirty="0"/>
              <a:t>First Question</a:t>
            </a:r>
            <a:r>
              <a:rPr lang="en-US" sz="2000" dirty="0"/>
              <a:t>: </a:t>
            </a:r>
            <a:r>
              <a:rPr lang="en-US" sz="2000" b="1" dirty="0"/>
              <a:t>"Is the person’s income greater than $50,000?"</a:t>
            </a:r>
            <a:endParaRPr lang="en-US" sz="2000" dirty="0"/>
          </a:p>
          <a:p>
            <a:pPr lvl="1" fontAlgn="base"/>
            <a:r>
              <a:rPr lang="en-US" sz="2000" dirty="0"/>
              <a:t>If Yes, proceed to the next question.</a:t>
            </a:r>
          </a:p>
          <a:p>
            <a:pPr lvl="1" fontAlgn="base"/>
            <a:r>
              <a:rPr lang="en-US" sz="2000" dirty="0"/>
              <a:t>If No, predict "No Purchase" (leaf node).</a:t>
            </a:r>
          </a:p>
          <a:p>
            <a:pPr marL="457200" indent="-457200" fontAlgn="base">
              <a:buFont typeface="+mj-lt"/>
              <a:buAutoNum type="arabicPeriod"/>
            </a:pPr>
            <a:r>
              <a:rPr lang="en-US" sz="2400" b="1" dirty="0"/>
              <a:t>Internal Node (Age)</a:t>
            </a:r>
            <a:r>
              <a:rPr lang="en-US" sz="2400" dirty="0"/>
              <a:t>:</a:t>
            </a:r>
          </a:p>
          <a:p>
            <a:pPr lvl="1" fontAlgn="base"/>
            <a:r>
              <a:rPr lang="en-US" sz="2000" b="1" dirty="0"/>
              <a:t>If the person’s income is greater than $50,000</a:t>
            </a:r>
            <a:r>
              <a:rPr lang="en-US" sz="2000" dirty="0"/>
              <a:t>, ask: </a:t>
            </a:r>
            <a:r>
              <a:rPr lang="en-US" sz="2000" b="1" dirty="0"/>
              <a:t>"Is the person’s age above 30?"</a:t>
            </a:r>
            <a:endParaRPr lang="en-US" sz="2000" dirty="0"/>
          </a:p>
          <a:p>
            <a:pPr lvl="1" fontAlgn="base"/>
            <a:r>
              <a:rPr lang="en-US" sz="2000" dirty="0"/>
              <a:t>If Yes, proceed to the next question.</a:t>
            </a:r>
          </a:p>
          <a:p>
            <a:pPr lvl="1" fontAlgn="base"/>
            <a:r>
              <a:rPr lang="en-US" sz="2000" dirty="0"/>
              <a:t>If No, predict "No Purchase" (leaf node).</a:t>
            </a:r>
          </a:p>
          <a:p>
            <a:pPr marL="514350" indent="-514350" fontAlgn="base">
              <a:buFont typeface="+mj-lt"/>
              <a:buAutoNum type="arabicPeriod"/>
            </a:pPr>
            <a:r>
              <a:rPr lang="en-US" sz="2600" b="1" dirty="0"/>
              <a:t>Internal Node (Previous Purchases)</a:t>
            </a:r>
            <a:r>
              <a:rPr lang="en-US" sz="2600" dirty="0"/>
              <a:t>:</a:t>
            </a:r>
          </a:p>
          <a:p>
            <a:pPr lvl="1" fontAlgn="base"/>
            <a:r>
              <a:rPr lang="en-US" sz="2200" dirty="0"/>
              <a:t>If the person is above 30 and has made previous purchases, predict "Purchase" (leaf node).</a:t>
            </a:r>
          </a:p>
          <a:p>
            <a:pPr lvl="1" fontAlgn="base"/>
            <a:r>
              <a:rPr lang="en-US" sz="2200" dirty="0"/>
              <a:t>If the person is above 30 and has not made previous purchases, predict "No Purchase" (leaf node).</a:t>
            </a:r>
          </a:p>
          <a:p>
            <a:pPr lvl="1" fontAlgn="base"/>
            <a:endParaRPr lang="en-US" sz="2000" dirty="0"/>
          </a:p>
        </p:txBody>
      </p:sp>
    </p:spTree>
    <p:extLst>
      <p:ext uri="{BB962C8B-B14F-4D97-AF65-F5344CB8AC3E}">
        <p14:creationId xmlns:p14="http://schemas.microsoft.com/office/powerpoint/2010/main" val="1597636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806A-FA3B-EA02-2769-67D108C03E99}"/>
              </a:ext>
            </a:extLst>
          </p:cNvPr>
          <p:cNvSpPr>
            <a:spLocks noGrp="1"/>
          </p:cNvSpPr>
          <p:nvPr>
            <p:ph type="title"/>
          </p:nvPr>
        </p:nvSpPr>
        <p:spPr/>
        <p:txBody>
          <a:bodyPr/>
          <a:lstStyle/>
          <a:p>
            <a:r>
              <a:rPr lang="en-US" b="1" dirty="0"/>
              <a:t>Decision Tree Example</a:t>
            </a:r>
            <a:endParaRPr lang="en-IN" dirty="0"/>
          </a:p>
        </p:txBody>
      </p:sp>
      <p:pic>
        <p:nvPicPr>
          <p:cNvPr id="5" name="Content Placeholder 4">
            <a:extLst>
              <a:ext uri="{FF2B5EF4-FFF2-40B4-BE49-F238E27FC236}">
                <a16:creationId xmlns:a16="http://schemas.microsoft.com/office/drawing/2014/main" id="{F21966E0-4086-5488-D1FB-26EECBC48A4C}"/>
              </a:ext>
            </a:extLst>
          </p:cNvPr>
          <p:cNvPicPr>
            <a:picLocks noGrp="1" noChangeAspect="1"/>
          </p:cNvPicPr>
          <p:nvPr>
            <p:ph idx="1"/>
          </p:nvPr>
        </p:nvPicPr>
        <p:blipFill>
          <a:blip r:embed="rId2"/>
          <a:stretch>
            <a:fillRect/>
          </a:stretch>
        </p:blipFill>
        <p:spPr>
          <a:xfrm>
            <a:off x="5889055" y="0"/>
            <a:ext cx="6445406" cy="6977270"/>
          </a:xfrm>
          <a:prstGeom prst="rect">
            <a:avLst/>
          </a:prstGeom>
        </p:spPr>
      </p:pic>
    </p:spTree>
    <p:extLst>
      <p:ext uri="{BB962C8B-B14F-4D97-AF65-F5344CB8AC3E}">
        <p14:creationId xmlns:p14="http://schemas.microsoft.com/office/powerpoint/2010/main" val="993488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314D5-CE0E-56DD-DBD3-02CEDFA70898}"/>
              </a:ext>
            </a:extLst>
          </p:cNvPr>
          <p:cNvSpPr>
            <a:spLocks noGrp="1"/>
          </p:cNvSpPr>
          <p:nvPr>
            <p:ph type="title"/>
          </p:nvPr>
        </p:nvSpPr>
        <p:spPr/>
        <p:txBody>
          <a:bodyPr/>
          <a:lstStyle/>
          <a:p>
            <a:r>
              <a:rPr lang="en-US" b="1"/>
              <a:t>Decision Tree Example</a:t>
            </a:r>
            <a:endParaRPr lang="en-IN"/>
          </a:p>
        </p:txBody>
      </p:sp>
      <p:pic>
        <p:nvPicPr>
          <p:cNvPr id="5" name="Content Placeholder 4">
            <a:extLst>
              <a:ext uri="{FF2B5EF4-FFF2-40B4-BE49-F238E27FC236}">
                <a16:creationId xmlns:a16="http://schemas.microsoft.com/office/drawing/2014/main" id="{A1D9B1CE-2CDB-6A02-82ED-011621019C82}"/>
              </a:ext>
            </a:extLst>
          </p:cNvPr>
          <p:cNvPicPr>
            <a:picLocks noGrp="1" noChangeAspect="1"/>
          </p:cNvPicPr>
          <p:nvPr>
            <p:ph idx="1"/>
          </p:nvPr>
        </p:nvPicPr>
        <p:blipFill>
          <a:blip r:embed="rId2"/>
          <a:stretch>
            <a:fillRect/>
          </a:stretch>
        </p:blipFill>
        <p:spPr>
          <a:xfrm>
            <a:off x="838200" y="1464480"/>
            <a:ext cx="10889974" cy="5323946"/>
          </a:xfrm>
          <a:prstGeom prst="rect">
            <a:avLst/>
          </a:prstGeom>
        </p:spPr>
      </p:pic>
    </p:spTree>
    <p:extLst>
      <p:ext uri="{BB962C8B-B14F-4D97-AF65-F5344CB8AC3E}">
        <p14:creationId xmlns:p14="http://schemas.microsoft.com/office/powerpoint/2010/main" val="1679951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BAB86-C294-B7A0-2AA0-666D28E61443}"/>
              </a:ext>
            </a:extLst>
          </p:cNvPr>
          <p:cNvSpPr>
            <a:spLocks noGrp="1"/>
          </p:cNvSpPr>
          <p:nvPr>
            <p:ph type="title"/>
          </p:nvPr>
        </p:nvSpPr>
        <p:spPr/>
        <p:txBody>
          <a:bodyPr/>
          <a:lstStyle/>
          <a:p>
            <a:r>
              <a:rPr lang="en-US" dirty="0"/>
              <a:t>Predictions of two Decision Tree regression models</a:t>
            </a:r>
            <a:endParaRPr lang="en-IN" dirty="0"/>
          </a:p>
        </p:txBody>
      </p:sp>
      <p:pic>
        <p:nvPicPr>
          <p:cNvPr id="5" name="Content Placeholder 4">
            <a:extLst>
              <a:ext uri="{FF2B5EF4-FFF2-40B4-BE49-F238E27FC236}">
                <a16:creationId xmlns:a16="http://schemas.microsoft.com/office/drawing/2014/main" id="{E3BE8EE1-D6F9-D16A-F68B-549176490F87}"/>
              </a:ext>
            </a:extLst>
          </p:cNvPr>
          <p:cNvPicPr>
            <a:picLocks noGrp="1" noChangeAspect="1"/>
          </p:cNvPicPr>
          <p:nvPr>
            <p:ph idx="1"/>
          </p:nvPr>
        </p:nvPicPr>
        <p:blipFill>
          <a:blip r:embed="rId2"/>
          <a:stretch>
            <a:fillRect/>
          </a:stretch>
        </p:blipFill>
        <p:spPr>
          <a:xfrm>
            <a:off x="838200" y="2068228"/>
            <a:ext cx="10515600" cy="3866131"/>
          </a:xfrm>
          <a:prstGeom prst="rect">
            <a:avLst/>
          </a:prstGeom>
        </p:spPr>
      </p:pic>
    </p:spTree>
    <p:extLst>
      <p:ext uri="{BB962C8B-B14F-4D97-AF65-F5344CB8AC3E}">
        <p14:creationId xmlns:p14="http://schemas.microsoft.com/office/powerpoint/2010/main" val="3260162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61F1E-AE62-E74B-81EE-4FC36652E6CD}"/>
              </a:ext>
            </a:extLst>
          </p:cNvPr>
          <p:cNvSpPr>
            <a:spLocks noGrp="1"/>
          </p:cNvSpPr>
          <p:nvPr>
            <p:ph type="title"/>
          </p:nvPr>
        </p:nvSpPr>
        <p:spPr/>
        <p:txBody>
          <a:bodyPr/>
          <a:lstStyle/>
          <a:p>
            <a:r>
              <a:rPr lang="en-US" dirty="0"/>
              <a:t>Decision Tree Training Measures and Splitting Criteria</a:t>
            </a:r>
            <a:endParaRPr lang="en-IN" dirty="0"/>
          </a:p>
        </p:txBody>
      </p:sp>
      <p:sp>
        <p:nvSpPr>
          <p:cNvPr id="3" name="Content Placeholder 2">
            <a:extLst>
              <a:ext uri="{FF2B5EF4-FFF2-40B4-BE49-F238E27FC236}">
                <a16:creationId xmlns:a16="http://schemas.microsoft.com/office/drawing/2014/main" id="{32DFAAB0-F1AA-C88B-373A-90B14B362F74}"/>
              </a:ext>
            </a:extLst>
          </p:cNvPr>
          <p:cNvSpPr>
            <a:spLocks noGrp="1"/>
          </p:cNvSpPr>
          <p:nvPr>
            <p:ph idx="1"/>
          </p:nvPr>
        </p:nvSpPr>
        <p:spPr/>
        <p:txBody>
          <a:bodyPr/>
          <a:lstStyle/>
          <a:p>
            <a:r>
              <a:rPr lang="en-US" dirty="0"/>
              <a:t>Decision tree training involves selecting the </a:t>
            </a:r>
            <a:r>
              <a:rPr lang="en-US" b="1" dirty="0"/>
              <a:t>best attribute at each node</a:t>
            </a:r>
            <a:r>
              <a:rPr lang="en-US" dirty="0"/>
              <a:t> to split the dataset such that the resulting subsets are as </a:t>
            </a:r>
            <a:r>
              <a:rPr lang="en-US" b="1" dirty="0"/>
              <a:t>pure as possible</a:t>
            </a:r>
            <a:r>
              <a:rPr lang="en-US" dirty="0"/>
              <a:t>. This is achieved using different </a:t>
            </a:r>
            <a:r>
              <a:rPr lang="en-US" b="1" dirty="0"/>
              <a:t>impurity and optimization measures</a:t>
            </a:r>
            <a:r>
              <a:rPr lang="en-US" dirty="0"/>
              <a:t>.</a:t>
            </a:r>
          </a:p>
          <a:p>
            <a:pPr marL="971550" lvl="1" indent="-514350">
              <a:buFont typeface="+mj-lt"/>
              <a:buAutoNum type="arabicPeriod"/>
            </a:pPr>
            <a:r>
              <a:rPr lang="en-IN" dirty="0"/>
              <a:t>Entropy of Dataset</a:t>
            </a:r>
          </a:p>
          <a:p>
            <a:pPr marL="971550" lvl="1" indent="-514350">
              <a:buFont typeface="+mj-lt"/>
              <a:buAutoNum type="arabicPeriod"/>
            </a:pPr>
            <a:r>
              <a:rPr lang="en-IN" dirty="0"/>
              <a:t>Information Gain (IG)</a:t>
            </a:r>
          </a:p>
          <a:p>
            <a:pPr marL="971550" lvl="1" indent="-514350">
              <a:buFont typeface="+mj-lt"/>
              <a:buAutoNum type="arabicPeriod"/>
            </a:pPr>
            <a:r>
              <a:rPr lang="en-IN" dirty="0"/>
              <a:t>Gini Index</a:t>
            </a:r>
          </a:p>
          <a:p>
            <a:pPr marL="971550" lvl="1" indent="-514350">
              <a:buFont typeface="+mj-lt"/>
              <a:buAutoNum type="arabicPeriod"/>
            </a:pPr>
            <a:r>
              <a:rPr lang="en-IN" dirty="0"/>
              <a:t>Gain Ratio</a:t>
            </a:r>
          </a:p>
        </p:txBody>
      </p:sp>
    </p:spTree>
    <p:extLst>
      <p:ext uri="{BB962C8B-B14F-4D97-AF65-F5344CB8AC3E}">
        <p14:creationId xmlns:p14="http://schemas.microsoft.com/office/powerpoint/2010/main" val="3290543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18D4E-D186-C714-3AFD-3478C1E1D3A8}"/>
              </a:ext>
            </a:extLst>
          </p:cNvPr>
          <p:cNvSpPr>
            <a:spLocks noGrp="1"/>
          </p:cNvSpPr>
          <p:nvPr>
            <p:ph type="title"/>
          </p:nvPr>
        </p:nvSpPr>
        <p:spPr/>
        <p:txBody>
          <a:bodyPr/>
          <a:lstStyle/>
          <a:p>
            <a:r>
              <a:rPr lang="en-IN" dirty="0"/>
              <a:t>1. Entropy of Dataset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824041-40F4-06B1-F47A-6DCF1B7CEEB8}"/>
                  </a:ext>
                </a:extLst>
              </p:cNvPr>
              <p:cNvSpPr>
                <a:spLocks noGrp="1"/>
              </p:cNvSpPr>
              <p:nvPr>
                <p:ph idx="1"/>
              </p:nvPr>
            </p:nvSpPr>
            <p:spPr/>
            <p:txBody>
              <a:bodyPr>
                <a:normAutofit lnSpcReduction="10000"/>
              </a:bodyPr>
              <a:lstStyle/>
              <a:p>
                <a:r>
                  <a:rPr lang="en-US" sz="2400" b="1" dirty="0"/>
                  <a:t>Entropy</a:t>
                </a:r>
                <a:r>
                  <a:rPr lang="en-US" sz="2400" dirty="0"/>
                  <a:t> measures the </a:t>
                </a:r>
                <a:r>
                  <a:rPr lang="en-US" sz="2400" b="1" dirty="0"/>
                  <a:t>degree of randomness or impurity</a:t>
                </a:r>
                <a:r>
                  <a:rPr lang="en-US" sz="2400" dirty="0"/>
                  <a:t> in a dataset. It tells how mixed the class labels are.</a:t>
                </a:r>
              </a:p>
              <a:p>
                <a:endParaRPr lang="en-US" sz="2400" dirty="0"/>
              </a:p>
              <a:p>
                <a:endParaRPr lang="en-US" sz="2400" dirty="0"/>
              </a:p>
              <a:p>
                <a:r>
                  <a:rPr lang="en-IN" sz="2400" dirty="0"/>
                  <a:t>Where:</a:t>
                </a:r>
              </a:p>
              <a:p>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𝑝</m:t>
                        </m:r>
                      </m:e>
                      <m:sub>
                        <m:r>
                          <a:rPr lang="ar-AE" sz="2400" i="1">
                            <a:latin typeface="Cambria Math" panose="02040503050406030204" pitchFamily="18" charset="0"/>
                          </a:rPr>
                          <m:t>𝑖</m:t>
                        </m:r>
                      </m:sub>
                    </m:sSub>
                  </m:oMath>
                </a14:m>
                <a:r>
                  <a:rPr lang="ar-AE" sz="2400" dirty="0"/>
                  <a:t>= </a:t>
                </a:r>
                <a:r>
                  <a:rPr lang="en-IN" sz="2400" dirty="0"/>
                  <a:t>probability of class </a:t>
                </a:r>
                <a14:m>
                  <m:oMath xmlns:m="http://schemas.openxmlformats.org/officeDocument/2006/math">
                    <m:r>
                      <a:rPr lang="en-IN" sz="2400" i="1">
                        <a:latin typeface="Cambria Math" panose="02040503050406030204" pitchFamily="18" charset="0"/>
                      </a:rPr>
                      <m:t>𝑖</m:t>
                    </m:r>
                  </m:oMath>
                </a14:m>
                <a:endParaRPr lang="en-IN" sz="2400" dirty="0"/>
              </a:p>
              <a:p>
                <a14:m>
                  <m:oMath xmlns:m="http://schemas.openxmlformats.org/officeDocument/2006/math">
                    <m:r>
                      <a:rPr lang="en-IN" sz="2400" i="1">
                        <a:latin typeface="Cambria Math" panose="02040503050406030204" pitchFamily="18" charset="0"/>
                      </a:rPr>
                      <m:t>𝑐</m:t>
                    </m:r>
                  </m:oMath>
                </a14:m>
                <a:r>
                  <a:rPr lang="en-IN" sz="2400" dirty="0"/>
                  <a:t>= number of classes</a:t>
                </a:r>
              </a:p>
              <a:p>
                <a:r>
                  <a:rPr lang="en-US" sz="2400" b="1" dirty="0"/>
                  <a:t>Interpretation</a:t>
                </a:r>
              </a:p>
              <a:p>
                <a:pPr lvl="1"/>
                <a:r>
                  <a:rPr lang="en-US" sz="2000" dirty="0"/>
                  <a:t>Entropy = 0 → Pure node (all samples same class)</a:t>
                </a:r>
              </a:p>
              <a:p>
                <a:pPr lvl="1"/>
                <a:r>
                  <a:rPr lang="en-US" sz="2000" dirty="0"/>
                  <a:t>Entropy = 1 → Highly impure (binary case)</a:t>
                </a:r>
              </a:p>
              <a:p>
                <a:pPr lvl="1"/>
                <a:r>
                  <a:rPr lang="en-US" sz="2000" dirty="0"/>
                  <a:t>Higher entropy means more uncertainty.</a:t>
                </a:r>
                <a:endParaRPr lang="en-IN" sz="2000" dirty="0"/>
              </a:p>
              <a:p>
                <a:endParaRPr lang="en-IN" sz="2400" dirty="0"/>
              </a:p>
            </p:txBody>
          </p:sp>
        </mc:Choice>
        <mc:Fallback xmlns="">
          <p:sp>
            <p:nvSpPr>
              <p:cNvPr id="3" name="Content Placeholder 2">
                <a:extLst>
                  <a:ext uri="{FF2B5EF4-FFF2-40B4-BE49-F238E27FC236}">
                    <a16:creationId xmlns:a16="http://schemas.microsoft.com/office/drawing/2014/main" id="{8F824041-40F4-06B1-F47A-6DCF1B7CEEB8}"/>
                  </a:ext>
                </a:extLst>
              </p:cNvPr>
              <p:cNvSpPr>
                <a:spLocks noGrp="1" noRot="1" noChangeAspect="1" noMove="1" noResize="1" noEditPoints="1" noAdjustHandles="1" noChangeArrowheads="1" noChangeShapeType="1" noTextEdit="1"/>
              </p:cNvSpPr>
              <p:nvPr>
                <p:ph idx="1"/>
              </p:nvPr>
            </p:nvSpPr>
            <p:spPr>
              <a:blipFill>
                <a:blip r:embed="rId2"/>
                <a:stretch>
                  <a:fillRect l="-812" t="-2661"/>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707770DF-E154-47EA-9DBD-5D372A7607D5}"/>
              </a:ext>
            </a:extLst>
          </p:cNvPr>
          <p:cNvPicPr>
            <a:picLocks noChangeAspect="1"/>
          </p:cNvPicPr>
          <p:nvPr/>
        </p:nvPicPr>
        <p:blipFill>
          <a:blip r:embed="rId3"/>
          <a:stretch>
            <a:fillRect/>
          </a:stretch>
        </p:blipFill>
        <p:spPr>
          <a:xfrm>
            <a:off x="4088072" y="2576870"/>
            <a:ext cx="4311351" cy="1090669"/>
          </a:xfrm>
          <a:prstGeom prst="rect">
            <a:avLst/>
          </a:prstGeom>
        </p:spPr>
      </p:pic>
    </p:spTree>
    <p:extLst>
      <p:ext uri="{BB962C8B-B14F-4D97-AF65-F5344CB8AC3E}">
        <p14:creationId xmlns:p14="http://schemas.microsoft.com/office/powerpoint/2010/main" val="1775579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8DA69-F08F-3708-FC24-396DFD0AAAC2}"/>
              </a:ext>
            </a:extLst>
          </p:cNvPr>
          <p:cNvSpPr>
            <a:spLocks noGrp="1"/>
          </p:cNvSpPr>
          <p:nvPr>
            <p:ph type="title"/>
          </p:nvPr>
        </p:nvSpPr>
        <p:spPr/>
        <p:txBody>
          <a:bodyPr/>
          <a:lstStyle/>
          <a:p>
            <a:r>
              <a:rPr lang="en-IN" dirty="0"/>
              <a:t>2. Information Gain (IG)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2277B6-C0B2-C3D4-128C-9B80CE693AD5}"/>
                  </a:ext>
                </a:extLst>
              </p:cNvPr>
              <p:cNvSpPr>
                <a:spLocks noGrp="1"/>
              </p:cNvSpPr>
              <p:nvPr>
                <p:ph idx="1"/>
              </p:nvPr>
            </p:nvSpPr>
            <p:spPr>
              <a:xfrm>
                <a:off x="838200" y="1825624"/>
                <a:ext cx="10515600" cy="4942923"/>
              </a:xfrm>
            </p:spPr>
            <p:txBody>
              <a:bodyPr>
                <a:noAutofit/>
              </a:bodyPr>
              <a:lstStyle/>
              <a:p>
                <a:r>
                  <a:rPr lang="en-US" sz="2400" b="1" dirty="0"/>
                  <a:t>Information Gain</a:t>
                </a:r>
                <a:r>
                  <a:rPr lang="en-US" sz="2400" dirty="0"/>
                  <a:t> measures the </a:t>
                </a:r>
                <a:r>
                  <a:rPr lang="en-US" sz="2400" b="1" dirty="0"/>
                  <a:t>reduction in entropy</a:t>
                </a:r>
                <a:r>
                  <a:rPr lang="en-US" sz="2400" dirty="0"/>
                  <a:t> after splitting on an attribute. It shows how much information about the class is gained by the split.</a:t>
                </a:r>
              </a:p>
              <a:p>
                <a:endParaRPr lang="en-US" sz="2400" dirty="0"/>
              </a:p>
              <a:p>
                <a:endParaRPr lang="en-US" sz="2400" dirty="0"/>
              </a:p>
              <a:p>
                <a:endParaRPr lang="en-US" sz="2400" dirty="0"/>
              </a:p>
              <a:p>
                <a:r>
                  <a:rPr lang="en-IN" sz="2400" dirty="0"/>
                  <a:t>Where:</a:t>
                </a:r>
              </a:p>
              <a:p>
                <a:pPr lvl="1"/>
                <a:r>
                  <a:rPr lang="en-US" sz="2000" i="1"/>
                  <a:t>S</a:t>
                </a:r>
                <a:r>
                  <a:rPr lang="en-US" sz="2000"/>
                  <a:t> </a:t>
                </a:r>
                <a:r>
                  <a:rPr lang="en-US" sz="2000" dirty="0"/>
                  <a:t>is a set of instances </a:t>
                </a:r>
                <a14:m>
                  <m:oMath xmlns:m="http://schemas.openxmlformats.org/officeDocument/2006/math">
                    <m:r>
                      <a:rPr lang="en-US" sz="2000" i="1">
                        <a:latin typeface="Cambria Math" panose="02040503050406030204" pitchFamily="18" charset="0"/>
                      </a:rPr>
                      <m:t>𝐴</m:t>
                    </m:r>
                  </m:oMath>
                </a14:m>
                <a:r>
                  <a:rPr lang="en-US" sz="2000" dirty="0"/>
                  <a:t> is an attribute, </a:t>
                </a:r>
                <a14:m>
                  <m:oMath xmlns:m="http://schemas.openxmlformats.org/officeDocument/2006/math">
                    <m:r>
                      <a:rPr lang="en-US" sz="2000" i="1">
                        <a:latin typeface="Cambria Math" panose="02040503050406030204" pitchFamily="18" charset="0"/>
                      </a:rPr>
                      <m:t>𝑆𝑣</m:t>
                    </m:r>
                  </m:oMath>
                </a14:m>
                <a:r>
                  <a:rPr lang="en-US" sz="2000" dirty="0"/>
                  <a:t> is the subset of </a:t>
                </a:r>
                <a14:m>
                  <m:oMath xmlns:m="http://schemas.openxmlformats.org/officeDocument/2006/math">
                    <m:r>
                      <a:rPr lang="en-US" sz="2000" i="1">
                        <a:latin typeface="Cambria Math" panose="02040503050406030204" pitchFamily="18" charset="0"/>
                      </a:rPr>
                      <m:t>𝑆</m:t>
                    </m:r>
                  </m:oMath>
                </a14:m>
                <a:r>
                  <a:rPr lang="en-US" sz="2000" i="1" dirty="0"/>
                  <a:t>, </a:t>
                </a:r>
                <a14:m>
                  <m:oMath xmlns:m="http://schemas.openxmlformats.org/officeDocument/2006/math">
                    <m:r>
                      <a:rPr lang="en-US" sz="2000" i="1">
                        <a:latin typeface="Cambria Math" panose="02040503050406030204" pitchFamily="18" charset="0"/>
                      </a:rPr>
                      <m:t>𝑣</m:t>
                    </m:r>
                  </m:oMath>
                </a14:m>
                <a:r>
                  <a:rPr lang="en-US" sz="2000" dirty="0"/>
                  <a:t> represents an individual value that the attribute </a:t>
                </a:r>
                <a14:m>
                  <m:oMath xmlns:m="http://schemas.openxmlformats.org/officeDocument/2006/math">
                    <m:r>
                      <a:rPr lang="en-US" sz="2000" i="1">
                        <a:latin typeface="Cambria Math" panose="02040503050406030204" pitchFamily="18" charset="0"/>
                      </a:rPr>
                      <m:t>𝐴</m:t>
                    </m:r>
                  </m:oMath>
                </a14:m>
                <a:r>
                  <a:rPr lang="en-US" sz="2000" dirty="0"/>
                  <a:t> can take and Values (</a:t>
                </a:r>
                <a14:m>
                  <m:oMath xmlns:m="http://schemas.openxmlformats.org/officeDocument/2006/math">
                    <m:r>
                      <a:rPr lang="en-US" sz="2000" i="1">
                        <a:latin typeface="Cambria Math" panose="02040503050406030204" pitchFamily="18" charset="0"/>
                      </a:rPr>
                      <m:t>𝐴</m:t>
                    </m:r>
                  </m:oMath>
                </a14:m>
                <a:r>
                  <a:rPr lang="en-US" sz="2000" dirty="0"/>
                  <a:t>) is the set of all possible values of </a:t>
                </a:r>
                <a14:m>
                  <m:oMath xmlns:m="http://schemas.openxmlformats.org/officeDocument/2006/math">
                    <m:r>
                      <a:rPr lang="en-US" sz="2000" i="1">
                        <a:latin typeface="Cambria Math" panose="02040503050406030204" pitchFamily="18" charset="0"/>
                      </a:rPr>
                      <m:t>𝐴</m:t>
                    </m:r>
                  </m:oMath>
                </a14:m>
                <a:endParaRPr lang="en-IN" sz="2000" dirty="0"/>
              </a:p>
              <a:p>
                <a:r>
                  <a:rPr lang="en-IN" sz="2400" b="1" dirty="0"/>
                  <a:t>Interpretation</a:t>
                </a:r>
              </a:p>
              <a:p>
                <a:pPr lvl="1"/>
                <a:r>
                  <a:rPr lang="en-IN" sz="2000" dirty="0"/>
                  <a:t>High IG → Better split</a:t>
                </a:r>
              </a:p>
              <a:p>
                <a:pPr lvl="1"/>
                <a:r>
                  <a:rPr lang="en-IN" sz="2000" dirty="0"/>
                  <a:t>Chooses attribute that produces </a:t>
                </a:r>
                <a:r>
                  <a:rPr lang="en-IN" sz="2000" b="1" dirty="0"/>
                  <a:t>maximum entropy reduction</a:t>
                </a:r>
                <a:r>
                  <a:rPr lang="en-IN" sz="2000" dirty="0"/>
                  <a:t>.</a:t>
                </a:r>
              </a:p>
              <a:p>
                <a:r>
                  <a:rPr lang="en-IN" sz="2400" b="1" dirty="0"/>
                  <a:t>Limitation : </a:t>
                </a:r>
                <a:r>
                  <a:rPr lang="en-IN" sz="2400" dirty="0"/>
                  <a:t>Biased toward attributes with </a:t>
                </a:r>
                <a:r>
                  <a:rPr lang="en-IN" sz="2400" b="1" dirty="0"/>
                  <a:t>many distinct values</a:t>
                </a:r>
                <a:r>
                  <a:rPr lang="en-IN" sz="2400" dirty="0"/>
                  <a:t>.</a:t>
                </a:r>
              </a:p>
            </p:txBody>
          </p:sp>
        </mc:Choice>
        <mc:Fallback xmlns="">
          <p:sp>
            <p:nvSpPr>
              <p:cNvPr id="3" name="Content Placeholder 2">
                <a:extLst>
                  <a:ext uri="{FF2B5EF4-FFF2-40B4-BE49-F238E27FC236}">
                    <a16:creationId xmlns:a16="http://schemas.microsoft.com/office/drawing/2014/main" id="{142277B6-C0B2-C3D4-128C-9B80CE693AD5}"/>
                  </a:ext>
                </a:extLst>
              </p:cNvPr>
              <p:cNvSpPr>
                <a:spLocks noGrp="1" noRot="1" noChangeAspect="1" noMove="1" noResize="1" noEditPoints="1" noAdjustHandles="1" noChangeArrowheads="1" noChangeShapeType="1" noTextEdit="1"/>
              </p:cNvSpPr>
              <p:nvPr>
                <p:ph idx="1"/>
              </p:nvPr>
            </p:nvSpPr>
            <p:spPr>
              <a:xfrm>
                <a:off x="838200" y="1825624"/>
                <a:ext cx="10515600" cy="4942923"/>
              </a:xfrm>
              <a:blipFill>
                <a:blip r:embed="rId2"/>
                <a:stretch>
                  <a:fillRect l="-812" t="-172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9CF17BEB-07A2-E7F6-8CBD-F22259253CD3}"/>
              </a:ext>
            </a:extLst>
          </p:cNvPr>
          <p:cNvPicPr>
            <a:picLocks noChangeAspect="1"/>
          </p:cNvPicPr>
          <p:nvPr/>
        </p:nvPicPr>
        <p:blipFill>
          <a:blip r:embed="rId3"/>
          <a:stretch>
            <a:fillRect/>
          </a:stretch>
        </p:blipFill>
        <p:spPr>
          <a:xfrm>
            <a:off x="2334942" y="2746407"/>
            <a:ext cx="7329545" cy="1149732"/>
          </a:xfrm>
          <a:prstGeom prst="rect">
            <a:avLst/>
          </a:prstGeom>
        </p:spPr>
      </p:pic>
    </p:spTree>
    <p:extLst>
      <p:ext uri="{BB962C8B-B14F-4D97-AF65-F5344CB8AC3E}">
        <p14:creationId xmlns:p14="http://schemas.microsoft.com/office/powerpoint/2010/main" val="2610371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9964-4DFC-F2C0-A4B0-097DE0017988}"/>
              </a:ext>
            </a:extLst>
          </p:cNvPr>
          <p:cNvSpPr>
            <a:spLocks noGrp="1"/>
          </p:cNvSpPr>
          <p:nvPr>
            <p:ph type="title"/>
          </p:nvPr>
        </p:nvSpPr>
        <p:spPr/>
        <p:txBody>
          <a:bodyPr/>
          <a:lstStyle/>
          <a:p>
            <a:r>
              <a:rPr lang="en-IN" dirty="0"/>
              <a:t>2. Information Gain (IG)</a:t>
            </a:r>
          </a:p>
        </p:txBody>
      </p:sp>
      <p:sp>
        <p:nvSpPr>
          <p:cNvPr id="3" name="Content Placeholder 2">
            <a:extLst>
              <a:ext uri="{FF2B5EF4-FFF2-40B4-BE49-F238E27FC236}">
                <a16:creationId xmlns:a16="http://schemas.microsoft.com/office/drawing/2014/main" id="{E62EC44A-2784-75C9-F54A-56A8C9323ECD}"/>
              </a:ext>
            </a:extLst>
          </p:cNvPr>
          <p:cNvSpPr>
            <a:spLocks noGrp="1"/>
          </p:cNvSpPr>
          <p:nvPr>
            <p:ph idx="1"/>
          </p:nvPr>
        </p:nvSpPr>
        <p:spPr>
          <a:xfrm>
            <a:off x="838200" y="1570383"/>
            <a:ext cx="10515600" cy="4840356"/>
          </a:xfrm>
        </p:spPr>
        <p:txBody>
          <a:bodyPr>
            <a:normAutofit/>
          </a:bodyPr>
          <a:lstStyle/>
          <a:p>
            <a:r>
              <a:rPr lang="en-US" sz="2400" dirty="0"/>
              <a:t>For example, if we split a dataset of people into "Young" and "Old" based on age and all young people bought the product while all old people did not, the Information Gain would be high because the split perfectly separates the two groups with no uncertainty left</a:t>
            </a:r>
          </a:p>
          <a:p>
            <a:r>
              <a:rPr lang="en-IN" sz="2400" b="1" dirty="0"/>
              <a:t>Example: </a:t>
            </a:r>
            <a:r>
              <a:rPr lang="en-US" sz="2400" i="1" dirty="0"/>
              <a:t>For the set X = {</a:t>
            </a:r>
            <a:r>
              <a:rPr lang="en-US" sz="2400" i="1" dirty="0" err="1"/>
              <a:t>a,a,a,b,b,b,b,b</a:t>
            </a:r>
            <a:r>
              <a:rPr lang="en-US" sz="2400" i="1" dirty="0"/>
              <a:t>}, Total instances: 8, Instances of b: 5, Instances of a: 3</a:t>
            </a:r>
          </a:p>
          <a:p>
            <a:endParaRPr lang="en-IN" sz="2400" dirty="0"/>
          </a:p>
        </p:txBody>
      </p:sp>
      <p:pic>
        <p:nvPicPr>
          <p:cNvPr id="7" name="Picture 6">
            <a:extLst>
              <a:ext uri="{FF2B5EF4-FFF2-40B4-BE49-F238E27FC236}">
                <a16:creationId xmlns:a16="http://schemas.microsoft.com/office/drawing/2014/main" id="{79989A8D-5F9A-9482-0BCD-F98B1947ED24}"/>
              </a:ext>
            </a:extLst>
          </p:cNvPr>
          <p:cNvPicPr>
            <a:picLocks noChangeAspect="1"/>
          </p:cNvPicPr>
          <p:nvPr/>
        </p:nvPicPr>
        <p:blipFill>
          <a:blip r:embed="rId2"/>
          <a:stretch>
            <a:fillRect/>
          </a:stretch>
        </p:blipFill>
        <p:spPr>
          <a:xfrm>
            <a:off x="3324441" y="4740425"/>
            <a:ext cx="6405096" cy="1998306"/>
          </a:xfrm>
          <a:prstGeom prst="rect">
            <a:avLst/>
          </a:prstGeom>
        </p:spPr>
      </p:pic>
      <p:pic>
        <p:nvPicPr>
          <p:cNvPr id="8" name="Picture 7">
            <a:extLst>
              <a:ext uri="{FF2B5EF4-FFF2-40B4-BE49-F238E27FC236}">
                <a16:creationId xmlns:a16="http://schemas.microsoft.com/office/drawing/2014/main" id="{BE83EA0C-49CC-2AD0-4EF9-145A19FDEC83}"/>
              </a:ext>
            </a:extLst>
          </p:cNvPr>
          <p:cNvPicPr>
            <a:picLocks noChangeAspect="1"/>
          </p:cNvPicPr>
          <p:nvPr/>
        </p:nvPicPr>
        <p:blipFill>
          <a:blip r:embed="rId3"/>
          <a:stretch>
            <a:fillRect/>
          </a:stretch>
        </p:blipFill>
        <p:spPr>
          <a:xfrm>
            <a:off x="3849533" y="3475043"/>
            <a:ext cx="4311351" cy="1090669"/>
          </a:xfrm>
          <a:prstGeom prst="rect">
            <a:avLst/>
          </a:prstGeom>
        </p:spPr>
      </p:pic>
    </p:spTree>
    <p:extLst>
      <p:ext uri="{BB962C8B-B14F-4D97-AF65-F5344CB8AC3E}">
        <p14:creationId xmlns:p14="http://schemas.microsoft.com/office/powerpoint/2010/main" val="4008580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72406-0B16-54CE-6F06-05F90E166784}"/>
              </a:ext>
            </a:extLst>
          </p:cNvPr>
          <p:cNvSpPr>
            <a:spLocks noGrp="1"/>
          </p:cNvSpPr>
          <p:nvPr>
            <p:ph type="title"/>
          </p:nvPr>
        </p:nvSpPr>
        <p:spPr/>
        <p:txBody>
          <a:bodyPr>
            <a:normAutofit/>
          </a:bodyPr>
          <a:lstStyle/>
          <a:p>
            <a:r>
              <a:rPr lang="en-US" b="1" dirty="0"/>
              <a:t>Building Decision Tree using Information Gain the essentials</a:t>
            </a:r>
            <a:endParaRPr lang="en-IN" dirty="0"/>
          </a:p>
        </p:txBody>
      </p:sp>
      <p:sp>
        <p:nvSpPr>
          <p:cNvPr id="3" name="Content Placeholder 2">
            <a:extLst>
              <a:ext uri="{FF2B5EF4-FFF2-40B4-BE49-F238E27FC236}">
                <a16:creationId xmlns:a16="http://schemas.microsoft.com/office/drawing/2014/main" id="{6DB1CA6F-0022-AD00-20BA-B1CD1577E86F}"/>
              </a:ext>
            </a:extLst>
          </p:cNvPr>
          <p:cNvSpPr>
            <a:spLocks noGrp="1"/>
          </p:cNvSpPr>
          <p:nvPr>
            <p:ph idx="1"/>
          </p:nvPr>
        </p:nvSpPr>
        <p:spPr/>
        <p:txBody>
          <a:bodyPr>
            <a:normAutofit/>
          </a:bodyPr>
          <a:lstStyle/>
          <a:p>
            <a:pPr fontAlgn="base"/>
            <a:r>
              <a:rPr lang="en-US" sz="2400" dirty="0"/>
              <a:t>Start with all training instances associated with the root node</a:t>
            </a:r>
          </a:p>
          <a:p>
            <a:pPr fontAlgn="base"/>
            <a:r>
              <a:rPr lang="en-US" sz="2400" dirty="0"/>
              <a:t>Use information gain to choose which attribute to label each node with</a:t>
            </a:r>
          </a:p>
          <a:p>
            <a:pPr fontAlgn="base"/>
            <a:r>
              <a:rPr lang="en-US" sz="2400" dirty="0"/>
              <a:t>Recursively construct each subtree on the subset of training instances that would be classified down that path in the tree.</a:t>
            </a:r>
          </a:p>
          <a:p>
            <a:pPr fontAlgn="base"/>
            <a:r>
              <a:rPr lang="en-US" sz="2400" dirty="0"/>
              <a:t>If all positive or all negative training instances remain, the label that node “yes" or “no" accordingly</a:t>
            </a:r>
          </a:p>
          <a:p>
            <a:pPr fontAlgn="base"/>
            <a:r>
              <a:rPr lang="en-US" sz="2400" dirty="0"/>
              <a:t>If no attributes remain label with a majority vote of training instances left at that node</a:t>
            </a:r>
          </a:p>
          <a:p>
            <a:pPr fontAlgn="base"/>
            <a:r>
              <a:rPr lang="en-US" sz="2400" dirty="0"/>
              <a:t>If no instances remain label with a majority vote of the parent's training instances.</a:t>
            </a:r>
          </a:p>
        </p:txBody>
      </p:sp>
    </p:spTree>
    <p:extLst>
      <p:ext uri="{BB962C8B-B14F-4D97-AF65-F5344CB8AC3E}">
        <p14:creationId xmlns:p14="http://schemas.microsoft.com/office/powerpoint/2010/main" val="333303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7BEF-385B-E15B-C399-945A372AE4D0}"/>
              </a:ext>
            </a:extLst>
          </p:cNvPr>
          <p:cNvSpPr>
            <a:spLocks noGrp="1"/>
          </p:cNvSpPr>
          <p:nvPr>
            <p:ph type="title"/>
          </p:nvPr>
        </p:nvSpPr>
        <p:spPr/>
        <p:txBody>
          <a:bodyPr>
            <a:noAutofit/>
          </a:bodyPr>
          <a:lstStyle/>
          <a:p>
            <a:r>
              <a:rPr lang="en-US" sz="3600" b="1" dirty="0"/>
              <a:t>Example:</a:t>
            </a:r>
            <a:r>
              <a:rPr lang="en-US" sz="3600" dirty="0"/>
              <a:t> Now let us draw a Decision Tree for the following data using Information gain. Training set: 3 features and 2 classes</a:t>
            </a:r>
            <a:endParaRPr lang="en-IN" sz="3600" dirty="0"/>
          </a:p>
        </p:txBody>
      </p:sp>
      <p:graphicFrame>
        <p:nvGraphicFramePr>
          <p:cNvPr id="6" name="Content Placeholder 5">
            <a:extLst>
              <a:ext uri="{FF2B5EF4-FFF2-40B4-BE49-F238E27FC236}">
                <a16:creationId xmlns:a16="http://schemas.microsoft.com/office/drawing/2014/main" id="{D99B7AC5-6A84-1EC4-3767-19398948E627}"/>
              </a:ext>
            </a:extLst>
          </p:cNvPr>
          <p:cNvGraphicFramePr>
            <a:graphicFrameLocks noGrp="1"/>
          </p:cNvGraphicFramePr>
          <p:nvPr>
            <p:ph sz="half" idx="1"/>
            <p:extLst>
              <p:ext uri="{D42A27DB-BD31-4B8C-83A1-F6EECF244321}">
                <p14:modId xmlns:p14="http://schemas.microsoft.com/office/powerpoint/2010/main" val="3904356097"/>
              </p:ext>
            </p:extLst>
          </p:nvPr>
        </p:nvGraphicFramePr>
        <p:xfrm>
          <a:off x="838200" y="1825625"/>
          <a:ext cx="5181600" cy="1981200"/>
        </p:xfrm>
        <a:graphic>
          <a:graphicData uri="http://schemas.openxmlformats.org/drawingml/2006/table">
            <a:tbl>
              <a:tblPr firstRow="1" bandRow="1">
                <a:tableStyleId>{7E9639D4-E3E2-4D34-9284-5A2195B3D0D7}</a:tableStyleId>
              </a:tblPr>
              <a:tblGrid>
                <a:gridCol w="1295400">
                  <a:extLst>
                    <a:ext uri="{9D8B030D-6E8A-4147-A177-3AD203B41FA5}">
                      <a16:colId xmlns:a16="http://schemas.microsoft.com/office/drawing/2014/main" val="1154810008"/>
                    </a:ext>
                  </a:extLst>
                </a:gridCol>
                <a:gridCol w="1295400">
                  <a:extLst>
                    <a:ext uri="{9D8B030D-6E8A-4147-A177-3AD203B41FA5}">
                      <a16:colId xmlns:a16="http://schemas.microsoft.com/office/drawing/2014/main" val="1191645087"/>
                    </a:ext>
                  </a:extLst>
                </a:gridCol>
                <a:gridCol w="1295400">
                  <a:extLst>
                    <a:ext uri="{9D8B030D-6E8A-4147-A177-3AD203B41FA5}">
                      <a16:colId xmlns:a16="http://schemas.microsoft.com/office/drawing/2014/main" val="730049667"/>
                    </a:ext>
                  </a:extLst>
                </a:gridCol>
                <a:gridCol w="1295400">
                  <a:extLst>
                    <a:ext uri="{9D8B030D-6E8A-4147-A177-3AD203B41FA5}">
                      <a16:colId xmlns:a16="http://schemas.microsoft.com/office/drawing/2014/main" val="3057203624"/>
                    </a:ext>
                  </a:extLst>
                </a:gridCol>
              </a:tblGrid>
              <a:tr h="370840">
                <a:tc>
                  <a:txBody>
                    <a:bodyPr/>
                    <a:lstStyle/>
                    <a:p>
                      <a:r>
                        <a:rPr lang="en-IN" sz="2000" dirty="0"/>
                        <a:t>X</a:t>
                      </a:r>
                    </a:p>
                  </a:txBody>
                  <a:tcPr>
                    <a:lnB w="12700" cap="flat" cmpd="sng" algn="ctr">
                      <a:solidFill>
                        <a:schemeClr val="tx1"/>
                      </a:solidFill>
                      <a:prstDash val="solid"/>
                      <a:round/>
                      <a:headEnd type="none" w="med" len="med"/>
                      <a:tailEnd type="none" w="med" len="med"/>
                    </a:lnB>
                  </a:tcPr>
                </a:tc>
                <a:tc>
                  <a:txBody>
                    <a:bodyPr/>
                    <a:lstStyle/>
                    <a:p>
                      <a:r>
                        <a:rPr lang="en-IN" sz="2000" dirty="0"/>
                        <a:t>Y</a:t>
                      </a:r>
                    </a:p>
                  </a:txBody>
                  <a:tcPr>
                    <a:lnB w="12700" cap="flat" cmpd="sng" algn="ctr">
                      <a:solidFill>
                        <a:schemeClr val="tx1"/>
                      </a:solidFill>
                      <a:prstDash val="solid"/>
                      <a:round/>
                      <a:headEnd type="none" w="med" len="med"/>
                      <a:tailEnd type="none" w="med" len="med"/>
                    </a:lnB>
                  </a:tcPr>
                </a:tc>
                <a:tc>
                  <a:txBody>
                    <a:bodyPr/>
                    <a:lstStyle/>
                    <a:p>
                      <a:r>
                        <a:rPr lang="en-IN" sz="2000" dirty="0"/>
                        <a:t>Z</a:t>
                      </a:r>
                    </a:p>
                  </a:txBody>
                  <a:tcPr>
                    <a:lnB w="12700" cap="flat" cmpd="sng" algn="ctr">
                      <a:solidFill>
                        <a:schemeClr val="tx1"/>
                      </a:solidFill>
                      <a:prstDash val="solid"/>
                      <a:round/>
                      <a:headEnd type="none" w="med" len="med"/>
                      <a:tailEnd type="none" w="med" len="med"/>
                    </a:lnB>
                  </a:tcPr>
                </a:tc>
                <a:tc>
                  <a:txBody>
                    <a:bodyPr/>
                    <a:lstStyle/>
                    <a:p>
                      <a:r>
                        <a:rPr lang="en-IN" sz="2000" dirty="0"/>
                        <a:t>C</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5903245"/>
                  </a:ext>
                </a:extLst>
              </a:tr>
              <a:tr h="370840">
                <a:tc>
                  <a:txBody>
                    <a:bodyPr/>
                    <a:lstStyle/>
                    <a:p>
                      <a:r>
                        <a:rPr lang="en-IN"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3575731"/>
                  </a:ext>
                </a:extLst>
              </a:tr>
              <a:tr h="370840">
                <a:tc>
                  <a:txBody>
                    <a:bodyPr/>
                    <a:lstStyle/>
                    <a:p>
                      <a:r>
                        <a:rPr lang="en-IN"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8936399"/>
                  </a:ext>
                </a:extLst>
              </a:tr>
              <a:tr h="370840">
                <a:tc>
                  <a:txBody>
                    <a:bodyPr/>
                    <a:lstStyle/>
                    <a:p>
                      <a:r>
                        <a:rPr lang="en-IN"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8958051"/>
                  </a:ext>
                </a:extLst>
              </a:tr>
              <a:tr h="370840">
                <a:tc>
                  <a:txBody>
                    <a:bodyPr/>
                    <a:lstStyle/>
                    <a:p>
                      <a:r>
                        <a:rPr lang="en-IN"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000" dirty="0"/>
                        <a:t>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2775411"/>
                  </a:ext>
                </a:extLst>
              </a:tr>
            </a:tbl>
          </a:graphicData>
        </a:graphic>
      </p:graphicFrame>
      <p:sp>
        <p:nvSpPr>
          <p:cNvPr id="7" name="TextBox 6">
            <a:extLst>
              <a:ext uri="{FF2B5EF4-FFF2-40B4-BE49-F238E27FC236}">
                <a16:creationId xmlns:a16="http://schemas.microsoft.com/office/drawing/2014/main" id="{11557057-3F8F-D097-3CE5-2F82BB9FDA26}"/>
              </a:ext>
            </a:extLst>
          </p:cNvPr>
          <p:cNvSpPr txBox="1"/>
          <p:nvPr/>
        </p:nvSpPr>
        <p:spPr>
          <a:xfrm>
            <a:off x="99391" y="3871820"/>
            <a:ext cx="6480313" cy="1015663"/>
          </a:xfrm>
          <a:prstGeom prst="rect">
            <a:avLst/>
          </a:prstGeom>
          <a:noFill/>
        </p:spPr>
        <p:txBody>
          <a:bodyPr wrap="square" rtlCol="0">
            <a:spAutoFit/>
          </a:bodyPr>
          <a:lstStyle/>
          <a:p>
            <a:r>
              <a:rPr lang="en-US" sz="2000" dirty="0"/>
              <a:t>Here, we have 3 features and 2 output classes. To build a decision tree using Information gain. We will take each of the features and calculate the information for each feature.</a:t>
            </a:r>
            <a:endParaRPr lang="en-IN" sz="2000" dirty="0"/>
          </a:p>
        </p:txBody>
      </p:sp>
      <p:sp>
        <p:nvSpPr>
          <p:cNvPr id="12" name="TextBox 11">
            <a:extLst>
              <a:ext uri="{FF2B5EF4-FFF2-40B4-BE49-F238E27FC236}">
                <a16:creationId xmlns:a16="http://schemas.microsoft.com/office/drawing/2014/main" id="{AA1B8DF3-A352-A43C-C7F8-D0FFFF89E8D1}"/>
              </a:ext>
            </a:extLst>
          </p:cNvPr>
          <p:cNvSpPr txBox="1"/>
          <p:nvPr/>
        </p:nvSpPr>
        <p:spPr>
          <a:xfrm>
            <a:off x="6301409" y="1490870"/>
            <a:ext cx="5446643" cy="830997"/>
          </a:xfrm>
          <a:prstGeom prst="rect">
            <a:avLst/>
          </a:prstGeom>
          <a:noFill/>
        </p:spPr>
        <p:txBody>
          <a:bodyPr wrap="square" rtlCol="0">
            <a:spAutoFit/>
          </a:bodyPr>
          <a:lstStyle/>
          <a:p>
            <a:r>
              <a:rPr lang="en-IN" sz="2400" dirty="0"/>
              <a:t>E </a:t>
            </a:r>
            <a:r>
              <a:rPr lang="en-IN" sz="2400" baseline="-25000" dirty="0"/>
              <a:t>parent</a:t>
            </a:r>
            <a:r>
              <a:rPr lang="en-IN" sz="2400" dirty="0"/>
              <a:t> = -[2/4log(2/4) + 2/4log(2/4)] </a:t>
            </a:r>
          </a:p>
          <a:p>
            <a:r>
              <a:rPr lang="en-IN" sz="2400" dirty="0"/>
              <a:t>            =</a:t>
            </a:r>
          </a:p>
        </p:txBody>
      </p:sp>
      <p:pic>
        <p:nvPicPr>
          <p:cNvPr id="13" name="Picture 12">
            <a:extLst>
              <a:ext uri="{FF2B5EF4-FFF2-40B4-BE49-F238E27FC236}">
                <a16:creationId xmlns:a16="http://schemas.microsoft.com/office/drawing/2014/main" id="{36575AEE-D44B-428D-4C03-D12378FAC460}"/>
              </a:ext>
            </a:extLst>
          </p:cNvPr>
          <p:cNvPicPr>
            <a:picLocks noChangeAspect="1"/>
          </p:cNvPicPr>
          <p:nvPr/>
        </p:nvPicPr>
        <p:blipFill>
          <a:blip r:embed="rId2"/>
          <a:stretch>
            <a:fillRect/>
          </a:stretch>
        </p:blipFill>
        <p:spPr>
          <a:xfrm>
            <a:off x="725555" y="4752541"/>
            <a:ext cx="4311351" cy="1090669"/>
          </a:xfrm>
          <a:prstGeom prst="rect">
            <a:avLst/>
          </a:prstGeom>
        </p:spPr>
      </p:pic>
      <p:pic>
        <p:nvPicPr>
          <p:cNvPr id="15" name="Picture 14">
            <a:extLst>
              <a:ext uri="{FF2B5EF4-FFF2-40B4-BE49-F238E27FC236}">
                <a16:creationId xmlns:a16="http://schemas.microsoft.com/office/drawing/2014/main" id="{290E01E6-7066-C7E1-7E09-088ADAB67CC2}"/>
              </a:ext>
            </a:extLst>
          </p:cNvPr>
          <p:cNvPicPr>
            <a:picLocks noChangeAspect="1"/>
          </p:cNvPicPr>
          <p:nvPr/>
        </p:nvPicPr>
        <p:blipFill>
          <a:blip r:embed="rId3"/>
          <a:stretch>
            <a:fillRect/>
          </a:stretch>
        </p:blipFill>
        <p:spPr>
          <a:xfrm>
            <a:off x="7444417" y="1937738"/>
            <a:ext cx="2941974" cy="416037"/>
          </a:xfrm>
          <a:prstGeom prst="rect">
            <a:avLst/>
          </a:prstGeom>
        </p:spPr>
      </p:pic>
      <p:pic>
        <p:nvPicPr>
          <p:cNvPr id="17" name="Picture 16">
            <a:extLst>
              <a:ext uri="{FF2B5EF4-FFF2-40B4-BE49-F238E27FC236}">
                <a16:creationId xmlns:a16="http://schemas.microsoft.com/office/drawing/2014/main" id="{76C637C9-3E1A-FEA1-01C9-E47C9EEFCE7B}"/>
              </a:ext>
            </a:extLst>
          </p:cNvPr>
          <p:cNvPicPr>
            <a:picLocks noChangeAspect="1"/>
          </p:cNvPicPr>
          <p:nvPr/>
        </p:nvPicPr>
        <p:blipFill>
          <a:blip r:embed="rId4"/>
          <a:stretch>
            <a:fillRect/>
          </a:stretch>
        </p:blipFill>
        <p:spPr>
          <a:xfrm>
            <a:off x="7444417" y="2353774"/>
            <a:ext cx="2395322" cy="1371867"/>
          </a:xfrm>
          <a:prstGeom prst="rect">
            <a:avLst/>
          </a:prstGeom>
        </p:spPr>
      </p:pic>
      <p:pic>
        <p:nvPicPr>
          <p:cNvPr id="18" name="Picture 17">
            <a:extLst>
              <a:ext uri="{FF2B5EF4-FFF2-40B4-BE49-F238E27FC236}">
                <a16:creationId xmlns:a16="http://schemas.microsoft.com/office/drawing/2014/main" id="{D1BCAE9A-CEF4-4662-847F-9AAC403EA9AE}"/>
              </a:ext>
            </a:extLst>
          </p:cNvPr>
          <p:cNvPicPr>
            <a:picLocks noChangeAspect="1"/>
          </p:cNvPicPr>
          <p:nvPr/>
        </p:nvPicPr>
        <p:blipFill>
          <a:blip r:embed="rId5"/>
          <a:stretch>
            <a:fillRect/>
          </a:stretch>
        </p:blipFill>
        <p:spPr>
          <a:xfrm>
            <a:off x="1" y="5708268"/>
            <a:ext cx="6172202" cy="1149732"/>
          </a:xfrm>
          <a:prstGeom prst="rect">
            <a:avLst/>
          </a:prstGeom>
        </p:spPr>
      </p:pic>
    </p:spTree>
    <p:extLst>
      <p:ext uri="{BB962C8B-B14F-4D97-AF65-F5344CB8AC3E}">
        <p14:creationId xmlns:p14="http://schemas.microsoft.com/office/powerpoint/2010/main" val="188604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85894-9008-47DC-BD20-17D524C28C43}"/>
              </a:ext>
            </a:extLst>
          </p:cNvPr>
          <p:cNvSpPr>
            <a:spLocks noGrp="1"/>
          </p:cNvSpPr>
          <p:nvPr>
            <p:ph type="title"/>
          </p:nvPr>
        </p:nvSpPr>
        <p:spPr/>
        <p:txBody>
          <a:bodyPr>
            <a:normAutofit fontScale="90000"/>
          </a:bodyPr>
          <a:lstStyle/>
          <a:p>
            <a:r>
              <a:rPr lang="en-US" b="1" dirty="0"/>
              <a:t>Example:</a:t>
            </a:r>
            <a:r>
              <a:rPr lang="en-US" dirty="0"/>
              <a:t> Now let us draw a Decision Tree for the following data using Information gain. Training set: 3 features and 2 classes</a:t>
            </a:r>
            <a:endParaRPr lang="en-IN" dirty="0"/>
          </a:p>
        </p:txBody>
      </p:sp>
      <p:sp>
        <p:nvSpPr>
          <p:cNvPr id="3" name="Content Placeholder 2">
            <a:extLst>
              <a:ext uri="{FF2B5EF4-FFF2-40B4-BE49-F238E27FC236}">
                <a16:creationId xmlns:a16="http://schemas.microsoft.com/office/drawing/2014/main" id="{3FF70F85-3C2C-3BAF-CD78-B2B216BA43D3}"/>
              </a:ext>
            </a:extLst>
          </p:cNvPr>
          <p:cNvSpPr>
            <a:spLocks noGrp="1"/>
          </p:cNvSpPr>
          <p:nvPr>
            <p:ph sz="half" idx="1"/>
          </p:nvPr>
        </p:nvSpPr>
        <p:spPr>
          <a:xfrm>
            <a:off x="212031" y="1825625"/>
            <a:ext cx="7507750" cy="4813714"/>
          </a:xfrm>
        </p:spPr>
        <p:txBody>
          <a:bodyPr>
            <a:normAutofit lnSpcReduction="10000"/>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r>
              <a:rPr lang="en-IN" sz="2400" dirty="0"/>
              <a:t>GAIN = 1 – [(S</a:t>
            </a:r>
            <a:r>
              <a:rPr lang="en-IN" sz="2400" baseline="-25000" dirty="0"/>
              <a:t>child1</a:t>
            </a:r>
            <a:r>
              <a:rPr lang="en-IN" sz="2400" dirty="0"/>
              <a:t>/</a:t>
            </a:r>
            <a:r>
              <a:rPr lang="en-IN" sz="2400" dirty="0" err="1"/>
              <a:t>S</a:t>
            </a:r>
            <a:r>
              <a:rPr lang="en-IN" sz="2400" baseline="-25000" dirty="0" err="1"/>
              <a:t>parent</a:t>
            </a:r>
            <a:r>
              <a:rPr lang="en-IN" sz="2400" dirty="0"/>
              <a:t>) E(S</a:t>
            </a:r>
            <a:r>
              <a:rPr lang="en-IN" sz="2400" baseline="-25000" dirty="0"/>
              <a:t>child1</a:t>
            </a:r>
            <a:r>
              <a:rPr lang="en-IN" sz="2400" dirty="0"/>
              <a:t>) +(S</a:t>
            </a:r>
            <a:r>
              <a:rPr lang="en-IN" sz="2400" baseline="-25000" dirty="0"/>
              <a:t>child2</a:t>
            </a:r>
            <a:r>
              <a:rPr lang="en-IN" sz="2400" dirty="0"/>
              <a:t>/</a:t>
            </a:r>
            <a:r>
              <a:rPr lang="en-IN" sz="2400" dirty="0" err="1"/>
              <a:t>S</a:t>
            </a:r>
            <a:r>
              <a:rPr lang="en-IN" sz="2400" baseline="-25000" dirty="0" err="1"/>
              <a:t>parent</a:t>
            </a:r>
            <a:r>
              <a:rPr lang="en-IN" sz="2400" dirty="0"/>
              <a:t>) E(S</a:t>
            </a:r>
            <a:r>
              <a:rPr lang="en-IN" sz="2400" baseline="-25000" dirty="0"/>
              <a:t>child2</a:t>
            </a:r>
            <a:r>
              <a:rPr lang="en-IN" sz="2400" dirty="0"/>
              <a:t>)]</a:t>
            </a:r>
            <a:r>
              <a:rPr lang="en-IN" sz="2400" baseline="-25000" dirty="0"/>
              <a:t> </a:t>
            </a:r>
          </a:p>
        </p:txBody>
      </p:sp>
      <p:sp>
        <p:nvSpPr>
          <p:cNvPr id="4" name="Content Placeholder 3">
            <a:extLst>
              <a:ext uri="{FF2B5EF4-FFF2-40B4-BE49-F238E27FC236}">
                <a16:creationId xmlns:a16="http://schemas.microsoft.com/office/drawing/2014/main" id="{81C609CE-C24B-EAD9-4342-F97DC717DCA5}"/>
              </a:ext>
            </a:extLst>
          </p:cNvPr>
          <p:cNvSpPr>
            <a:spLocks noGrp="1"/>
          </p:cNvSpPr>
          <p:nvPr>
            <p:ph sz="half" idx="2"/>
          </p:nvPr>
        </p:nvSpPr>
        <p:spPr>
          <a:xfrm>
            <a:off x="6219198" y="3699478"/>
            <a:ext cx="5181600" cy="3066015"/>
          </a:xfrm>
        </p:spPr>
        <p:txBody>
          <a:bodyPr>
            <a:normAutofit lnSpcReduction="10000"/>
          </a:bodyPr>
          <a:lstStyle/>
          <a:p>
            <a:pPr marL="0" indent="0">
              <a:buNone/>
            </a:pPr>
            <a:r>
              <a:rPr lang="en-IN" sz="2400" dirty="0"/>
              <a:t>E(S</a:t>
            </a:r>
            <a:r>
              <a:rPr lang="en-IN" sz="2400" baseline="-25000" dirty="0"/>
              <a:t>child1</a:t>
            </a:r>
            <a:r>
              <a:rPr lang="en-IN" sz="2400" dirty="0"/>
              <a:t>) =</a:t>
            </a:r>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r>
              <a:rPr lang="en-IN" sz="2400" dirty="0"/>
              <a:t>E(S</a:t>
            </a:r>
            <a:r>
              <a:rPr lang="en-IN" sz="2400" baseline="-25000" dirty="0"/>
              <a:t>child2</a:t>
            </a:r>
            <a:r>
              <a:rPr lang="en-IN" sz="2400" dirty="0"/>
              <a:t>) = - 1/1 log(1/1) = 0 </a:t>
            </a:r>
          </a:p>
        </p:txBody>
      </p:sp>
      <p:pic>
        <p:nvPicPr>
          <p:cNvPr id="9" name="Content Placeholder 8">
            <a:extLst>
              <a:ext uri="{FF2B5EF4-FFF2-40B4-BE49-F238E27FC236}">
                <a16:creationId xmlns:a16="http://schemas.microsoft.com/office/drawing/2014/main" id="{B2948C5A-9AF4-CA36-C3CF-B6FEF88DB63F}"/>
              </a:ext>
            </a:extLst>
          </p:cNvPr>
          <p:cNvPicPr>
            <a:picLocks noChangeAspect="1"/>
          </p:cNvPicPr>
          <p:nvPr/>
        </p:nvPicPr>
        <p:blipFill>
          <a:blip r:embed="rId2"/>
          <a:stretch>
            <a:fillRect/>
          </a:stretch>
        </p:blipFill>
        <p:spPr>
          <a:xfrm>
            <a:off x="212031" y="1793864"/>
            <a:ext cx="5748197" cy="3511688"/>
          </a:xfrm>
          <a:prstGeom prst="rect">
            <a:avLst/>
          </a:prstGeom>
        </p:spPr>
      </p:pic>
      <p:pic>
        <p:nvPicPr>
          <p:cNvPr id="5" name="Picture 4">
            <a:extLst>
              <a:ext uri="{FF2B5EF4-FFF2-40B4-BE49-F238E27FC236}">
                <a16:creationId xmlns:a16="http://schemas.microsoft.com/office/drawing/2014/main" id="{1B1CACAC-4EBE-CF03-31F6-1545AE39A24E}"/>
              </a:ext>
            </a:extLst>
          </p:cNvPr>
          <p:cNvPicPr>
            <a:picLocks noChangeAspect="1"/>
          </p:cNvPicPr>
          <p:nvPr/>
        </p:nvPicPr>
        <p:blipFill>
          <a:blip r:embed="rId3"/>
          <a:stretch>
            <a:fillRect/>
          </a:stretch>
        </p:blipFill>
        <p:spPr>
          <a:xfrm>
            <a:off x="6033013" y="2311108"/>
            <a:ext cx="6172202" cy="1149732"/>
          </a:xfrm>
          <a:prstGeom prst="rect">
            <a:avLst/>
          </a:prstGeom>
        </p:spPr>
      </p:pic>
      <p:pic>
        <p:nvPicPr>
          <p:cNvPr id="6" name="Picture 5">
            <a:extLst>
              <a:ext uri="{FF2B5EF4-FFF2-40B4-BE49-F238E27FC236}">
                <a16:creationId xmlns:a16="http://schemas.microsoft.com/office/drawing/2014/main" id="{5AE8490A-17E4-5E62-39F3-EDD47C913B8D}"/>
              </a:ext>
            </a:extLst>
          </p:cNvPr>
          <p:cNvPicPr>
            <a:picLocks noChangeAspect="1"/>
          </p:cNvPicPr>
          <p:nvPr/>
        </p:nvPicPr>
        <p:blipFill>
          <a:blip r:embed="rId4"/>
          <a:stretch>
            <a:fillRect/>
          </a:stretch>
        </p:blipFill>
        <p:spPr>
          <a:xfrm>
            <a:off x="6645969" y="1325710"/>
            <a:ext cx="4311351" cy="1090669"/>
          </a:xfrm>
          <a:prstGeom prst="rect">
            <a:avLst/>
          </a:prstGeom>
        </p:spPr>
      </p:pic>
      <p:pic>
        <p:nvPicPr>
          <p:cNvPr id="11" name="Picture 10">
            <a:extLst>
              <a:ext uri="{FF2B5EF4-FFF2-40B4-BE49-F238E27FC236}">
                <a16:creationId xmlns:a16="http://schemas.microsoft.com/office/drawing/2014/main" id="{1A987A30-1CA1-635E-E82A-9FAC80D52A4C}"/>
              </a:ext>
            </a:extLst>
          </p:cNvPr>
          <p:cNvPicPr>
            <a:picLocks noChangeAspect="1"/>
          </p:cNvPicPr>
          <p:nvPr/>
        </p:nvPicPr>
        <p:blipFill>
          <a:blip r:embed="rId5"/>
          <a:stretch>
            <a:fillRect/>
          </a:stretch>
        </p:blipFill>
        <p:spPr>
          <a:xfrm>
            <a:off x="7943282" y="3549708"/>
            <a:ext cx="2965566" cy="839712"/>
          </a:xfrm>
          <a:prstGeom prst="rect">
            <a:avLst/>
          </a:prstGeom>
        </p:spPr>
      </p:pic>
      <p:pic>
        <p:nvPicPr>
          <p:cNvPr id="13" name="Picture 12">
            <a:extLst>
              <a:ext uri="{FF2B5EF4-FFF2-40B4-BE49-F238E27FC236}">
                <a16:creationId xmlns:a16="http://schemas.microsoft.com/office/drawing/2014/main" id="{0D9B5860-C4E6-8D8F-A318-6E585CD83EB9}"/>
              </a:ext>
            </a:extLst>
          </p:cNvPr>
          <p:cNvPicPr>
            <a:picLocks noChangeAspect="1"/>
          </p:cNvPicPr>
          <p:nvPr/>
        </p:nvPicPr>
        <p:blipFill>
          <a:blip r:embed="rId6"/>
          <a:stretch>
            <a:fillRect/>
          </a:stretch>
        </p:blipFill>
        <p:spPr>
          <a:xfrm>
            <a:off x="7719781" y="4371934"/>
            <a:ext cx="3292542" cy="1721102"/>
          </a:xfrm>
          <a:prstGeom prst="rect">
            <a:avLst/>
          </a:prstGeom>
        </p:spPr>
      </p:pic>
      <p:pic>
        <p:nvPicPr>
          <p:cNvPr id="15" name="Picture 14">
            <a:extLst>
              <a:ext uri="{FF2B5EF4-FFF2-40B4-BE49-F238E27FC236}">
                <a16:creationId xmlns:a16="http://schemas.microsoft.com/office/drawing/2014/main" id="{61C3E43E-53AA-3771-0D7F-D0D21BDDBF27}"/>
              </a:ext>
            </a:extLst>
          </p:cNvPr>
          <p:cNvPicPr>
            <a:picLocks noChangeAspect="1"/>
          </p:cNvPicPr>
          <p:nvPr/>
        </p:nvPicPr>
        <p:blipFill>
          <a:blip r:embed="rId7"/>
          <a:stretch>
            <a:fillRect/>
          </a:stretch>
        </p:blipFill>
        <p:spPr>
          <a:xfrm>
            <a:off x="10518446" y="5638399"/>
            <a:ext cx="987753" cy="519204"/>
          </a:xfrm>
          <a:prstGeom prst="rect">
            <a:avLst/>
          </a:prstGeom>
        </p:spPr>
      </p:pic>
      <p:sp>
        <p:nvSpPr>
          <p:cNvPr id="16" name="Rectangle 15">
            <a:extLst>
              <a:ext uri="{FF2B5EF4-FFF2-40B4-BE49-F238E27FC236}">
                <a16:creationId xmlns:a16="http://schemas.microsoft.com/office/drawing/2014/main" id="{BDF483B2-4E96-B3CB-874A-3E6C3F51E8F2}"/>
              </a:ext>
            </a:extLst>
          </p:cNvPr>
          <p:cNvSpPr/>
          <p:nvPr/>
        </p:nvSpPr>
        <p:spPr>
          <a:xfrm>
            <a:off x="233699" y="5506278"/>
            <a:ext cx="7210710" cy="5867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1EBC6D8D-762A-9610-A641-94FDAD8C5D3C}"/>
              </a:ext>
            </a:extLst>
          </p:cNvPr>
          <p:cNvSpPr/>
          <p:nvPr/>
        </p:nvSpPr>
        <p:spPr>
          <a:xfrm>
            <a:off x="6033013" y="1580322"/>
            <a:ext cx="6172202" cy="19048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90700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8AA36-1DAC-E5AE-58B5-0685E35998E1}"/>
              </a:ext>
            </a:extLst>
          </p:cNvPr>
          <p:cNvSpPr>
            <a:spLocks noGrp="1"/>
          </p:cNvSpPr>
          <p:nvPr>
            <p:ph type="title"/>
          </p:nvPr>
        </p:nvSpPr>
        <p:spPr/>
        <p:txBody>
          <a:bodyPr>
            <a:normAutofit fontScale="90000"/>
          </a:bodyPr>
          <a:lstStyle/>
          <a:p>
            <a:r>
              <a:rPr lang="en-US" b="1" dirty="0"/>
              <a:t>Example:</a:t>
            </a:r>
            <a:r>
              <a:rPr lang="en-US" dirty="0"/>
              <a:t> Now let us draw a Decision Tree for the following data using Information gain. Training set: 3 features and 2 classes</a:t>
            </a:r>
            <a:endParaRPr lang="en-IN" dirty="0"/>
          </a:p>
        </p:txBody>
      </p:sp>
      <p:pic>
        <p:nvPicPr>
          <p:cNvPr id="6" name="Content Placeholder 5">
            <a:extLst>
              <a:ext uri="{FF2B5EF4-FFF2-40B4-BE49-F238E27FC236}">
                <a16:creationId xmlns:a16="http://schemas.microsoft.com/office/drawing/2014/main" id="{BDAD057E-2F94-FB4E-3DE4-72E1968FC022}"/>
              </a:ext>
            </a:extLst>
          </p:cNvPr>
          <p:cNvPicPr>
            <a:picLocks noGrp="1" noChangeAspect="1"/>
          </p:cNvPicPr>
          <p:nvPr>
            <p:ph sz="half" idx="1"/>
          </p:nvPr>
        </p:nvPicPr>
        <p:blipFill>
          <a:blip r:embed="rId2"/>
          <a:stretch>
            <a:fillRect/>
          </a:stretch>
        </p:blipFill>
        <p:spPr>
          <a:xfrm>
            <a:off x="6589643" y="1919325"/>
            <a:ext cx="5181600" cy="2434529"/>
          </a:xfrm>
          <a:prstGeom prst="rect">
            <a:avLst/>
          </a:prstGeom>
        </p:spPr>
      </p:pic>
      <p:sp>
        <p:nvSpPr>
          <p:cNvPr id="4" name="Content Placeholder 3">
            <a:extLst>
              <a:ext uri="{FF2B5EF4-FFF2-40B4-BE49-F238E27FC236}">
                <a16:creationId xmlns:a16="http://schemas.microsoft.com/office/drawing/2014/main" id="{218D335E-A203-6122-C5BB-263DA152B736}"/>
              </a:ext>
            </a:extLst>
          </p:cNvPr>
          <p:cNvSpPr>
            <a:spLocks noGrp="1"/>
          </p:cNvSpPr>
          <p:nvPr>
            <p:ph sz="half" idx="2"/>
          </p:nvPr>
        </p:nvSpPr>
        <p:spPr>
          <a:xfrm>
            <a:off x="838200" y="4582491"/>
            <a:ext cx="10515600" cy="1594472"/>
          </a:xfrm>
        </p:spPr>
        <p:txBody>
          <a:bodyPr>
            <a:normAutofit/>
          </a:bodyPr>
          <a:lstStyle/>
          <a:p>
            <a:r>
              <a:rPr lang="en-US" sz="2000" dirty="0"/>
              <a:t>From the above images we can see that the information gain is </a:t>
            </a:r>
            <a:r>
              <a:rPr lang="en-US" sz="2000" b="1" dirty="0"/>
              <a:t>maximum</a:t>
            </a:r>
            <a:r>
              <a:rPr lang="en-US" sz="2000" dirty="0"/>
              <a:t> when we make a split on feature Y. So, for the root node best-suited feature is feature Y. Now we can see that while splitting the dataset by feature Y, the child contains a pure subset of the target variable. So we don't need to further split the dataset. The final tree for the above dataset would look like this: </a:t>
            </a:r>
            <a:endParaRPr lang="en-IN" sz="2000" dirty="0"/>
          </a:p>
        </p:txBody>
      </p:sp>
      <p:pic>
        <p:nvPicPr>
          <p:cNvPr id="11" name="Picture 10">
            <a:extLst>
              <a:ext uri="{FF2B5EF4-FFF2-40B4-BE49-F238E27FC236}">
                <a16:creationId xmlns:a16="http://schemas.microsoft.com/office/drawing/2014/main" id="{70741B82-2A34-3F40-A26A-E8451F0AD1EA}"/>
              </a:ext>
            </a:extLst>
          </p:cNvPr>
          <p:cNvPicPr>
            <a:picLocks noChangeAspect="1"/>
          </p:cNvPicPr>
          <p:nvPr/>
        </p:nvPicPr>
        <p:blipFill>
          <a:blip r:embed="rId3"/>
          <a:stretch>
            <a:fillRect/>
          </a:stretch>
        </p:blipFill>
        <p:spPr>
          <a:xfrm>
            <a:off x="420757" y="1994383"/>
            <a:ext cx="5890591" cy="2276061"/>
          </a:xfrm>
          <a:prstGeom prst="rect">
            <a:avLst/>
          </a:prstGeom>
        </p:spPr>
      </p:pic>
    </p:spTree>
    <p:extLst>
      <p:ext uri="{BB962C8B-B14F-4D97-AF65-F5344CB8AC3E}">
        <p14:creationId xmlns:p14="http://schemas.microsoft.com/office/powerpoint/2010/main" val="4068021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961F-C282-BB2B-E4E1-82519481C262}"/>
              </a:ext>
            </a:extLst>
          </p:cNvPr>
          <p:cNvSpPr>
            <a:spLocks noGrp="1"/>
          </p:cNvSpPr>
          <p:nvPr>
            <p:ph type="title"/>
          </p:nvPr>
        </p:nvSpPr>
        <p:spPr/>
        <p:txBody>
          <a:bodyPr/>
          <a:lstStyle/>
          <a:p>
            <a:r>
              <a:rPr lang="en-IN" dirty="0"/>
              <a:t>3. Gini Index</a:t>
            </a:r>
          </a:p>
        </p:txBody>
      </p:sp>
      <p:sp>
        <p:nvSpPr>
          <p:cNvPr id="3" name="Content Placeholder 2">
            <a:extLst>
              <a:ext uri="{FF2B5EF4-FFF2-40B4-BE49-F238E27FC236}">
                <a16:creationId xmlns:a16="http://schemas.microsoft.com/office/drawing/2014/main" id="{E5F26139-9A31-2016-3F3C-4D57F79E9C18}"/>
              </a:ext>
            </a:extLst>
          </p:cNvPr>
          <p:cNvSpPr>
            <a:spLocks noGrp="1"/>
          </p:cNvSpPr>
          <p:nvPr>
            <p:ph idx="1"/>
          </p:nvPr>
        </p:nvSpPr>
        <p:spPr>
          <a:xfrm>
            <a:off x="838200" y="1690688"/>
            <a:ext cx="10515600" cy="4729989"/>
          </a:xfrm>
        </p:spPr>
        <p:txBody>
          <a:bodyPr>
            <a:normAutofit fontScale="77500" lnSpcReduction="20000"/>
          </a:bodyPr>
          <a:lstStyle/>
          <a:p>
            <a:r>
              <a:rPr lang="en-US" dirty="0"/>
              <a:t>The </a:t>
            </a:r>
            <a:r>
              <a:rPr lang="en-US" b="1" dirty="0"/>
              <a:t>Gini Index</a:t>
            </a:r>
            <a:r>
              <a:rPr lang="en-US" dirty="0"/>
              <a:t> measures the </a:t>
            </a:r>
            <a:r>
              <a:rPr lang="en-US" b="1" dirty="0"/>
              <a:t>probability of incorrect classification</a:t>
            </a:r>
            <a:r>
              <a:rPr lang="en-US" dirty="0"/>
              <a:t> of a randomly chosen sample.</a:t>
            </a:r>
          </a:p>
          <a:p>
            <a:endParaRPr lang="en-US" dirty="0"/>
          </a:p>
          <a:p>
            <a:endParaRPr lang="en-US" dirty="0"/>
          </a:p>
          <a:p>
            <a:endParaRPr lang="en-US" dirty="0"/>
          </a:p>
          <a:p>
            <a:r>
              <a:rPr lang="en-IN" b="1" dirty="0"/>
              <a:t>Interpretation: </a:t>
            </a:r>
            <a:r>
              <a:rPr lang="en-US" dirty="0"/>
              <a:t>For example, if we have a group of people where all bought the product (100% "Yes") the Gini Index is 0 indicate perfect purity. But if the group has an equal mix of "Yes" and "No" the Gini Index would be 0.5 show high impurity or uncertainty.</a:t>
            </a:r>
            <a:endParaRPr lang="en-IN" b="1" dirty="0"/>
          </a:p>
          <a:p>
            <a:pPr lvl="1"/>
            <a:r>
              <a:rPr lang="en-IN" dirty="0"/>
              <a:t>Gini = 0 → Pure node, Lower Gini → Better split.</a:t>
            </a:r>
          </a:p>
          <a:p>
            <a:r>
              <a:rPr lang="en-IN" b="1" dirty="0"/>
              <a:t>Usage</a:t>
            </a:r>
          </a:p>
          <a:p>
            <a:pPr lvl="1"/>
            <a:r>
              <a:rPr lang="en-IN" dirty="0"/>
              <a:t>Used in </a:t>
            </a:r>
            <a:r>
              <a:rPr lang="en-IN" b="1" dirty="0"/>
              <a:t>CART (Classification and Regression Trees)</a:t>
            </a:r>
            <a:r>
              <a:rPr lang="en-IN" dirty="0"/>
              <a:t>.</a:t>
            </a:r>
          </a:p>
          <a:p>
            <a:r>
              <a:rPr lang="en-IN" b="1" dirty="0"/>
              <a:t>Advantage</a:t>
            </a:r>
          </a:p>
          <a:p>
            <a:pPr lvl="1"/>
            <a:r>
              <a:rPr lang="en-IN" dirty="0"/>
              <a:t>Faster to compute than entropy.</a:t>
            </a:r>
          </a:p>
          <a:p>
            <a:pPr lvl="1"/>
            <a:r>
              <a:rPr lang="en-IN" dirty="0"/>
              <a:t>Works well for large datasets.</a:t>
            </a:r>
            <a:endParaRPr lang="en-US" dirty="0"/>
          </a:p>
          <a:p>
            <a:endParaRPr lang="en-US" dirty="0"/>
          </a:p>
          <a:p>
            <a:endParaRPr lang="en-US" dirty="0"/>
          </a:p>
          <a:p>
            <a:endParaRPr lang="en-IN" dirty="0"/>
          </a:p>
        </p:txBody>
      </p:sp>
      <p:pic>
        <p:nvPicPr>
          <p:cNvPr id="5" name="Picture 4">
            <a:extLst>
              <a:ext uri="{FF2B5EF4-FFF2-40B4-BE49-F238E27FC236}">
                <a16:creationId xmlns:a16="http://schemas.microsoft.com/office/drawing/2014/main" id="{5EB2C9E6-F839-2499-7B73-3CFB7A3704EF}"/>
              </a:ext>
            </a:extLst>
          </p:cNvPr>
          <p:cNvPicPr>
            <a:picLocks noChangeAspect="1"/>
          </p:cNvPicPr>
          <p:nvPr/>
        </p:nvPicPr>
        <p:blipFill>
          <a:blip r:embed="rId2"/>
          <a:stretch>
            <a:fillRect/>
          </a:stretch>
        </p:blipFill>
        <p:spPr>
          <a:xfrm>
            <a:off x="5217895" y="1977410"/>
            <a:ext cx="3160792" cy="1326404"/>
          </a:xfrm>
          <a:prstGeom prst="rect">
            <a:avLst/>
          </a:prstGeom>
        </p:spPr>
      </p:pic>
    </p:spTree>
    <p:extLst>
      <p:ext uri="{BB962C8B-B14F-4D97-AF65-F5344CB8AC3E}">
        <p14:creationId xmlns:p14="http://schemas.microsoft.com/office/powerpoint/2010/main" val="4153488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2F4A8-330F-F11D-406D-D2DE1E0F3875}"/>
              </a:ext>
            </a:extLst>
          </p:cNvPr>
          <p:cNvSpPr>
            <a:spLocks noGrp="1"/>
          </p:cNvSpPr>
          <p:nvPr>
            <p:ph type="title"/>
          </p:nvPr>
        </p:nvSpPr>
        <p:spPr/>
        <p:txBody>
          <a:bodyPr/>
          <a:lstStyle/>
          <a:p>
            <a:r>
              <a:rPr lang="en-US" b="1" dirty="0"/>
              <a:t>Some additional features of the Gini Index are</a:t>
            </a:r>
            <a:endParaRPr lang="en-IN" dirty="0"/>
          </a:p>
        </p:txBody>
      </p:sp>
      <p:sp>
        <p:nvSpPr>
          <p:cNvPr id="3" name="Content Placeholder 2">
            <a:extLst>
              <a:ext uri="{FF2B5EF4-FFF2-40B4-BE49-F238E27FC236}">
                <a16:creationId xmlns:a16="http://schemas.microsoft.com/office/drawing/2014/main" id="{7E05804C-5773-1EB0-6AA3-1AC7C1521650}"/>
              </a:ext>
            </a:extLst>
          </p:cNvPr>
          <p:cNvSpPr>
            <a:spLocks noGrp="1"/>
          </p:cNvSpPr>
          <p:nvPr>
            <p:ph idx="1"/>
          </p:nvPr>
        </p:nvSpPr>
        <p:spPr/>
        <p:txBody>
          <a:bodyPr>
            <a:normAutofit fontScale="85000" lnSpcReduction="20000"/>
          </a:bodyPr>
          <a:lstStyle/>
          <a:p>
            <a:pPr fontAlgn="base"/>
            <a:r>
              <a:rPr lang="en-US" dirty="0"/>
              <a:t>It is calculated by summing the squared probabilities of each outcome in a distribution and subtracting the result from 1.</a:t>
            </a:r>
          </a:p>
          <a:p>
            <a:pPr fontAlgn="base"/>
            <a:r>
              <a:rPr lang="en-US" dirty="0"/>
              <a:t>A lower Gini Index indicates a more homogeneous or pure distribution while a higher Gini Index indicates a more heterogeneous or impure distribution.</a:t>
            </a:r>
          </a:p>
          <a:p>
            <a:pPr fontAlgn="base"/>
            <a:r>
              <a:rPr lang="en-US" dirty="0"/>
              <a:t>In decision trees the Gini Index is used to evaluate the quality of a split by measuring the difference between the impurity of the parent node and the weighted impurity of the child nodes.</a:t>
            </a:r>
          </a:p>
          <a:p>
            <a:pPr fontAlgn="base"/>
            <a:r>
              <a:rPr lang="en-US" dirty="0"/>
              <a:t>Compared to other impurity measures like entropy, the Gini Index is faster to compute and more sensitive to changes in class probabilities.</a:t>
            </a:r>
          </a:p>
          <a:p>
            <a:pPr fontAlgn="base"/>
            <a:r>
              <a:rPr lang="en-US" dirty="0"/>
              <a:t>One disadvantage of the Gini Index is that it tends to </a:t>
            </a:r>
            <a:r>
              <a:rPr lang="en-US" dirty="0" err="1"/>
              <a:t>favour</a:t>
            </a:r>
            <a:r>
              <a:rPr lang="en-US" dirty="0"/>
              <a:t> splits that create equally sized child nodes, even if they are not optimal for classification accuracy.</a:t>
            </a:r>
          </a:p>
          <a:p>
            <a:pPr fontAlgn="base"/>
            <a:r>
              <a:rPr lang="en-US" dirty="0"/>
              <a:t>In practice the choice between using the Gini Index or other impurity measures depends on the specific problem and dataset and requires experimentation and tuning.</a:t>
            </a:r>
            <a:endParaRPr lang="en-IN" dirty="0"/>
          </a:p>
        </p:txBody>
      </p:sp>
    </p:spTree>
    <p:extLst>
      <p:ext uri="{BB962C8B-B14F-4D97-AF65-F5344CB8AC3E}">
        <p14:creationId xmlns:p14="http://schemas.microsoft.com/office/powerpoint/2010/main" val="761386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E8E03-B0FF-DEFE-1DA0-FC42CB67E15B}"/>
              </a:ext>
            </a:extLst>
          </p:cNvPr>
          <p:cNvSpPr>
            <a:spLocks noGrp="1"/>
          </p:cNvSpPr>
          <p:nvPr>
            <p:ph type="title"/>
          </p:nvPr>
        </p:nvSpPr>
        <p:spPr/>
        <p:txBody>
          <a:bodyPr/>
          <a:lstStyle/>
          <a:p>
            <a:r>
              <a:rPr lang="en-IN" dirty="0"/>
              <a:t>4. Gain Ratio</a:t>
            </a:r>
          </a:p>
        </p:txBody>
      </p:sp>
      <p:sp>
        <p:nvSpPr>
          <p:cNvPr id="3" name="Content Placeholder 2">
            <a:extLst>
              <a:ext uri="{FF2B5EF4-FFF2-40B4-BE49-F238E27FC236}">
                <a16:creationId xmlns:a16="http://schemas.microsoft.com/office/drawing/2014/main" id="{4BE7815E-85B1-029C-FE24-8E7BD09BF2E3}"/>
              </a:ext>
            </a:extLst>
          </p:cNvPr>
          <p:cNvSpPr>
            <a:spLocks noGrp="1"/>
          </p:cNvSpPr>
          <p:nvPr>
            <p:ph idx="1"/>
          </p:nvPr>
        </p:nvSpPr>
        <p:spPr/>
        <p:txBody>
          <a:bodyPr>
            <a:normAutofit/>
          </a:bodyPr>
          <a:lstStyle/>
          <a:p>
            <a:r>
              <a:rPr lang="en-US" sz="2400" b="1" dirty="0"/>
              <a:t>Gain Ratio</a:t>
            </a:r>
            <a:r>
              <a:rPr lang="en-US" sz="2400" dirty="0"/>
              <a:t> improves Information Gain by removing its bias toward multi-valued attributes.</a:t>
            </a:r>
          </a:p>
          <a:p>
            <a:endParaRPr lang="en-US" sz="2400" dirty="0"/>
          </a:p>
          <a:p>
            <a:endParaRPr lang="en-US" sz="2400" dirty="0"/>
          </a:p>
          <a:p>
            <a:endParaRPr lang="en-US" sz="2400" dirty="0"/>
          </a:p>
          <a:p>
            <a:r>
              <a:rPr lang="en-US" sz="2400" dirty="0"/>
              <a:t>Where</a:t>
            </a:r>
          </a:p>
          <a:p>
            <a:endParaRPr lang="en-US" sz="2400" dirty="0"/>
          </a:p>
          <a:p>
            <a:r>
              <a:rPr lang="en-US" sz="2400" b="1" dirty="0"/>
              <a:t>Advantage: </a:t>
            </a:r>
            <a:r>
              <a:rPr lang="en-US" sz="2400" dirty="0"/>
              <a:t>Avoids selecting attributes with many values.</a:t>
            </a:r>
          </a:p>
          <a:p>
            <a:endParaRPr lang="en-US" sz="2400" dirty="0"/>
          </a:p>
          <a:p>
            <a:endParaRPr lang="en-IN" sz="2400" dirty="0"/>
          </a:p>
        </p:txBody>
      </p:sp>
      <p:pic>
        <p:nvPicPr>
          <p:cNvPr id="5" name="Picture 4">
            <a:extLst>
              <a:ext uri="{FF2B5EF4-FFF2-40B4-BE49-F238E27FC236}">
                <a16:creationId xmlns:a16="http://schemas.microsoft.com/office/drawing/2014/main" id="{062FBF03-D91B-EE83-79D1-B15A75129EA2}"/>
              </a:ext>
            </a:extLst>
          </p:cNvPr>
          <p:cNvPicPr>
            <a:picLocks noChangeAspect="1"/>
          </p:cNvPicPr>
          <p:nvPr/>
        </p:nvPicPr>
        <p:blipFill>
          <a:blip r:embed="rId2"/>
          <a:stretch>
            <a:fillRect/>
          </a:stretch>
        </p:blipFill>
        <p:spPr>
          <a:xfrm>
            <a:off x="4743863" y="2564866"/>
            <a:ext cx="3995415" cy="963525"/>
          </a:xfrm>
          <a:prstGeom prst="rect">
            <a:avLst/>
          </a:prstGeom>
        </p:spPr>
      </p:pic>
      <p:pic>
        <p:nvPicPr>
          <p:cNvPr id="7" name="Picture 6">
            <a:extLst>
              <a:ext uri="{FF2B5EF4-FFF2-40B4-BE49-F238E27FC236}">
                <a16:creationId xmlns:a16="http://schemas.microsoft.com/office/drawing/2014/main" id="{7E21345A-D37D-F9AA-D0B2-F37D31B67445}"/>
              </a:ext>
            </a:extLst>
          </p:cNvPr>
          <p:cNvPicPr>
            <a:picLocks noChangeAspect="1"/>
          </p:cNvPicPr>
          <p:nvPr/>
        </p:nvPicPr>
        <p:blipFill>
          <a:blip r:embed="rId3"/>
          <a:stretch>
            <a:fillRect/>
          </a:stretch>
        </p:blipFill>
        <p:spPr>
          <a:xfrm>
            <a:off x="2809416" y="3822786"/>
            <a:ext cx="4297062" cy="971510"/>
          </a:xfrm>
          <a:prstGeom prst="rect">
            <a:avLst/>
          </a:prstGeom>
        </p:spPr>
      </p:pic>
    </p:spTree>
    <p:extLst>
      <p:ext uri="{BB962C8B-B14F-4D97-AF65-F5344CB8AC3E}">
        <p14:creationId xmlns:p14="http://schemas.microsoft.com/office/powerpoint/2010/main" val="3907574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1334</Words>
  <Application>Microsoft Office PowerPoint</Application>
  <PresentationFormat>Widescreen</PresentationFormat>
  <Paragraphs>137</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Decision trees </vt:lpstr>
      <vt:lpstr>Decision trees </vt:lpstr>
      <vt:lpstr>PowerPoint Presentation</vt:lpstr>
      <vt:lpstr>How Does a Decision Tree Work</vt:lpstr>
      <vt:lpstr>How Does a Decision Tree Work</vt:lpstr>
      <vt:lpstr>Decision Tree Example</vt:lpstr>
      <vt:lpstr>Decision Tree Example</vt:lpstr>
      <vt:lpstr>Predictions of two Decision Tree regression models</vt:lpstr>
      <vt:lpstr>Decision Tree Training Measures and Splitting Criteria</vt:lpstr>
      <vt:lpstr>1. Entropy of Dataset</vt:lpstr>
      <vt:lpstr>2. Information Gain (IG)</vt:lpstr>
      <vt:lpstr>2. Information Gain (IG)</vt:lpstr>
      <vt:lpstr>Building Decision Tree using Information Gain the essentials</vt:lpstr>
      <vt:lpstr>Example: Now let us draw a Decision Tree for the following data using Information gain. Training set: 3 features and 2 classes</vt:lpstr>
      <vt:lpstr>Example: Now let us draw a Decision Tree for the following data using Information gain. Training set: 3 features and 2 classes</vt:lpstr>
      <vt:lpstr>Example: Now let us draw a Decision Tree for the following data using Information gain. Training set: 3 features and 2 classes</vt:lpstr>
      <vt:lpstr>3. Gini Index</vt:lpstr>
      <vt:lpstr>Some additional features of the Gini Index are</vt:lpstr>
      <vt:lpstr>4. Gain Ratio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4</cp:revision>
  <dcterms:created xsi:type="dcterms:W3CDTF">2026-01-22T08:54:45Z</dcterms:created>
  <dcterms:modified xsi:type="dcterms:W3CDTF">2026-01-22T13:12:14Z</dcterms:modified>
</cp:coreProperties>
</file>